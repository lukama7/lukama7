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ترحيب وتعريف بالكورس. هذا كورس عملي يأخذ المتدرب من الصفر: يبدأ بالمفاهيم الأساسية ولغة المجال، ثم يشرح وثيقة الضوابط الأساسية للأمن السيبراني ‎ECC-2:2024‎ الصادرة عن الهيئة الوطنية للأمن السيبراني، ثم يمر على المكونات الفرعية الثمانية والعشرين واحداً واحداً: ما الذي يطلبه كل ضابط، وكيف يُطبَّق عملياً، وكيف يبدو الدليل الذي يثبت تطبيقه، مع صور توضيحية من الإنترنت ونماذج أدلة تدريبية. المربعات على اليسار هي المكونات الفرعية، ملونة حسب المكون الأساسي، وستتكرر هذه الألوان في كل الكورس لتعرف دائماً في أي جزء أنت. المرجع الأساسي وثيقة الضوابط الرسمية، والنص العربي هو الملزم عند أي اختلاف. صياغات الضوابط في الشرائح مختصرة ومعاد صياغتها للشرح، فارجع دائماً إلى النص الرسمي.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الكورس موجه أولاً لمن هو جديد في المجال، لذلك نبدأ بوحدة كاملة للمفاهيم والمصطلحات قبل الدخول في الضوابط. لكنه مفيد أيضاً لفرق التقنية التي ستنفذ، ولفرق الحوكمة والامتثال، لأن تطبيق ECC ليس عمل إدارة واحدة. اطلب من كل متدرب أن يحضر نسخة من وثيقة الضوابط، وأن يفكر في جهته أثناء كل شريحة: ما الموجود، وما الناقص، ومن المسؤول.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ست نتائج تعليمية. الأولى جديدة في هذا الإصدار من الكورس: لغة المجال للمبتدئين. والخامسة كذلك: لكل مكون فرعي تقريباً شريحة تعرض كيف يبدو الدليل فعلياً، بصورة توضيحية من الإنترنت أو بنموذج دليل تدريبي. الهدف أن يخرج المتدرب قادراً على النظر إلى دليل والحكم عليه: هل يثبت الضابط أم لا، وما الناقص.</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توزيع مقترح على ثلاثة أيام: اليوم الأول للوحدات 1 و2 و3، واليوم الثاني للوحدات 4 و5 و6، واليوم الثالث للوحدات 7 و8 و9. الوحدة الأولى للمفاهيم ويمكن تقصيرها لقاعة لها خبرة. الوحدات 4 إلى 7 هي قلب الكورس، وألوانها تطابق المكونات الأساسية: البرتقالي النحاسي للحوكمة، والأزرق للتعزيز، والأخضر للأطراف الخارجية والسحابة. بعد كل وحدة تمرين على خلفية رمادية زرقاء، تليه شريحة الحل. أرقام الشرائح في كل بطاقة تساعد على الانتقال مباشرة إلى الوحدة.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فهرس سريع للوحدات 4 إلى 7، وهي قلب الكورس. كل عمود وحدة بلونها، وكل صف مكوّن فرعي برمزه واسمه ورقم الشريحة التي يبدأ بها. استخدمه أثناء التدريب للانتقال إلى مكوّن يسأل عنه أحد المتدربين، أو لاحقاً كمرجع: افتح رقم الشريحة مباشرة. ترتيب الشرائح داخل كل مكوّن ثابت: تعريف مبسط، ثم شريحة أو أكثر للضوابط، ثم مثال للدليل عند توفره.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لكل مكون فرعي في الوحدات 4 إلى 7 ثلاثة أنواع من الشرائح بالترتيب: شريحة تعريف بلغة بسيطة، ثم شريحة أو أكثر للضوابط، ثم غالباً شريحة مثال للدليل. جدول الضوابط يُقرأ من اليمين: رمز الضابط، ثم ما يطلبه، ثم كيف تطبقه، ثم الدليل. العمودان الأولان من الوثيقة نفسها بصياغة مختصرة. العمودان الأخيران من خبرة التطبيق: طريقة شائعة ومجربة، لكن الجهة قد تحقق المتطلب بطريقة أخرى مناسبة لبيئتها. وشرائح الأدلة نوعان: صور حقيقية من الإنترنت بتراخيص حرة مع ذكر مصدرها، ونماذج توضيحية من إعداد الكورس ببيانات افتراضية، ومكتوب على كل منها نوعها. ملاحظة: الوثيقة لا تحدد في معظم الضوابط تكراراً زمنياً للمراجعة، فأي تكرار مذكور في الكورس اقتراح، ما لم يُنص عليه، مثل الاحتفاظ بالسجلات 12 شهراً. وللتنقل: أعلى كل شريحة من شرائح المكونات شريط خطوات يبيّن هل أنت في التعريف أو الضوابط أو الدليل، ومكتوب بجانبه رمز المكوّن واسمه. وأسفل كل شريحة شريط الوحدات التسع، والوحدة الحالية فيه أعرض بلونها، ثم رقم الشريحة الذي يطابق أرقام الفهرس.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الوحدة جديدة ومخصصة للمبتدئين. إن كانت القاعة ذات خبرة، اعرضها بسرعة في عشرين دقيقة واكتفِ بشرائح الدليل والمصطلحات. لكن لا تتجاوز شريحتي الدليل: كل ما في الكورس بعد ذلك مبني عليهما.</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ابدأ بسؤال القاعة: ماذا تعني لكم كلمة الأمن السيبراني؟ ستسمع غالباً: برامج الحماية، الجدار الناري، الاختراق. وضّح أن هذه أدوات، والمفهوم أوسع: نحمي أربعة أشياء، البيانات والأنظمة والشبكات والأشخاص. والجملة في الأسفل هي سبب وجود ضوابط للحوكمة والتدريب والموارد البشرية في ECC، لا ضوابط تقنية فقط. سنعود لهذه الفكرة مع الركائز الأربع في الوحدة الثانية.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أشهر مثلث في الأمن السيبراني، ويُختصر بالإنجليزية CIA. كل حادثة سيبرانية تمس واحداً منها أو أكثر. تمرين سريع: اطلب من القاعة تصنيف هجوم الفدية. الجواب: يمس التوافر أولاً لأن الملفات تُشفَّر فلا تُستخدم، وقد يمس السرية إن سرّب المهاجم البيانات قبل تشفيرها، وهو ما يحدث كثيراً اليوم. عند تقييم المخاطر لاحقاً، نسأل لكل أصل: ما أثر فقد سريته، وسلامته، وتوافره.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استخدم تشبيه البيت، فهو يثبت المفاهيم الأربعة بسرعة. المجوهرات أصل، واللص تهديد، والنافذة المفتوحة ثغرة، واحتمال السرقة مع قيمة المسروقات هو الخطر. ثم انقلها إلى الجهة: قاعدة بيانات المستفيدين أصل، ومجموعة فدية تهديد، والخادم غير المحدث ثغرة. لا نستطيع عادة إلغاء التهديد، لكننا نستطيع سد الثغرات وتقليل الأثر، وهذا عمل الضوابط. تقييم المخاطر بالتفصيل هو موضوع الكورس الأول في هذه السلسلة، وفي ECC يغطيه المكون ‎1-5‎.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الضوابط تُصنَّف بطريقتين. حسب طبيعتها: إداري يعتمد على الأشخاص والإجراءات، وتقني تنفذه الأنظمة، ومادي يحمي الأماكن والمعدات. وحسب وظيفتها: وقائي يمنع، وكشفي يكشف، وتصحيحي يعالج. اسأل القاعة: كاميرات المراقبة وقائية أم كشفية؟ الأصح كشفية، مع أثر رادع. هذا التصنيف يساعد عند تصميم الحماية: لا تعتمد على نوع واحد. فالتحقق متعدد العوامل يمنع أغلب سرقات الحسابات، لكن إن تجاوزه المهاجم نحتاج المراقبة لتكشفه، والنسخ الاحتياطية لنتعافى.</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الامتثال كلمة سنكررها كثيراً، ومعناها البسيط: أن تطبق المتطلبات وتستطيع إثبات ذلك. الجزء الثاني هو ما يغفل عنه المبتدئون: جهة تطبق كل شيء ولا تملك أدلة ستظهر في التقييم كأنها لم تطبق. الهيئة الوطنية للأمن السيبراني هي الجهة المختصة في المملكة، وأصدرت الضوابط الأساسية في إصدارها الأول ‎ECC-1:2018‎ ثم الإصدار الحالي ‎ECC-2:2024‎. وتنبيه مهم للمبتدئين: الامتثال ليس الأمن. يمكن أن تكون الجهة ممتثلة على الورق ومخترقة، والعكس. لذلك نطبق الضوابط بروحها: نخفض المخاطر، ثم نوثق ونثبت.</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من أهم شرائح الكورس للمبتدئين، وسنستخدم هذه الأنواع الأربعة في كل جدول. الوثيقة تجيب: هل المتطلب محدد ومعتمد؟ والإعداد يجيب: هل التقنية مضبوطة؟ والسجل يجيب: هل الممارسة تتكرر فعلاً؟ والمحضر يجيب: هل حدثت المراجعة أو القرار؟ مثال كامل: لضابط النسخ الاحتياطي تحتاج السياسة (وثيقة)، وإعداد مهام النسخ (إعداد)، وتقارير نجاح النسخ واختبارات الاستعادة (سجل)، ومحضر المراجعة الدورية (محضر).</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أربعة أسئلة يطرحها أي مقيّم على أي دليل. انظر إلى المثالين: الأول لقطة لحساب واحد قبل سنة، فهي لا تغطي المجتمع المعني ولا هي حديثة، وقد يكون الحساب الوحيد المضبوط. والثاني تقرير حديث يقارن كل الحسابات المميزة المعنية بسياسة الإلزام المفعّلة، ومعه سجلات دخول لعينة تُظهر أن التحقق طُلب فعلاً. لاحظ أن «التسجيل» في التحقق متعدد العناصر لا يكفي: المطلوب إثبات الإلزام. والسؤال الثاني لا يرفض العينات: العينة مقبولة حين تكون القائمة الكاملة مكتملة والاختيار مبرراً، وسنشرح ذلك في الشريحة التالية.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شريحة منهجية أساسية. الخطوة الأولى من النص الرسمي: ما الذي يشمله الضابط بالضبط؟ والثانية: المجتمع الكامل، أي القائمة الكاملة لما يشمله النطاق، وأول ما يُفحص هو اكتمال هذه القائمة نفسها، فقائمة ناقصة تجعل أي نسبة مضللة. والثالثة: العينة، وهي ممارسة مقبولة في التقييم حين يكون المجتمع مكتملاً، وتُختار بطريقة مبررة، مثل عينة عشوائية أو عينة تركز على الأعلى خطراً، ويُذكر سبب الاختيار وحجمه. والرابعة: حدود الاستنتاج؛ نجاح عشرة حسابات في العينة يدعم الحكم، لكنه لا يثبت وحده أن كل الأنظمة مغطاة، فيُكتب في الحكم ما فُحص وما لم يُفحص. هذه الخطوات الأربع ستتكرر في شرائح تحليل الأدلة وفي اختبار الأداء النهائي.</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تمييز مهم للمبتدئين حتى لا يخلطوا بين مثال توضيحي ودليل حقيقي. الصور التوضيحية في الكورس أُخذت من الإنترنت بتراخيص حرة، ومصدرها ورخصتها مكتوبان تحتها؛ هي تريك شكل الأداة أو الممارسة فقط. والنماذج التدريبية من إعداد الكورس ببيانات افتراضية، صُممت لتحتوي فجوات تتدرب على اكتشافها. أما الدليل التشغيلي فهو ما تقدمه الجهة للمقيّم من أنظمتها ووثائقها، وهو وحده ما يُبنى عليه الحكم في تقييم حقيقي. لذلك استبدلنا كلمة «يثبت» تحت الصور بعبارة «يرتبط بالضوابط»، وأضفنا لكل دليل مربعاً يذكر ما لا يثبته وحده.</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المصطلحات الستة هنا تتكرر في المكون ‎2-2‎ تحديداً. ركّز على الفرق بين الحساب العادي والحساب ذي الصلاحيات الهامة: الثاني هو هدف المهاجم الأول، لأن الاستيلاء عليه يعطي سيطرة على الأنظمة. ولهذا تطلب ECC له التحقق متعدد العوامل وإدارة خاصة.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مصطلحات المكونين ‎2-3‎ و‎2-5‎. شبّه تقسيم الشبكة بأبواب داخلية في مبنى: لو دخل اللص من باب الاستقبال، لا يصل مباشرة إلى الخزنة. والمنطقة المنزوعة السلاح هي مكتب الاستقبال: يتعامل مع الزوار ولا يفتح على الداخل.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مصطلحات المكونات ‎2-10‎ و‎2-11‎ و‎2-12‎ و‎2-13‎. انتبه للفرق بين فحص الثغرات واختبار الاختراق، فهو سؤال شائع: الفحص آلي ويبحث عن المعروف، والاختبار يدوي ويحاول الاستغلال كما يفعل المهاجم. وكلاهما مطلوب في ECC.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مصطلحات المكونات ‎2-4‎ و‎2-6‎ و‎2-7‎ و‎2-8‎ و‎2-9‎. أهداف الاستعادة مثال جيد: RTO يجيب كم ساعة نتحمل توقف النظام، وRPO يجيب كم ساعة من البيانات نتحمل فقدها. نظام الرواتب قد يتحمل يوماً، وبوابة الخدمات قد لا تتحمل ساعة.</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آخر مجموعة من المصطلحات. لا تطلب من المتدربين حفظها، بل أخبرهم أن هذه الشرائح الخمس مرجع يعودون إليه كلما مر مصطلح جديد. يمكن طباعتها ورقة واحدة توزع مع المواد.</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تمرين سريع لتثبيت مفاهيم الوحدة. أعطِ عشر دقائق للعمل الفردي، ثم ناقش البنود التي تختلف فيها الإجابات. البند هـ يثير نقاشاً: هل هو تهديد أم ثغرة؟ الأدق أنه ثغرة، لأن التهديد هو من سيستغل الورقة. والبند و: ضابط مادي كشفي.</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ناقش البند ح: برمجية الفدية تهديد، والثغرة التي تستغلها قد تكون البند ج أو البند هـ. وهكذا يتكون الخطر: تهديد يستغل ثغرة في أصل. والضابط في البند د يكسر هذه السلسلة. سنرى سلسلة هجوم فدية كاملة في التمرين السادس.</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هدف الوحدة: أن يفهم المتدرب الإطار قبل أن يبدأ التنفيذ. أغلب أخطاء التطبيق التي نراها سببها قراءة الضوابط كقائمة مهام تقنية، مع أن جزءاً كبيراً منها حوكمة ووثائق ومراجعات. في نهاية الوحدة تمرين على تصنيف الأدلة حسب نوع الضابط.</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ابدأ بالكلمة المفتاحية: «الحد الأدنى». الضوابط لا تصف جهة مثالية، بل الأرضية التي لا يجوز النزول عنها. الجهة قد تحتاج أكثر حسب مخاطرها وقطاعها والضوابط المكملة الأخرى. الأساس النظامي مهم عند إقناع الإدارة العليا: الالتزام ليس خياراً تقنياً بل واجب نظامي، وتنظيم الهيئة ينص على أن أي جهة لا تُعفى من مسؤوليتها عن أمنها السيبراني. الركائز الأربع تفسر لماذا تجد في الضوابط استراتيجية ولجنة وتدريباً وموارد بشرية، لا أنظمة حماية فقط. عند التطبيق، استخدم الركائز كعدسة: لكل مكون فرعي اسأل ما المطلوب من الأشخاص، وما الإجراء، وما التقنية. المصدر: وثيقة الضوابط الأساسية للأمن السيبراني ‎ECC-2:2024‎ العربية، الصفحتان 8 و11، حيث ورد الأمر السامي الكريم رقم 57231 وتاريخ ‎1439/11/10‎هـ، وكذلك النسخة الإنجليزية ص 9 و12. تحقق قبل التدريس من أحدث نسخة على nca.gov.sa.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أول سؤال في أي مشروع تطبيق: هل الجهة داخل النطاق؟ وإن كانت شركة تابعة لجهة حكومية خارج المملكة فهي داخل النطاق أيضاً. السؤال الثاني: ما الضوابط المنطبقة؟ القاعدة أن كل الضوابط منطبقة إلا ما تثبت الجهة عدم انطباقه بمبرر موثق ومعتمد، مثل جهة لا تملك تطبيقات ويب خارجية إطلاقاً، وهذا نادر. لاحظ أن مثال الوثيقة عن السحابة يقول «تستخدم أو تخطط لاستخدام»، أي أن التخطيط وحده يجعل الضوابط منطبقة. السؤال الثالث: كيف سيُقاس الامتثال؟ اعرف أداة الهيئة المعتمدة واستخدم تصنيفاتها في متابعتك الداخلية من البداية، حتى لا تبني نظام قياس داخلياً ثم تعيد ترجمته عند التقييم.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الأرقام من مقدمة الوثيقة نفسها: 4 مكونات أساسية، و28 مكوناً فرعياً، و108 ضوابط أساسية، و92 ضابطاً فرعياً. بعض المواقع الثانوية تذكر أرقاماً مختلفة، فاعتمد الوثيقة الرسمية دائماً. الرمز يُقرأ من اليسار: المثال ‎2-2-3-2‎ يعني المكون الأساسي الثاني (تعزيز الأمن السيبراني)، ثم المكون الفرعي الثاني (إدارة هويات الدخول والصلاحيات)، ثم الضابط الأساسي الثالث (الحد الأدنى من المتطلبات)، ثم البند الفرعي الثاني (التحقق متعدد العوامل للدخول عن بعد والحسابات ذات الصلاحيات الهامة). عند التطبيق، اجعل هذا الرمز مفتاحاً في كل شيء: اسم ملف الدليل، وبند خطة العمل، والتذكرة في نظام إدارة المهام، وسطر سجل المخاطر. هذا وحده يوفر أياماً عند التقييم. للمبتدئين: الرمز مثل العنوان البريدي، يبدأ من الأعم إلى الأخص. الرقم الأول المكون الأساسي، والثاني المكون الفرعي داخله، والثالث الضابط، والرابع البند الفرعي. والضابط الأساسي الثالث في أغلب المكونات اسمه «الحد الأدنى من المتطلبات»، وبنوده هي أكثر ما ستعمل عليه.</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الهدف من الشريحة أن يعرف المتدرب أين تقع ECC في منظومة الهيئة. الضوابط الأساسية هي الأرضية المشتركة، ثم تأتي ضوابط مكملة حسب حالة الجهة: من لديه أنظمة حساسة يطبق ضوابط الأنظمة الحساسة إضافة إلى الأساسية، ومن يستخدم السحابة يرجع إلى ضوابط الحوسبة السحابية، وهكذا. ومن التغييرات المهمة في الإصدار الثاني أن ضوابط الأنظمة الصناعية التي كانت في المكون الخامس من الإصدار الأول انتقلت إلى ضوابط الأنظمة التشغيلية. كذلك يرتبط المكون الفرعي ‎1-5‎ (إدارة المخاطر) بالإطار الوطني لإدارة مخاطر الأمن السيبراني، وهو موضوع الكورس الأول في هذه السلسلة. نصيحة عملية: عند بناء السياسات، صمم كل سياسة بحيث تغطي متطلبات ECC والضوابط المكملة المنطبقة معاً، بدل وثائق منفصلة لكل إطار.</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الشريحة هي مفتاح الكورس كله. مثال: المكون ‎2-9‎ النسخ الاحتياطية. الضابط ‎2-9-1‎ يطلب تحديد متطلبات النسخ وتوثيقها واعتمادها، و‎2-9-2‎ يطلب تطبيقها، و‎2-9-3‎ يحدد ثلاثة بنود لا بد أن تشملها المتطلبات، و‎2-9-4‎ يطلب مراجعة تطبيقها (والنص العربي هنا لا يذكر «دورياً»، وتحدد الجهة التكرار). معنى ذلك عند التطبيق: لا يكفي تشغيل نظام نسخ احتياطي ممتاز (الطبقة الثانية) إذا لم توجد وثيقة متطلبات معتمدة (الأولى)، أو لم تُختبر الاستعادة (بند في الثالثة)، أو لم تُراجع الممارسة (الرابعة). أربع طبقات تعني أربعة أنواع من الأدلة على الأقل. خطة عملية: عند تطبيق أي مكون فرعي، افتح له أربع مهام في خطة العمل تطابق الطبقات الأربع، فلا تنسى طبقة.</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كل طبقة تجيب عن سؤال مختلف. السياسة تقول ماذا نلتزم به ولماذا، ولا تدخل في الخطوات. الإجراء يقول كيف ننفذ ومن ومتى، ويحتوي النماذج. المعيار التقني يقول ما الإعداد الصحيح لكل تقنية، مثل طول كلمة المرور أو المنافذ المسموحة أو إعدادات تقوية نظام التشغيل؛ والضابط ‎1-3-3‎ يطلب صراحة أن تُدعم السياسات والإجراءات بمعايير تقنية. والسجلات هي ما ينتج من التنفيذ، وهي أقوى الأدلة. خياران شائعان في التنظيم: سياسة لكل مكون فرعي (حوالي 25 سياسة)، أو سياسة عامة موحدة مع ملاحق. الأول أسهل في التحديث والتتبع للضوابط، والثاني أسهل في الاعتماد. أياً كان اختيارك، أنشئ جدول تتبع يربط كل ضابط بالوثيقة والفقرة التي تغطيه. ونصيحة: لا تكتب في السياسة تكرارات زمنية لا تستطيع الالتزام بها، فكل رقم تكتبه يصبح متطلباً تُقيَّم عليه.</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التمرين يدرب على مهارة أساسية في التطبيق: أن تعرف لأي ضابط تجمع كل دليل، فلا تجمع أدلة بلا هدف ولا تترك ضابطاً بلا دليل. اعمل في ثنائيات، وابحث في الوثيقة بالكلمات المفتاحية. بعد التمرين ناقش: أي الأدلة يحتاج أن يتكرر عبر الزمن ليكون كافياً؟ الإجابة: هـ وح، لأنهما ممارسات مستمرة لا حدث واحد.</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لاحظ ثلاثة أشياء. الأول: الدليل «و» لا يتبع النمط، لأن ‎2-1‎ فيه ضوابط خاصة بسياسة الاستخدام المقبول، والتعميم جزء صريح من ‎2-1-3‎. الثاني: الدليل «د» يثبت جزءاً من ‎2-2-3-2‎ فقط، فالضابط يشمل الدخول عن بعد والحسابات ذات الصلاحيات الهامة معاً، ويطلب تحديد عوامل المصادقة بناءً على تقييم أثر فشلها أو تجاوزها؛ فتحتاج دليلاً للحسابات المميزة ودليلاً على ذلك التقييم. الثالث: الدليلان «هـ» و«ح» يحتاجان عينة من فترات مختلفة، لا مثالاً واحداً، لأن الضابط يطلب المراقبة المستمرة والفحص الدوري.</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هدف الوحدة: أن يخرج المتدرب بطريقة تنظيم المشروع قبل الدخول في الضوابط. تطبيق ECC ليس مشروعاً تقنياً واحداً، بل برنامج من عشرات المبادرات المتداخلة، يحتاج حوكمة وتسلسلاً وإدارة أدلة من اليوم الأول.</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المراحل الخمس تقسيم عملي مقترح، وليست مذكورة في الوثيقة. المرحلة الأولى تطبق المكونين ‎1-2‎ و‎1-4‎ مباشرة، فهي جزء من الامتثال لا مجرد إدارة مشروع. المرحلة الثانية هي موضوع الكورس الثاني في السلسلة. لاحظ أن المرحلتين الثالثة والرابعة تتداخلان في الواقع: لا تنتظر اكتمال كل السياسات لتبدأ المكاسب التقنية السريعة. والمرحلة الخامسة لا تنتهي، فهي تطبيق لكل ضوابط المراجعة الدورية (‎X-4‎) وللمكون ‎1-8‎. خطأ شائع: إعلان انتهاء المشروع بعد المرحلة الرابعة، ثم اكتشاف بعد سنة أن الوثائق تقادمت والمراجعات لم تحدث، فيعود الامتثال للانخفاض.</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الاعتماديات هي سبب فشل كثير من المشاريع: جهة تشتري نظام تشفير قبل أن تصنف بياناتها، فلا تعرف ماذا تشفر وبأي مستوى؛ أو تشغّل نظام إدارة أحداث قبل أن تعرف أصولها الحساسة، فتجمع سجلات كثيرة وتغفل المهم. القاعدة: ابدأ بما يجيب عن سؤال «ماذا نحمي ومن المسؤول»، أي الحوكمة وحصر الأصول وتصنيفها والمخاطر، ثم ابن عليه. الاستثناء: المكاسب السريعة التي لا تعتمد على شيء، مثل التحقق متعدد العوامل للدخول عن بعد وسجلات DMARC ومدة الاحتفاظ بالسجلات، فهذه تبدأ فوراً لأنها تخفض مخاطر حقيقية وتُظهر تقدماً للإدارة.</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مثال لجهة متوسطة الحجم بدأت من مستوى منخفض، والمدد الفعلية تعتمد على حجم الجهة ونتائج تقييم الفجوات والميزانية. منطق الموجات: الأولى تبني الحوكمة وتحقق مكاسب سريعة ترفع الامتثال وتخفض مخاطر حقيقية، والثانية تبني القدرات التقنية الأساسية التي تحتاج شراء وتنفيذاً، والثالثة تكمل ما يعتمد على ما سبق وتبدأ دورة الاستدامة. تنبيه: التوزيع ليس أولوية امتثال، فكل الضوابط ملزمة. هو تسلسل تنفيذ. وإن ظهر في تقييم المخاطر خطر عالٍ في بند من الموجة الثالثة، فقدّمه. اعرض الخارطة على اللجنة الإشرافية لاعتمادها، فهي تصبح دليلاً على خطة العمل. وقد نُقل جوهر هذا التنبيه إلى الشريحة نفسها: المدد افتراضية للتخطيط وليست مهلة امتثال من الهيئة، فكل الضوابط ملزمة وفق ما تحدده الهيئة للجهة. والترتيب يتغير بالمخاطر والاعتماديات والتعليمات المنطبقة، والخطر المرتفع قد يستدعي معالجة عاجلة وضوابط مؤقتة قبل موعد موجته.</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أهم رسالة: الأمن السيبراني لا يطبق ECC وحده. إدارة الأمن السيبراني تحدد وتراقب وتراجع، لكن التنفيذ التقني غالباً عند تقنية المعلومات، والعقود عند المشتريات، ومتطلبات الموظفين عند الموارد البشرية. والضابط ‎1-2-1‎ يطلب أن تكون إدارة الأمن السيبراني مستقلة عن إدارة تقنية المعلومات والاتصالات، فلا تجعل التقنية تراقب نفسها. وصاحب الصلاحية في الوثيقة هو رئيس الجهة أو من يفوضه. والجهة المستقلة في ‎1-8-2‎ قد تكون المراجعة الداخلية أو طرفاً خارجياً، المهم ألا تكون إدارة الأمن السيبراني نفسها. وثّق هذه الأدوار في وثيقة الأدوار والمسؤوليات (‎1-4-1‎) مع مصفوفة تفصيلية لكل ضابط؛ فهذه المصفوفة تصبح دليلاً بحد ذاتها.</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أكثر ما يرهق الفرق قبل تقييم الهيئة هو البحث عن أدلة متفرقة في البريد والمجلدات الشخصية. الحل سجل أدلة يُبنى مع التطبيق لا بعده. كل دليل يحمل رمز الضابط في اسمه، ويُسجل في جدول بحقول ثابتة. النوع من الأنواع الأربعة: وثيقة أو إعداد أو سجل أو محضر. موعد التحديث أهم حقل، لأن دليل المراقبة المستمرة من قبل سنة لا يثبت شيئاً اليوم. ولاحظ أن مستودع الأدلة هدف مغرٍ للمهاجم، ففيه إعدادات الجدران النارية وقوائم الحسابات المميزة؛ لذلك يُصنَّف ويقيَّد. أداة بسيطة تكفي في البداية: جدول بيانات ومجلد مشترك مقيد. والجهات الأكبر تستخدم منصة حوكمة ومخاطر وامتثال (GRC).</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دليل تدريبي من إعداد الكورس، والأسماء والتواريخ افتراضية. هذا جدول بسيط يمكن بناؤه في جدول بيانات مشترك قبل شراء أي أداة امتثال. كل صف يربط رمز الضابط بالدليل الذي يثبته، ومن المسؤول عن تحديثه، ومتى أُنتج، وما حالته. لاحظ الصفوف بلون التحذير: الحسابات المميزة المشمولة بإلزام التحقق 22 من 37، واختبارات الاستعادة غطت 4 أنظمة حرجة من 9، وعينة العقود قديمة تحتاج تحديثاً. هذه أرقام جهة النماذج نفسها في شرائح الأدلة ولوحة مؤشرات الربع الثالث، وكلها كما في ‎2026-09-30‎. وحالة «معتمد» في الصف الأول تخص الوثيقة لا تطبيق الضابط. هذا بالضبط ما يجعل السجل مفيداً: يكشف الفجوات بنفسه. في الوحدات التالية سنرى لكل مكون فرعي مثالاً على الدليل نفسه، صورة حقيقية أو نموذجاً توضيحياً، وكلها تُسجل في هذا السجل.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قسّم المتدربين إلى مجموعات من ثلاثة إلى أربعة. كل مجموعة ترسم ثلاثة أعمدة على ورقة وتوزع المبادرات، مع سهم من كل مبادرة إلى ما تعتمد عليه. بعد العرض، ركّز النقاش على المبادرتين أ وهـ، فهما الأكثر إغراءً بالبدء المبكر لأنهما مشتريات واضحة، وهما الأكثر اعتماداً على غيرهما.</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أي ترتيب آخر مقبول إذا بُررت الاعتماديات. النقاط غير القابلة للنقاش ثلاث: التشفير بعد التصنيف لأن الضابط ‎2-8-3‎ يربط مستوى التشفير بطبيعة البيانات وحساسيتها، والمركز المُدار بعد تقييم المخاطر لأن ‎4-1-3-1‎ يطلب التقييم قبل توقيع العقد، والمراجعة المستقلة بعد وجود ما يُراجع. تذكير بالضابط ‎4-1-3-2‎: مراكز العمليات المُدارة التي تستخدم الدخول عن بعد يجب أن تكون بالكامل داخل المملكة، وهذا شرط يُفحص قبل اختيار المورد لا بعده.</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الحوكمة هي ما يجعل بقية الضوابط مستدامة. في هذه الوحدة نمر على المكونات العشرة، ولكل منها جدول بالضوابط وطريقة التطبيق والأدلة. انتبه إلى أن الحوكمة فيها أكثر المتطلبات الوطنية الخاصة، مثل استقلال إدارة الأمن السيبراني عن تقنية المعلومات، وشغل الوظائف بمواطنين سعوديين متفرغين ومؤهلين. لكل مكون فرعي في هذه الوحدة شريحة تعريف مبسطة أولاً، ثم شرائح الضوابط، وبعد بعضها مثال لدليل.</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ابدأ بالسؤال: لو سألك رئيس الجهة أين سنكون في الأمن السيبراني بعد ثلاث سنوات، ماذا تجيب؟ الاستراتيجية هي هذا الجواب مكتوباً ومعتمداً. للمبتدئين: الاستراتيجية ليست سياسة، فهي لا تقول للموظف ماذا يفعل، بل تقول للجهة إلى أين تتجه وكيف. والضوابط الثلاثة في هذا المكون تتبع النمط: اكتبها واعتمدها، ونفذها بخطة عمل، وراجعها.</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صاحب الصلاحية في الوثيقة هو رئيس الجهة أو من يفوضه. محتوى استراتيجية جيدة: السياق والمخاطر الرئيسية، والرؤية، وثلاثة إلى ستة أهداف قابلة للقياس، والمبادرات لكل هدف، والموارد والميزانية، ومؤشرات الأداء، والحوكمة والمتابعة. الضابط ‎1-1-1‎ يطلب أن تكون الأهداف متوائمة مع المتطلبات التشريعية والتنظيمية، لذلك أرفق جدولاً يربط كل هدف بالمتطلب الذي يخدمه، مثل ECC أو الضوابط المكملة أو أنظمة حماية البيانات. أما ‎1-1-2‎ فهو الأهم في التقييم: المقيّم سيطلب خطة العمل ودليلاً على تقدمها، لا الوثيقة فقط. ومراجعة ‎1-1-3‎ لها محفزان: موعد مخطط، وتغير المتطلبات. صدور ‎ECC-2:2024‎ نفسه مثال على محفز يستوجب مراجعة الاستراتيجية.</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في هذا المكون متطلبان وطنيان خاصان لا تجدهما في ISO أو NIST بهذه الصيغة: الاستقلال عن تقنية المعلومات (‎1-2-1‎)، وشغل وظائف الأمن السيبراني بمواطنين (‎1-2-2‎)؛ أما اللجنة الإشرافية (‎1-2-3‎) فمتطلب حوكمة عام. ركّز مع المبتدئين على فكرة الاستقلال بتشبيه المراجع الداخلي: من يراقب لا يتبع من يُراقَب. والشروط الثلاثة في ‎1-2-2‎ تجتمع معاً: سعودي، ومتفرغ، ومؤهل.</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في هذا المكون متطلبان وطنيان خاصان لا مقابل مباشراً لهما في الأطر العالمية: ‎1-2-1‎ و‎1-2-2‎، أما ‎1-2-3‎ فمتطلب حوكمة. الاستقلال عن تقنية المعلومات ملزم بالأمر السامي، أما الارتباط المباشر برئيس الجهة فهو توصية في النص لا إلزام. الضابط ‎1-2-2‎ من أهم تغييرات الإصدار الثاني: كل وظائف الأمن السيبراني بمواطنين سعوديين متفرغين ومؤهلين. الجهات التي تعتمد على متعاقدين غير سعوديين أو على موظفين بدوام جزئي تحتاج خطة انتقال واضحة، وتعرض الوضع بشفافية في التقييم. أعضاء اللجنة الإشرافية عادة: رئيس الجهة أو نائبه رئيساً، ورئيس الأمن السيبراني، ورئيس تقنية المعلومات، وممثلون عن الشؤون القانونية والمراجعة الداخلية والموارد البشرية والقطاعات الرئيسية. دليل نشاط اللجنة هو المحاضر بقرارات ومتابعة، لا قرار التشكيل وحده.</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نموذج توضيحي ببيانات افتراضية، لكنه يعكس شكل المحضر الجيد. قرار التشكيل وحده يثبت أن اللجنة موجودة على الورق، أما المحاضر المتتالية فتثبت أنها تعمل. لاحظ ثلاثة عناصر: قرارات مرقمة، ومتابعة بالأرقام، وتكليف بمالك وموعد. والمحضر نفسه دليل لعدة ضوابط: نشاط اللجنة في ‎1-2-3‎، وتنفيذ خطة العمل في ‎1-1-2‎، وعرض نتائج المراجعة في ‎1-8-3‎. اسأل المتدربين: ما الذي ينقص لو كان المحضر يقول فقط «ناقشت اللجنة وضع الأمن السيبراني»؟</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‎1-3‎ هو الوعاء الذي تُكتب فيه متطلبات كل المكونات الأخرى. استخدم تشبيه أنظمة المرور لتمييز الأنواع الثلاثة، فهو أكثر ما يخلط فيه المبتدئون. ثم ذكّرهم بهرم الوثائق في الوحدة الثانية.</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‎1-3‎ هو الوعاء الذي تُكتب فيه متطلبات كل المكونات الأخرى. الضابط ‎1-3-1‎ يحدد ثلاثة أطراف: إدارة الأمن السيبراني تكتب، وصاحب الصلاحية يعتمد، والمعنيون داخل الجهة يُبلَّغون. اعتماد السياسة من مدير الأمن السيبراني وحده لا يكفي. ودليل التعميم قد يكون بريداً عاماً، أو نشراً على البوابة الداخلية، أو إقرار اطلاع إلكترونياً؛ والإقرار أقوى. الضابط ‎1-3-2‎ يجعل إدارة الأمن السيبراني مسؤولة عن التأكد من التطبيق، أي أنها تحتاج آلية رقابة، مثل فحوص دورية وسجل للاستثناءات. أما ‎1-3-3‎ فكثيراً ما يُنسى: السياسة تقول «تُقوّى الأنظمة»، والمعيار التقني يقول كيف بالضبط لكل نظام. وفي ‎1-3-4‎ لاحظ أن التغييرات نفسها يجب أن تُوثق وتُعتمد، لا الوثيقة النهائية فقط.</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هذه الصفحة الأولى في أي سياسة جيدة، ويسميها البعض جدول ضبط الوثيقة. المقيّم يقرأها قبل أي شيء: من اعتمد؟ ومتى؟ ومتى تُراجع؟ وما الضوابط التي تغطيها؟ سطر الضوابط المغطاة يوفر وقتاً كبيراً عند التقييم، لأنه يربط الوثيقة بالضوابط مباشرة. ولاحظ أن التعميم موثق بطريقتين، وأن الإقرار الإلكتروني أقوى لأنه يثبت الاطلاع لا الإرسال فقط.</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اربط هذا المكون بشريحة الأدوار في الوحدة الثالثة. الجديد هنا أن الضابط يطلب أسماء مكلفة لا أوصافاً عامة، وأن صاحب الصلاحية هو من يحدد ويكلف ويدعم.</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الضابط ‎1-4-1‎ يجعل صاحب الصلاحية مسؤولاً عن ثلاثة أشياء: تحديد الهيكل والأدوار واعتمادها، وتكليف الأشخاص، وتوفير الدعم. لذلك لا يكفي وصف أدوار عام؛ المطلوب أسماء مكلفة. مصفوفة المسؤوليات (من ينفذ، ومن يعتمد، ومن يُستشار، ومن يُبلَّغ) لكل مكون فرعي هي أفضل أداة، وتخدم كذلك مبدأ فصل المهام في ‎2-2-3-3‎. عبارة «دون تعارض مصالح» تتكرر في الضوابط: من ينفذ لا يراجع نفسه، ومن يطلب الصلاحية لا يعتمدها. خطأ شائع: مدير أنظمة يمنح الصلاحيات ويراجعها ويعتمدها بنفسه. ونصيحة: أضف الأدوار للأوصاف الوظيفية في نظام الموارد البشرية، فتنتقل المسؤولية مع الوظيفة لا مع الشخص.</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المكون يربط كل الكورس بمفهوم الخطر الذي شرحناه في الوحدة الأولى. التفاصيل الكاملة لمنهجية التقييم في الكورس الأول من السلسلة. هنا يكفي أن يفهم المبتدئ أمرين: هناك منهجية مكتوبة تُطبق باستمرار، وهناك لحظات قرار محددة يجب فيها التقييم.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الضابط ‎1-5-1‎ يضع المسؤولية على إدارة الأمن السيبراني لتحديد المنهجية، ويطلب أن تراعي أهداف الحماية الثلاثة. المنهجية الجيدة تجيب عن: كيف نحدد المخاطر، وكيف نقيس الأثر والاحتمالية، وما المستوى المقبول ومن يعتمده، وما خيارات المعالجة، ومن يملك كل خطر، ومتى نعيد التقييم. والأفضل مواءمتها مع الإطار الوطني لإدارة مخاطر الأمن السيبراني الصادر عن الهيئة، وقد غطيناه بالتفصيل في الكورس الأول. الدليل الأقوى للضابط ‎1-5-2‎ هو سجل مخاطر حي بتواريخ تحديث حديثة، وخطط معالجة يظهر تقدمها، لا تقرير تقييم واحد قديم. ولاحظ أن الضابط ‎1-5-3‎ في الشريحة التالية يحدد حالات بعينها يجب أن يُجرى فيها التقييم. تفاصيل التقييم خطوة بخطوة في الكورس الأول من السلسلة: تقييم المخاطر وفق الإطار الوطني لإدارة مخاطر الأمن السيبراني.</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الضابط ‎1-5-3‎ يحول إدارة المخاطر من نشاط سنوي إلى نشاط مدمج في قرارات الجهة. الحالات الأربع كلها لحظات قرار: بدء مشروع، وتغيير جوهري، وشراء خدمة، وإطلاق خدمة. طريقة التطبيق الأنجح ألا تعتمد على تذكّر الفرق، بل أن تجعل التقييم شرطاً في الإجراء نفسه: نموذج المشروع، ونموذج طلب التغيير، ونموذج طلب الشراء، وقائمة تحقق الإطلاق. عند التقييم، يأخذ المقيّم عينة من المشاريع والتغييرات والعقود في الفترة، ويتحقق من وجود تقييم مخاطر لكل منها ومن أن تاريخه يسبق القرار. لاحظ ارتباط ‎1-5-3-3‎ بالضابط ‎4-1-3-1‎ الذي يطلب تقييم المخاطر قبل توقيع عقود الإسناد والخدمات المدارة. التاريخ هو الدليل: تقييم مؤرخ بعد بدء المشروع أو بعد توقيع العقد لا يثبت الامتثال لهذا الضابط.</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السجل الحي هو أقوى دليل على تطبيق منهجية المخاطر، أقوى من تقرير تقييم واحد قديم. لاحظ أن الخطر مكتوب كحدث له أثر، لا كاسم أصل. ولاحظ الصف الأخير: ليس كل خطر يُعالج فوراً؛ أحياناً تقبله الجهة مؤقتاً بقرار معتمد وضوابط بديلة، وهذا مقبول إذا كان موثقاً.</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الفكرة للمبتدئين: الأمن الذي يُضاف في آخر المشروع مكلف وضعيف. لهذا يطلب المكون أن يدخل الأمن منهجية المشاريع وإدارة التغيير نفسها. والجزء الثاني من المكون خاص بمن يطور برمجيات بنفسه أو عبر مورد.</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الفكرة الأساسية: الأمن يدخل المشروع من البداية لا عند الإطلاق. الضابط ‎1-6-1‎ يشمل أمرين: منهجية إدارة المشاريع، وإدارة التغيير على الأصول. التطبيق العملي: في مرحلة البدء تحديد متطلبات أمنية وتقييم مخاطر (يرتبط بـ ‎1-5-3-1‎)، وفي التصميم مراجعة معمارية، وفي التنفيذ تطبيق المعايير التقنية، وقبل الإطلاق فحص ثغرات ومراجعة إعدادات. الضابطان ‎1-6-2-1‎ و‎1-6-2-2‎ هما بوابة الإطلاق. عبارة «إغلاق الحرجة والعالية» اقتراح من الكورس؛ المهم أن تكون في سياستك قاعدة واضحة لما يمنع الإطلاق، وأن يوثَّق قبول المخاطر لما يُطلق مع ثغرة مفتوحة. عند التقييم يطلب المقيّم قائمة المشاريع المنفذة خلال الفترة ويأخذ منها عينة.</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البنود الخمسة تنطبق على البرمجيات التي تطورها الجهة بنفسها أو يطورها مورد لها. إن كان التطوير مسنداً، فانقل المتطلبات إلى العقد (يرتبط بالمكون ‎4-1‎)، واطلب من المورد أدلة الالتزام: تقارير مراجعة الشيفرة، وفحص المكونات، والاختبار الأمني. ‎1-6-3-2‎ يعالج مخاطر سلسلة الإمداد البرمجية: مكتبة مفتوحة المصدر مخترقة أو أداة غير مرخصة. ‎1-6-3-3‎ يعني أن الاختبار يجري مقابل متطلبات الجهة نفسها، فاكتب المتطلبات الأمنية للتطبيق قبل الاختبار. أدوات الفحص الساكن والديناميكي وفحص المكونات أمثلة على طرق التطبيق، وليست متطلبات منصوصة.</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تكملة بنود ‎1-6-3‎. ‎1-6-3-4‎ التكامل الآمن بين التطبيقات: مصادقة بين الأنظمة، وتشفير قنوات التكامل، وبوابة للواجهات البرمجية عند الحاجة. و‎1-6-3-5‎ مراجعة إعدادات التطبيق وبيئته وتقويتها وتحديثها قبل كل إطلاق، مقابل المعايير التقنية في ‎1-3-3‎. للمبتدئين: الواجهة البرمجية API هي الطريقة التي تتحدث بها الأنظمة مع بعضها، وكثير من الاختراقات الحديثة تأتي منها لأنها تُترك بلا مصادقة قوية.</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ضابط واحد وشرطي. وضّح للمبتدئين أن «شرطي» لا يعني «اختياري»: على الجهة أن تبحث أولاً، ثم توثق النتيجة، سواء وجدت التزامات أم لم تجد.</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المكون فيه ضابط واحد فقط في الإصدار الثاني، وهو شرطي: «إن وُجدت». لكن كونه شرطياً لا يعني تجاهله؛ على الجهة أن تبحث وتحدد، ثم تلتزم. أمثلة الالتزامات تختلف حسب الجهة: اتفاقيات دولية صادقت عليها المملكة وتمس عمل الجهة، أو التزامات قطاعية دولية مفروضة عليها في نشاطها. حدد ذلك مع الشؤون القانونية لا بالتخمين. الدليل الجيد سجل التزامات يحدد لكل متطلب: المصدر، والنص، والمالك، والضوابط المرتبطة، وحالة الالتزام. وإن انتهى البحث إلى عدم وجود التزامات، فالمذكرة المعتمدة التي توثق نطاق البحث ونتيجته هي الدليل، مع موعد لإعادة النظر. لا التزامات دولية لديك؟ وثّق ذلك في مذكرة معتمدة بعد البحث، بدل ترك الضابط بلا دليل.</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مستويان من المراجعة، والخطأ الشائع الاكتفاء بالأول. فرّق للمبتدئين بين ‎1-8‎ الذي يراجع تطبيق كل الضوابط، وضوابط المراجعة الدورية في نهاية كل مكون، التي تراجع متطلبات ذلك المكون بعينه.</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‎1-8‎ فيه مستويان من المراجعة، وخطأ شائع أن تكتفي الجهة بالأول. الأول داخلي من إدارة الأمن السيبراني (‎1-8-1‎)، وهو تقييم ذاتي منتظم. والثاني مستقل (‎1-8-2‎)، من جهة غير إدارة الأمن السيبراني، مثل المراجعة الداخلية أو مراجع خارجي، مع مراعاة تعارض المصالح ومعايير التدقيق المتعارف عليها (GAAS). الضابط ‎1-8-3‎ يحدد محتوى التقرير: النطاق، والملاحظات، والتوصيات، والإجراءات التصحيحية، وخطط المعالجة، ويحدد جمهوره: اللجنة الإشرافية وصاحب الصلاحية. لاحظ أن هذا المكون يختلف عن ضوابط المراجعة الدورية (‎X-4‎) في كل مكون فرعي: تلك تراجع متطلبات مكون بعينه، وهذا يراجع تطبيق الضوابط كلها. يمكن أن تُجمع أدلة ‎X-4‎ من دورة ‎1-8-1‎ إذا صُممت لتغطي كل مكون فرعي بوضوح.</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استخدم تشبيه المفاتيح، فهو يغطي المراحل الثلاث. ثم اسأل: في جهاتكم، كم يوماً يمر بين آخر يوم عمل للموظف وتعطيل حسابه؟ وكيف تعرفون؟ هذا السؤال هو اختبار المقيّم بالضبط، وسنرى مثاله في شريحة الدليل.</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يغطي العاملين كلهم: الموظفين والمتعاقدين. والمراحل ثلاث: قبل التعيين، وأثناء العمل، وعند الانتهاء. هذه الشريحة للضوابط العامة، والشريحة التالية لمتطلبات ما قبل التعيين وأثناء العمل. الضابط ‎1-9-5‎ هو الأكثر ظهوراً في الملاحظات. طريقة اختباره بسيطة: يطلب المقيّم قائمة من انتهت خدماتهم خلال الفترة من الموارد البشرية، ويقارنها بتواريخ تعطيل الحسابات في نظام الهويات والبريد والشبكة الافتراضية الخاصة والأنظمة الرئيسية. أي فرق كبير ملاحظة. الحل الأقوى ربط آلي بين النظامين. ولا تنس المتعاقدين، فهم غالباً خارج نظام الموارد البشرية، فيحتاجون سجلاً منفصلاً بتواريخ انتهاء عقودهم. كلمة «مباشرة» في ‎1-9-5‎ لا تقابلها مدة رقمية في الوثيقة؛ تحددها الجهة في إجرائها المعتمد وتُقاس عليه، والتعطيل في اليوم التالي لا يُعد متوافقاً تلقائياً. والفحص يشمل كل الحسابات والأنظمة المعنية، لا حساب الدليل النشط وحده.</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البند ‎1-9-3-1‎ يشمل عدم الإفصاح أثناء العمل وبعد انتهائه، فتأكد أن صياغة العقد تمتد لما بعد الخدمة. والبند ‎1-9-3-2‎ لا يشمل كل الموظفين، بل وظائف الأمن السيبراني والوظائف التقنية ذات الصلاحيات الهامة والحساسة، مثل مديري الأنظمة وقواعد البيانات والشبكات. حدد هذه الوظائف في قائمة معتمدة، وطبق عليها التحقق وفق الأنظمة المعمول بها في الجهة. البند ‎1-9-4-1‎ يتقاطع مع برنامج التوعية في ‎1-10‎؛ دليل واحد قد يخدم الاثنين إذا أظهر التوعية عند التهيئة والتوعية المستمرة. والبند ‎1-9-4-2‎ يحتاج آلية تجعل الالتزام قابلاً للمساءلة، مثل إقرار الاطلاع وربط المخالفة بالإجراءات التأديبية.</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دليل تدريبي ببيانات افتراضية. الضابط ‎1-9-5‎ يطلب مراجعة صلاحيات العاملين وإلغاءها مباشرة بعد انتهاء العلاقة أو إنهائها، ولا يحدد مدة رقمية؛ لذلك يعتمد الحكم على ما يعرّفه إجراء الجهة المعتمد، وهنا افترضنا ساعة واحدة للتدريب. لاحظ ثلاثة أمور: أولاً، الجدول يذكر الوقت لا التاريخ فقط، فبدونه لا يمكن الحكم على «مباشرة». ثانياً، التعطيل في اليوم التالي، كحالة الموظف 1077، ليس متوافقاً تلقائياً: التأخير 19 ساعة و10 دقائق. ثالثاً، الفحص يشمل كل الحسابات والأنظمة المعنية لا الدليل النشط وحده: المتعاقد 2234 عُطّل حسابه في الدليل النشط خلال 25 دقيقة، لكن حسابه المستقل في ERP بقي نشطاً قرابة سبعة أيام. النتيجة: حالتان من خمس في الموعد، وثلاث متأخرة (موظف ومتعاقدان). الشريحة التالية تحلل الدليل.</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الشريحة تطبق المنهجية التي تعلمناها في الوحدة الأولى: ما يثبته الدليل، وما لا يثبته وحده، وما الذي نطلبه، ثم الحكم بمبرره. لاحظ أن الحكم لا يقوم على حالة واحدة بل على المجتمع الكامل للفترة (خمس حالات)، وأن اكتمال القائمة نفسها يُفحص قبل الحكم. واطلب من المتدربين صياغة الحكم بجملة واحدة تذكر الضابط والرقم والمبرر، مثل: «الضابط ‎1-9-5‎ غير مطبق بالكامل: ثلاث حالات من خمس تجاوزت المعيار المعتمد، منها حساب متعاقد نشط بعد 40 يوماً». والتصحيح يعالج العملية لا الحساب فقط.</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الفرق الأساسي في هذا المكون: التوعية للجميع، والتدريب لأصحاب الأدوار. وسنرى في شريحتي الأدلة مثالاً على رسالة تصيد حقيقية الشكل، ونموذجاً لتقرير محاكاة التصيد الذي يقيس أثر التوعية.</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البرنامج يجب أن يكون متعدد القنوات ويُعتمد دورياً، أي أن برنامجاً واحداً قديماً لا يكفي. الضابط ‎1-10-3‎ يحدد أربعة موضوعات بالاسم كحد أدنى، ضمن «أهم المخاطر والتهديدات وأحدثها»؛ فراجع المحتوى كل سنة ليعكس التهديدات الجديدة. محاكاة التصيد ليست منصوصة، لكنها أفضل طريقة لقياس أثر التوعية على البريد والتصيد، وتعطي مؤشراً رقمياً للمراجعة في ‎1-10-5‎. مؤشرات مقترحة: نسبة إكمال التوعية، ونسبة النقر في المحاكاة، ونسبة الإبلاغ عن الرسائل المشبوهة. والمراجعة الدورية في ‎1-10-5‎ تسأل: هل نُفذ البرنامج، وهل أثّر؟</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الفرق بين التوعية والتدريب جوهري: التوعية تخاطب كل العاملين ليتصرفوا بأمان، والتدريب المتخصص يبني مهارة لأداء دور. الضابط ‎1-10-4‎ يحدد ثلاث فئات بالاسم: منسوبي الأمن السيبراني، ومن يعمل في تطوير البرمجيات أو على الأصول التقنية، والقيادات التنفيذية والإشرافية. الأداة العملية مصفوفة تربط كل دور بالمهارات المطلوبة والتدريب الذي يبنيها، وهي دليل قوي بحد ذاتها. ويرتبط هذا المكون بالضابط ‎1-2-2‎: التأهيل جزء من شرط «مؤهلين» لشاغلي وظائف الأمن السيبراني، فاجعل خطة التدريب جزءاً من خطة التوطين والتأهيل. التوعية للجميع (‎1-10-3‎)، والتدريب المتخصص لأصحاب الأدوار (‎1-10-4‎). الخلط بينهما يترك فجوة في أحدهما.</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بترخيص حر لرسالة تصيد. استخدمها في القاعة كتمرين سريع: اطلب من المتدربين أن يذكروا ثلاث علامات تدل على أنها تصيد. ثم وضّح أن هذا المحتوى نفسه، إذا كان جزءاً من برنامج التوعية المعتمد وسُجل حضور الموظفين له، يصبح دليلاً على ‎1-10-3‎ و‎1-10-2‎.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بأرقام افتراضية. محاكاة التصيد ليست منصوصة في الضوابط، لكنها أفضل طريقة لقياس أثر التوعية، وتعطي المراجعة في ‎1-10-5‎ رقماً تبني عليه. انتبه للمؤشر الثاني: نسبة الإبلاغ أهم من نسبة النقر عند كثير من المختصين، لأنها تعني أن الموظفين صاروا جزءاً من الدفاع.</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وزّع الحالات على المجموعات، حالتين لكل مجموعة، ثم يعرض الجميع. اطلب أن يكون الإجراء التصحيحي محدداً: من يفعل ماذا ومتى، لا «تحسين الالتزام». وانتبه إلى أن بعض الحالات تمس أكثر من ضابط؛ مثلاً الحالة 4 تمس ‎1-5-3-4‎، وقد تمس ‎1-6‎ إن كانت الخدمة مشروعاً تقنياً.</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نقاط للنقاش. الحالة 3: هل المشكلة في الجنسية أم التفرغ أم الاثنين؟ الضابط ‎1-2-2‎ يشترط الثلاثة معاً: سعوديون، ومتفرغون، ومؤهلون. الحالة 4: التقييم اللاحق لا يصحح الماضي، لكنه يكشف المخاطر الحالية للخدمة؛ والإجراء الحقيقي هو تعديل العملية لمنع التكرار. الحالة 5: لا تكتف بتعطيل الحساب الواحد؛ هذه عرض لخلل في العملية، فراجع كل من انتهت خدماتهم خلال الفترة. الحالة 6: المراجعة الذاتية جيدة وتحقق ‎1-8-1‎، لكنها لا تغني عن الاستقلالية في ‎1-8-2‎.</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الأساسي الثاني هو الأكبر: خمسة عشر مكوناً فرعياً، قسمناها على وحدتين. هذه الوحدة للحماية الأساسية للأصول والوصول والبنية. أغلب هذه المكونات تتبع النمط ذا الطبقات الأربع، فسنمر على طبقتي التوثيق والمراجعة بسرعة، ونركز على الحد الأدنى من المتطلبات (‎X-3‎) لأنه حيث يكمن العمل التقني الحقيقي.</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حصر الأصول هو أول عمل تقني في البرنامج، لأن كل المكونات بعده تعتمد عليه: النسخ لأي أصول؟ المراقبة لأي أنظمة؟ التشفير لأي بيانات؟ اسأل القاعة: هل تعرف جهاتكم كم خادماً لديها اليوم بالضبط؟ الجواب الصادق غالباً: تقريباً. وهذا ما يعالجه ‎2-1‎.</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لا يمكن حماية ما لا تعرفه، لذلك حصر الأصول أول عمل تقني في البرنامج. المكون ‎2-1‎ لا يتبع النمط تماماً: فيه ضابطا توثيق وتطبيق ومراجعة لإدارة الأصول، وضابطان لسياسة الاستخدام المقبول، وضابط للتصنيف. الأصول هنا تشمل الأجهزة والبرمجيات والأنظمة والبيانات والخدمات السحابية. السجل الجيد يُغذّى من مصادر آلية: أدوات اكتشاف الشبكة، وأنظمة إدارة الأجهزة، ونظام الحماية من البرمجيات الضارة، وحسابات السحابة؛ ثم يُطابق بينها لاكتشاف الأصول المجهولة. اختبار المقيّم المعتاد: يأخذ عينة من الشبكة ويبحث عنها في السجل، ويأخذ عينة من السجل ويبحث عنها في الشبكة. حقل «مواجه للإنترنت» مهم لأن ‎2-11‎ يحدد نطاق اختبار الاختراق بالخدمات المقدمة عبر الإنترنت.</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سياسة الاستخدام المقبول وثيقة يقرؤها كل العاملين، فاجعلها قصيرة بلغة واضحة، وافصلها عن السياسات التقنية. الضابط ‎2-1-3‎ يشترط التعميم صراحة، والضابط ‎2-1-4‎ يطلب تطبيقها: الإقرار بالاطلاع خطوة، والأقوى أن تدعم الضوابط التقنية أهم البنود، مثل منع تثبيت البرمجيات غير المصرح بها. الضابط ‎2-1-5‎ يربط التصنيف بالمتطلبات التشريعية والتنظيمية، أي أن الجهة لا تخترع مستويات خاصة بها إن وُجدت مستويات وطنية ملزمة. اعتمد سياسة تصنيف البيانات الوطنية السارية وتحقق من إصدارها الحالي. الترميز يعني وضع علامة التصنيف على الوثيقة أو الملف أو الجهاز، والتعامل يعني قواعد لكل مستوى: من يطلع، وكيف يُنقل، وكيف يُخزن، وكيف يُتلف.</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للوحة أداة جرد أصول مفتوحة المصدر، والأرقام فيها بيانات تجريبية. الأداة نفسها لا تهم، فالمهم ما يثبته السجل. المقيّم يختبره في الاتجاهين: يأخذ أجهزة من الشبكة ويبحث عنها في السجل، ويأخذ سطوراً من السجل ويبحث عنها في الشبكة. وانتبه: الأداة تعرف الأجهزة، لكنها لا تعرف المالك من الأعمال ولا التصنيف؛ هذه تضيفها الجهة.</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من أكثر المكونات أثراً في خفض المخاطر، ومن أكثرها ظهوراً في الملاحظات. استخدم تشبيه البطاقات: الحساب الفريد بطاقة باسمك، والحد الأدنى من الصلاحيات أبواب عملك فقط، والتحقق متعدد العوامل بطاقة ورمز معاً لغرفة الخزنة. وأخبرهم أن سلسلة هجوم الفدية في التمرين السادس تنكسر عند هذا المكون.</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إدارة الهويات من أكثر المكونات أثراً في خفض المخاطر، ومن أكثرها ظهوراً في الملاحظات. المعيار التقني هنا مهم: يحدد قواعد كلمات المرور، ومدة قفل الحساب، وتسمية الحسابات، والتعامل مع الحسابات الخدمية والمؤقتة. الضابط ‎2-2-3-1‎ يتعلق بالتحقق الأحادي الأساسي، والمطلوب أن يكون منضبطاً: لكل مستخدم معرّف فريد يمكن نسبة أفعاله إليه، وقواعد كلمة مرور مفروضة تقنياً لا مكتوبة فقط. الحسابات المشتركة تكسر المساءلة؛ إن لزمت لأسباب تشغيلية فوثّق مبررها وضوابطها. اختبار المقيّم: تصدير إعدادات سياسة كلمات المرور من النظام المركزي، وقائمة الحسابات النشطة مع آخر دخول لاكتشاف الحسابات اليتيمة.</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الضابط ‎2-2-3-2‎ من تغييرات الإصدار الثاني: صار يشمل الحسابات ذات الصلاحيات الهامة إضافة إلى الدخول عن بعد. وفيه شرط يُغفل كثيراً: أن تُحدَّد العوامل وعددها وتقنياتها بناءً على نتيجة تقييم أثر فشل التحقق أو تجاوزه. لذلك يحتاج المقيّم وثيقة هذا التقييم، لا إعدادات التحقق فقط. أقوى اختبار: قائمة كل الحسابات المميزة البشرية من الدليل النشط والمنصات السحابية وأنظمة الإدارة، مقارنة بالمشمولين بسياسة إلزام مفعّلة، ثم سجلات دخول لعينة تُظهر طلب العنصر الثاني فعلاً. الضابط ‎2-2-3-3‎ يجمع ثلاثة مبادئ: الحاجة للمعرفة والاستخدام، والحد الأدنى من الصلاحيات، وفصل المهام. والضابط ‎2-2-3-4‎ يُطبَّق عادة بحل لإدارة الصلاحيات المميزة، لكن الأساس قبله هو الحصر الكامل. والمراجعة في ‎2-2-3-5‎ يقودها مالك النظام من الأعمال، لا فريق التقنية وحده. تصحيح مهم: التسجيل بوسيلة تحقق لا يثبت الإلزام. التسجيل يعني أن المستخدم أضاف وسيلة، والإلزام يعني أن سياسة مفعّلة تفرضها عند كل دخول معني، والدليل الأقوى سجلات دخول تُظهر طلب العنصر الثاني فعلاً. ميّز كذلك بين الحسابات البشرية لإدارة المنصات السحابية، وهي مشمولة بالتحقق متعدد العناصر، وهويات الخدمات غير البشرية، التي لا ينطبق عليها التحقق التفاعلي وتُضبط ببدائل مثل الهويات المُدارة أو الشهادات، وأقل صلاحية، والمراقبة.</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دليل تدريبي بأرقام افتراضية لجهة النماذج نفسها في هذا الكورس، وهي الأرقام التي تظهر في سجل الأدلة ومحضر اللجنة ولوحة مؤشرات الربع الثالث. الدرس الأساسي: التسجيل بوسيلة تحقق لا يثبت أن التحقق مفروض. المجتمع هنا 37 حساباً مميزاً بشرياً معنياً بالضابط ‎2-2-3-2‎؛ سجّل منها 31 وسيلة تحقق (84%)، لكن المشمول بسياسة إلزام مفعّلة 22 فقط (59%). والاستثناءان حسابا طوارئ لإدارة المنصة السحابية، مستثنيان بموافقة موثقة وضوابط بديلة، فلا يُحسبان فجوة ولا يُحسبان مغطى. المتبقي 13 حساباً غير مغطى بالإلزام. توضيح للمبتدئين: المقصود بمديري المنصات السحابية هنا حسابات بشرية يديرها أشخاص، وهي مشمولة بالضابط. أما هويات الخدمات غير البشرية، مثل التطبيقات والأتمتة، فلا تستطيع إدخال عنصر تحقق تفاعلي، وتُضبط ببدائل كالهويات المُدارة أو الشهادات، وأقل صلاحية، ومراقبة استخدامها، ولذلك فُصلت عن الجدول. الشريحة التالية تكمل الصورة بسجلات الدخول والحكم.</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الشريحة تكمل الدليل السابق بثلاثة مستويات: الإعداد (هل توجد سياسة إلزام مفعّلة؟)، والنطاق (هل تشمل كل الحسابات المعنية وكل مسارات الدخول؟)، والأثر (هل تُظهر سجلات الدخول طلب العنصر الثاني فعلاً؟). نتيجة فحص سجلات الدخول مذكورة كملخص تدريبي، وفي التطبيق العملي على الجهة الافتراضية سيعمل المتدرب على سجل دخول كامل. انتبه إلى أن وضع «تقرير فقط» في كثير من أنظمة الهويات يسجل ما كانت السياسة ستفعله دون أن تفرضه، فلا يُعد إلزاماً. وإذا لم تكفِ البيانات لإثبات الإلزام لحساب ما، فلا يُصنَّف محمياً بالكامل. أما عناصر التحقق، فالضابط يطلب أن يحددها تقييم أثر فشل التحقق وتخطيه، فغيابه وحده ملاحظة حتى لو كانت كل الحسابات مشمولة.</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صورتان توضيحيتان من الإنترنت بتراخيص حرة. الأولى لعامل تحقق ثانٍ، والثانية لخزنة كلمات مرور مفتوحة المصدر. للمبتدئين: التحقق متعدد العوامل يعني أن سرقة كلمة المرور وحدها لا تكفي المهاجم، لأنه يحتاج الجوال أو المفتاح أيضاً. والخزنة تحل مشكلة شائعة جداً: كلمات مرور مديري الأنظمة في جدول بيانات مشترك. في التقييم لا يكفي أن تُري المقيّم الأداة، بل تُريه إعدادها ونطاقها.</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أهم كلمة في هذا المكون: التغطية. برنامج حماية ممتاز على 80% من الأجهزة يعني 20% أبواباً مفتوحة. وسنرى في شريحة الدليل كيف تُقاس التغطية بمقارنة رقمين.</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عبارة «تقنيات حديثة ومتقدمة» في ‎2-3-3-1‎ تعني أن برنامج مكافحة فيروسات تقليدياً معتمداً على التواقيع وحدها قد لا يكفي؛ الحلول الحالية تكتشف السلوك المشبوه وتستجيب له، مثل حلول الاكتشاف والاستجابة لنقاط النهاية. و«إدارتها بأمان» تعني حماية وحدة الإدارة نفسها: التحقق متعدد العوامل لمديريها، ومنع المستخدم من تعطيل الحماية. أهم دليل هنا التغطية: كم جهازاً في سجل الأصول مقابل كم جهازاً مسجلاً في وحدة الإدارة ومحدثاً. الفرق بين الرقمين فجوة. ولاحظ أن الأنظمة الخاصة، مثل الأجهزة التي لا تقبل تثبيت وكيل الحماية، تحتاج ضوابط بديلة موثقة.</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«تقييد حازم» في ‎2-3-3-2‎ يعني أن الأصل هو المنع، والاستثناء بموافقة ومبرر، لا العكس. والوسائط المسموحة تكون مشفرة ومسجلة. الضابط ‎2-3-3-3‎ يتقاطع مع ‎2-10-3-4‎ في إدارة الثغرات؛ صمم عملية تحديث واحدة تخدم الاثنين، فيكون الدليل واحداً. مقاييس مفيدة: نسبة الأجهزة المحدثة خلال المدة المحددة في سياستك لكل مستوى خطورة. الضابط ‎2-3-3-4‎ يذكر هيئة المواصفات والمقاييس والجودة مثالاً على المصدر الموثوق للتوقيت. التطبيق الشائع: خادم أو خادمان داخليان يتزامنان مع المصدر الموثوق، وكل الأنظمة والأجهزة الشبكية تتزامن معهما. اختبار بسيط: قارن الطوابع الزمنية لحدث واحد في سجلات أنظمة مختلفة.</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دليل تدريبي بالأرقام نفسها في التمرين الخامس ولوحة مؤشرات الربع الثالث (التاريخ نفسه ‎2026-09-30‎). الرسالة للمبتدئين: النسبة يجب أن تُحسب على سجل الأصول. لو حسبتها الجهة على ما تراه وحدة الإدارة لظهرت 100%، لأن الوحدة لا ترى الأجهزة غير المسجلة أصلاً. والفرق قد يعني مشكلتين: أجهزة بلا حماية، أو سجل أصول فيه أجهزة لم تعد موجودة؛ لا تحكم قبل المطابقة.</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البريد هو الباب الأول لأغلب الهجمات. ركّز مع المبتدئين على فكرة الختم الرسمي: سجلات SPF وDKIM وDMARC هي ختم يثبت للعالم أن الرسالة صادرة من الجهة فعلاً. وسنرى في شريحة الدليل استعلاماً حقيقياً لهذه السجلات من الإنترنت.</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البريد الإلكتروني أكثر قنوات الهجوم استخداماً، لذلك خصصت له الضوابط مكوناً فرعياً كاملاً. الضابط ‎2-4-3-1‎ يطلب تقنيات «حديثة ومتقدمة»، أي أن التصفية الأساسية المدمجة في خادم البريد قد لا تكفي، والمطلوب تحليل الروابط والمرفقات وسمعة المرسل. الدليل الأقوى ليس لقطة الإعدادات وحدها، بل تقرير تشغيلي لفترة يبين حجم الرسائل المحجوبة وأنواعها، لأنه يثبت أن الحماية تعمل فعلاً. لاحظ ارتباط هذا الضابط بالتوعية في ‎1-10-3-1‎: التقنية تحجب أغلب رسائل التصيد، والتوعية تتعامل مع ما يمر منها. البنود الأربعة الباقية في الشريحة التالية.</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‎2-4-3-2‎ مماثل لـ ‎2-2-3-2‎ لكنه خاص بالبريد: الدخول عن بعد وبريد الويب، مع شرط تقييم أثر فشل التحقق أو تجاوزه. ‎2-4-3-4‎ يعالج البرمجيات الضارة غير المعروفة (‎Zero-day‎) التي لا تكتشفها التواقيع، والتقنية الشائعة هي تشغيل المرفقات في بيئة معزولة لمراقبة سلوكها. ‎2-4-3-5‎ من أسهل الضوابط في التحقق: أي شخص يستطيع الاستعلام عن سجلات DNS العامة لنطاق الجهة. نقطة مهمة: سياسة DMARC بوضع المراقبة فقط (p=none) تثبت النشر لكنها لا تمنع انتحال النطاق؛ الهدف الوصول إلى العزل أو الرفض بعد مراجعة التقارير. ولا تنس النطاقات الفرعية والنطاقات التي لا ترسل بريداً، فهي تحتاج سجلات تمنع انتحالها. نطاق ‎2-4-3-2‎ هو الدخول عن بعد والدخول عبر صفحة البريد (Webmail)، وليس «الدخول من خارج الشبكة» فقط: صفحة البريد قد تُفتح من أي مكان، والتطبيقات والبروتوكولات القديمة قد تصل إلى البريد دون المرور بالتحقق. لذلك يُحكم على التغطية بحصر مسارات الدخول وإعدادات الإلزام عليها وسجلات الدخول، لا بموقع المستخدم وحده.</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استعلام حقيقي نُفذ عبر الإنترنت أثناء إعداد الكورس لنطاقين عامين معروفين، ويستطيع أي شخص تكراره، بما فيهم المقيّم. لاحظ في السطر الأول قيمة p=reject، وفي الثاني سجل SPF بقيمة -all لنطاق لا يرسل بريداً، وهذا بالضبط ما تقصده الشريحة السابقة بحماية النطاقات غير المرسلة. اطلب من المتدربين تجربة الاستعلام لنطاق جهتهم بعد الجلسة بأي أداة استعلام DNS، ومقارنة النتيجة بما يطلبه ‎2-4-3-5‎.</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أكبر مكون في عدد البنود: تسعة بنود حد أدنى على ثلاث شرائح. تشبيه السفينة يوصل فكرة التقسيم بسرعة. ثم شرائح الأدلة: مخطط شبكة، وقواعد جدار ناري، لأن المخطط وحده لا يثبت التقسيم.</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‎2-5‎ فيه تسعة بنود حد أدنى، وهو الأكبر في الضوابط، لذلك وزعناه على ثلاث شرائح. ابدأ بمخطط شبكة محدث، فهو أول ما يطلبه أي مقيّم، ولا يمكن إثبات العزل أو التقسيم دونه. ‎2-5-3-1‎ يطلب تقسيماً مبنياً على المخاطر: مثلاً منطقة للخوادم الحساسة، ومنطقة للمستخدمين، ومنطقة منزوعة السلاح للخدمات المواجهة للإنترنت، ومنطقة للإدارة. «الدفاع متعدد المراحل» يعني ألا يكون الجدار الناري الخارجي هو الحاجز الوحيد. دليل التقسيم الحقيقي ليس المخطط وحده، بل قواعد الجدار الناري بين المناطق، فشبكات مقسمة بقواعد تسمح بكل شيء ليست مقسمة فعلياً. ومراجعة القواعد دورياً جزء أساسي من ‎2-5-4‎.</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‎2-5-3-2‎: بيئات الاختبار والتطوير أضعف عادة، وفيها أحياناً نسخ من بيانات الإنتاج، فعزلها يمنع أن تصبح بوابة للإنتاج. ولا تنقل بيانات إنتاج حقيقية لبيئة الاختبار دون إخفاء. ‎2-5-3-3‎ يسمي ثلاث فئات بالاسم: المواقع المشبوهة، ومواقع تخزين ومشاركة الملفات، ومواقع الدخول عن بعد، لأنها قنوات تسريب وتحكم شائعة. ‎2-5-3-4‎ لا يمنع ربط اللاسلكي بالشبكة الداخلية مطلقاً، لكنه يشترط قبله تقييماً شاملاً للمخاطر ومعالجتها؛ فإن كانت شبكتك اللاسلكية للموظفين مربوطة بالداخل، فالدليل الحاسم هو ذلك التقييم. ‎2-5-3-5‎: فحص المنافذ من داخل الشبكة وخارجها يكشف بسرعة أي خدمة مفتوحة خارج القائمة المعتمدة.</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‎2-5-3-6‎: نظام منع الاختراق بوضع المراقبة فقط يكتشف ولا يمنع؛ إن اخترت المراقبة لبعض القواعد فوثّق السبب. ‎2-5-3-7‎: DNS قناة يستخدمها المهاجمون للتحكم والتسريب، والتصفية على مستوى DNS من أرخص الحمايات وأكثرها أثراً. ‎2-5-3-8‎ يقابل ‎2-4-3-4‎ في البريد: القناتان الرئيسيتان لدخول البرمجيات الضارة غير المعروفة هما البريد والتصفح. فحص الحركة المشفرة له اعتبارات خصوصية وتشغيلية، فاعتمد سياسة تحدد ما يُستثنى. ‎2-5-3-9‎: الحماية من حجب الخدمة لا تُبنى داخلياً عادة، بل تُشترى من مزود الاتصال أو مزود متخصص؛ تأكد أن النطاق يشمل كل الخدمات المواجهة للإنترنت، وأن لديك خطة استجابة مجربة.</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بترخيص حر لمخطط شبكة يوضح المنطقة المنزوعة السلاح. للمبتدئين: المنطقة المنزوعة السلاح تستضيف ما يجب أن يصله الجمهور، كخادم الموقع، فإن اختُرق لا يصل المهاجم مباشرة إلى الداخل. المخطط أول ما يطلبه المقيّم، لكنه لا يثبت التقسيم وحده؛ الدليل الحقيقي قواعد الجدار الناري بين المناطق، وهي موضوع الشريحة التالية.</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لواجهة جدار ناري مفتوح المصدر بترخيص حر. اشرح للمبتدئين كيف تُقرأ القاعدة كجملة: من هنا، إلى هناك، على هذا المنفذ، اسمح أو امنع. ثم اسأل: ما معنى قاعدة مصدرها أي شيء ووجهتها أي شيء ومنفذها أي شيء وقرارها السماح؟ الجواب: لا تقسيم فعلياً، وهذه بالضبط حالة التمرين الخامس.</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أول قرار في هذا المكون: هل نسمح بالأجهزة الشخصية، وبأي شروط؟ ثم التشفير والفصل والمسح. والحواسيب المحمولة التابعة للجهة داخلة هنا أيضاً، وهذا ما ينساه البعض.</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الهدف يشمل صراحة الأجهزة الشخصية للعاملين، لذلك يحتاج كثير من الجهات قراراً أولاً: هل نسمح بالأجهزة الشخصية، وبأي شروط؟ إن سُمح بها فالحل الشائع حاوية عمل منفصلة تديرها الجهة، فتُفصل بيانات العمل عن البيانات الشخصية ويمكن مسحها وحدها. الحواسيب المحمولة التابعة للجهة تدخل هنا أيضاً، والدليل الأهم لها تقرير التشفير الكامل للقرص من نظام الإدارة مقارنة بسجل الأصول. اختبار المقيّم: نسبة الأجهزة المحمولة المسجلة في نظام الإدارة، ونسبة المشفر منها، ووجود منع تقني لأي جهاز غير مسجل يحاول الوصول للبريد أو الأنظمة.</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‎2-6-3-2‎: «حسب حاجة العمل» تعني أن الوصول من الأجهزة المحمولة ليس حقاً لكل موظف، بل يُمنح لمن يحتاجه وبالقدر الذي يحتاجه، مثلاً البريد والتقويم فقط دون الأنظمة الحساسة. ‎2-6-3-3‎ يرتبط مباشرة بالضابط ‎1-9-5‎: إجراء إنهاء الخدمة يجب أن يتضمن مسح بيانات الجهة من الأجهزة المحمولة، لا تعطيل الحساب فقط. اختبار المقيّم: قائمة الأجهزة المبلغ عن فقدها وقائمة المنتهية خدماتهم، مقارنة بسجلات المسح. ‎2-6-3-4‎: التوعية هنا موجهة لمستخدمي الأجهزة المحمولة تحديداً، ويمكن أن تكون جزءاً من البرنامج العام في ‎1-10-3-2‎ الذي يذكر الأجهزة المحمولة بالاسم.</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لخطوة تفعيل تشفير القرص الكامل في مثبت نظام تشغيل مفتوح المصدر. في الجهات تُفرض هذه الإعدادات عادة عبر نظام إدارة الأجهزة، والدليل الأقوى ليس لقطة جهاز واحد، بل تقرير من النظام يبين كم جهازاً مشفراً من كل الأجهزة المحمولة في سجل الأصول. وسؤال مهم يغفل عنه المبتدئون: أين مفتاح الاستعادة؟ لو ضاع المفتاح ضاعت البيانات، ولو حُفظ بلا حماية ضاع التشفير.</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مكون قصير، ثلاثة ضوابط فقط، لكنه يعتمد كلياً على التصنيف في ‎2-1-5‎. الفكرة الأساسية للمبتدئين: حماية تتدرج مع الحساسية، لا حماية واحدة لكل شيء.</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‎2-7‎ قصير في الضوابط الأساسية: ثلاثة ضوابط فقط، لكنه يعتمد كلياً على التصنيف في ‎2-1-5‎. عبارة «بحسب مستوى تصنيفها» في ‎2-7-2‎ هي المفتاح: الجهة لا تطبق حماية واحدة على كل البيانات، بل حماية تتدرج مع المستوى. الأداة العملية جدول قواعد التعامل: لكل مستوى، من يطلع، وأين يُخزن، وكيف يُنقل، وكيف يُشارك، وكيف يُتلف. ثم تطبق الضوابط التقنية التي تفرض الجدول. وللجهات التي تنطبق عليها ضوابط الأمن السيبراني للبيانات (DCC) تفاصيل إضافية هناك. وتوائم السياسة مع الأنظمة الوطنية ذات العلاقة مثل نظام حماية البيانات الشخصية وسياسات حوكمة البيانات الوطنية، بالتنسيق مع مكتب إدارة البيانات في الجهة إن وجد.</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فيه متطلب وطني خاص: الضابط ‎2-8-3‎ يحيل إلى المعايير الوطنية للتشفير. تشبيه الخزنة يوضح أن إدارة المفاتيح لا تقل أهمية عن قوة الخوارزمية. وأحِل المتدربين دائماً إلى الإصدار الساري من المعايير الوطنية، لا إلى الذاكرة.</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‎2-8‎ فيه متطلب وطني خاص: الضابط ‎2-8-3‎ يحيل إلى المعايير الوطنية للتشفير الصادرة عن الهيئة، ويطلب تطبيق مستوى التشفير المناسب حسب طبيعة البيانات والأنظمة والشبكات وحساسيتها، وحسب تقييم المخاطر. لذلك لا يكفي أن تقول الجهة إنها تستخدم تشفيراً قوياً؛ عليها أن تبين أن خوارزمياتها وأطوال مفاتيحها ضمن ما تسمح به المعايير الوطنية للمستوى المطلوب. اقرأ المعايير الوطنية للتشفير بنفسك واعتمد إصدارها الحالي. خطوة التطبيق الأولى جرد التشفير: أين تُستخدم الشهادات، وما البروتوكولات المفعلة، وأين المفاتيح ومن يديرها. هذا الجرد يكشف عادة شهادات منتهية وبروتوكولات قديمة مفعلة.</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‎2-8-3-1‎: القائمة المعتمدة تُستخرج من المعايير الوطنية للتشفير، وتُترجم إلى إعدادات: ما البروتوكولات المفعلة على خوادم الويب، وما الخوارزميات المسموحة في الشبكة الافتراضية الخاصة، وهكذا. ‎2-8-3-2‎: إدارة المفاتيح هي نقطة الضعف المعتادة، فتشفير قوي بمفتاح محفوظ في ملف نصي على الخادم نفسه لا يحمي شيئاً. سجل الشهادات بتواريخ الانتهاء يمنع أيضاً انقطاع الخدمات بسبب انتهاء شهادة. ‎2-8-3-3‎ يربط التشفير بالتصنيف مرة أخرى، ويشمل في النص العربي الملزم ثلاث حالات: النقل والتخزين والمعالجة (الترجمة الإنجليزية تذكر النقل والتخزين فقط). لا تنس النسخ الاحتياطية، فهي نسخة كاملة من البيانات المصنفة، وكثيراً ما تُترك بلا تشفير.</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لشريط عنوان يظهر فيه القفل وhttps. اطلب من المتدربين الضغط على رمز القفل في أي موقع لرؤية تفاصيل الشهادة: الجهة المصدرة، والنطاق، وتاريخ الانتهاء. لكن القفل وحده ليس دليل امتثال: الدليل سجل الشهادات ونتائج فحص الإعدادات. للمبتدئين: الشهادة تثبت أنك تتصل بالموقع الصحيح، وتسمح بتشفير الاتصال. ومن أشهر الملاحظات شهادة منتهية، لأنها تكسر الخدمة أو تدرّب المستخدمين على تجاهل التحذيرات. لهذا يطلب ‎2-8-3-2‎ إدارة دورة حياة المفاتيح والشهادات.</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الأرقام والحالات افتراضية للتدريب. هدف التمرين أن ينتقل المتدرب من سؤال «هل يوجد دليل؟» إلى «ماذا يثبت هذا الدليل بالضبط؟». أغلب الأدلة هنا تبدو جيدة للوهلة الأولى، وكل واحد منها يخفي فجوة. اطلب من كل ثنائي أن يكتب لكل حالة سطراً واحداً: الضابط، والحكم، والناقص، والإجراء.</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الحالة 1 مثال على قاعدة مهمة: الفرق بين رقمين قد يعني مشكلتين مختلفتين، أجهزة بلا حماية، أو سجل أصول فيه أجهزة لم تعد موجودة. لا تحكم قبل المطابقة. الحالة 2: سياسة المراقبة خطوة أولى صحيحة، لكن بقاءها سنتين يعني أن الخطوة الثانية لم تحدث. الحالة 3 تتكرر كثيراً بعد الإصدار الثاني، لأن الإصدار الأول كان يركز على الدخول عن بعد. الحالة 5 تذكرنا بأن المخطط وحده ليس دليلاً على التقسيم. الحالة 6 تمس مكونين: حماية البيانات حسب تصنيفها، والتشفير أثناء النقل.</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النصف الثاني من مكون التعزيز يركز على الاكتشاف والاستجابة والتعافي: كيف نعرف أن لدينا ثغرة أو هجوماً، وكيف نتعامل معه، وكيف نستعيد. وفيه متطلبات محددة: الاحتفاظ بالسجلات 12 شهراً على الأقل، وهي المدة الزمنية الوحيدة المحددة في الضوابط، ومتطلبان وطنيان: الإبلاغ عن الحوادث للهيئة ومشاركة المعلومات معها.</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آخر خط دفاع. تشبيه الإطار الاحتياطي يوصل أهم فكرة في المكون: النسخة التي لم تُختبر استعادتها افتراض لا دليل. وسنرى في شريحتي الدليل واجهة برنامج نسخ حقيقي، ثم نموذج محضر اختبار استعادة جيد.</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لاحظ أن الهدف يشمل «الإعدادات التقنية للأنظمة والتطبيقات»، لا البيانات فقط: إعدادات الجدران النارية والخوادم والتطبيقات يجب نسخها أيضاً، لأن إعادة بنائها من الصفر بعد حادثة قد تستغرق أياماً. السياسة الجيدة تحدد لكل فئة أصول: ماذا يُنسخ، وكم مرة، وأين، وكم مدة الاحتفاظ، وما أهداف الاستعادة: أقصى مدة توقف مقبولة، وأقصى فقد بيانات مقبول. النسخة المعزولة أو غير القابلة للتعديل ليست منصوصة في الضوابط، لكنها اليوم الحماية الأساسية من برمجيات الفدية التي تستهدف النسخ الاحتياطية أولاً. ‎2-9-3-1‎ يعتمد على سجل الأصول وأهميتها من ‎2-1‎؛ بلا سجل لا يمكن إثبات أن النطاق كامل.</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‎2-9-3-2‎ يطلب «القدرة» على الاستعادة السريعة بعد الحوادث السيبرانية تحديداً، وهذا يختلف عن الأعطال العادية: في هجوم فدية قد تكون الأنظمة والنسخ المتصلة بالشبكة كلها مصابة، لذلك تحتاج نسخة خارج نطاق الحادثة. القدرة تُثبت بأهداف معتمدة وإجراءات موثقة وزمن فعلي في الاختبار يقترب من الهدف. ‎2-9-3-3‎ هو الأكثر ظهوراً في الملاحظات: كثير من الجهات تنسخ يومياً ولم تختبر الاستعادة منذ سنوات. ابدأ بالأنظمة الأهم، وغيّر العينة في كل دورة، ووثّق كل اختبار بالعناصر المذكورة. اختبار الاستعادة الكاملة لنظام حساس مرة في السنة على الأقل اقتراح معقول، ويُحدد في السياسة. الرسالة الأهم: نجاح مهمة النسخ لا يعني نجاح الاستعادة. النسخة التي لم تُختبر استعادتها افتراض لا دليل.</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مقتطعة من شاشة الاستعادة في برنامج نسخ احتياطي مفتوح المصدر: النسخ المتاحة لملف واحد بتواريخها. النسخ المتتالية مع تقرير مهام النسخ يثبتان الطبقة الثانية: أن النسخ يعمل. لكنهما لا يثبتان أن الاستعادة تعمل، ولا أن النطاق كامل. لذلك يطابق المقيّم قائمة المهام مع الأصول الحساسة في سجل الأصول، ويطلب محاضر اختبار الاستعادة، وهي الشريحة التالية.</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هذا من أقوى الأدلة في المكون كله، لأنه يثبت القدرة على الاستعادة لا وجود النسخة فقط. لاحظ السطر الأول في المشكلات: اختبار الاستعادة كشف أن الإجراء المكتوب ناقص، وهذا بالضبط سبب الاختبار. محضر بلا أي مشكلة لسنوات قد يعني اختباراً شكلياً.</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عملية مستمرة لا فحص سنوي. السياسة تحدد رقمين لكل مستوى خطورة: كم مرة نفحص، وخلال كم يوماً نعالج. والضوابط لا تحدد هذين الرقمين، لكن ما تكتبه الجهة يصبح المعيار الذي تُقيَّم عليه.</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إدارة الثغرات عملية مستمرة، لا فحص سنوي. السياسة يجب أن تحدد رقمين لكل مستوى خطورة: كم مرة نفحص، وخلال كم يوماً نعالج. هذه الأرقام تقررها الجهة حسب مخاطرها، والضوابط لا تحددها؛ لكن بمجرد كتابتها تصبح هي المعيار الذي تُقيَّم عليه. الفحص بصلاحيات دخول (authenticated) يكشف أضعاف ما يكشفه الفحص الخارجي للنظام نفسه، لأنه يرى البرمجيات المثبتة وإصداراتها. أهم دليل: تقارير متتالية تظهر الاتجاه، مع نسبة التغطية مقابل سجل الأصول؛ فأصل لا يُفحص لا تُعرف ثغراته. ومؤشر متوسط زمن المعالجة لكل مستوى يجعل المراجعة في ‎2-10-4‎ قائمة على أرقام.</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‎2-10-3-2‎ و‎2-10-3-3‎ معاً: التصنيف يحدد الأولوية، والمعالجة تتبع التصنيف والمخاطر. ثغرة عالية الخطورة على خادم معزول قد تكون أقل إلحاحاً من ثغرة متوسطة على خادم مواجه للإنترنت، ولهذا تذكر الضوابط «المخاطر المرتبطة» لا الخطورة وحدها. والثغرة التي لا يمكن معالجتها في المدة تحتاج قبول مخاطر معتمداً وضوابط بديلة، لا أن تبقى مفتوحة بصمت. ‎2-10-3-4‎ فيه شرط محدد: التحقق من سلامة التحديث وفعاليته في بيئة غير إنتاجية قبل تطبيقه. هذا يتطلب بيئة اختبار ممثلة، وسجلاً يثبت الاختبار قبل النشر. ‎2-10-3-5‎: المصادر الموثوقة تشمل تنبيهات الجهات الوطنية المختصة وتنبيهات الموردين، والدليل سجل يثبت أن التنبيه وصل وقُيّم واتُّخذ فيه إجراء.</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للوحة كشف الثغرات في منصة أمنية مفتوحة المصدر، والبيانات فيها من بيئة تجريبية. تقرير واحد يثبت أن فحصاً حدث مرة. الامتثال يحتاج سلسلة: تقارير شهرية مثلاً، وتذاكر معالجة، وأرقام تبين أن المدد المكتوبة في السياسة تُحترم. اسأل المتدربين: لو ظهرت الثغرة نفسها في ثلاثة تقارير متتالية، ماذا يعني ذلك؟ الجواب: إما أنها لم تُعالج، أو عولجت دون التحقق من أثر المعالجة.</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الفرق عن إدارة الثغرات سؤال شائع: الفحص آلي ويبحث عن المعروف، والاختبار يدوي ويحاول الاستغلال كما يفعل المهاجم. والنقطة الأهم في الضوابط هي النطاق: كل الخدمات المقدمة عبر الإنترنت ومكوناتها.</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هدف المكون: تقييم فعالية قدرات الدفاع بمحاكاة أساليب الهجوم الحقيقية، لاكتشاف نقاط ضعف غير معروفة قد تؤدي إلى اختراق. الفرق عن إدارة الثغرات: الفحص يبحث عن ثغرات معروفة بأدوات آلية، والاختبار يحاول استغلالها والجمع بينها كما يفعل المهاجم. البند ‎2-11-3-1‎ يحدد الحد الأدنى للنطاق: كل الخدمات المقدمة عبر الإنترنت ومكوناتها، ويعدد الفئات بالاسم. أكثر الملاحظات شيوعاً: نطاق أضيق من الواقع، مثل اختبار الموقع الرئيسي وإغفال تطبيق الجوال أو بوابة الدخول عن بعد. لذلك ابدأ من فحص خارجي يكتشف كل ما هو مكشوف للإنترنت فعلاً، لا من قائمة يتذكرها الفريق. واختبار بلا خطة معالجة ومتابعة لنتائجه لا يحقق الغرض من ‎2-11-2‎.</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تكملة المكون ‎2-11‎. البند ‎2-11-3-2‎ يطلب إجراء الاختبارات دورياً، والتكرار تحدده الجهة في سياستها، مع إعادة اختبار بعد المعالجة وبعد التغييرات الجوهرية. و‎2-11-4‎ مراجعة تطبيق المتطلبات: النطاق والتكرار ونسب إغلاق النتائج. الخطأ الأشيع هو النطاق الضيق، لذلك ابدأ دائماً من فحص خارجي يكتشف كل ما هو مكشوف للإنترنت، لا من قائمة يتذكرها الفريق. وتذكير: اختبار بلا خطة معالجة وإعادة اختبار لا يحقق الغرض، بل يصبح دليلاً على أن الجهة عرفت بالثغرة ولم تعالجها.</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لأداة فحص منافذ مفتوحة المصدر وواسعة الانتشار. تنبيه مهم للمبتدئين: فحص أنظمة لا تملكها أو بلا تفويض مكتوب مخالف، فاختبار الاختراق يتم دائماً بخطاب تفويض وقواعد اشتباك. هذه النتيجة تستخدم في موضعين: لتحديد نطاق اختبار الاختراق الحقيقي، وللتحقق من أن المنافذ المفتوحة تطابق القائمة المعتمدة في ‎2-5-3-5‎.</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السجلات بلا مراقبة أرشيف، والمراقبة بلا سجلات من الأصول الصحيحة عمى. تشبيه الكاميرا والحارس يوصل الفكرة. وفي هذا المكون أحد الأرقام القليلة المحددة في الضوابط: 12 شهراً.</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السجلات بلا مراقبة أرشيف، والمراقبة بلا سجلات من الأصول الصحيحة عمى. لذلك يربط المكون بين الأمرين. ‎2-12-3-1‎ يحدد الحد الأدنى: الأصول المعلوماتية الحساسة، ومرة أخرى يعتمد هذا على سجل الأصول وتصنيف أهميتها. أهم اختبار هنا مطابقة: قائمة الأصول الحساسة مقابل قائمة المصادر التي تصل سجلاتها فعلاً إلى المنصة. ومن الممارسات المهمة مراقبة انقطاع المصادر، فمصدر توقف عن الإرسال قبل شهرين دون أن ينتبه أحد فجوة شائعة. وحالات الاستخدام هي القواعد التي تحول السجلات إلى تنبيهات، مثل محاولات دخول فاشلة متكررة لحساب مميز، أو دخول عن بعد من موقع غير معتاد.</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‎2-12-3-2‎ يحدد مصدرين بالاسم: الحسابات ذات الصلاحيات الهامة والحساسة، وأحداث الدخول عن بعد؛ وهما البابان اللذان يستخدمهما أغلب المهاجمين. ‎2-12-3-4‎: «المستمرة» تعني أن المراقبة ليست مراجعة أسبوعية للسجلات؛ وإن أُسندت لمركز عمليات مُدار يستخدم الدخول عن بعد، فالضابط ‎4-1-3-2‎ يشترط أن يكون بالكامل داخل المملكة. ‎2-12-3-5‎ من الأرقام القليلة المحددة في الضوابط: 12 شهراً كحد أدنى. أسهل اختبار له أن تطلب استعلاماً عن حدث قبل أحد عشر شهراً؛ إن لم يظهر فالضابط غير مطبق مهما قالت الإعدادات. واحسب السعة مبكراً، فرفع الاحتفاظ من ثلاثة أشهر إلى 12 قد يعني مضاعفة التخزين أربع مرات.</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للوحة منصة مراقبة مفتوحة المصدر. اللوحة جميلة لكنها وحدها لا تثبت الكثير. المقيّم يسأل ثلاثة أسئلة: هل كل الأصول الحساسة ترسل سجلاتها؟ هل هناك من يراقب ويتصرف؟ وهل تبقى السجلات 12 شهراً؟ الشريحة التالية تعرض كيف يُجاب عن السؤال الأول.</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الصف الثالث هو أخطر فجوة شائعة في المراقبة: مصدر توقف عن الإرسال قبل شهرين، والمنصة ما زالت تعرضه كمربوط. لو وقعت حادثة على قاعدة الرواتب اليوم لما رآها أحد. لهذا يجب أن تكون مراقبة انقطاع المصادر حالة استخدام بحد ذاتها. والصف الأخير يمس ‎2-12-3-2‎ مباشرة لأنه نظام الحسابات المميزة.</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يستند إلى الأمر السامي 37140، ولهذا فيه متطلبان وطنيان: الإبلاغ للهيئة، ومشاركة المعلومات معها. تشبيه خطة الإطفاء يوضح أن الاستعداد يسبق الحادثة. وتنبيه: لا تذكر مهلاً زمنية للإبلاغ من الذاكرة؛ المرجع تعليمات الهيئة السارية.</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الهدف يستند إلى الأمر السامي 37140، وهذا يفسر وجود متطلبات الإبلاغ والمشاركة مع الهيئة في الشريحة التالية. خطة الاستجابة العامة لا تكفي وحدها؛ أدلة الاستجابة لكل سيناريو رئيسي (ماذا نفعل في أول ساعة عند هجوم فدية مثلاً) هي ما يُستخدم فعلاً تحت الضغط. ومصفوفة التصعيد يجب أن تكون بالأسماء وأرقام التواصل، ومتى يُبلَّغ صاحب الصلاحية واللجنة والهيئة. تمارين المحاكاة المكتبية ليست منصوصة، لكنها أفضل دليل على أن الخطة قابلة للتنفيذ، وتكشف ثغراتها قبل الحادثة الحقيقية. وجهة بلا أي حادثة في سجلها خلال سنة أقرب إلى جهة لا تكتشف من جهة لا تُستهدف؛ فسجل الحوادث الفارغ يثير سؤالاً لا يطمئن.</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البندان ‎2-13-3-3‎ و‎2-13-3-4‎ متطلبان وطنيان خاصان لا مقابل مباشراً لهما في الأطر العالمية. الأول إبلاغ عن الحوادث، والثاني مشاركة أوسع: التنبيهات، ومعلومات التهديدات، ومؤشرات الاختراق، وتقارير الحوادث. ارجع إلى تعليمات الهيئة السارية لمعرفة ما يجب الإبلاغ عنه، والقناة المعتمدة، والمهلة الزمنية، ولا تعتمد على الذاكرة أو الممارسة السابقة. تصنيف الحوادث في ‎2-13-3-2‎ هو ما يربط كل هذا: مستوى الحادثة يحدد من يُصعَّد إليه، وهل تُبلَّغ الهيئة. و‎2-13-3-5‎ يطلب «التعامل» مع معلومات التهديدات، لا جمعها فقط؛ فالدليل الأقوى مؤشرات وصلت ثم ظهرت قواعد حجب أو اكتشاف في أدوات الحماية.</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لتمرين محاكاة مكتبي. التمرين ليس منصوصاً في الضوابط، لكنه أفضل دليل على أن خطة الاستجابة قابلة للتنفيذ. والدليل ليس الصورة، بل تقرير التمرين وما تغير بعده. اقترح على المتدربين تمريناً بسيطاً بسيناريو الفدية من التمرين السادس: ساعة واحدة، وممثل من كل إدارة، ثم قائمة دروس.</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الأمن المادي غالباً عند إدارة الأمن والسلامة، فالتنسيق معهم ضروري. ذكّر المبتدئين أن أقوى تشفير لا يحمي خادماً يحمله شخص خارج المبنى. وفي شريحتي الدليل صور حقيقية لمعدات الأمن المادي والإتلاف.</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الأمن المادي غالباً عند إدارة الأمن والسلامة لا إدارة الأمن السيبراني، فالتنسيق معهم من البداية ضروري، ومصفوفة المسؤوليات في ‎1-4‎ يجب أن تحدد ذلك. ‎2-14-3-1‎ يعدد أمثلة للمناطق الحساسة: مركز البيانات، ومركز التعافي من الكوارث، ومرافق معالجة المعلومات الحساسة، ومركز المراقبة الأمنية، وغرف توصيلات الشبكة، ومناطق توريد الأجهزة والمعدات. ابدأ بقائمة معتمدة بهذه المناطق في جهتك. الاختبار الأقوى مطابقة: قائمة المصرح لهم المعتمدة لغرفة الخوادم مقابل البطاقات التي تفتحها فعلاً في نظام الدخول. الفرق المعتاد: موظفون نُقلوا أو انتهت خدماتهم ما زالت بطاقاتهم تعمل، وهذا يرتبط أيضاً بالضابط ‎1-9-5‎.</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‎2-14-3-3‎ يُنسى كثيراً: سجلات الدخول ولقطات الكاميرات معلومات حساسة بذاتها، تكشف من يدخل مركز البيانات ومتى، فتحتاج حماية وتقييد وصول. ‎2-14-3-4‎ يشمل صراحة الوثائق الورقية ووسائط التخزين، ويشمل الإتلاف وإعادة الاستخدام معاً: جهاز يُعاد توزيعه على موظف آخر، أو قرص يُعاد للمورد في عقد الصيانة، يحتاج محواً آمناً موثقاً. انتبه للأقراص في عقود الاستبدال؛ احتفظ بها أو أتلفها قبل إعادتها للمورد. ‎2-14-3-5‎ يشمل الأجهزة خارج المباني، مثل الحواسيب المحمولة مع الموظفين والأجهزة في مواقع المورد للصيانة. ويرتبط بالمكون ‎2-6‎ للأجهزة المحمولة.</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صورتان توضيحيتان من الإنترنت بتراخيص حرة. المعدات نفسها ليست الدليل؛ الدليل ما تنتجه: قوائم وسجلات. اختبار المقيّم المعتاد مطابقة: قائمة المصرح لهم المعتمدة لغرفة الخوادم مقابل البطاقات التي تفتحها فعلاً. والفجوة المعتادة موظفون نُقلوا أو انتهت خدماتهم وما زالت بطاقاتهم تعمل، وهذا ‎1-9-5‎ مرة أخرى لكن للأبواب.</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صورة توضيحية من الإنترنت لقرص تضرر بإتلاف مادي. تصحيح مهم: الصورة لا تثبت أن البيانات صارت غير قابلة للاسترجاع؛ فقد تبقى أجزاء من الأقراص أو شرائح الذاكرة قابلة للقراءة إذا لم تكن الطريقة مناسبة لنوع الوسيط. الضابط ‎2-14-3-4‎ يطلب أمن إتلاف وإعادة استخدام الأصول المادية التي تحوي معلومات مصنفة، بما فيها الوثائق الورقية ووسائط الحفظ والتخزين. وإثبات ذلك يحتاج أربعة عناصر: طريقة مناسبة لتصنيف البيانات ونوع الوسيط، وتنفيذاً وفق إجراء معتمد، وتحققاً من النتيجة، وسجلاً أو شهادة تربط العملية بالأصل ورقمه التسلسلي. انتبه لحالة شائعة: عقود الصيانة التي يستبدل فيها المورد الأقراص التالفة ويأخذها معه؛ عالجها في العقد قبل التسليم. الشريحة التالية تميّز بين المحو الآمن وإعادة الاستخدام والإتلاف المادي.</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الضابط ‎2-14-3-4‎ يذكر الإتلاف وإعادة الاستخدام معاً، فالخطر قائم في الحالتين: جهاز يُعاد توزيعه أو يُعاد للمورد وبه بيانات، أو وسيط يُرمى دون إتلاف مناسب. الوثيقة لا تحدد طرقاً بعينها، فتحددها الجهة في إجراء معتمد بحسب تصنيف البيانات ونوع الوسيط. وللجهات التي تنطبق عليها ضوابط الأمن السيبراني للبيانات (‎DCC-1:2022‎) من الهيئة متطلبات أكثر تفصيلاً في ‎2-6-1‎: تحديد التقنيات والأدوات والإجراءات حسب مستوى التصنيف (‎2-6-1-1‎)، والإتلاف الآمن عند انتهاء الحاجة إلى الوسيط نهائياً (‎2-6-1-2‎)، والحذف الآمن بحيث لا يمكن الاسترجاع عند إعادة الاستخدام (‎2-6-1-3‎)، والتحقق من التنفيذ (‎2-6-1-4‎)، والاحتفاظ بسجل للعمليات (‎2-6-1-5‎). ومن المراجع الدولية الإرشادية NIST SP ‎800-88‎ Rev. 2 (سبتمبر 2025) لتعقيم الوسائط، التي تميز بين المسح (Clear) للحماية من الاسترجاع البسيط، والتطهير (Purge) الذي يجعل الاسترجاع غير ممكن حتى بتقنيات المختبرات مع إمكان إعادة استخدام الوسيط، والإتلاف (Destroy) الذي يجعل الاسترجاع غير ممكن ويمنع استخدام الوسيط، وتطلب التحقق من النتيجة وشهادة تعقيم لكل وسيط تذكر رقمه التسلسلي والطريقة والمنفذ والمتحقق. وهي مرجع إرشادي لا متطلب من الهيئة. للمبتدئين: الأقراص ذات الحالة الصلبة (SSD) والهواتف تختلف عن الأقراص التقليدية، فالكتابة فوق البيانات قليلة الجدوى عليها، وإزالة المغناطيسية لا تصلح لها وقد تعطل الوسيط دون أن تمحو بياناته، والإتلاف المادي يجب أن يصل إلى شرائح الذاكرة نفسها. والدليل في كل الحالات سجل لكل أصل: رقمه التسلسلي، والطريقة، والتاريخ، والمنفذ، والمتحقق، ونتيجة التحقق.</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يخص تطبيقات الويب الخارجية فقط. أول خطوة الحصر، لأن التطبيقات المنسية كالمواقع القديمة وبيئات الاختبار المكشوفة هي الأكثر عرضة للاختراق، كما سنرى في نموذج الدليل.</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يخص تطبيقات الويب الخارجية، أي المتاحة عبر الإنترنت. الحصر أولاً، ومصدره حقل «مواجه للإنترنت» في سجل الأصول وفحص خارجي للنطاقات والعناوين، لأن الحصر نفسه هو نطاق ‎2-15‎ كله. جدار حماية تطبيقات الويب بوضع المراقبة يكتشف ولا يمنع، فإن لزم وضع المراقبة لفترة ضبط القواعد فحدد لها نهاية. الجدار لا يغني عن التطوير الآمن، فهو طبقة حماية إضافية لا بديل عن إصلاح الثغرات في الشيفرة. ولاحظ تكامل هذا المكون مع ‎2-11‎ (اختبار الاختراق يشمل تطبيقات الويب) ومع ‎1-6-3‎ (التطوير الآمن). ابدأ بالحصر: التطبيقات المنسية، كبيئات الاختبار المكشوفة والمواقع القديمة، هي الأكثر عرضة للاختراق.</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‎2-15-3-2‎: المعمارية متعددة المستويات تعني ألا يكون خادم الويب المواجه للإنترنت هو نفسه خادم قاعدة البيانات؛ فإن اختُرق الأول لا يصل المهاجم مباشرة إلى البيانات. ‎2-15-3-3‎: HTTPS وحده لا يكفي إن كانت إعداداته ضعيفة، فاربطه بالمعايير الوطنية للتشفير في ‎2-8‎. ‎2-15-3-4‎ بسيط لكنه يُنسى: سياسة استخدام آمن واضحة للمستخدمين في التطبيق نفسه. ‎2-15-3-5‎ يتكرر فيه شرط تقييم الأثر الذي رأيناه في ‎2-2-3-2‎ و‎2-4-3-2‎: لا يُفرض مستوى تحقق واحد على كل التطبيقات، بل يُحدد لكل تطبيق حسب أثر فشل التحقق فيه. تطبيق يعرض معلومات عامة يختلف عن بوابة تتيح معاملات أو بيانات شخصية.</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هذا السجل هو نطاق المكون كله. الصفان الثالث والرابع يمثلان أكثر ما يُخترق فعلاً: مواقع قديمة لحملات انتهت، وبيئات اختبار تُركت مكشوفة. والحل لهما غالباً ليس حمايتهما، بل إيقافهما. ولاحظ الصف الثاني: جدار حماية بوضع المراقبة يكتشف ولا يمنع.</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التمرين يربط مكونات التعزيز ببعضها: الحادثة الحقيقية لا تكسر ضابطاً واحداً بل سلسلة. وزّع المراحل على المجموعات، ثم اعرضوها بالترتيب على السبورة كسلسلة. الدرس الأهم: لو صمد ضابط واحد في أي مرحلة لتغيرت النتيجة؛ وهذا مفهوم الدفاع متعدد المراحل الذي ذكره ‎2-5-3-1‎. السيناريو افتراضي ومبسط للتدريب.</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ناقش ثلاث نقاط. الأولى: المرحلة 3 هي المفصلية، فالتحقق متعدد العوامل للحسابات المميزة كان سيوقف السلسلة رغم نجاح المرحلتين الأوليين. الثانية: المرحلة 5 تثبت أن نجاح مهام النسخ لا يكفي؛ «القدرة على الاستعادة السريعة بعد الحوادث» تتطلب نسخة لا يصل إليها المهاجم. الثالثة: المرحلة 6 خطأ إجرائي لا تقني؛ تعليمات الهيئة هي التي تحدد توقيت الإبلاغ، لا رغبة الجهة في اكتمال الصورة. وبعد الحادثة، يُراجع المكون ‎2-13-4‎ وتُحدّث الخطط بالدروس المستفادة.</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ثلاثة مكونات فرعية تمتد خارج حدود الأنظمة: الأول يضمن أن تستمر الخدمات الحساسة رغم الحوادث، والآخران يضمنان أن الأطراف الخارجية ومزودي السحابة يحمون بيانات الجهة وخدماتها بالمستوى المطلوب. وفيها متطلب وطني مهم: مراكز عمليات خدمات الأمن السيبراني المدارة للتشغيل والمراقبة، التي تستخدم الوصول عن بعد، يجب أن تكون بالكامل داخل المملكة (‎4-1-3-2‎).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المكون الوحيد في الصمود. استمرارية الأعمال غالباً ملك إدارة أخرى، والمطلوب من الأمن السيبراني أن يضمن متطلباته داخل برنامجها القائم. والتشبيه بالمولد الاحتياطي يربط بفكرة الاختبار التي رأيناها في النسخ الاحتياطية.</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استمرارية الأعمال غالباً ملك إدارة أخرى في الجهة، مثل إدارة المخاطر أو الاستمرارية، فالمطلوب من الأمن السيبراني أن يضمن وجود متطلباته داخل برنامج الاستمرارية القائم، لا أن يبني برنامجاً موازياً. ‎3-1-3-1‎ فكرة دقيقة: عند التحول لموقع التعافي، هل تنتقل معك الحماية؟ كثير من مواقع التعافي فيها الأنظمة لكن بلا جدار حماية تطبيقات الويب، أو بلا ربط بمنصة المراقبة، أو بتحقق أضعف. فتصبح لحظة الأزمة هي لحظة الضعف. اختبر ذلك في تمارين التعافي: هل تعمل المراقبة والحماية في الموقع البديل؟</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ثلاث خطط تُخلط كثيراً. خطة الاستجابة للحوادث في ‎2-13‎ يملكها فريق الأمن السيبراني، وتركز على احتواء الهجوم والتحقيق والإبلاغ. خطة الاستمرارية في ‎3-1-3-2‎ تجيب: كيف نستمر في تقديم الخدمة الحساسة بينما الحادثة قائمة؟ مثلاً تشغيل يدوي مؤقت، أو موقع بديل. خطة التعافي في ‎3-1-3-3‎ تجيب: كيف نعيد الأنظمة والبيانات إلى العمل؟ الثلاث يجب أن تكون مترابطة: نقاط تسليم واضحة بينها، ومسؤول عن كل انتقال. الدليل الأقوى هنا تمرين مشترك يختبر الخطط الثلاث معاً على سيناريو سيبراني، مثل هجوم الفدية في التمرين السابق، لا ثلاثة تمارين منفصلة.</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لاحظ بنود التحقق الثلاثة في التقرير، فهي تطبيق مباشر للضابط ‎3-1-3-1‎: هل تنتقل الحماية معك إلى موقع التعافي؟ البند الثاني فشل، والسجلات لم تصل إلى منصة المراقبة، فلو كان المهاجم ما زال في الشبكة لما رآه أحد أثناء التعافي. هذا النوع من الاكتشاف هو قيمة التمرين.</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كثير من الاختراقات الكبرى في العالم جاءت عبر مورد. ركّز مع المبتدئين على أن الأمن هنا يُكتب في العقد قبل التوقيع، لا بعده. وفي المكون متطلب وطني مهم: مراكز عمليات خدمات الأمن السيبراني المُدارة التي تستخدم الوصول عن بعد تكون بالكامل داخل المملكة (‎4-1-3-2‎).</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هدف المكون: حماية أصول الجهة من مخاطر الأطراف الخارجية، بما فيها إسناد خدمات تقنية المعلومات، وإسناد الأمن السيبراني، والخدمات المدارة. أفضل طريقة للتطبيق ملحق أمن سيبراني موحد يُرفق بكل عقد ينطبق عليه ‎4-1-2‎، ويصبح جزءاً إلزامياً من إجراء المشتريات، فلا يعتمد على تذكر كل مدير مشروع. التحدي الحقيقي العقود القائمة: اجعل لها خطة تعديل عند التجديد، وسجلاً يبين أي العقود تحمل البنود وأيها لا. حق التدقيق في ‎4-1-2-3‎ ليس منصوصاً، لكنه الأداة العملية لإثبات أن الإلزام مطبق لا مكتوب فقط. اختبار المقيّم: عينة من العقود السارية، والبحث فيها عن البنود الثلاثة. نطاق ‎4-1-2‎: العقود والاتفاقيات، ومنها اتفاقيات مستوى الخدمة، التي قد يؤثر الإخلال بها على بيانات الجهة أو خدماتها.</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‎4-1-3‎ أضيق من ‎4-1-2‎: ينطبق على إسناد تقنية المعلومات أو الأمن السيبراني والخدمات المدارة تحديداً، وهي العقود التي يحصل فيها المورد عادة على وصول واسع لأنظمة الجهة. ‎4-1-3-1‎ يرتبط بالضابط ‎1-5-3-3‎ الذي رأيناه في المخاطر، والتاريخ هنا أيضاً هو الدليل: تقييم بعد التوقيع لا يثبت الامتثال. ‎4-1-3-2‎ يشترط أن تكون مراكز عمليات خدمات الأمن السيبراني المدارة للتشغيل والمراقبة، التي تستخدم الوصول عن بعد، بالكامل داخل المملكة؛ والقيد «خدمات الأمن السيبراني» مهم، فالضابط لا يشمل كل خدمة مُدارة. ويوضح الدليل الإرشادي للهيئة (ص 128) أن الدخول عن بعد لهذه المراكز يتم بالكامل داخل المملكة، فمراقبة جزء من الفريق عن بعد من خارجها لا تحقق الضابط. أما موقع المنصات التقنية فارجع فيه إلى النص والدليل الإرشادي والمتطلبات الأخرى المنطبقة. تحقق من ذلك صراحة مع المورد قبل الترسية، واطلب إقراراً مكتوباً وقائمة بمواقع التشغيل. تذكير: ‎4-1-3-2‎ متطلب وطني بلا مقابل مباشر في الأطر العالمية، ويُفحص قبل الترسية لا بعدها.</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ملحق موحد بهذا الشكل يحل مشكلة كبيرة: لا تعتمد الجهة على تذكر كل مدير مشروع لكتابة البنود. ربط كل بند برمز الضابط يجعل التقييم سهلاً جداً. وفي آخر السكربت نموذج كامل لهذا الملحق. ويبقى الفراغ في البند الرابع قراراً تتخذه الجهة بما يتوافق مع التزاماتها في الإبلاغ.</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نقطتان للمبتدئين: النقل إلى السحابة لا يعفي من بقية الضوابط، فيتغير فقط من ينفذ ماذا. والضوابط تنطبق على من يستخدم السحابة أو يخطط لاستخدامها، أي قبل التعاقد.</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‎4-2-3‎ في الوثيقة يبدأ بعبارة مهمة: المتطلبات هنا إضافة إلى الضوابط المنطبقة في المكونات الأساسية 1 و2 و3 والمكون الفرعي ‎4-1‎. أي أن نقل نظام للسحابة لا يعفيه من إدارة الهويات أو السجلات أو النسخ؛ يتغير فقط من ينفذ ماذا. أول خطوة عملية سجل الخدمات السحابية، ويشمل ما يُعرف بالسحابة غير المعتمدة: خدمات يشترك فيها موظفون أو أقسام دون علم تقنية المعلومات. أدوات مراقبة حركة الإنترنت تكشفها. وللجهات التي تنطبق عليها ضوابط الأمن السيبراني للحوسبة السحابية (CCC) متطلبات أكثر تفصيلاً هناك، وكذلك لمقدمي الخدمات السحابية أنفسهم.</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‎4-2-3-1‎ فيه شقان: الحماية حسب التصنيف أثناء الخدمة، والإعادة عند انتهائها «بصيغة قابلة للاستخدام». الشق الثاني يُغفل عادة حتى يحين وقت تغيير المزود، فتكتشف الجهة أن بياناتها لا تُصدَّر إلا بصيغة لا يقرؤها غير نظام المزود. لذلك حدد الصيغة في العقد، واختبر التصدير مرة على الأقل. ‎4-2-3-2‎ يذكر الخوادم الافتراضية بالاسم، لأن البيئات السحابية المشتركة تعني أن جهات متعددة تعمل على العتاد نفسه. المزودون الكبار يوثقون آليات العزل في تقارير تدقيق مستقلة، وهي دليل مقبول عادة. ارجع أيضاً إلى المتطلبات التنظيمية الوطنية المتعلقة بموقع استضافة البيانات حسب تصنيفها.</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توضيحي ببيانات افتراضية. الصف الثالث هو الأهم: خدمة مشاركة ملفات يستخدمها قسم دون علم تقنية المعلومات، ولا يعرف أحد ما البيانات فيها. هذا ما يسمى السحابة غير المعتمدة، وأدوات مراقبة حركة الإنترنت تكشفها. والإجراء الصحيح ليس العقاب فقط، بل توفير بديل معتمد يلبي حاجة القسم.</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البنود افتراضية ومبنية على أخطاء شائعة في العقود. اطلب من كل ثنائي أن يعيد صياغة بندين على الأقل بصياغة تحقق الضابط. هذا تمرين عملي جداً، لأن فرق الأمن السيبراني كثيراً ما تُطلب منها مراجعة العقود في يوم واحد قبل التوقيع.</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البند 3 يستحق نقاشاً: الضوابط تطلب «إجراءات التواصل في حال وقوع حادثة» ولا تحدد مدة، لكن ذكر الحادثة في تقرير شهري لا يمكّن الجهة من الاستجابة ولا من الالتزام بإبلاغ الهيئة في الوقت المطلوب. لذلك المدة تحددها الجهة بما يتوافق مع التزاماتها في ‎2-13-3-3‎. والبند 4 خطأ شائع جداً، فالمورد يلتزم بسياساته الخاصة، بينما الضابط يلزمه بمتطلبات الجهة. أما البند 6، فلا يمكن تصحيحه بأثر رجعي؛ الإجراء التصحيحي هو تعديل العملية لعقود المستقبل، وتقييم المخاطر الحالية للعقد القائم ومعالجتها.</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الامتثال ليس حالة نصل إليها مرة واحدة. نحو ربع الضوابط الأساسية مراجعات دورية، وأدلة التشغيل تتقادم كل شهر. هذه الوحدة تحول ما بنيناه إلى نظام يعمل بنفسه: وثائق محدثة، ومراجعات مجدولة، ومؤشرات تُرفع للجنة، وجاهزية دائمة للتقييم.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شريحة تمهيدية للمبتدئين. كثير من الجهات تعامل الامتثال كمشروع له بداية ونهاية: تجهز الوثائق والأدوات، تنجح في التقييم، ثم يتوقف العمل. بعد سنة تجد أن الصلاحيات تراكمت، والأجهزة الجديدة بلا حماية، والوثائق قديمة. الأسباب الأربعة هنا تشرح لماذا: البيئة تتغير، والضوابط نفسها تطلب مراجعات دورية في المكونات الفرعية (الضوابط التي تنتهي برقم 4 عادة)، والأدلة تفقد قيمتها مع الزمن، والتهديدات تتطور. لذلك تركز هذه الوحدة على أربع أدوات للاستدامة: حزمة الوثائق، وتقويم المراجعات، والمؤشرات، والجاهزية الدائمة للتقييم.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هذه حزمة مقترحة تغطي ضوابط التوثيق والاعتماد في كل المكونات الفرعية؛ قد تدمج الجهة بعضها أو تقسمها أكثر. ولا تنس المعايير التقنية التي يطلبها ‎1-3-3‎ تحت هذه السياسات، والإجراءات التشغيلية لكل منها. قاعدتان للحزمة: كل وثيقة لها مالك وموعد مراجعة ورقم إصدار، وكل ضابط توثيق في الضوابط له مكان واضح في وثيقة محددة، يظهر في جدول التتبع. وتذكر أن ‎1-3-1‎ يشترط اعتماد صاحب الصلاحية وتعميم الوثائق على المعنيين. نصيحة: اعتمد الحزمة دفعة واحدة إن أمكن، بدل عشرين دورة اعتماد منفصلة.</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التقويم يحول عبارة «دورياً» المتكررة في الضوابط إلى مواعيد فعلية. التكرارات مقترحة من الكورس كنقطة بداية لجهة متوسطة، وتُعدَّل حسب المخاطر والحجم. القاعدة الذهبية: اكتب في السياسة التكرار الذي تستطيع الالتزام به فعلاً، لأن المقيّم سيقيسك على ما كتبت. عمود «عند الحدث» لا يقل أهمية عن البقية: كثير من الضوابط تطلب المراجعة «أو عند تغير المتطلبات التشريعية والتنظيمية»، و‎1-5-3‎ يحدد أحداثاً يجب فيها تقييم المخاطر. ضع هذا التقويم في نظام إدارة المهام لدى الفريق، مع مالك لكل نشاط، واعرض حالته في تقرير اللجنة الإشرافية.</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المؤشرات مقترحة من الكورس، اختيرت لأنها تقيس الضوابط الأكثر أثراً في خفض المخاطر، ولأنها تُحسب من بيانات موجودة في الأنظمة. مؤشر واحد عام مثل نسبة الامتثال لا يكفي للجنة: قد ترتفع النسبة بإكمال وثائق، بينما تبقى الحسابات المميزة بلا تحقق متعدد العوامل. المؤشرات الثمانية تكشف ذلك. لكل مؤشر حدد هدفاً وحداً أدنى، واعرض الاتجاه عبر الزمن لا الرقم الحالي فقط. وهذه المؤشرات نفسها تصبح أدلة للمراجعات الدورية (‎X-4‎) وللتقييم الذاتي في ‎1-8-1‎. تصحيحات مهمة في هذا الإصدار: مؤشر التحقق متعدد العناصر يقيس الإلزام الفعلي لا التسجيل، لأن التسجيل بوسيلة تحقق لا يثبت أن التحقق مفروض. ومؤشر إلغاء الصلاحيات يقيس نسبة الحالات التي أُلغيت في كل الأنظمة ضمن معيار الجهة، مع عدد الحالات المتأخرة وأقصى تأخير، لأن المتوسط قد يخفي حالة واحدة بقيت نشطة أسابيع. ومؤشر الاستعادة يقيس تغطية الأنظمة الحرجة إلى جانب نسبة النجاح.</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نموذج دليل تدريبي بأرقام افتراضية لجهة النماذج نفسها، وكل رقم هنا يطابق شريحته: حماية نقاط النهاية من تقرير التغطية، والتحقق متعدد العناصر من مطابقة الحسابات المميزة، وإلغاء الصلاحيات من مطابقة انتهاء العلاقة، والمحاكاة من تقرير حملة أغسطس، وكلها في ‎2026-09-30‎. اللوحة تفصل ثلاثة أسئلة لا يجوز خلطها: هل تحقق الهدف الداخلي الذي وضعته الإدارة؟ وهل اكتمل تطبيق المتطلب التنظيمي؟ وما الفجوة أو الخطر المتبقي؟ مثالان: تغطية سجلات الأصول الحساسة 92% فوق الهدف الداخلي 90%، فالهدف متحقق، لكن المتطلب لم يكتمل لأن أربعة أصول حساسة بلا سجلات. واختبارات الاستعادة نجحت كلها، لكنها غطت أربعة أنظمة حرجة من تسعة، فلا يكفي المؤشر للحكم. أما إلغاء الصلاحيات فيُقاس بنسبة الحالات التي أُلغيت في الموعد وعدد المتأخرة، لا بالمتوسط، لأن متوسطاً منخفضاً قد يخفي حساباً بقي نشطاً أسابيع. المقيّم يطلب محاضر اللجنة التي ناقشت اللوحة، ويتتبع رقمين أو ثلاثة إلى مصدرها، ويطلب خطة بمالك وموعد لكل فجوة.</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تقيّم الهيئة الامتثال بعدة وسائل حسب الوثيقة: الزيارات الميدانية للتدقيق، أو التقييم الذاتي للجهات، أو وفق الآلية التي تراها الهيئة مناسبة؛ وتصدر الهيئة أداة لمساعدة الجهات على قياس التزامها. هذه القائمة ممارسات مقترحة من الكورس للاستعداد، وليست إجراءات الهيئة الرسمية؛ اتبع دائماً تعليمات الهيئة وأداتها المعتمدة. أهم نقطة: الجهة الجاهزة لا تستعد للتقييم في الشهر الأخير، بل تكون أدلتها محدثة دائماً لأن سجل الأدلة وتقويم الاستدامة يعملان طوال السنة. والصراحة في الفجوات مع خطة معالجة واضحة بمالك وموعد أفضل من محاولة تجميل الوضع، فالمقيّم سيكتشف الفجوة عند فحص العينة.</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اسأل المتدربين: أي هذه الأخطاء رأيتموه في جهاتكم؟ الثاني هو الأكثر شيوعاً بلا منازع: حزمة سياسات معتمدة وممتازة، وتطبيق جزئي أو غائب. والسادس خطير لأن «غير منطبق» يخرج الضابط من القياس، فيرفع النسبة دون أن يتحسن الأمن. والسابع يقع فيه من ينقل تجربة تطبيق ISO 27001 أو NIST مباشرة، لأن هذه المتطلبات وطنية: استقلال الإدارة عن تقنية المعلومات، والتوطين الكامل لوظائف الأمن السيبراني، والمعايير الوطنية للتشفير، والإبلاغ للهيئة ومشاركة المعلومات معها، ومراكز عمليات خدمات الأمن السيبراني المدارة داخل المملكة؛ ويضاف إليها الاحتفاظ بالسجلات 12 شهراً، وهي المدة الزمنية الوحيدة المحددة في الضوابط.</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هو المشروع الختامي للكورس، وله مساران. المسار الأول لمن يعمل في جهة: يعمل على مكون فرعي حقيقي من جهته. والمسار الثاني لمن لا يعمل، ومنهم الخريجون: يستخدم ملف «هيئة المدار للخدمات الرقمية» الافتراضية وملفات التطبيقات الثلاثة (‎2-2‎ و‎2-9‎ و‎4-1‎)، وفيها كل المعطيات والأدلة اللازمة، فلا يخترع المتدرب أدلة ولا يحتاج بيانات من جهة عمل. في المسار الأول يعمل المتدرب على مكون حقيقي من جهته، ويستخدم جداول الوحدات 4 إلى 7 مرجعاً، وأمثلة الأدلة فيها لتحديد الحقل السادس. البطاقة بحقولها السبعة تصلح نموذجاً موحداً لخطة تطبيق كل المكونات في الجهة؛ اجمع بطاقات المكونات الثمانية والعشرين فتحصل على خطة البرنامج كاملة. للمبتدئين: ابدأ بمكون تعرفه في عملك اليومي، مثل الهويات والصلاحيات أو النسخ الاحتياطية، لا بمكون لا تملك عنه معلومات. اعرض بعد التمرين المثال المكتمل في الشريحة التالية، ثم اطلب من متطوعَين عرض بطاقتيهما للنقاش.</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لاحظ كيف تغطي البطاقة الطبقات الأربع: الوثائق للطبقة الأولى، والمبادرات للثانية والثالثة، والاستدامة للرابعة. ولاحظ أن المبادرات مرتبة حسب الاعتماديات: الحصر أولاً، ثم التحقق، ثم نظام إدارة الصلاحيات. الأسماء بين الأقواس والمدد أمثلة تعبئها الجهة. وأي فجوة يقيّمها فريق المخاطر عالية، مثل غياب التحقق للحسابات المميزة، قد تستدعي تسريع المواعيد. ملاحظة: «المميزة» في الجدول اختصار لـ«الحسابات ذات الصلاحيات الهامة والحساسة». وتقييم أثر فشل التحقق وتخطيه ليس اختيارياً: الضابط ‎2-2-3-2‎ ينص على تحديد عناصر التحقق المناسبة وعددها وتقنياتها بناءً على نتائجه، لذلك ظهر في الوثائق وفي الأدلة المطلوبة. والمدد في الحقل الخامس افتراضية للتخطيط وليست مهلة من الهيئة؛ والحسابات المميزة المكشوفة للدخول عن بعد بلا إلزام قد تستدعي ضابطاً مؤقتاً عاجلاً، مثل تقييد الدخول عن بعد لها، قبل اكتمال المبادرة. والمراجعة الدورية في ‎2-2-4‎ لا تحدد الوثيقة تكرارها، فتحدده الجهة في سياستها.</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هذا المسار لمن لا يملك بيانات من جهة عمل، ومنهم الخريجون. الجهة «هيئة المدار للخدمات الرقمية» افتراضية بالكامل، ومستقلة عن جهة النماذج في شرائح الكورس، فلا تخلط أرقامها بأرقام الشرائح. وزّع على المتدربين ملف الجهة (00_ملف_الجهة_الافتراضية) أولاً، ثم ملفات التطبيق الذي يعملون عليه. ملفات الحل ومعايير التصحيح تبقى مع المدرب، ولا توزع إلا بعد التسليم. القاعدة الأهم: المتدرب يقيّم أدلة موجودة ولا يخترعها؛ وإن احتاج معلومة غير موجودة فهذه نتيجة بحد ذاتها، يكتبها طلباً مبرراً في عمود المعلومات الناقصة.</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لكل تطبيق مجلد مستقل: ملف الحالة بالتعليمات والمعطيات، وملف بيانات بالجداول عند الحاجة، وقالب فارغ للإجابة، وملف منفصل للحل ومعيار التصحيح يبقى مع المدرب. المعيار يقبل البدائل المبررة: المهم أن يربط المتدرب كل ملاحظة بالضابط الصحيح، ويفرق بين ما يثبته الدليل وما لا يثبته، ويطلب المعلومات الناقصة، ويكتب حكماً مبرراً وخطة معالجة واقعية، لا أن يحفظ أرقام الضوابط. اقتراح للتنظيم: مجموعات من ثلاثة، كل مجموعة تطبيق، ثم عرض النتائج ومقارنتها بالحل. ويمكن بدلاً من ذلك تنفيذ كل تطبيق بعد شرائح مكونه: ‎2-2‎ في الوحدة 05، و‎2-9‎ في الوحدة 06، و‎4-1‎ في الوحدة 07، كما يقترح ملف README المرفقات؛ والمدد المذكورة للعمل، يضاف إليها نحو 20 دقيقة للمراجعة.</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الاختبار مغلق الكتاب، عشر دقائق للأسئلة العشرة. اقتراح: سبع إجابات صحيحة حد أدنى للاجتياز. الأسئلة تركز على ما يُخطئ فيه المطبقون عادة، لا على الحفظ.</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الأسئلة الخمسة الأولى تغطي الحوكمة وبداية التعزيز. السؤال 4 هو الأهم: يقيس معرفة أحد أبرز تغييرات الإصدار الثاني. والسؤال 3 يقيس الفهم لا الحفظ: الضابط يحدد حالات بعينها، ولا يكتفي بتقييم سنوي. مفتاح الإجابات ومعيار التصحيح في ملف منفصل (05_الاختبار_المعرفي)، ولا يُعرض قبل تسليم الإجابات.</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أعطِ المتدربين عشر دقائق للشريحتين معاً. السؤال 10 يستحق نقاشاً بعد الإجابة: نص قابلية التطبيق في الوثيقة يقول إن ضوابط ‎4-2‎ ملزمة للجهات التي تستخدم السحابة والاستضافة أو تخطط لاستخدامها، أي أن الاستعداد يبدأ قبل التعاقد. بعد هذا الجزء يأتي اختبار الأداء، وهو الأهم: الحكم على خمسة أدلة. الحلول ومعايير التصحيح في ملف منفصل.</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الجزء الثاني من الاختبار النهائي، وهو الأهم: 20 درجة لكل دليل، ومعظمها على التحليل والتبرير لا على رقم الضابط. المسموح: وثيقة ‎ECC-2:2024‎ الرسمية وملف الجهة الافتراضية «هيئة المدار». وزّع على المتدربين ملفي «أدلة الاختبار» و«ورقة الإجابة» من المجلد 04_اختبار_الأداء، واحتفظ بملف «مفتاح الحل ومعيار التصحيح» عندك حتى بعد التسليم. المعيار يقبل البدائل المبررة، مثل ربط الدليل الأول بالضابط ‎2-2-4‎ إضافة إلى ‎2-2-3-2‎. اعرض كل دليل على الشاشة أثناء الاختبار ولا تعلّق عليه.</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دليل اختبار ببيانات افتراضية لهيئة المدار، ونصه الكامل في ملف «أدلة الاختبار». لا تعلّق على الدليل أثناء الاختبار؛ الحل في ملف المدرب المنفصل.</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دليل اختبار ببيانات افتراضية لهيئة المدار، ونصه الكامل في ملف «أدلة الاختبار». لا تعلّق على الدليل أثناء الاختبار؛ الحل في ملف المدرب المنفصل.</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دليل اختبار ببيانات افتراضية لهيئة المدار، ونصه الكامل في ملف «أدلة الاختبار». لا تعلّق على الدليل أثناء الاختبار؛ الحل في ملف المدرب المنفصل.</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دليل اختبار ببيانات افتراضية لهيئة المدار، ونصه الكامل في ملف «أدلة الاختبار». لا تعلّق على الدليل أثناء الاختبار؛ الحل في ملف المدرب المنفصل.</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دليل اختبار ببيانات افتراضية لهيئة المدار، ونصه الكامل في ملف «أدلة الاختبار». لا تعلّق على الدليل أثناء الاختبار؛ الحل في ملف المدرب المنفصل.</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دليل اختبار ببيانات افتراضية لهيئة المدار، ونصه الكامل في ملف «أدلة الاختبار». لا تعلّق على الدليل أثناء الاختبار؛ الحل في ملف المدرب المنفصل.</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شريحة للمبتدئين تحوّل الكورس إلى خطة عمل. الخطوة الأولى أهمها: الشرائح تعيد صياغة الضوابط للشرح، والمرجع الملزم هو وثيقة الضوابط الرسمية من موقع الهيئة الوطنية للأمن السيبراني، والنص العربي هو المعتمد عند أي اختلاف. الخطوة الثانية هي التكليف العملي من التمرين 8. الخطوة الثالثة لأن سجل الأدلة هو ما يجعل التقييم سهلاً لاحقاً. والرابعة لأن هذا الكورس جزء من سلسلة: تقييم المخاطر يحدد ما يجب حمايته أولاً، وتقييم الفجوات يقيس الوضع الحالي، وهذا الكورس يشرح التطبيق.</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a:latin typeface="IBM Plex Sans Arabic"/>
                <a:cs typeface="IBM Plex Sans Arabic"/>
              </a:rPr>
              <a:t>قارن المربعات هنا بمربعات الغلاف: هناك كانت المكونات الفرعية الثمانية والعشرون ملونة حسب المكون الأساسي، وهنا ملونة حسب حالة التطبيق بعد البرنامج: أغلبها مطبق (أخضر)، واثنان قيد الاستكمال (أصفر)، وواحد غير منطبق بمبرر معتمد (رمادي). هذا هدف واقعي لنهاية البرنامج. اختم بتكليف عملي: خلال أسبوعين يكمل كل متدرب بطاقة التطبيق لمكونه الفرعي من التمرين 8، ويعرضها على مديره. وذكّرهم بأن هذا الكورس جزء من سلسلة: تقييم المخاطر، ثم تقييم الفجوات، ثم التطبيق. افتح المجال للأسئلة.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4.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22.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22.pn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4.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5.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image" Target="../media/image38.png"/><Relationship Id="rId6"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3.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45.png"/><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50.jpg"/><Relationship Id="rId6" Type="http://schemas.openxmlformats.org/officeDocument/2006/relationships/image" Target="../media/image51.png"/><Relationship Id="rId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2.png"/><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53.png"/><Relationship Id="rId6"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54.png"/><Relationship Id="rId6"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5.png"/><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56.png"/><Relationship Id="rId6"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2.png"/><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57.jpg"/><Relationship Id="rId6"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59.png"/><Relationship Id="rId6"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60.png"/><Relationship Id="rId6"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2.png"/><Relationship Id="rId4"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61.png"/><Relationship Id="rId6"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62.png"/><Relationship Id="rId6"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63.jpg"/><Relationship Id="rId6"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64.jpg"/><Relationship Id="rId6" Type="http://schemas.openxmlformats.org/officeDocument/2006/relationships/image" Target="../media/image65.jpg"/><Relationship Id="rId7"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66.jpg"/><Relationship Id="rId6"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7.png"/><Relationship Id="rId4" Type="http://schemas.openxmlformats.org/officeDocument/2006/relationships/image" Target="../media/image58.png"/><Relationship Id="rId5" Type="http://schemas.openxmlformats.org/officeDocument/2006/relationships/image" Target="../media/image68.png"/><Relationship Id="rId6"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2.png"/><Relationship Id="rId4" Type="http://schemas.openxmlformats.org/officeDocument/2006/relationships/image" Target="../media/image28.png"/><Relationship Id="rId5"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6.png"/><Relationship Id="rId4" Type="http://schemas.openxmlformats.org/officeDocument/2006/relationships/image" Target="../media/image28.png"/><Relationship Id="rId5"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7.png"/><Relationship Id="rId4"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6.png"/><Relationship Id="rId4" Type="http://schemas.openxmlformats.org/officeDocument/2006/relationships/image" Target="../media/image28.png"/><Relationship Id="rId5"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7.png"/><Relationship Id="rId4" Type="http://schemas.openxmlformats.org/officeDocument/2006/relationships/image" Target="../media/image21.png"/><Relationship Id="rId5" Type="http://schemas.openxmlformats.org/officeDocument/2006/relationships/image" Target="../media/image2.png"/><Relationship Id="rId6" Type="http://schemas.openxmlformats.org/officeDocument/2006/relationships/image" Target="../media/image15.png"/><Relationship Id="rId7"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26.png"/><Relationship Id="rId4" Type="http://schemas.openxmlformats.org/officeDocument/2006/relationships/image" Target="../media/image81.png"/><Relationship Id="rId5" Type="http://schemas.openxmlformats.org/officeDocument/2006/relationships/image" Target="../media/image4.png"/><Relationship Id="rId6"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82.png"/><Relationship Id="rId6" Type="http://schemas.openxmlformats.org/officeDocument/2006/relationships/image" Target="../media/image15.png"/><Relationship Id="rId7"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3926086" y="1905000"/>
            <a:ext cx="442714" cy="450850"/>
          </a:xfrm>
          <a:prstGeom prst="roundRect">
            <a:avLst>
              <a:gd name="adj" fmla="val 11474"/>
            </a:avLst>
          </a:prstGeom>
          <a:solidFill>
            <a:srgbClr val="F29A68"/>
          </a:solidFill>
          <a:ln>
            <a:noFill/>
          </a:ln>
        </p:spPr>
        <p:txBody>
          <a:bodyPr rtlCol="0" anchor="ctr"/>
          <a:lstStyle/>
          <a:p>
            <a:pPr algn="ctr"/>
          </a:p>
        </p:txBody>
      </p:sp>
      <p:sp>
        <p:nvSpPr>
          <p:cNvPr id="3" name="Box 2"/>
          <p:cNvSpPr/>
          <p:nvPr/>
        </p:nvSpPr>
        <p:spPr>
          <a:xfrm>
            <a:off x="3407172" y="1905000"/>
            <a:ext cx="442714" cy="450850"/>
          </a:xfrm>
          <a:prstGeom prst="roundRect">
            <a:avLst>
              <a:gd name="adj" fmla="val 11474"/>
            </a:avLst>
          </a:prstGeom>
          <a:solidFill>
            <a:srgbClr val="F29A68"/>
          </a:solidFill>
          <a:ln>
            <a:noFill/>
          </a:ln>
        </p:spPr>
        <p:txBody>
          <a:bodyPr rtlCol="0" anchor="ctr"/>
          <a:lstStyle/>
          <a:p>
            <a:pPr algn="ctr"/>
          </a:p>
        </p:txBody>
      </p:sp>
      <p:sp>
        <p:nvSpPr>
          <p:cNvPr id="4" name="Box 3"/>
          <p:cNvSpPr/>
          <p:nvPr/>
        </p:nvSpPr>
        <p:spPr>
          <a:xfrm>
            <a:off x="2888258" y="1905000"/>
            <a:ext cx="442714" cy="450850"/>
          </a:xfrm>
          <a:prstGeom prst="roundRect">
            <a:avLst>
              <a:gd name="adj" fmla="val 11474"/>
            </a:avLst>
          </a:prstGeom>
          <a:solidFill>
            <a:srgbClr val="F29A68"/>
          </a:solidFill>
          <a:ln>
            <a:noFill/>
          </a:ln>
        </p:spPr>
        <p:txBody>
          <a:bodyPr rtlCol="0" anchor="ctr"/>
          <a:lstStyle/>
          <a:p>
            <a:pPr algn="ctr"/>
          </a:p>
        </p:txBody>
      </p:sp>
      <p:sp>
        <p:nvSpPr>
          <p:cNvPr id="5" name="Box 4"/>
          <p:cNvSpPr/>
          <p:nvPr/>
        </p:nvSpPr>
        <p:spPr>
          <a:xfrm>
            <a:off x="2369344" y="1905000"/>
            <a:ext cx="442714" cy="450850"/>
          </a:xfrm>
          <a:prstGeom prst="roundRect">
            <a:avLst>
              <a:gd name="adj" fmla="val 11474"/>
            </a:avLst>
          </a:prstGeom>
          <a:solidFill>
            <a:srgbClr val="F29A68"/>
          </a:solidFill>
          <a:ln>
            <a:noFill/>
          </a:ln>
        </p:spPr>
        <p:txBody>
          <a:bodyPr rtlCol="0" anchor="ctr"/>
          <a:lstStyle/>
          <a:p>
            <a:pPr algn="ctr"/>
          </a:p>
        </p:txBody>
      </p:sp>
      <p:sp>
        <p:nvSpPr>
          <p:cNvPr id="6" name="Box 5"/>
          <p:cNvSpPr/>
          <p:nvPr/>
        </p:nvSpPr>
        <p:spPr>
          <a:xfrm>
            <a:off x="1850430" y="1905000"/>
            <a:ext cx="442714" cy="450850"/>
          </a:xfrm>
          <a:prstGeom prst="roundRect">
            <a:avLst>
              <a:gd name="adj" fmla="val 11474"/>
            </a:avLst>
          </a:prstGeom>
          <a:solidFill>
            <a:srgbClr val="F29A68"/>
          </a:solidFill>
          <a:ln>
            <a:noFill/>
          </a:ln>
        </p:spPr>
        <p:txBody>
          <a:bodyPr rtlCol="0" anchor="ctr"/>
          <a:lstStyle/>
          <a:p>
            <a:pPr algn="ctr"/>
          </a:p>
        </p:txBody>
      </p:sp>
      <p:sp>
        <p:nvSpPr>
          <p:cNvPr id="7" name="Box 6"/>
          <p:cNvSpPr/>
          <p:nvPr/>
        </p:nvSpPr>
        <p:spPr>
          <a:xfrm>
            <a:off x="1331516" y="1905000"/>
            <a:ext cx="442714" cy="450850"/>
          </a:xfrm>
          <a:prstGeom prst="roundRect">
            <a:avLst>
              <a:gd name="adj" fmla="val 11474"/>
            </a:avLst>
          </a:prstGeom>
          <a:solidFill>
            <a:srgbClr val="F29A68"/>
          </a:solidFill>
          <a:ln>
            <a:noFill/>
          </a:ln>
        </p:spPr>
        <p:txBody>
          <a:bodyPr rtlCol="0" anchor="ctr"/>
          <a:lstStyle/>
          <a:p>
            <a:pPr algn="ctr"/>
          </a:p>
        </p:txBody>
      </p:sp>
      <p:sp>
        <p:nvSpPr>
          <p:cNvPr id="8" name="Box 7"/>
          <p:cNvSpPr/>
          <p:nvPr/>
        </p:nvSpPr>
        <p:spPr>
          <a:xfrm>
            <a:off x="812602" y="1905000"/>
            <a:ext cx="442714" cy="450850"/>
          </a:xfrm>
          <a:prstGeom prst="roundRect">
            <a:avLst>
              <a:gd name="adj" fmla="val 11474"/>
            </a:avLst>
          </a:prstGeom>
          <a:solidFill>
            <a:srgbClr val="F29A68"/>
          </a:solidFill>
          <a:ln>
            <a:noFill/>
          </a:ln>
        </p:spPr>
        <p:txBody>
          <a:bodyPr rtlCol="0" anchor="ctr"/>
          <a:lstStyle/>
          <a:p>
            <a:pPr algn="ctr"/>
          </a:p>
        </p:txBody>
      </p:sp>
      <p:sp>
        <p:nvSpPr>
          <p:cNvPr id="9" name="Box 8"/>
          <p:cNvSpPr/>
          <p:nvPr/>
        </p:nvSpPr>
        <p:spPr>
          <a:xfrm>
            <a:off x="3926086" y="2432050"/>
            <a:ext cx="442714" cy="450850"/>
          </a:xfrm>
          <a:prstGeom prst="roundRect">
            <a:avLst>
              <a:gd name="adj" fmla="val 11474"/>
            </a:avLst>
          </a:prstGeom>
          <a:solidFill>
            <a:srgbClr val="F29A68"/>
          </a:solidFill>
          <a:ln>
            <a:noFill/>
          </a:ln>
        </p:spPr>
        <p:txBody>
          <a:bodyPr rtlCol="0" anchor="ctr"/>
          <a:lstStyle/>
          <a:p>
            <a:pPr algn="ctr"/>
          </a:p>
        </p:txBody>
      </p:sp>
      <p:sp>
        <p:nvSpPr>
          <p:cNvPr id="10" name="Box 9"/>
          <p:cNvSpPr/>
          <p:nvPr/>
        </p:nvSpPr>
        <p:spPr>
          <a:xfrm>
            <a:off x="3407172" y="2432050"/>
            <a:ext cx="442714" cy="450850"/>
          </a:xfrm>
          <a:prstGeom prst="roundRect">
            <a:avLst>
              <a:gd name="adj" fmla="val 11474"/>
            </a:avLst>
          </a:prstGeom>
          <a:solidFill>
            <a:srgbClr val="F29A68"/>
          </a:solidFill>
          <a:ln>
            <a:noFill/>
          </a:ln>
        </p:spPr>
        <p:txBody>
          <a:bodyPr rtlCol="0" anchor="ctr"/>
          <a:lstStyle/>
          <a:p>
            <a:pPr algn="ctr"/>
          </a:p>
        </p:txBody>
      </p:sp>
      <p:sp>
        <p:nvSpPr>
          <p:cNvPr id="11" name="Box 10"/>
          <p:cNvSpPr/>
          <p:nvPr/>
        </p:nvSpPr>
        <p:spPr>
          <a:xfrm>
            <a:off x="2888258" y="2432050"/>
            <a:ext cx="442714" cy="450850"/>
          </a:xfrm>
          <a:prstGeom prst="roundRect">
            <a:avLst>
              <a:gd name="adj" fmla="val 11474"/>
            </a:avLst>
          </a:prstGeom>
          <a:solidFill>
            <a:srgbClr val="F29A68"/>
          </a:solidFill>
          <a:ln>
            <a:noFill/>
          </a:ln>
        </p:spPr>
        <p:txBody>
          <a:bodyPr rtlCol="0" anchor="ctr"/>
          <a:lstStyle/>
          <a:p>
            <a:pPr algn="ctr"/>
          </a:p>
        </p:txBody>
      </p:sp>
      <p:sp>
        <p:nvSpPr>
          <p:cNvPr id="12" name="Box 11"/>
          <p:cNvSpPr/>
          <p:nvPr/>
        </p:nvSpPr>
        <p:spPr>
          <a:xfrm>
            <a:off x="2369344" y="2432050"/>
            <a:ext cx="442714" cy="450850"/>
          </a:xfrm>
          <a:prstGeom prst="roundRect">
            <a:avLst>
              <a:gd name="adj" fmla="val 11474"/>
            </a:avLst>
          </a:prstGeom>
          <a:solidFill>
            <a:srgbClr val="7FB2EA"/>
          </a:solidFill>
          <a:ln>
            <a:noFill/>
          </a:ln>
        </p:spPr>
        <p:txBody>
          <a:bodyPr rtlCol="0" anchor="ctr"/>
          <a:lstStyle/>
          <a:p>
            <a:pPr algn="ctr"/>
          </a:p>
        </p:txBody>
      </p:sp>
      <p:sp>
        <p:nvSpPr>
          <p:cNvPr id="13" name="Box 12"/>
          <p:cNvSpPr/>
          <p:nvPr/>
        </p:nvSpPr>
        <p:spPr>
          <a:xfrm>
            <a:off x="1850430" y="2432050"/>
            <a:ext cx="442714" cy="450850"/>
          </a:xfrm>
          <a:prstGeom prst="roundRect">
            <a:avLst>
              <a:gd name="adj" fmla="val 11474"/>
            </a:avLst>
          </a:prstGeom>
          <a:solidFill>
            <a:srgbClr val="7FB2EA"/>
          </a:solidFill>
          <a:ln>
            <a:noFill/>
          </a:ln>
        </p:spPr>
        <p:txBody>
          <a:bodyPr rtlCol="0" anchor="ctr"/>
          <a:lstStyle/>
          <a:p>
            <a:pPr algn="ctr"/>
          </a:p>
        </p:txBody>
      </p:sp>
      <p:sp>
        <p:nvSpPr>
          <p:cNvPr id="14" name="Box 13"/>
          <p:cNvSpPr/>
          <p:nvPr/>
        </p:nvSpPr>
        <p:spPr>
          <a:xfrm>
            <a:off x="1331516" y="2432050"/>
            <a:ext cx="442714" cy="450850"/>
          </a:xfrm>
          <a:prstGeom prst="roundRect">
            <a:avLst>
              <a:gd name="adj" fmla="val 11474"/>
            </a:avLst>
          </a:prstGeom>
          <a:solidFill>
            <a:srgbClr val="7FB2EA"/>
          </a:solidFill>
          <a:ln>
            <a:noFill/>
          </a:ln>
        </p:spPr>
        <p:txBody>
          <a:bodyPr rtlCol="0" anchor="ctr"/>
          <a:lstStyle/>
          <a:p>
            <a:pPr algn="ctr"/>
          </a:p>
        </p:txBody>
      </p:sp>
      <p:sp>
        <p:nvSpPr>
          <p:cNvPr id="15" name="Box 14"/>
          <p:cNvSpPr/>
          <p:nvPr/>
        </p:nvSpPr>
        <p:spPr>
          <a:xfrm>
            <a:off x="812602" y="2432050"/>
            <a:ext cx="442714" cy="450850"/>
          </a:xfrm>
          <a:prstGeom prst="roundRect">
            <a:avLst>
              <a:gd name="adj" fmla="val 11474"/>
            </a:avLst>
          </a:prstGeom>
          <a:solidFill>
            <a:srgbClr val="7FB2EA"/>
          </a:solidFill>
          <a:ln>
            <a:noFill/>
          </a:ln>
        </p:spPr>
        <p:txBody>
          <a:bodyPr rtlCol="0" anchor="ctr"/>
          <a:lstStyle/>
          <a:p>
            <a:pPr algn="ctr"/>
          </a:p>
        </p:txBody>
      </p:sp>
      <p:sp>
        <p:nvSpPr>
          <p:cNvPr id="16" name="Box 15"/>
          <p:cNvSpPr/>
          <p:nvPr/>
        </p:nvSpPr>
        <p:spPr>
          <a:xfrm>
            <a:off x="3926086" y="2959100"/>
            <a:ext cx="442714" cy="450850"/>
          </a:xfrm>
          <a:prstGeom prst="roundRect">
            <a:avLst>
              <a:gd name="adj" fmla="val 11474"/>
            </a:avLst>
          </a:prstGeom>
          <a:solidFill>
            <a:srgbClr val="7FB2EA"/>
          </a:solidFill>
          <a:ln>
            <a:noFill/>
          </a:ln>
        </p:spPr>
        <p:txBody>
          <a:bodyPr rtlCol="0" anchor="ctr"/>
          <a:lstStyle/>
          <a:p>
            <a:pPr algn="ctr"/>
          </a:p>
        </p:txBody>
      </p:sp>
      <p:sp>
        <p:nvSpPr>
          <p:cNvPr id="17" name="Box 16"/>
          <p:cNvSpPr/>
          <p:nvPr/>
        </p:nvSpPr>
        <p:spPr>
          <a:xfrm>
            <a:off x="3407172" y="2959100"/>
            <a:ext cx="442714" cy="450850"/>
          </a:xfrm>
          <a:prstGeom prst="roundRect">
            <a:avLst>
              <a:gd name="adj" fmla="val 11474"/>
            </a:avLst>
          </a:prstGeom>
          <a:solidFill>
            <a:srgbClr val="7FB2EA"/>
          </a:solidFill>
          <a:ln>
            <a:noFill/>
          </a:ln>
        </p:spPr>
        <p:txBody>
          <a:bodyPr rtlCol="0" anchor="ctr"/>
          <a:lstStyle/>
          <a:p>
            <a:pPr algn="ctr"/>
          </a:p>
        </p:txBody>
      </p:sp>
      <p:sp>
        <p:nvSpPr>
          <p:cNvPr id="18" name="Box 17"/>
          <p:cNvSpPr/>
          <p:nvPr/>
        </p:nvSpPr>
        <p:spPr>
          <a:xfrm>
            <a:off x="2888258" y="2959100"/>
            <a:ext cx="442714" cy="450850"/>
          </a:xfrm>
          <a:prstGeom prst="roundRect">
            <a:avLst>
              <a:gd name="adj" fmla="val 11474"/>
            </a:avLst>
          </a:prstGeom>
          <a:solidFill>
            <a:srgbClr val="7FB2EA"/>
          </a:solidFill>
          <a:ln>
            <a:noFill/>
          </a:ln>
        </p:spPr>
        <p:txBody>
          <a:bodyPr rtlCol="0" anchor="ctr"/>
          <a:lstStyle/>
          <a:p>
            <a:pPr algn="ctr"/>
          </a:p>
        </p:txBody>
      </p:sp>
      <p:sp>
        <p:nvSpPr>
          <p:cNvPr id="19" name="Box 18"/>
          <p:cNvSpPr/>
          <p:nvPr/>
        </p:nvSpPr>
        <p:spPr>
          <a:xfrm>
            <a:off x="2369344" y="2959100"/>
            <a:ext cx="442714" cy="450850"/>
          </a:xfrm>
          <a:prstGeom prst="roundRect">
            <a:avLst>
              <a:gd name="adj" fmla="val 11474"/>
            </a:avLst>
          </a:prstGeom>
          <a:solidFill>
            <a:srgbClr val="7FB2EA"/>
          </a:solidFill>
          <a:ln>
            <a:noFill/>
          </a:ln>
        </p:spPr>
        <p:txBody>
          <a:bodyPr rtlCol="0" anchor="ctr"/>
          <a:lstStyle/>
          <a:p>
            <a:pPr algn="ctr"/>
          </a:p>
        </p:txBody>
      </p:sp>
      <p:sp>
        <p:nvSpPr>
          <p:cNvPr id="20" name="Box 19"/>
          <p:cNvSpPr/>
          <p:nvPr/>
        </p:nvSpPr>
        <p:spPr>
          <a:xfrm>
            <a:off x="1850430" y="2959100"/>
            <a:ext cx="442714" cy="450850"/>
          </a:xfrm>
          <a:prstGeom prst="roundRect">
            <a:avLst>
              <a:gd name="adj" fmla="val 11474"/>
            </a:avLst>
          </a:prstGeom>
          <a:solidFill>
            <a:srgbClr val="7FB2EA"/>
          </a:solidFill>
          <a:ln>
            <a:noFill/>
          </a:ln>
        </p:spPr>
        <p:txBody>
          <a:bodyPr rtlCol="0" anchor="ctr"/>
          <a:lstStyle/>
          <a:p>
            <a:pPr algn="ctr"/>
          </a:p>
        </p:txBody>
      </p:sp>
      <p:sp>
        <p:nvSpPr>
          <p:cNvPr id="21" name="Box 20"/>
          <p:cNvSpPr/>
          <p:nvPr/>
        </p:nvSpPr>
        <p:spPr>
          <a:xfrm>
            <a:off x="1331516" y="2959100"/>
            <a:ext cx="442714" cy="450850"/>
          </a:xfrm>
          <a:prstGeom prst="roundRect">
            <a:avLst>
              <a:gd name="adj" fmla="val 11474"/>
            </a:avLst>
          </a:prstGeom>
          <a:solidFill>
            <a:srgbClr val="7FB2EA"/>
          </a:solidFill>
          <a:ln>
            <a:noFill/>
          </a:ln>
        </p:spPr>
        <p:txBody>
          <a:bodyPr rtlCol="0" anchor="ctr"/>
          <a:lstStyle/>
          <a:p>
            <a:pPr algn="ctr"/>
          </a:p>
        </p:txBody>
      </p:sp>
      <p:sp>
        <p:nvSpPr>
          <p:cNvPr id="22" name="Box 21"/>
          <p:cNvSpPr/>
          <p:nvPr/>
        </p:nvSpPr>
        <p:spPr>
          <a:xfrm>
            <a:off x="812602" y="2959100"/>
            <a:ext cx="442714" cy="450850"/>
          </a:xfrm>
          <a:prstGeom prst="roundRect">
            <a:avLst>
              <a:gd name="adj" fmla="val 11474"/>
            </a:avLst>
          </a:prstGeom>
          <a:solidFill>
            <a:srgbClr val="7FB2EA"/>
          </a:solidFill>
          <a:ln>
            <a:noFill/>
          </a:ln>
        </p:spPr>
        <p:txBody>
          <a:bodyPr rtlCol="0" anchor="ctr"/>
          <a:lstStyle/>
          <a:p>
            <a:pPr algn="ctr"/>
          </a:p>
        </p:txBody>
      </p:sp>
      <p:sp>
        <p:nvSpPr>
          <p:cNvPr id="23" name="Box 22"/>
          <p:cNvSpPr/>
          <p:nvPr/>
        </p:nvSpPr>
        <p:spPr>
          <a:xfrm>
            <a:off x="3926086" y="3486150"/>
            <a:ext cx="442714" cy="450850"/>
          </a:xfrm>
          <a:prstGeom prst="roundRect">
            <a:avLst>
              <a:gd name="adj" fmla="val 11474"/>
            </a:avLst>
          </a:prstGeom>
          <a:solidFill>
            <a:srgbClr val="7FB2EA"/>
          </a:solidFill>
          <a:ln>
            <a:noFill/>
          </a:ln>
        </p:spPr>
        <p:txBody>
          <a:bodyPr rtlCol="0" anchor="ctr"/>
          <a:lstStyle/>
          <a:p>
            <a:pPr algn="ctr"/>
          </a:p>
        </p:txBody>
      </p:sp>
      <p:sp>
        <p:nvSpPr>
          <p:cNvPr id="24" name="Box 23"/>
          <p:cNvSpPr/>
          <p:nvPr/>
        </p:nvSpPr>
        <p:spPr>
          <a:xfrm>
            <a:off x="3407172" y="3486150"/>
            <a:ext cx="442714" cy="450850"/>
          </a:xfrm>
          <a:prstGeom prst="roundRect">
            <a:avLst>
              <a:gd name="adj" fmla="val 11474"/>
            </a:avLst>
          </a:prstGeom>
          <a:solidFill>
            <a:srgbClr val="7FB2EA"/>
          </a:solidFill>
          <a:ln>
            <a:noFill/>
          </a:ln>
        </p:spPr>
        <p:txBody>
          <a:bodyPr rtlCol="0" anchor="ctr"/>
          <a:lstStyle/>
          <a:p>
            <a:pPr algn="ctr"/>
          </a:p>
        </p:txBody>
      </p:sp>
      <p:sp>
        <p:nvSpPr>
          <p:cNvPr id="25" name="Box 24"/>
          <p:cNvSpPr/>
          <p:nvPr/>
        </p:nvSpPr>
        <p:spPr>
          <a:xfrm>
            <a:off x="2888258" y="3486150"/>
            <a:ext cx="442714" cy="450850"/>
          </a:xfrm>
          <a:prstGeom prst="roundRect">
            <a:avLst>
              <a:gd name="adj" fmla="val 11474"/>
            </a:avLst>
          </a:prstGeom>
          <a:solidFill>
            <a:srgbClr val="7FB2EA"/>
          </a:solidFill>
          <a:ln>
            <a:noFill/>
          </a:ln>
        </p:spPr>
        <p:txBody>
          <a:bodyPr rtlCol="0" anchor="ctr"/>
          <a:lstStyle/>
          <a:p>
            <a:pPr algn="ctr"/>
          </a:p>
        </p:txBody>
      </p:sp>
      <p:sp>
        <p:nvSpPr>
          <p:cNvPr id="26" name="Box 25"/>
          <p:cNvSpPr/>
          <p:nvPr/>
        </p:nvSpPr>
        <p:spPr>
          <a:xfrm>
            <a:off x="2369344" y="3486150"/>
            <a:ext cx="442714" cy="450850"/>
          </a:xfrm>
          <a:prstGeom prst="roundRect">
            <a:avLst>
              <a:gd name="adj" fmla="val 11474"/>
            </a:avLst>
          </a:prstGeom>
          <a:solidFill>
            <a:srgbClr val="7FB2EA"/>
          </a:solidFill>
          <a:ln>
            <a:noFill/>
          </a:ln>
        </p:spPr>
        <p:txBody>
          <a:bodyPr rtlCol="0" anchor="ctr"/>
          <a:lstStyle/>
          <a:p>
            <a:pPr algn="ctr"/>
          </a:p>
        </p:txBody>
      </p:sp>
      <p:sp>
        <p:nvSpPr>
          <p:cNvPr id="27" name="Box 26"/>
          <p:cNvSpPr/>
          <p:nvPr/>
        </p:nvSpPr>
        <p:spPr>
          <a:xfrm>
            <a:off x="1850430" y="3486150"/>
            <a:ext cx="442714" cy="450850"/>
          </a:xfrm>
          <a:prstGeom prst="roundRect">
            <a:avLst>
              <a:gd name="adj" fmla="val 11474"/>
            </a:avLst>
          </a:prstGeom>
          <a:solidFill>
            <a:srgbClr val="E8C35A"/>
          </a:solidFill>
          <a:ln>
            <a:noFill/>
          </a:ln>
        </p:spPr>
        <p:txBody>
          <a:bodyPr rtlCol="0" anchor="ctr"/>
          <a:lstStyle/>
          <a:p>
            <a:pPr algn="ctr"/>
          </a:p>
        </p:txBody>
      </p:sp>
      <p:sp>
        <p:nvSpPr>
          <p:cNvPr id="28" name="Box 27"/>
          <p:cNvSpPr/>
          <p:nvPr/>
        </p:nvSpPr>
        <p:spPr>
          <a:xfrm>
            <a:off x="1331516" y="3486150"/>
            <a:ext cx="442714" cy="450850"/>
          </a:xfrm>
          <a:prstGeom prst="roundRect">
            <a:avLst>
              <a:gd name="adj" fmla="val 11474"/>
            </a:avLst>
          </a:prstGeom>
          <a:solidFill>
            <a:srgbClr val="7CCBA2"/>
          </a:solidFill>
          <a:ln>
            <a:noFill/>
          </a:ln>
        </p:spPr>
        <p:txBody>
          <a:bodyPr rtlCol="0" anchor="ctr"/>
          <a:lstStyle/>
          <a:p>
            <a:pPr algn="ctr"/>
          </a:p>
        </p:txBody>
      </p:sp>
      <p:sp>
        <p:nvSpPr>
          <p:cNvPr id="29" name="Box 28"/>
          <p:cNvSpPr/>
          <p:nvPr/>
        </p:nvSpPr>
        <p:spPr>
          <a:xfrm>
            <a:off x="812602" y="3486150"/>
            <a:ext cx="442714" cy="450850"/>
          </a:xfrm>
          <a:prstGeom prst="roundRect">
            <a:avLst>
              <a:gd name="adj" fmla="val 11474"/>
            </a:avLst>
          </a:prstGeom>
          <a:solidFill>
            <a:srgbClr val="7CCBA2"/>
          </a:solidFill>
          <a:ln>
            <a:noFill/>
          </a:ln>
        </p:spPr>
        <p:txBody>
          <a:bodyPr rtlCol="0" anchor="ctr"/>
          <a:lstStyle/>
          <a:p>
            <a:pPr algn="ctr"/>
          </a:p>
        </p:txBody>
      </p:sp>
      <p:sp>
        <p:nvSpPr>
          <p:cNvPr id="30" name="Text 29"/>
          <p:cNvSpPr txBox="1"/>
          <p:nvPr/>
        </p:nvSpPr>
        <p:spPr>
          <a:xfrm>
            <a:off x="706120" y="4096258"/>
            <a:ext cx="3662680" cy="4572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0" i="0">
                <a:solidFill>
                  <a:srgbClr val="AEBACB"/>
                </a:solidFill>
                <a:latin typeface="IBM Plex Sans Arabic"/>
                <a:ea typeface="IBM Plex Sans Arabic"/>
                <a:cs typeface="IBM Plex Sans Arabic"/>
              </a:rPr>
              <a:t>المربعات هي المكونات الفرعية الثمانية والعشرون: الحوكمة 10 · التعزيز 15 · الصمود 1 · الأطراف الخارجية والسحابة 2</a:t>
            </a:r>
          </a:p>
        </p:txBody>
      </p:sp>
      <p:sp>
        <p:nvSpPr>
          <p:cNvPr id="31" name="Text 30"/>
          <p:cNvSpPr txBox="1"/>
          <p:nvPr/>
        </p:nvSpPr>
        <p:spPr>
          <a:xfrm>
            <a:off x="4521200" y="787210"/>
            <a:ext cx="685800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spc="50">
                <a:solidFill>
                  <a:srgbClr val="F29A68"/>
                </a:solidFill>
                <a:latin typeface="IBM Plex Sans Arabic"/>
                <a:ea typeface="IBM Plex Sans Arabic"/>
                <a:cs typeface="IBM Plex Sans Arabic"/>
              </a:rPr>
              <a:t>كورس تدريبي شامل · من الصفر إلى التطبيق</a:t>
            </a:r>
          </a:p>
        </p:txBody>
      </p:sp>
      <p:sp>
        <p:nvSpPr>
          <p:cNvPr id="32" name="Text 31"/>
          <p:cNvSpPr txBox="1"/>
          <p:nvPr/>
        </p:nvSpPr>
        <p:spPr>
          <a:xfrm>
            <a:off x="4838700" y="1202478"/>
            <a:ext cx="6540500" cy="2925762"/>
          </a:xfrm>
          <a:prstGeom prst="rect">
            <a:avLst/>
          </a:prstGeom>
          <a:noFill/>
        </p:spPr>
        <p:txBody>
          <a:bodyPr wrap="square" tIns="0" rIns="0" bIns="0" lIns="0" anchor="t" rtlCol="0" anchorCtr="0">
            <a:noAutofit/>
          </a:bodyPr>
          <a:lstStyle/>
          <a:p>
            <a:pPr algn="r" rtl="1">
              <a:lnSpc>
                <a:spcPts val="5760"/>
              </a:lnSpc>
              <a:spcBef>
                <a:spcPts val="0"/>
              </a:spcBef>
              <a:spcAft>
                <a:spcPts val="0"/>
              </a:spcAft>
            </a:pPr>
            <a:r>
              <a:rPr sz="4800" b="1" i="0">
                <a:solidFill>
                  <a:srgbClr val="F2EEE6"/>
                </a:solidFill>
                <a:latin typeface="Alexandria"/>
                <a:ea typeface="Alexandria"/>
                <a:cs typeface="Alexandria"/>
              </a:rPr>
              <a:t>تطبيق الضوابط الأساسية للأمن السيبراني</a:t>
            </a:r>
            <a:br/>
            <a:r>
              <a:rPr sz="4800" b="1" i="0">
                <a:solidFill>
                  <a:srgbClr val="F2EEE6"/>
                </a:solidFill>
                <a:latin typeface="Alexandria"/>
                <a:ea typeface="Alexandria"/>
                <a:cs typeface="Alexandria"/>
              </a:rPr>
              <a:t>‎ECC-2:2024‎</a:t>
            </a:r>
          </a:p>
        </p:txBody>
      </p:sp>
      <p:sp>
        <p:nvSpPr>
          <p:cNvPr id="33" name="Text 32"/>
          <p:cNvSpPr txBox="1"/>
          <p:nvPr/>
        </p:nvSpPr>
        <p:spPr>
          <a:xfrm>
            <a:off x="4838700" y="4280983"/>
            <a:ext cx="6540500" cy="647700"/>
          </a:xfrm>
          <a:prstGeom prst="rect">
            <a:avLst/>
          </a:prstGeom>
          <a:noFill/>
        </p:spPr>
        <p:txBody>
          <a:bodyPr wrap="square" tIns="0" rIns="0" bIns="0" lIns="0" anchor="t" rtlCol="0" anchorCtr="0">
            <a:noAutofit/>
          </a:bodyPr>
          <a:lstStyle/>
          <a:p>
            <a:pPr algn="r" rtl="1">
              <a:lnSpc>
                <a:spcPts val="2550"/>
              </a:lnSpc>
              <a:spcBef>
                <a:spcPts val="0"/>
              </a:spcBef>
              <a:spcAft>
                <a:spcPts val="0"/>
              </a:spcAft>
            </a:pPr>
            <a:r>
              <a:rPr sz="1700" b="0" i="0">
                <a:solidFill>
                  <a:srgbClr val="F2EEE6"/>
                </a:solidFill>
                <a:latin typeface="IBM Plex Sans Arabic"/>
                <a:ea typeface="IBM Plex Sans Arabic"/>
                <a:cs typeface="IBM Plex Sans Arabic"/>
              </a:rPr>
              <a:t>ماذا يطلب كل ضابط، وكيف تطبقه خطوة بخطوة، وكيف يبدو الدليل الذي يثبته.</a:t>
            </a:r>
          </a:p>
        </p:txBody>
      </p:sp>
      <p:sp>
        <p:nvSpPr>
          <p:cNvPr id="34" name="Text 33"/>
          <p:cNvSpPr txBox="1"/>
          <p:nvPr/>
        </p:nvSpPr>
        <p:spPr>
          <a:xfrm>
            <a:off x="4521200" y="5114294"/>
            <a:ext cx="6858000" cy="266700"/>
          </a:xfrm>
          <a:prstGeom prst="rect">
            <a:avLst/>
          </a:prstGeom>
          <a:noFill/>
        </p:spPr>
        <p:txBody>
          <a:bodyPr wrap="square" tIns="0" rIns="0" bIns="0" lIns="0" anchor="t" rtlCol="0" anchorCtr="0">
            <a:noAutofit/>
          </a:bodyPr>
          <a:lstStyle/>
          <a:p>
            <a:pPr algn="r" rtl="1">
              <a:lnSpc>
                <a:spcPts val="2100"/>
              </a:lnSpc>
              <a:spcBef>
                <a:spcPts val="0"/>
              </a:spcBef>
              <a:spcAft>
                <a:spcPts val="0"/>
              </a:spcAft>
            </a:pPr>
            <a:r>
              <a:rPr sz="1400" b="0" i="0">
                <a:solidFill>
                  <a:srgbClr val="AEBACB"/>
                </a:solidFill>
                <a:latin typeface="IBM Plex Sans Arabic"/>
                <a:ea typeface="IBM Plex Sans Arabic"/>
                <a:cs typeface="IBM Plex Sans Arabic"/>
              </a:rPr>
              <a:t>مصمم للمبتدئين في الأمن السيبراني والامتثال، ومفيد لكل فريق يبدأ التطبيق فعلياً.</a:t>
            </a:r>
          </a:p>
        </p:txBody>
      </p:sp>
      <p:sp>
        <p:nvSpPr>
          <p:cNvPr id="35" name="Text box 34"/>
          <p:cNvSpPr/>
          <p:nvPr/>
        </p:nvSpPr>
        <p:spPr>
          <a:xfrm>
            <a:off x="10563423" y="5704880"/>
            <a:ext cx="815777" cy="340320"/>
          </a:xfrm>
          <a:prstGeom prst="roundRect">
            <a:avLst>
              <a:gd name="adj" fmla="val 50000"/>
            </a:avLst>
          </a:prstGeom>
          <a:solidFill>
            <a:srgbClr val="22344D"/>
          </a:solidFill>
          <a:ln>
            <a:noFill/>
          </a:ln>
        </p:spPr>
        <p:txBody>
          <a:bodyPr rtlCol="0" anchor="ctr" wrap="square" tIns="0" rIns="89862" bIns="47244" lIns="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9 وحدات</a:t>
            </a:r>
          </a:p>
        </p:txBody>
      </p:sp>
      <p:sp>
        <p:nvSpPr>
          <p:cNvPr id="36" name="Text box 35"/>
          <p:cNvSpPr/>
          <p:nvPr/>
        </p:nvSpPr>
        <p:spPr>
          <a:xfrm>
            <a:off x="9357916" y="5704880"/>
            <a:ext cx="1103908" cy="340320"/>
          </a:xfrm>
          <a:prstGeom prst="roundRect">
            <a:avLst>
              <a:gd name="adj" fmla="val 50000"/>
            </a:avLst>
          </a:prstGeom>
          <a:solidFill>
            <a:srgbClr val="22344D"/>
          </a:solidFill>
          <a:ln>
            <a:noFill/>
          </a:ln>
        </p:spPr>
        <p:txBody>
          <a:bodyPr rtlCol="0" anchor="ctr" wrap="square" tIns="0" rIns="89862" bIns="47244" lIns="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28 مكوناً فرعياً</a:t>
            </a:r>
          </a:p>
        </p:txBody>
      </p:sp>
      <p:sp>
        <p:nvSpPr>
          <p:cNvPr id="37" name="Text box 36"/>
          <p:cNvSpPr/>
          <p:nvPr/>
        </p:nvSpPr>
        <p:spPr>
          <a:xfrm>
            <a:off x="8028285" y="5704880"/>
            <a:ext cx="1228030" cy="340320"/>
          </a:xfrm>
          <a:prstGeom prst="roundRect">
            <a:avLst>
              <a:gd name="adj" fmla="val 50000"/>
            </a:avLst>
          </a:prstGeom>
          <a:solidFill>
            <a:srgbClr val="22344D"/>
          </a:solidFill>
          <a:ln>
            <a:noFill/>
          </a:ln>
        </p:spPr>
        <p:txBody>
          <a:bodyPr rtlCol="0" anchor="ctr" wrap="square" tIns="0" rIns="89862" bIns="47244" lIns="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أمثلة أدلة مصورة</a:t>
            </a:r>
          </a:p>
        </p:txBody>
      </p:sp>
      <p:sp>
        <p:nvSpPr>
          <p:cNvPr id="38" name="Text box 37"/>
          <p:cNvSpPr/>
          <p:nvPr/>
        </p:nvSpPr>
        <p:spPr>
          <a:xfrm>
            <a:off x="6576516" y="5704880"/>
            <a:ext cx="1350169" cy="340320"/>
          </a:xfrm>
          <a:prstGeom prst="roundRect">
            <a:avLst>
              <a:gd name="adj" fmla="val 50000"/>
            </a:avLst>
          </a:prstGeom>
          <a:solidFill>
            <a:srgbClr val="22344D"/>
          </a:solidFill>
          <a:ln>
            <a:noFill/>
          </a:ln>
        </p:spPr>
        <p:txBody>
          <a:bodyPr rtlCol="0" anchor="ctr" wrap="square" tIns="0" rIns="89862" bIns="47244" lIns="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تمارين واختبار نهائي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لمن هذا الكورس، وماذا تحتاج قبل البدء</a:t>
            </a:r>
          </a:p>
        </p:txBody>
      </p:sp>
      <p:sp>
        <p:nvSpPr>
          <p:cNvPr id="5" name="Box 4"/>
          <p:cNvSpPr/>
          <p:nvPr/>
        </p:nvSpPr>
        <p:spPr>
          <a:xfrm>
            <a:off x="815975" y="1881386"/>
            <a:ext cx="3397250" cy="1938338"/>
          </a:xfrm>
          <a:prstGeom prst="roundRect">
            <a:avLst>
              <a:gd name="adj" fmla="val 6530"/>
            </a:avLst>
          </a:prstGeom>
          <a:solidFill>
            <a:srgbClr val="FCFBF8"/>
          </a:solidFill>
          <a:ln w="6350">
            <a:solidFill>
              <a:srgbClr val="DDD7CA"/>
            </a:solidFill>
          </a:ln>
        </p:spPr>
        <p:txBody>
          <a:bodyPr rtlCol="0" anchor="ctr"/>
          <a:lstStyle/>
          <a:p>
            <a:pPr algn="ctr"/>
          </a:p>
        </p:txBody>
      </p:sp>
      <p:sp>
        <p:nvSpPr>
          <p:cNvPr id="6" name="Box 5"/>
          <p:cNvSpPr/>
          <p:nvPr/>
        </p:nvSpPr>
        <p:spPr>
          <a:xfrm>
            <a:off x="3625850" y="2087761"/>
            <a:ext cx="381000" cy="381000"/>
          </a:xfrm>
          <a:prstGeom prst="roundRect">
            <a:avLst>
              <a:gd name="adj" fmla="val 26666"/>
            </a:avLst>
          </a:prstGeom>
          <a:solidFill>
            <a:srgbClr val="DCEEEF"/>
          </a:solidFill>
          <a:ln>
            <a:noFill/>
          </a:ln>
        </p:spPr>
        <p:txBody>
          <a:bodyPr rtlCol="0" anchor="ctr"/>
          <a:lstStyle/>
          <a:p>
            <a:pPr algn="ctr"/>
          </a:p>
        </p:txBody>
      </p:sp>
      <p:pic>
        <p:nvPicPr>
          <p:cNvPr id="7" name="Icon Users 6" descr="icon001.png"/>
          <p:cNvPicPr>
            <a:picLocks noChangeAspect="1"/>
          </p:cNvPicPr>
          <p:nvPr/>
        </p:nvPicPr>
        <p:blipFill>
          <a:blip r:embed="rId2"/>
          <a:stretch>
            <a:fillRect/>
          </a:stretch>
        </p:blipFill>
        <p:spPr>
          <a:xfrm>
            <a:off x="3711575" y="2173486"/>
            <a:ext cx="209550" cy="209550"/>
          </a:xfrm>
          <a:prstGeom prst="rect">
            <a:avLst/>
          </a:prstGeom>
        </p:spPr>
      </p:pic>
      <p:sp>
        <p:nvSpPr>
          <p:cNvPr id="8" name="Text 7"/>
          <p:cNvSpPr txBox="1"/>
          <p:nvPr/>
        </p:nvSpPr>
        <p:spPr>
          <a:xfrm>
            <a:off x="838200" y="2523320"/>
            <a:ext cx="31686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الحوكمة والمراجعة</a:t>
            </a:r>
          </a:p>
        </p:txBody>
      </p:sp>
      <p:sp>
        <p:nvSpPr>
          <p:cNvPr id="9" name="Text 8"/>
          <p:cNvSpPr txBox="1"/>
          <p:nvPr/>
        </p:nvSpPr>
        <p:spPr>
          <a:xfrm>
            <a:off x="932815" y="2865684"/>
            <a:ext cx="3074035"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فرق الامتثال والمراجعة الداخلية والموارد البشرية والمشتريات، فلكل منها دور في التطبيق.</a:t>
            </a:r>
          </a:p>
        </p:txBody>
      </p:sp>
      <p:sp>
        <p:nvSpPr>
          <p:cNvPr id="10" name="Box 9"/>
          <p:cNvSpPr/>
          <p:nvPr/>
        </p:nvSpPr>
        <p:spPr>
          <a:xfrm>
            <a:off x="4397375" y="1881386"/>
            <a:ext cx="3397250" cy="1938338"/>
          </a:xfrm>
          <a:prstGeom prst="roundRect">
            <a:avLst>
              <a:gd name="adj" fmla="val 6530"/>
            </a:avLst>
          </a:prstGeom>
          <a:solidFill>
            <a:srgbClr val="FCFBF8"/>
          </a:solidFill>
          <a:ln w="6350">
            <a:solidFill>
              <a:srgbClr val="DDD7CA"/>
            </a:solidFill>
          </a:ln>
        </p:spPr>
        <p:txBody>
          <a:bodyPr rtlCol="0" anchor="ctr"/>
          <a:lstStyle/>
          <a:p>
            <a:pPr algn="ctr"/>
          </a:p>
        </p:txBody>
      </p:sp>
      <p:sp>
        <p:nvSpPr>
          <p:cNvPr id="11" name="Box 10"/>
          <p:cNvSpPr/>
          <p:nvPr/>
        </p:nvSpPr>
        <p:spPr>
          <a:xfrm>
            <a:off x="7207250" y="2087761"/>
            <a:ext cx="381000" cy="381000"/>
          </a:xfrm>
          <a:prstGeom prst="roundRect">
            <a:avLst>
              <a:gd name="adj" fmla="val 26666"/>
            </a:avLst>
          </a:prstGeom>
          <a:solidFill>
            <a:srgbClr val="DCEEEF"/>
          </a:solidFill>
          <a:ln>
            <a:noFill/>
          </a:ln>
        </p:spPr>
        <p:txBody>
          <a:bodyPr rtlCol="0" anchor="ctr"/>
          <a:lstStyle/>
          <a:p>
            <a:pPr algn="ctr"/>
          </a:p>
        </p:txBody>
      </p:sp>
      <p:pic>
        <p:nvPicPr>
          <p:cNvPr id="12" name="Icon Settings 11" descr="icon002.png"/>
          <p:cNvPicPr>
            <a:picLocks noChangeAspect="1"/>
          </p:cNvPicPr>
          <p:nvPr/>
        </p:nvPicPr>
        <p:blipFill>
          <a:blip r:embed="rId3"/>
          <a:stretch>
            <a:fillRect/>
          </a:stretch>
        </p:blipFill>
        <p:spPr>
          <a:xfrm>
            <a:off x="7292975" y="2173486"/>
            <a:ext cx="209550" cy="209550"/>
          </a:xfrm>
          <a:prstGeom prst="rect">
            <a:avLst/>
          </a:prstGeom>
        </p:spPr>
      </p:pic>
      <p:sp>
        <p:nvSpPr>
          <p:cNvPr id="13" name="Text 12"/>
          <p:cNvSpPr txBox="1"/>
          <p:nvPr/>
        </p:nvSpPr>
        <p:spPr>
          <a:xfrm>
            <a:off x="4419600" y="2523320"/>
            <a:ext cx="31686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فرق تقنية المعلومات</a:t>
            </a:r>
          </a:p>
        </p:txBody>
      </p:sp>
      <p:sp>
        <p:nvSpPr>
          <p:cNvPr id="14" name="Text 13"/>
          <p:cNvSpPr txBox="1"/>
          <p:nvPr/>
        </p:nvSpPr>
        <p:spPr>
          <a:xfrm>
            <a:off x="4514215" y="2865684"/>
            <a:ext cx="3074035"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من سينفذ الضوابط التقنية على الأنظمة والشبكات، ويحتاج أن يعرف ما المطلوب منه وما الدليل.</a:t>
            </a:r>
          </a:p>
        </p:txBody>
      </p:sp>
      <p:sp>
        <p:nvSpPr>
          <p:cNvPr id="15" name="Box 14"/>
          <p:cNvSpPr/>
          <p:nvPr/>
        </p:nvSpPr>
        <p:spPr>
          <a:xfrm>
            <a:off x="7978775" y="1881386"/>
            <a:ext cx="3397250" cy="1938338"/>
          </a:xfrm>
          <a:prstGeom prst="roundRect">
            <a:avLst>
              <a:gd name="adj" fmla="val 6530"/>
            </a:avLst>
          </a:prstGeom>
          <a:solidFill>
            <a:srgbClr val="FCFBF8"/>
          </a:solidFill>
          <a:ln w="6350">
            <a:solidFill>
              <a:srgbClr val="DDD7CA"/>
            </a:solidFill>
          </a:ln>
        </p:spPr>
        <p:txBody>
          <a:bodyPr rtlCol="0" anchor="ctr"/>
          <a:lstStyle/>
          <a:p>
            <a:pPr algn="ctr"/>
          </a:p>
        </p:txBody>
      </p:sp>
      <p:sp>
        <p:nvSpPr>
          <p:cNvPr id="16" name="Box 15"/>
          <p:cNvSpPr/>
          <p:nvPr/>
        </p:nvSpPr>
        <p:spPr>
          <a:xfrm>
            <a:off x="10788650" y="2087761"/>
            <a:ext cx="381000" cy="381000"/>
          </a:xfrm>
          <a:prstGeom prst="roundRect">
            <a:avLst>
              <a:gd name="adj" fmla="val 26666"/>
            </a:avLst>
          </a:prstGeom>
          <a:solidFill>
            <a:srgbClr val="DCEEEF"/>
          </a:solidFill>
          <a:ln>
            <a:noFill/>
          </a:ln>
        </p:spPr>
        <p:txBody>
          <a:bodyPr rtlCol="0" anchor="ctr"/>
          <a:lstStyle/>
          <a:p>
            <a:pPr algn="ctr"/>
          </a:p>
        </p:txBody>
      </p:sp>
      <p:pic>
        <p:nvPicPr>
          <p:cNvPr id="17" name="Icon GraduationCap 16" descr="icon003.png"/>
          <p:cNvPicPr>
            <a:picLocks noChangeAspect="1"/>
          </p:cNvPicPr>
          <p:nvPr/>
        </p:nvPicPr>
        <p:blipFill>
          <a:blip r:embed="rId4"/>
          <a:stretch>
            <a:fillRect/>
          </a:stretch>
        </p:blipFill>
        <p:spPr>
          <a:xfrm>
            <a:off x="10874375" y="2173486"/>
            <a:ext cx="209550" cy="209550"/>
          </a:xfrm>
          <a:prstGeom prst="rect">
            <a:avLst/>
          </a:prstGeom>
        </p:spPr>
      </p:pic>
      <p:sp>
        <p:nvSpPr>
          <p:cNvPr id="18" name="Text 17"/>
          <p:cNvSpPr txBox="1"/>
          <p:nvPr/>
        </p:nvSpPr>
        <p:spPr>
          <a:xfrm>
            <a:off x="8001000" y="2523320"/>
            <a:ext cx="31686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المبتدئون في المجال</a:t>
            </a:r>
          </a:p>
        </p:txBody>
      </p:sp>
      <p:sp>
        <p:nvSpPr>
          <p:cNvPr id="19" name="Text 18"/>
          <p:cNvSpPr txBox="1"/>
          <p:nvPr/>
        </p:nvSpPr>
        <p:spPr>
          <a:xfrm>
            <a:off x="8095615" y="2865684"/>
            <a:ext cx="3074035"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من يدخل الأمن السيبراني أو الامتثال لأول مرة، ويريد أن يفهم الضوابط ويطبقها لا أن يحفظها.</a:t>
            </a:r>
          </a:p>
        </p:txBody>
      </p:sp>
      <p:sp>
        <p:nvSpPr>
          <p:cNvPr id="20" name="Box 19"/>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1" name="Box 20"/>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2" name="Icon Book 21" descr="icon004.png"/>
          <p:cNvPicPr>
            <a:picLocks noChangeAspect="1"/>
          </p:cNvPicPr>
          <p:nvPr/>
        </p:nvPicPr>
        <p:blipFill>
          <a:blip r:embed="rId5"/>
          <a:stretch>
            <a:fillRect/>
          </a:stretch>
        </p:blipFill>
        <p:spPr>
          <a:xfrm>
            <a:off x="10864850" y="5329932"/>
            <a:ext cx="215900" cy="215900"/>
          </a:xfrm>
          <a:prstGeom prst="rect">
            <a:avLst/>
          </a:prstGeom>
        </p:spPr>
      </p:pic>
      <p:sp>
        <p:nvSpPr>
          <p:cNvPr id="23" name="Text 22"/>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قبل أن تبدأ</a:t>
            </a:r>
          </a:p>
        </p:txBody>
      </p:sp>
      <p:sp>
        <p:nvSpPr>
          <p:cNvPr id="24" name="Text 23"/>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لا يشترط خبرة سابقة. يكفي إلمام عام بالحاسب والشبكات، ونسخة من وثيقة الضوابط الرسمية من موقع الهيئة. المصطلحات الجديدة مشروحة في الوحدة الأولى.</a:t>
            </a:r>
          </a:p>
        </p:txBody>
      </p:sp>
      <p:sp>
        <p:nvSpPr>
          <p:cNvPr id="25" name="Text 24"/>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26" name="Box 25"/>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27" name="Box 26"/>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28" name="Box 2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29" name="Box 2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0" name="Box 2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Text 3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ماذا ستتعلم في هذا الكورس</a:t>
            </a:r>
          </a:p>
        </p:txBody>
      </p:sp>
      <p:sp>
        <p:nvSpPr>
          <p:cNvPr id="5" name="Box 4"/>
          <p:cNvSpPr/>
          <p:nvPr/>
        </p:nvSpPr>
        <p:spPr>
          <a:xfrm>
            <a:off x="815975" y="1881386"/>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6" name="Box 5"/>
          <p:cNvSpPr/>
          <p:nvPr/>
        </p:nvSpPr>
        <p:spPr>
          <a:xfrm>
            <a:off x="3638550" y="2075061"/>
            <a:ext cx="381000" cy="381000"/>
          </a:xfrm>
          <a:prstGeom prst="roundRect">
            <a:avLst>
              <a:gd name="adj" fmla="val 26666"/>
            </a:avLst>
          </a:prstGeom>
          <a:solidFill>
            <a:srgbClr val="DCEEEF"/>
          </a:solidFill>
          <a:ln>
            <a:noFill/>
          </a:ln>
        </p:spPr>
        <p:txBody>
          <a:bodyPr rtlCol="0" anchor="ctr"/>
          <a:lstStyle/>
          <a:p>
            <a:pPr algn="ctr"/>
          </a:p>
        </p:txBody>
      </p:sp>
      <p:pic>
        <p:nvPicPr>
          <p:cNvPr id="7" name="Icon Settings 6" descr="icon002.png"/>
          <p:cNvPicPr>
            <a:picLocks noChangeAspect="1"/>
          </p:cNvPicPr>
          <p:nvPr/>
        </p:nvPicPr>
        <p:blipFill>
          <a:blip r:embed="rId2"/>
          <a:stretch>
            <a:fillRect/>
          </a:stretch>
        </p:blipFill>
        <p:spPr>
          <a:xfrm>
            <a:off x="3724275" y="2160786"/>
            <a:ext cx="209550" cy="209550"/>
          </a:xfrm>
          <a:prstGeom prst="rect">
            <a:avLst/>
          </a:prstGeom>
        </p:spPr>
      </p:pic>
      <p:sp>
        <p:nvSpPr>
          <p:cNvPr id="8" name="Text 7"/>
          <p:cNvSpPr txBox="1"/>
          <p:nvPr/>
        </p:nvSpPr>
        <p:spPr>
          <a:xfrm>
            <a:off x="8382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بناء برنامج التطبيق</a:t>
            </a:r>
          </a:p>
        </p:txBody>
      </p:sp>
      <p:sp>
        <p:nvSpPr>
          <p:cNvPr id="9" name="Text 8"/>
          <p:cNvSpPr txBox="1"/>
          <p:nvPr/>
        </p:nvSpPr>
        <p:spPr>
          <a:xfrm>
            <a:off x="919353" y="2854127"/>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المراحل والأولويات والأدوار، وكيف تنظم الأدلة من اليوم الأول.</a:t>
            </a:r>
          </a:p>
        </p:txBody>
      </p:sp>
      <p:sp>
        <p:nvSpPr>
          <p:cNvPr id="10" name="Box 9"/>
          <p:cNvSpPr/>
          <p:nvPr/>
        </p:nvSpPr>
        <p:spPr>
          <a:xfrm>
            <a:off x="4397375" y="1881386"/>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11" name="Box 10"/>
          <p:cNvSpPr/>
          <p:nvPr/>
        </p:nvSpPr>
        <p:spPr>
          <a:xfrm>
            <a:off x="7219950" y="2075061"/>
            <a:ext cx="381000" cy="381000"/>
          </a:xfrm>
          <a:prstGeom prst="roundRect">
            <a:avLst>
              <a:gd name="adj" fmla="val 26666"/>
            </a:avLst>
          </a:prstGeom>
          <a:solidFill>
            <a:srgbClr val="DCEEEF"/>
          </a:solidFill>
          <a:ln>
            <a:noFill/>
          </a:ln>
        </p:spPr>
        <p:txBody>
          <a:bodyPr rtlCol="0" anchor="ctr"/>
          <a:lstStyle/>
          <a:p>
            <a:pPr algn="ctr"/>
          </a:p>
        </p:txBody>
      </p:sp>
      <p:pic>
        <p:nvPicPr>
          <p:cNvPr id="12" name="Icon Search 11" descr="icon005.png"/>
          <p:cNvPicPr>
            <a:picLocks noChangeAspect="1"/>
          </p:cNvPicPr>
          <p:nvPr/>
        </p:nvPicPr>
        <p:blipFill>
          <a:blip r:embed="rId3"/>
          <a:stretch>
            <a:fillRect/>
          </a:stretch>
        </p:blipFill>
        <p:spPr>
          <a:xfrm>
            <a:off x="7305675" y="2160786"/>
            <a:ext cx="209550" cy="209550"/>
          </a:xfrm>
          <a:prstGeom prst="rect">
            <a:avLst/>
          </a:prstGeom>
        </p:spPr>
      </p:pic>
      <p:sp>
        <p:nvSpPr>
          <p:cNvPr id="13" name="Text 12"/>
          <p:cNvSpPr txBox="1"/>
          <p:nvPr/>
        </p:nvSpPr>
        <p:spPr>
          <a:xfrm>
            <a:off x="44196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فهم ‎ECC-2:2024‎</a:t>
            </a:r>
          </a:p>
        </p:txBody>
      </p:sp>
      <p:sp>
        <p:nvSpPr>
          <p:cNvPr id="14" name="Text 13"/>
          <p:cNvSpPr txBox="1"/>
          <p:nvPr/>
        </p:nvSpPr>
        <p:spPr>
          <a:xfrm>
            <a:off x="4500753" y="2854127"/>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النطاق والبنية، وكيف تقرأ رمز الضابط، والنمط الذي يتكرر في أغلب المكونات.</a:t>
            </a:r>
          </a:p>
        </p:txBody>
      </p:sp>
      <p:sp>
        <p:nvSpPr>
          <p:cNvPr id="15" name="Box 14"/>
          <p:cNvSpPr/>
          <p:nvPr/>
        </p:nvSpPr>
        <p:spPr>
          <a:xfrm>
            <a:off x="7978775" y="1881386"/>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16" name="Box 15"/>
          <p:cNvSpPr/>
          <p:nvPr/>
        </p:nvSpPr>
        <p:spPr>
          <a:xfrm>
            <a:off x="10801350" y="2075061"/>
            <a:ext cx="381000" cy="381000"/>
          </a:xfrm>
          <a:prstGeom prst="roundRect">
            <a:avLst>
              <a:gd name="adj" fmla="val 26666"/>
            </a:avLst>
          </a:prstGeom>
          <a:solidFill>
            <a:srgbClr val="DCEEEF"/>
          </a:solidFill>
          <a:ln>
            <a:noFill/>
          </a:ln>
        </p:spPr>
        <p:txBody>
          <a:bodyPr rtlCol="0" anchor="ctr"/>
          <a:lstStyle/>
          <a:p>
            <a:pPr algn="ctr"/>
          </a:p>
        </p:txBody>
      </p:sp>
      <p:pic>
        <p:nvPicPr>
          <p:cNvPr id="17" name="Icon Book 16" descr="icon006.png"/>
          <p:cNvPicPr>
            <a:picLocks noChangeAspect="1"/>
          </p:cNvPicPr>
          <p:nvPr/>
        </p:nvPicPr>
        <p:blipFill>
          <a:blip r:embed="rId4"/>
          <a:stretch>
            <a:fillRect/>
          </a:stretch>
        </p:blipFill>
        <p:spPr>
          <a:xfrm>
            <a:off x="10887075" y="2160786"/>
            <a:ext cx="209550" cy="209550"/>
          </a:xfrm>
          <a:prstGeom prst="rect">
            <a:avLst/>
          </a:prstGeom>
        </p:spPr>
      </p:pic>
      <p:sp>
        <p:nvSpPr>
          <p:cNvPr id="18" name="Text 17"/>
          <p:cNvSpPr txBox="1"/>
          <p:nvPr/>
        </p:nvSpPr>
        <p:spPr>
          <a:xfrm>
            <a:off x="80010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لغة المجال</a:t>
            </a:r>
          </a:p>
        </p:txBody>
      </p:sp>
      <p:sp>
        <p:nvSpPr>
          <p:cNvPr id="19" name="Text 18"/>
          <p:cNvSpPr txBox="1"/>
          <p:nvPr/>
        </p:nvSpPr>
        <p:spPr>
          <a:xfrm>
            <a:off x="8082153" y="2854127"/>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الأصل والتهديد والثغرة والخطر، وأنواع الضوابط والأدلة، وأهم المصطلحات.</a:t>
            </a:r>
          </a:p>
        </p:txBody>
      </p:sp>
      <p:sp>
        <p:nvSpPr>
          <p:cNvPr id="20" name="Box 19"/>
          <p:cNvSpPr/>
          <p:nvPr/>
        </p:nvSpPr>
        <p:spPr>
          <a:xfrm>
            <a:off x="815975" y="3720902"/>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21" name="Box 20"/>
          <p:cNvSpPr/>
          <p:nvPr/>
        </p:nvSpPr>
        <p:spPr>
          <a:xfrm>
            <a:off x="3638550" y="3914577"/>
            <a:ext cx="381000" cy="381000"/>
          </a:xfrm>
          <a:prstGeom prst="roundRect">
            <a:avLst>
              <a:gd name="adj" fmla="val 26666"/>
            </a:avLst>
          </a:prstGeom>
          <a:solidFill>
            <a:srgbClr val="DCEEEF"/>
          </a:solidFill>
          <a:ln>
            <a:noFill/>
          </a:ln>
        </p:spPr>
        <p:txBody>
          <a:bodyPr rtlCol="0" anchor="ctr"/>
          <a:lstStyle/>
          <a:p>
            <a:pPr algn="ctr"/>
          </a:p>
        </p:txBody>
      </p:sp>
      <p:pic>
        <p:nvPicPr>
          <p:cNvPr id="22" name="Icon Activity 21" descr="icon007.png"/>
          <p:cNvPicPr>
            <a:picLocks noChangeAspect="1"/>
          </p:cNvPicPr>
          <p:nvPr/>
        </p:nvPicPr>
        <p:blipFill>
          <a:blip r:embed="rId5"/>
          <a:stretch>
            <a:fillRect/>
          </a:stretch>
        </p:blipFill>
        <p:spPr>
          <a:xfrm>
            <a:off x="3724275" y="4000302"/>
            <a:ext cx="209550" cy="209550"/>
          </a:xfrm>
          <a:prstGeom prst="rect">
            <a:avLst/>
          </a:prstGeom>
        </p:spPr>
      </p:pic>
      <p:sp>
        <p:nvSpPr>
          <p:cNvPr id="23" name="Text 22"/>
          <p:cNvSpPr txBox="1"/>
          <p:nvPr/>
        </p:nvSpPr>
        <p:spPr>
          <a:xfrm>
            <a:off x="838200" y="4350136"/>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استدامة الامتثال</a:t>
            </a:r>
          </a:p>
        </p:txBody>
      </p:sp>
      <p:sp>
        <p:nvSpPr>
          <p:cNvPr id="24" name="Text 23"/>
          <p:cNvSpPr txBox="1"/>
          <p:nvPr/>
        </p:nvSpPr>
        <p:spPr>
          <a:xfrm>
            <a:off x="919353" y="4693642"/>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المراجعات الدورية والمؤشرات، والاستعداد لتقييم الهيئة.</a:t>
            </a:r>
          </a:p>
        </p:txBody>
      </p:sp>
      <p:sp>
        <p:nvSpPr>
          <p:cNvPr id="25" name="Box 24"/>
          <p:cNvSpPr/>
          <p:nvPr/>
        </p:nvSpPr>
        <p:spPr>
          <a:xfrm>
            <a:off x="4397375" y="3720902"/>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26" name="Box 25"/>
          <p:cNvSpPr/>
          <p:nvPr/>
        </p:nvSpPr>
        <p:spPr>
          <a:xfrm>
            <a:off x="7219950" y="3914577"/>
            <a:ext cx="381000" cy="381000"/>
          </a:xfrm>
          <a:prstGeom prst="roundRect">
            <a:avLst>
              <a:gd name="adj" fmla="val 26666"/>
            </a:avLst>
          </a:prstGeom>
          <a:solidFill>
            <a:srgbClr val="DCEEEF"/>
          </a:solidFill>
          <a:ln>
            <a:noFill/>
          </a:ln>
        </p:spPr>
        <p:txBody>
          <a:bodyPr rtlCol="0" anchor="ctr"/>
          <a:lstStyle/>
          <a:p>
            <a:pPr algn="ctr"/>
          </a:p>
        </p:txBody>
      </p:sp>
      <p:pic>
        <p:nvPicPr>
          <p:cNvPr id="27" name="Icon Verified 26" descr="icon008.png"/>
          <p:cNvPicPr>
            <a:picLocks noChangeAspect="1"/>
          </p:cNvPicPr>
          <p:nvPr/>
        </p:nvPicPr>
        <p:blipFill>
          <a:blip r:embed="rId6"/>
          <a:stretch>
            <a:fillRect/>
          </a:stretch>
        </p:blipFill>
        <p:spPr>
          <a:xfrm>
            <a:off x="7305675" y="4000302"/>
            <a:ext cx="209550" cy="209550"/>
          </a:xfrm>
          <a:prstGeom prst="rect">
            <a:avLst/>
          </a:prstGeom>
        </p:spPr>
      </p:pic>
      <p:sp>
        <p:nvSpPr>
          <p:cNvPr id="28" name="Text 27"/>
          <p:cNvSpPr txBox="1"/>
          <p:nvPr/>
        </p:nvSpPr>
        <p:spPr>
          <a:xfrm>
            <a:off x="4419600" y="4350136"/>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فحص الأدلة والحكم عليها</a:t>
            </a:r>
          </a:p>
        </p:txBody>
      </p:sp>
      <p:sp>
        <p:nvSpPr>
          <p:cNvPr id="29" name="Text 28"/>
          <p:cNvSpPr txBox="1"/>
          <p:nvPr/>
        </p:nvSpPr>
        <p:spPr>
          <a:xfrm>
            <a:off x="4500753" y="4693642"/>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ما يثبته الدليل وما لا يثبته، والمعلومات الناقصة، ثم حكم مبرر وخطوة تالية.</a:t>
            </a:r>
          </a:p>
        </p:txBody>
      </p:sp>
      <p:sp>
        <p:nvSpPr>
          <p:cNvPr id="30" name="Box 29"/>
          <p:cNvSpPr/>
          <p:nvPr/>
        </p:nvSpPr>
        <p:spPr>
          <a:xfrm>
            <a:off x="7978775" y="3720902"/>
            <a:ext cx="3397250" cy="1655366"/>
          </a:xfrm>
          <a:prstGeom prst="roundRect">
            <a:avLst>
              <a:gd name="adj" fmla="val 7642"/>
            </a:avLst>
          </a:prstGeom>
          <a:solidFill>
            <a:srgbClr val="FCFBF8"/>
          </a:solidFill>
          <a:ln w="6350">
            <a:solidFill>
              <a:srgbClr val="DDD7CA"/>
            </a:solidFill>
          </a:ln>
        </p:spPr>
        <p:txBody>
          <a:bodyPr rtlCol="0" anchor="ctr"/>
          <a:lstStyle/>
          <a:p>
            <a:pPr algn="ctr"/>
          </a:p>
        </p:txBody>
      </p:sp>
      <p:sp>
        <p:nvSpPr>
          <p:cNvPr id="31" name="Box 30"/>
          <p:cNvSpPr/>
          <p:nvPr/>
        </p:nvSpPr>
        <p:spPr>
          <a:xfrm>
            <a:off x="10801350" y="3914577"/>
            <a:ext cx="381000" cy="381000"/>
          </a:xfrm>
          <a:prstGeom prst="roundRect">
            <a:avLst>
              <a:gd name="adj" fmla="val 26666"/>
            </a:avLst>
          </a:prstGeom>
          <a:solidFill>
            <a:srgbClr val="DCEEEF"/>
          </a:solidFill>
          <a:ln>
            <a:noFill/>
          </a:ln>
        </p:spPr>
        <p:txBody>
          <a:bodyPr rtlCol="0" anchor="ctr"/>
          <a:lstStyle/>
          <a:p>
            <a:pPr algn="ctr"/>
          </a:p>
        </p:txBody>
      </p:sp>
      <p:pic>
        <p:nvPicPr>
          <p:cNvPr id="32" name="Icon Lock 31" descr="icon009.png"/>
          <p:cNvPicPr>
            <a:picLocks noChangeAspect="1"/>
          </p:cNvPicPr>
          <p:nvPr/>
        </p:nvPicPr>
        <p:blipFill>
          <a:blip r:embed="rId7"/>
          <a:stretch>
            <a:fillRect/>
          </a:stretch>
        </p:blipFill>
        <p:spPr>
          <a:xfrm>
            <a:off x="10887075" y="4000302"/>
            <a:ext cx="209550" cy="209550"/>
          </a:xfrm>
          <a:prstGeom prst="rect">
            <a:avLst/>
          </a:prstGeom>
        </p:spPr>
      </p:pic>
      <p:sp>
        <p:nvSpPr>
          <p:cNvPr id="33" name="Text 32"/>
          <p:cNvSpPr txBox="1"/>
          <p:nvPr/>
        </p:nvSpPr>
        <p:spPr>
          <a:xfrm>
            <a:off x="8001000" y="4350136"/>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تطبيق 28 مكوناً فرعياً</a:t>
            </a:r>
          </a:p>
        </p:txBody>
      </p:sp>
      <p:sp>
        <p:nvSpPr>
          <p:cNvPr id="34" name="Text 33"/>
          <p:cNvSpPr txBox="1"/>
          <p:nvPr/>
        </p:nvSpPr>
        <p:spPr>
          <a:xfrm>
            <a:off x="8082153" y="4693642"/>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لكل مكون: شرح مبسط، ثم ما يطلبه كل ضابط، وكيف تنفذه، وما دليله.</a:t>
            </a:r>
          </a:p>
        </p:txBody>
      </p:sp>
      <p:sp>
        <p:nvSpPr>
          <p:cNvPr id="35" name="Text 34"/>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36" name="Box 35"/>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Box 4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Text 4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خريطة الكورس: تسع وحدات</a:t>
            </a:r>
          </a:p>
        </p:txBody>
      </p:sp>
      <p:sp>
        <p:nvSpPr>
          <p:cNvPr id="5" name="Box 4"/>
          <p:cNvSpPr/>
          <p:nvPr/>
        </p:nvSpPr>
        <p:spPr>
          <a:xfrm>
            <a:off x="815975" y="1881386"/>
            <a:ext cx="3414117" cy="1208286"/>
          </a:xfrm>
          <a:prstGeom prst="roundRect">
            <a:avLst>
              <a:gd name="adj" fmla="val 10455"/>
            </a:avLst>
          </a:prstGeom>
          <a:solidFill>
            <a:srgbClr val="FCFBF8"/>
          </a:solidFill>
          <a:ln w="6350">
            <a:solidFill>
              <a:srgbClr val="DDD7CA"/>
            </a:solidFill>
          </a:ln>
        </p:spPr>
        <p:txBody>
          <a:bodyPr rtlCol="0" anchor="ctr"/>
          <a:lstStyle/>
          <a:p>
            <a:pPr algn="ctr"/>
          </a:p>
        </p:txBody>
      </p:sp>
      <p:sp>
        <p:nvSpPr>
          <p:cNvPr id="6" name="Text 5"/>
          <p:cNvSpPr txBox="1"/>
          <p:nvPr/>
        </p:nvSpPr>
        <p:spPr>
          <a:xfrm>
            <a:off x="3287117" y="2321127"/>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03</a:t>
            </a:r>
          </a:p>
        </p:txBody>
      </p:sp>
      <p:sp>
        <p:nvSpPr>
          <p:cNvPr id="7" name="Text 6"/>
          <p:cNvSpPr txBox="1"/>
          <p:nvPr/>
        </p:nvSpPr>
        <p:spPr>
          <a:xfrm>
            <a:off x="838200" y="2097933"/>
            <a:ext cx="25378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برنامج التطبيق</a:t>
            </a:r>
          </a:p>
        </p:txBody>
      </p:sp>
      <p:sp>
        <p:nvSpPr>
          <p:cNvPr id="8" name="Text 7"/>
          <p:cNvSpPr txBox="1"/>
          <p:nvPr/>
        </p:nvSpPr>
        <p:spPr>
          <a:xfrm>
            <a:off x="838200" y="2377174"/>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المراحل والأدوار وسجل الأدلة</a:t>
            </a:r>
          </a:p>
        </p:txBody>
      </p:sp>
      <p:sp>
        <p:nvSpPr>
          <p:cNvPr id="9" name="Text 8"/>
          <p:cNvSpPr txBox="1"/>
          <p:nvPr/>
        </p:nvSpPr>
        <p:spPr>
          <a:xfrm>
            <a:off x="838200" y="2615894"/>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33 إلى 41</a:t>
            </a:r>
          </a:p>
        </p:txBody>
      </p:sp>
      <p:sp>
        <p:nvSpPr>
          <p:cNvPr id="10" name="Box 9"/>
          <p:cNvSpPr/>
          <p:nvPr/>
        </p:nvSpPr>
        <p:spPr>
          <a:xfrm>
            <a:off x="4388842" y="1881386"/>
            <a:ext cx="3414216" cy="1208286"/>
          </a:xfrm>
          <a:prstGeom prst="roundRect">
            <a:avLst>
              <a:gd name="adj" fmla="val 10455"/>
            </a:avLst>
          </a:prstGeom>
          <a:solidFill>
            <a:srgbClr val="FCFBF8"/>
          </a:solidFill>
          <a:ln w="6350">
            <a:solidFill>
              <a:srgbClr val="DDD7CA"/>
            </a:solidFill>
          </a:ln>
        </p:spPr>
        <p:txBody>
          <a:bodyPr rtlCol="0" anchor="ctr"/>
          <a:lstStyle/>
          <a:p>
            <a:pPr algn="ctr"/>
          </a:p>
        </p:txBody>
      </p:sp>
      <p:sp>
        <p:nvSpPr>
          <p:cNvPr id="11" name="Text 10"/>
          <p:cNvSpPr txBox="1"/>
          <p:nvPr/>
        </p:nvSpPr>
        <p:spPr>
          <a:xfrm>
            <a:off x="6860084" y="2321127"/>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02</a:t>
            </a:r>
          </a:p>
        </p:txBody>
      </p:sp>
      <p:sp>
        <p:nvSpPr>
          <p:cNvPr id="12" name="Text 11"/>
          <p:cNvSpPr txBox="1"/>
          <p:nvPr/>
        </p:nvSpPr>
        <p:spPr>
          <a:xfrm>
            <a:off x="4411067" y="2097933"/>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أساسيات ‎ECC-2:2024‎</a:t>
            </a:r>
          </a:p>
        </p:txBody>
      </p:sp>
      <p:sp>
        <p:nvSpPr>
          <p:cNvPr id="13" name="Text 12"/>
          <p:cNvSpPr txBox="1"/>
          <p:nvPr/>
        </p:nvSpPr>
        <p:spPr>
          <a:xfrm>
            <a:off x="4411067" y="2377174"/>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النطاق والبنية ونمط الضوابط</a:t>
            </a:r>
          </a:p>
        </p:txBody>
      </p:sp>
      <p:sp>
        <p:nvSpPr>
          <p:cNvPr id="14" name="Text 13"/>
          <p:cNvSpPr txBox="1"/>
          <p:nvPr/>
        </p:nvSpPr>
        <p:spPr>
          <a:xfrm>
            <a:off x="4411067" y="2615894"/>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24 إلى 32</a:t>
            </a:r>
          </a:p>
        </p:txBody>
      </p:sp>
      <p:sp>
        <p:nvSpPr>
          <p:cNvPr id="15" name="Box 14"/>
          <p:cNvSpPr/>
          <p:nvPr/>
        </p:nvSpPr>
        <p:spPr>
          <a:xfrm>
            <a:off x="7961809" y="1881386"/>
            <a:ext cx="3414216" cy="1208286"/>
          </a:xfrm>
          <a:prstGeom prst="roundRect">
            <a:avLst>
              <a:gd name="adj" fmla="val 10455"/>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433050" y="2321127"/>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01</a:t>
            </a:r>
          </a:p>
        </p:txBody>
      </p:sp>
      <p:sp>
        <p:nvSpPr>
          <p:cNvPr id="17" name="Text 16"/>
          <p:cNvSpPr txBox="1"/>
          <p:nvPr/>
        </p:nvSpPr>
        <p:spPr>
          <a:xfrm>
            <a:off x="7984034" y="1991273"/>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مفاهيم أساسية</a:t>
            </a:r>
          </a:p>
        </p:txBody>
      </p:sp>
      <p:sp>
        <p:nvSpPr>
          <p:cNvPr id="18" name="Text 17"/>
          <p:cNvSpPr txBox="1"/>
          <p:nvPr/>
        </p:nvSpPr>
        <p:spPr>
          <a:xfrm>
            <a:off x="8071409" y="2270514"/>
            <a:ext cx="2450541"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لغة المجال: الأصول والمخاطر والضوابط والأدلة</a:t>
            </a:r>
          </a:p>
        </p:txBody>
      </p:sp>
      <p:sp>
        <p:nvSpPr>
          <p:cNvPr id="19" name="Text 18"/>
          <p:cNvSpPr txBox="1"/>
          <p:nvPr/>
        </p:nvSpPr>
        <p:spPr>
          <a:xfrm>
            <a:off x="7984034" y="2722555"/>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7 إلى 23</a:t>
            </a:r>
          </a:p>
        </p:txBody>
      </p:sp>
      <p:sp>
        <p:nvSpPr>
          <p:cNvPr id="20" name="Box 19"/>
          <p:cNvSpPr/>
          <p:nvPr/>
        </p:nvSpPr>
        <p:spPr>
          <a:xfrm>
            <a:off x="815975" y="3248422"/>
            <a:ext cx="3414117"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21" name="Text 20"/>
          <p:cNvSpPr txBox="1"/>
          <p:nvPr/>
        </p:nvSpPr>
        <p:spPr>
          <a:xfrm>
            <a:off x="3287117" y="3581503"/>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1D5B9E"/>
                </a:solidFill>
                <a:latin typeface="Alexandria"/>
                <a:ea typeface="Alexandria"/>
                <a:cs typeface="Alexandria"/>
              </a:rPr>
              <a:t>06</a:t>
            </a:r>
          </a:p>
        </p:txBody>
      </p:sp>
      <p:sp>
        <p:nvSpPr>
          <p:cNvPr id="22" name="Text 21"/>
          <p:cNvSpPr txBox="1"/>
          <p:nvPr/>
        </p:nvSpPr>
        <p:spPr>
          <a:xfrm>
            <a:off x="838200" y="3358309"/>
            <a:ext cx="25378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التعزيز (2)</a:t>
            </a:r>
          </a:p>
        </p:txBody>
      </p:sp>
      <p:sp>
        <p:nvSpPr>
          <p:cNvPr id="23" name="Text 22"/>
          <p:cNvSpPr txBox="1"/>
          <p:nvPr/>
        </p:nvSpPr>
        <p:spPr>
          <a:xfrm>
            <a:off x="838200" y="3637550"/>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المكونات الفرعية ‎2-9‎ إلى ‎2-15‎</a:t>
            </a:r>
          </a:p>
        </p:txBody>
      </p:sp>
      <p:sp>
        <p:nvSpPr>
          <p:cNvPr id="24" name="Text 23"/>
          <p:cNvSpPr txBox="1"/>
          <p:nvPr/>
        </p:nvSpPr>
        <p:spPr>
          <a:xfrm>
            <a:off x="838200" y="3876270"/>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الشرائح من 114 إلى 148</a:t>
            </a:r>
          </a:p>
        </p:txBody>
      </p:sp>
      <p:sp>
        <p:nvSpPr>
          <p:cNvPr id="25" name="Box 24"/>
          <p:cNvSpPr/>
          <p:nvPr/>
        </p:nvSpPr>
        <p:spPr>
          <a:xfrm>
            <a:off x="4388842" y="3248422"/>
            <a:ext cx="3414216"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26" name="Text 25"/>
          <p:cNvSpPr txBox="1"/>
          <p:nvPr/>
        </p:nvSpPr>
        <p:spPr>
          <a:xfrm>
            <a:off x="6860084" y="3581503"/>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1D5B9E"/>
                </a:solidFill>
                <a:latin typeface="Alexandria"/>
                <a:ea typeface="Alexandria"/>
                <a:cs typeface="Alexandria"/>
              </a:rPr>
              <a:t>05</a:t>
            </a:r>
          </a:p>
        </p:txBody>
      </p:sp>
      <p:sp>
        <p:nvSpPr>
          <p:cNvPr id="27" name="Text 26"/>
          <p:cNvSpPr txBox="1"/>
          <p:nvPr/>
        </p:nvSpPr>
        <p:spPr>
          <a:xfrm>
            <a:off x="4411067" y="3358309"/>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التعزيز (1)</a:t>
            </a:r>
          </a:p>
        </p:txBody>
      </p:sp>
      <p:sp>
        <p:nvSpPr>
          <p:cNvPr id="28" name="Text 27"/>
          <p:cNvSpPr txBox="1"/>
          <p:nvPr/>
        </p:nvSpPr>
        <p:spPr>
          <a:xfrm>
            <a:off x="4411067" y="3637550"/>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المكونات الفرعية ‎2-1‎ إلى ‎2-8‎</a:t>
            </a:r>
          </a:p>
        </p:txBody>
      </p:sp>
      <p:sp>
        <p:nvSpPr>
          <p:cNvPr id="29" name="Text 28"/>
          <p:cNvSpPr txBox="1"/>
          <p:nvPr/>
        </p:nvSpPr>
        <p:spPr>
          <a:xfrm>
            <a:off x="4411067" y="3876270"/>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الشرائح من 77 إلى 113</a:t>
            </a:r>
          </a:p>
        </p:txBody>
      </p:sp>
      <p:sp>
        <p:nvSpPr>
          <p:cNvPr id="30" name="Box 29"/>
          <p:cNvSpPr/>
          <p:nvPr/>
        </p:nvSpPr>
        <p:spPr>
          <a:xfrm>
            <a:off x="7961809" y="3248422"/>
            <a:ext cx="3414216"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31" name="Text 30"/>
          <p:cNvSpPr txBox="1"/>
          <p:nvPr/>
        </p:nvSpPr>
        <p:spPr>
          <a:xfrm>
            <a:off x="10433050" y="3581503"/>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A6461A"/>
                </a:solidFill>
                <a:latin typeface="Alexandria"/>
                <a:ea typeface="Alexandria"/>
                <a:cs typeface="Alexandria"/>
              </a:rPr>
              <a:t>04</a:t>
            </a:r>
          </a:p>
        </p:txBody>
      </p:sp>
      <p:sp>
        <p:nvSpPr>
          <p:cNvPr id="32" name="Text 31"/>
          <p:cNvSpPr txBox="1"/>
          <p:nvPr/>
        </p:nvSpPr>
        <p:spPr>
          <a:xfrm>
            <a:off x="7984034" y="3358309"/>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الحوكمة</a:t>
            </a:r>
          </a:p>
        </p:txBody>
      </p:sp>
      <p:sp>
        <p:nvSpPr>
          <p:cNvPr id="33" name="Text 32"/>
          <p:cNvSpPr txBox="1"/>
          <p:nvPr/>
        </p:nvSpPr>
        <p:spPr>
          <a:xfrm>
            <a:off x="7984034" y="3637550"/>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المكونات الفرعية ‎1-1‎ إلى ‎1-10‎</a:t>
            </a:r>
          </a:p>
        </p:txBody>
      </p:sp>
      <p:sp>
        <p:nvSpPr>
          <p:cNvPr id="34" name="Text 33"/>
          <p:cNvSpPr txBox="1"/>
          <p:nvPr/>
        </p:nvSpPr>
        <p:spPr>
          <a:xfrm>
            <a:off x="7984034" y="3876270"/>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الشرائح من 42 إلى 76</a:t>
            </a:r>
          </a:p>
        </p:txBody>
      </p:sp>
      <p:sp>
        <p:nvSpPr>
          <p:cNvPr id="35" name="Box 34"/>
          <p:cNvSpPr/>
          <p:nvPr/>
        </p:nvSpPr>
        <p:spPr>
          <a:xfrm>
            <a:off x="815975" y="4402138"/>
            <a:ext cx="3414117"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36" name="Text 35"/>
          <p:cNvSpPr txBox="1"/>
          <p:nvPr/>
        </p:nvSpPr>
        <p:spPr>
          <a:xfrm>
            <a:off x="3287117" y="4735219"/>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09</a:t>
            </a:r>
          </a:p>
        </p:txBody>
      </p:sp>
      <p:sp>
        <p:nvSpPr>
          <p:cNvPr id="37" name="Text 36"/>
          <p:cNvSpPr txBox="1"/>
          <p:nvPr/>
        </p:nvSpPr>
        <p:spPr>
          <a:xfrm>
            <a:off x="838200" y="4512024"/>
            <a:ext cx="25378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الاختبار والختام</a:t>
            </a:r>
          </a:p>
        </p:txBody>
      </p:sp>
      <p:sp>
        <p:nvSpPr>
          <p:cNvPr id="38" name="Text 37"/>
          <p:cNvSpPr txBox="1"/>
          <p:nvPr/>
        </p:nvSpPr>
        <p:spPr>
          <a:xfrm>
            <a:off x="838200" y="4791266"/>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أسئلة وخلاصة وتكليف عملي</a:t>
            </a:r>
          </a:p>
        </p:txBody>
      </p:sp>
      <p:sp>
        <p:nvSpPr>
          <p:cNvPr id="39" name="Text 38"/>
          <p:cNvSpPr txBox="1"/>
          <p:nvPr/>
        </p:nvSpPr>
        <p:spPr>
          <a:xfrm>
            <a:off x="838200" y="5029986"/>
            <a:ext cx="253781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176 إلى 187</a:t>
            </a:r>
          </a:p>
        </p:txBody>
      </p:sp>
      <p:sp>
        <p:nvSpPr>
          <p:cNvPr id="40" name="Box 39"/>
          <p:cNvSpPr/>
          <p:nvPr/>
        </p:nvSpPr>
        <p:spPr>
          <a:xfrm>
            <a:off x="4388842" y="4402138"/>
            <a:ext cx="3414216"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41" name="Text 40"/>
          <p:cNvSpPr txBox="1"/>
          <p:nvPr/>
        </p:nvSpPr>
        <p:spPr>
          <a:xfrm>
            <a:off x="6860084" y="4735219"/>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0B6F7C"/>
                </a:solidFill>
                <a:latin typeface="Alexandria"/>
                <a:ea typeface="Alexandria"/>
                <a:cs typeface="Alexandria"/>
              </a:rPr>
              <a:t>08</a:t>
            </a:r>
          </a:p>
        </p:txBody>
      </p:sp>
      <p:sp>
        <p:nvSpPr>
          <p:cNvPr id="42" name="Text 41"/>
          <p:cNvSpPr txBox="1"/>
          <p:nvPr/>
        </p:nvSpPr>
        <p:spPr>
          <a:xfrm>
            <a:off x="4411067" y="4512024"/>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الاستدامة والجاهزية</a:t>
            </a:r>
          </a:p>
        </p:txBody>
      </p:sp>
      <p:sp>
        <p:nvSpPr>
          <p:cNvPr id="43" name="Text 42"/>
          <p:cNvSpPr txBox="1"/>
          <p:nvPr/>
        </p:nvSpPr>
        <p:spPr>
          <a:xfrm>
            <a:off x="4411067" y="4791266"/>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المراجعات والمؤشرات وتقييم الهيئة</a:t>
            </a:r>
          </a:p>
        </p:txBody>
      </p:sp>
      <p:sp>
        <p:nvSpPr>
          <p:cNvPr id="44" name="Text 43"/>
          <p:cNvSpPr txBox="1"/>
          <p:nvPr/>
        </p:nvSpPr>
        <p:spPr>
          <a:xfrm>
            <a:off x="4411067" y="5029986"/>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الشرائح من 164 إلى 175</a:t>
            </a:r>
          </a:p>
        </p:txBody>
      </p:sp>
      <p:sp>
        <p:nvSpPr>
          <p:cNvPr id="45" name="Box 44"/>
          <p:cNvSpPr/>
          <p:nvPr/>
        </p:nvSpPr>
        <p:spPr>
          <a:xfrm>
            <a:off x="7961809" y="4402138"/>
            <a:ext cx="3414216" cy="994966"/>
          </a:xfrm>
          <a:prstGeom prst="roundRect">
            <a:avLst>
              <a:gd name="adj" fmla="val 12683"/>
            </a:avLst>
          </a:prstGeom>
          <a:solidFill>
            <a:srgbClr val="FCFBF8"/>
          </a:solidFill>
          <a:ln w="6350">
            <a:solidFill>
              <a:srgbClr val="DDD7CA"/>
            </a:solidFill>
          </a:ln>
        </p:spPr>
        <p:txBody>
          <a:bodyPr rtlCol="0" anchor="ctr"/>
          <a:lstStyle/>
          <a:p>
            <a:pPr algn="ctr"/>
          </a:p>
        </p:txBody>
      </p:sp>
      <p:sp>
        <p:nvSpPr>
          <p:cNvPr id="46" name="Text 45"/>
          <p:cNvSpPr txBox="1"/>
          <p:nvPr/>
        </p:nvSpPr>
        <p:spPr>
          <a:xfrm>
            <a:off x="10433050" y="4735219"/>
            <a:ext cx="762000" cy="381000"/>
          </a:xfrm>
          <a:prstGeom prst="rect">
            <a:avLst/>
          </a:prstGeom>
          <a:noFill/>
        </p:spPr>
        <p:txBody>
          <a:bodyPr wrap="square" tIns="0" rIns="0" bIns="0" lIns="0" anchor="t" rtlCol="0" anchorCtr="0">
            <a:noAutofit/>
          </a:bodyPr>
          <a:lstStyle/>
          <a:p>
            <a:pPr algn="r">
              <a:lnSpc>
                <a:spcPts val="3000"/>
              </a:lnSpc>
              <a:spcBef>
                <a:spcPts val="0"/>
              </a:spcBef>
              <a:spcAft>
                <a:spcPts val="0"/>
              </a:spcAft>
            </a:pPr>
            <a:r>
              <a:rPr sz="3000" b="1" i="0">
                <a:solidFill>
                  <a:srgbClr val="22704E"/>
                </a:solidFill>
                <a:latin typeface="Alexandria"/>
                <a:ea typeface="Alexandria"/>
                <a:cs typeface="Alexandria"/>
              </a:rPr>
              <a:t>07</a:t>
            </a:r>
          </a:p>
        </p:txBody>
      </p:sp>
      <p:sp>
        <p:nvSpPr>
          <p:cNvPr id="47" name="Text 46"/>
          <p:cNvSpPr txBox="1"/>
          <p:nvPr/>
        </p:nvSpPr>
        <p:spPr>
          <a:xfrm>
            <a:off x="7984034" y="4512024"/>
            <a:ext cx="25379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الصمود والأطراف الخارجية</a:t>
            </a:r>
          </a:p>
        </p:txBody>
      </p:sp>
      <p:sp>
        <p:nvSpPr>
          <p:cNvPr id="48" name="Text 47"/>
          <p:cNvSpPr txBox="1"/>
          <p:nvPr/>
        </p:nvSpPr>
        <p:spPr>
          <a:xfrm>
            <a:off x="7984034" y="4791266"/>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‎3-1‎ و‎4-1‎ و‎4-2‎</a:t>
            </a:r>
          </a:p>
        </p:txBody>
      </p:sp>
      <p:sp>
        <p:nvSpPr>
          <p:cNvPr id="49" name="Text 48"/>
          <p:cNvSpPr txBox="1"/>
          <p:nvPr/>
        </p:nvSpPr>
        <p:spPr>
          <a:xfrm>
            <a:off x="7984034" y="5029986"/>
            <a:ext cx="25379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الشرائح من 149 إلى 163</a:t>
            </a:r>
          </a:p>
        </p:txBody>
      </p:sp>
      <p:sp>
        <p:nvSpPr>
          <p:cNvPr id="50" name="Text 49"/>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51" name="Box 50"/>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Text 5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7377601" y="827278"/>
            <a:ext cx="2759381"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الرقم على اليسار: الشريحة التي يبدأ بها المكوّن</a:t>
            </a:r>
          </a:p>
        </p:txBody>
      </p:sp>
      <p:sp>
        <p:nvSpPr>
          <p:cNvPr id="5" name="Text 4"/>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فهرس المكونات الفرعية الثمانية والعشرين</a:t>
            </a:r>
          </a:p>
        </p:txBody>
      </p:sp>
      <p:sp>
        <p:nvSpPr>
          <p:cNvPr id="6" name="Box 5"/>
          <p:cNvSpPr/>
          <p:nvPr/>
        </p:nvSpPr>
        <p:spPr>
          <a:xfrm>
            <a:off x="7961809" y="1855986"/>
            <a:ext cx="3414216" cy="3242965"/>
          </a:xfrm>
          <a:prstGeom prst="roundRect">
            <a:avLst>
              <a:gd name="adj" fmla="val 3126"/>
            </a:avLst>
          </a:prstGeom>
          <a:solidFill>
            <a:srgbClr val="FCFBF8"/>
          </a:solidFill>
          <a:ln w="6350">
            <a:solidFill>
              <a:srgbClr val="DDD7CA"/>
            </a:solidFill>
          </a:ln>
        </p:spPr>
        <p:txBody>
          <a:bodyPr rtlCol="0" anchor="ctr"/>
          <a:lstStyle/>
          <a:p>
            <a:pPr algn="ctr"/>
          </a:p>
        </p:txBody>
      </p:sp>
      <p:sp>
        <p:nvSpPr>
          <p:cNvPr id="7" name="Box 6"/>
          <p:cNvSpPr/>
          <p:nvPr/>
        </p:nvSpPr>
        <p:spPr>
          <a:xfrm>
            <a:off x="7964984" y="1859161"/>
            <a:ext cx="3407866" cy="341610"/>
          </a:xfrm>
          <a:prstGeom prst="round2SameRect">
            <a:avLst>
              <a:gd name="adj1" fmla="val 27882"/>
              <a:gd name="adj2" fmla="val 0"/>
            </a:avLst>
          </a:prstGeom>
          <a:solidFill>
            <a:srgbClr val="A6461A"/>
          </a:solidFill>
          <a:ln>
            <a:noFill/>
          </a:ln>
        </p:spPr>
        <p:txBody>
          <a:bodyPr rtlCol="0" anchor="ctr"/>
          <a:lstStyle/>
          <a:p>
            <a:pPr algn="ctr"/>
          </a:p>
        </p:txBody>
      </p:sp>
      <p:sp>
        <p:nvSpPr>
          <p:cNvPr id="8" name="Text 7"/>
          <p:cNvSpPr txBox="1"/>
          <p:nvPr/>
        </p:nvSpPr>
        <p:spPr>
          <a:xfrm>
            <a:off x="10930493" y="1909205"/>
            <a:ext cx="315357"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EEE6"/>
                </a:solidFill>
                <a:latin typeface="Alexandria"/>
                <a:ea typeface="Alexandria"/>
                <a:cs typeface="Alexandria"/>
              </a:rPr>
              <a:t>04</a:t>
            </a:r>
          </a:p>
        </p:txBody>
      </p:sp>
      <p:sp>
        <p:nvSpPr>
          <p:cNvPr id="9" name="Text 8"/>
          <p:cNvSpPr txBox="1"/>
          <p:nvPr/>
        </p:nvSpPr>
        <p:spPr>
          <a:xfrm>
            <a:off x="8675961" y="1914894"/>
            <a:ext cx="2277392"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الحوكمة</a:t>
            </a:r>
          </a:p>
        </p:txBody>
      </p:sp>
      <p:sp>
        <p:nvSpPr>
          <p:cNvPr id="10" name="Text 9"/>
          <p:cNvSpPr txBox="1"/>
          <p:nvPr/>
        </p:nvSpPr>
        <p:spPr>
          <a:xfrm>
            <a:off x="8000544" y="1914894"/>
            <a:ext cx="767913"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الشريحة 42</a:t>
            </a:r>
          </a:p>
        </p:txBody>
      </p:sp>
      <p:sp>
        <p:nvSpPr>
          <p:cNvPr id="11" name="Rule 10"/>
          <p:cNvSpPr/>
          <p:nvPr/>
        </p:nvSpPr>
        <p:spPr>
          <a:xfrm>
            <a:off x="8091984" y="2213471"/>
            <a:ext cx="3153866" cy="6350"/>
          </a:xfrm>
          <a:prstGeom prst="rect">
            <a:avLst/>
          </a:prstGeom>
          <a:solidFill>
            <a:srgbClr val="DDD7CA"/>
          </a:solidFill>
          <a:ln>
            <a:noFill/>
          </a:ln>
        </p:spPr>
        <p:txBody>
          <a:bodyPr rtlCol="0" anchor="ctr"/>
          <a:lstStyle/>
          <a:p>
            <a:pPr algn="ctr"/>
          </a:p>
        </p:txBody>
      </p:sp>
      <p:sp>
        <p:nvSpPr>
          <p:cNvPr id="12" name="Text 11"/>
          <p:cNvSpPr txBox="1"/>
          <p:nvPr/>
        </p:nvSpPr>
        <p:spPr>
          <a:xfrm>
            <a:off x="10760710" y="2237855"/>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1-1</a:t>
            </a:r>
          </a:p>
        </p:txBody>
      </p:sp>
      <p:sp>
        <p:nvSpPr>
          <p:cNvPr id="13" name="Text 12"/>
          <p:cNvSpPr txBox="1"/>
          <p:nvPr/>
        </p:nvSpPr>
        <p:spPr>
          <a:xfrm>
            <a:off x="8157158" y="2238109"/>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الاستراتيجية</a:t>
            </a:r>
          </a:p>
        </p:txBody>
      </p:sp>
      <p:sp>
        <p:nvSpPr>
          <p:cNvPr id="14" name="Text 13"/>
          <p:cNvSpPr txBox="1"/>
          <p:nvPr/>
        </p:nvSpPr>
        <p:spPr>
          <a:xfrm>
            <a:off x="8091984" y="2237855"/>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43</a:t>
            </a:r>
          </a:p>
        </p:txBody>
      </p:sp>
      <p:sp>
        <p:nvSpPr>
          <p:cNvPr id="15" name="Rule 14"/>
          <p:cNvSpPr/>
          <p:nvPr/>
        </p:nvSpPr>
        <p:spPr>
          <a:xfrm>
            <a:off x="8091984" y="2495352"/>
            <a:ext cx="3153866" cy="6350"/>
          </a:xfrm>
          <a:prstGeom prst="rect">
            <a:avLst/>
          </a:prstGeom>
          <a:solidFill>
            <a:srgbClr val="DDD7CA"/>
          </a:solidFill>
          <a:ln>
            <a:noFill/>
          </a:ln>
        </p:spPr>
        <p:txBody>
          <a:bodyPr rtlCol="0" anchor="ctr"/>
          <a:lstStyle/>
          <a:p>
            <a:pPr algn="ctr"/>
          </a:p>
        </p:txBody>
      </p:sp>
      <p:sp>
        <p:nvSpPr>
          <p:cNvPr id="16" name="Text 15"/>
          <p:cNvSpPr txBox="1"/>
          <p:nvPr/>
        </p:nvSpPr>
        <p:spPr>
          <a:xfrm>
            <a:off x="10760710" y="251973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1-2</a:t>
            </a:r>
          </a:p>
        </p:txBody>
      </p:sp>
      <p:sp>
        <p:nvSpPr>
          <p:cNvPr id="17" name="Text 16"/>
          <p:cNvSpPr txBox="1"/>
          <p:nvPr/>
        </p:nvSpPr>
        <p:spPr>
          <a:xfrm>
            <a:off x="8157158" y="251999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الأمن السيبراني</a:t>
            </a:r>
          </a:p>
        </p:txBody>
      </p:sp>
      <p:sp>
        <p:nvSpPr>
          <p:cNvPr id="18" name="Text 17"/>
          <p:cNvSpPr txBox="1"/>
          <p:nvPr/>
        </p:nvSpPr>
        <p:spPr>
          <a:xfrm>
            <a:off x="8091984" y="251973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45</a:t>
            </a:r>
          </a:p>
        </p:txBody>
      </p:sp>
      <p:sp>
        <p:nvSpPr>
          <p:cNvPr id="19" name="Rule 18"/>
          <p:cNvSpPr/>
          <p:nvPr/>
        </p:nvSpPr>
        <p:spPr>
          <a:xfrm>
            <a:off x="8091984" y="2777232"/>
            <a:ext cx="3153866" cy="6350"/>
          </a:xfrm>
          <a:prstGeom prst="rect">
            <a:avLst/>
          </a:prstGeom>
          <a:solidFill>
            <a:srgbClr val="DDD7CA"/>
          </a:solidFill>
          <a:ln>
            <a:noFill/>
          </a:ln>
        </p:spPr>
        <p:txBody>
          <a:bodyPr rtlCol="0" anchor="ctr"/>
          <a:lstStyle/>
          <a:p>
            <a:pPr algn="ctr"/>
          </a:p>
        </p:txBody>
      </p:sp>
      <p:sp>
        <p:nvSpPr>
          <p:cNvPr id="20" name="Text 19"/>
          <p:cNvSpPr txBox="1"/>
          <p:nvPr/>
        </p:nvSpPr>
        <p:spPr>
          <a:xfrm>
            <a:off x="10760710" y="280161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1-3</a:t>
            </a:r>
          </a:p>
        </p:txBody>
      </p:sp>
      <p:sp>
        <p:nvSpPr>
          <p:cNvPr id="21" name="Text 20"/>
          <p:cNvSpPr txBox="1"/>
          <p:nvPr/>
        </p:nvSpPr>
        <p:spPr>
          <a:xfrm>
            <a:off x="8157158" y="280187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السياسات والإجراءات</a:t>
            </a:r>
          </a:p>
        </p:txBody>
      </p:sp>
      <p:sp>
        <p:nvSpPr>
          <p:cNvPr id="22" name="Text 21"/>
          <p:cNvSpPr txBox="1"/>
          <p:nvPr/>
        </p:nvSpPr>
        <p:spPr>
          <a:xfrm>
            <a:off x="8091984" y="280161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48</a:t>
            </a:r>
          </a:p>
        </p:txBody>
      </p:sp>
      <p:sp>
        <p:nvSpPr>
          <p:cNvPr id="23" name="Rule 22"/>
          <p:cNvSpPr/>
          <p:nvPr/>
        </p:nvSpPr>
        <p:spPr>
          <a:xfrm>
            <a:off x="8091984" y="3059112"/>
            <a:ext cx="3153866" cy="6350"/>
          </a:xfrm>
          <a:prstGeom prst="rect">
            <a:avLst/>
          </a:prstGeom>
          <a:solidFill>
            <a:srgbClr val="DDD7CA"/>
          </a:solidFill>
          <a:ln>
            <a:noFill/>
          </a:ln>
        </p:spPr>
        <p:txBody>
          <a:bodyPr rtlCol="0" anchor="ctr"/>
          <a:lstStyle/>
          <a:p>
            <a:pPr algn="ctr"/>
          </a:p>
        </p:txBody>
      </p:sp>
      <p:sp>
        <p:nvSpPr>
          <p:cNvPr id="24" name="Text 23"/>
          <p:cNvSpPr txBox="1"/>
          <p:nvPr/>
        </p:nvSpPr>
        <p:spPr>
          <a:xfrm>
            <a:off x="10760710" y="308349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1-4</a:t>
            </a:r>
          </a:p>
        </p:txBody>
      </p:sp>
      <p:sp>
        <p:nvSpPr>
          <p:cNvPr id="25" name="Text 24"/>
          <p:cNvSpPr txBox="1"/>
          <p:nvPr/>
        </p:nvSpPr>
        <p:spPr>
          <a:xfrm>
            <a:off x="8157158" y="308375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الأدوار والمسؤوليات</a:t>
            </a:r>
          </a:p>
        </p:txBody>
      </p:sp>
      <p:sp>
        <p:nvSpPr>
          <p:cNvPr id="26" name="Text 25"/>
          <p:cNvSpPr txBox="1"/>
          <p:nvPr/>
        </p:nvSpPr>
        <p:spPr>
          <a:xfrm>
            <a:off x="8091984" y="308349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51</a:t>
            </a:r>
          </a:p>
        </p:txBody>
      </p:sp>
      <p:sp>
        <p:nvSpPr>
          <p:cNvPr id="27" name="Rule 26"/>
          <p:cNvSpPr/>
          <p:nvPr/>
        </p:nvSpPr>
        <p:spPr>
          <a:xfrm>
            <a:off x="8091984" y="3340993"/>
            <a:ext cx="3153866" cy="6350"/>
          </a:xfrm>
          <a:prstGeom prst="rect">
            <a:avLst/>
          </a:prstGeom>
          <a:solidFill>
            <a:srgbClr val="DDD7CA"/>
          </a:solidFill>
          <a:ln>
            <a:noFill/>
          </a:ln>
        </p:spPr>
        <p:txBody>
          <a:bodyPr rtlCol="0" anchor="ctr"/>
          <a:lstStyle/>
          <a:p>
            <a:pPr algn="ctr"/>
          </a:p>
        </p:txBody>
      </p:sp>
      <p:sp>
        <p:nvSpPr>
          <p:cNvPr id="28" name="Text 27"/>
          <p:cNvSpPr txBox="1"/>
          <p:nvPr/>
        </p:nvSpPr>
        <p:spPr>
          <a:xfrm>
            <a:off x="10760710" y="336537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1-5</a:t>
            </a:r>
          </a:p>
        </p:txBody>
      </p:sp>
      <p:sp>
        <p:nvSpPr>
          <p:cNvPr id="29" name="Text 28"/>
          <p:cNvSpPr txBox="1"/>
          <p:nvPr/>
        </p:nvSpPr>
        <p:spPr>
          <a:xfrm>
            <a:off x="8157158" y="3365631"/>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المخاطر</a:t>
            </a:r>
          </a:p>
        </p:txBody>
      </p:sp>
      <p:sp>
        <p:nvSpPr>
          <p:cNvPr id="30" name="Text 29"/>
          <p:cNvSpPr txBox="1"/>
          <p:nvPr/>
        </p:nvSpPr>
        <p:spPr>
          <a:xfrm>
            <a:off x="8091984" y="3365377"/>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53</a:t>
            </a:r>
          </a:p>
        </p:txBody>
      </p:sp>
      <p:sp>
        <p:nvSpPr>
          <p:cNvPr id="31" name="Rule 30"/>
          <p:cNvSpPr/>
          <p:nvPr/>
        </p:nvSpPr>
        <p:spPr>
          <a:xfrm>
            <a:off x="8091984" y="3622873"/>
            <a:ext cx="3153866" cy="6350"/>
          </a:xfrm>
          <a:prstGeom prst="rect">
            <a:avLst/>
          </a:prstGeom>
          <a:solidFill>
            <a:srgbClr val="DDD7CA"/>
          </a:solidFill>
          <a:ln>
            <a:noFill/>
          </a:ln>
        </p:spPr>
        <p:txBody>
          <a:bodyPr rtlCol="0" anchor="ctr"/>
          <a:lstStyle/>
          <a:p>
            <a:pPr algn="ctr"/>
          </a:p>
        </p:txBody>
      </p:sp>
      <p:sp>
        <p:nvSpPr>
          <p:cNvPr id="32" name="Text 31"/>
          <p:cNvSpPr txBox="1"/>
          <p:nvPr/>
        </p:nvSpPr>
        <p:spPr>
          <a:xfrm>
            <a:off x="10760710" y="364725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1-6</a:t>
            </a:r>
          </a:p>
        </p:txBody>
      </p:sp>
      <p:sp>
        <p:nvSpPr>
          <p:cNvPr id="33" name="Text 32"/>
          <p:cNvSpPr txBox="1"/>
          <p:nvPr/>
        </p:nvSpPr>
        <p:spPr>
          <a:xfrm>
            <a:off x="8157158" y="3647511"/>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في المشاريع</a:t>
            </a:r>
          </a:p>
        </p:txBody>
      </p:sp>
      <p:sp>
        <p:nvSpPr>
          <p:cNvPr id="34" name="Text 33"/>
          <p:cNvSpPr txBox="1"/>
          <p:nvPr/>
        </p:nvSpPr>
        <p:spPr>
          <a:xfrm>
            <a:off x="8091984" y="3647257"/>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57</a:t>
            </a:r>
          </a:p>
        </p:txBody>
      </p:sp>
      <p:sp>
        <p:nvSpPr>
          <p:cNvPr id="35" name="Rule 34"/>
          <p:cNvSpPr/>
          <p:nvPr/>
        </p:nvSpPr>
        <p:spPr>
          <a:xfrm>
            <a:off x="8091984" y="3904754"/>
            <a:ext cx="3153866" cy="6350"/>
          </a:xfrm>
          <a:prstGeom prst="rect">
            <a:avLst/>
          </a:prstGeom>
          <a:solidFill>
            <a:srgbClr val="DDD7CA"/>
          </a:solidFill>
          <a:ln>
            <a:noFill/>
          </a:ln>
        </p:spPr>
        <p:txBody>
          <a:bodyPr rtlCol="0" anchor="ctr"/>
          <a:lstStyle/>
          <a:p>
            <a:pPr algn="ctr"/>
          </a:p>
        </p:txBody>
      </p:sp>
      <p:sp>
        <p:nvSpPr>
          <p:cNvPr id="36" name="Text 35"/>
          <p:cNvSpPr txBox="1"/>
          <p:nvPr/>
        </p:nvSpPr>
        <p:spPr>
          <a:xfrm>
            <a:off x="10760710" y="392913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1-7</a:t>
            </a:r>
          </a:p>
        </p:txBody>
      </p:sp>
      <p:sp>
        <p:nvSpPr>
          <p:cNvPr id="37" name="Text 36"/>
          <p:cNvSpPr txBox="1"/>
          <p:nvPr/>
        </p:nvSpPr>
        <p:spPr>
          <a:xfrm>
            <a:off x="8157158" y="3929392"/>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الالتزام بالتشريعات</a:t>
            </a:r>
          </a:p>
        </p:txBody>
      </p:sp>
      <p:sp>
        <p:nvSpPr>
          <p:cNvPr id="38" name="Text 37"/>
          <p:cNvSpPr txBox="1"/>
          <p:nvPr/>
        </p:nvSpPr>
        <p:spPr>
          <a:xfrm>
            <a:off x="8091984" y="3929138"/>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61</a:t>
            </a:r>
          </a:p>
        </p:txBody>
      </p:sp>
      <p:sp>
        <p:nvSpPr>
          <p:cNvPr id="39" name="Rule 38"/>
          <p:cNvSpPr/>
          <p:nvPr/>
        </p:nvSpPr>
        <p:spPr>
          <a:xfrm>
            <a:off x="8091984" y="4186634"/>
            <a:ext cx="3153866" cy="6350"/>
          </a:xfrm>
          <a:prstGeom prst="rect">
            <a:avLst/>
          </a:prstGeom>
          <a:solidFill>
            <a:srgbClr val="DDD7CA"/>
          </a:solidFill>
          <a:ln>
            <a:noFill/>
          </a:ln>
        </p:spPr>
        <p:txBody>
          <a:bodyPr rtlCol="0" anchor="ctr"/>
          <a:lstStyle/>
          <a:p>
            <a:pPr algn="ctr"/>
          </a:p>
        </p:txBody>
      </p:sp>
      <p:sp>
        <p:nvSpPr>
          <p:cNvPr id="40" name="Text 39"/>
          <p:cNvSpPr txBox="1"/>
          <p:nvPr/>
        </p:nvSpPr>
        <p:spPr>
          <a:xfrm>
            <a:off x="10760710" y="421101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1-8</a:t>
            </a:r>
          </a:p>
        </p:txBody>
      </p:sp>
      <p:sp>
        <p:nvSpPr>
          <p:cNvPr id="41" name="Text 40"/>
          <p:cNvSpPr txBox="1"/>
          <p:nvPr/>
        </p:nvSpPr>
        <p:spPr>
          <a:xfrm>
            <a:off x="8157158" y="4211272"/>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المراجعة والتدقيق</a:t>
            </a:r>
          </a:p>
        </p:txBody>
      </p:sp>
      <p:sp>
        <p:nvSpPr>
          <p:cNvPr id="42" name="Text 41"/>
          <p:cNvSpPr txBox="1"/>
          <p:nvPr/>
        </p:nvSpPr>
        <p:spPr>
          <a:xfrm>
            <a:off x="8091984" y="4211018"/>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63</a:t>
            </a:r>
          </a:p>
        </p:txBody>
      </p:sp>
      <p:sp>
        <p:nvSpPr>
          <p:cNvPr id="43" name="Rule 42"/>
          <p:cNvSpPr/>
          <p:nvPr/>
        </p:nvSpPr>
        <p:spPr>
          <a:xfrm>
            <a:off x="8091984" y="4468515"/>
            <a:ext cx="3153866" cy="6350"/>
          </a:xfrm>
          <a:prstGeom prst="rect">
            <a:avLst/>
          </a:prstGeom>
          <a:solidFill>
            <a:srgbClr val="DDD7CA"/>
          </a:solidFill>
          <a:ln>
            <a:noFill/>
          </a:ln>
        </p:spPr>
        <p:txBody>
          <a:bodyPr rtlCol="0" anchor="ctr"/>
          <a:lstStyle/>
          <a:p>
            <a:pPr algn="ctr"/>
          </a:p>
        </p:txBody>
      </p:sp>
      <p:sp>
        <p:nvSpPr>
          <p:cNvPr id="44" name="Text 43"/>
          <p:cNvSpPr txBox="1"/>
          <p:nvPr/>
        </p:nvSpPr>
        <p:spPr>
          <a:xfrm>
            <a:off x="10760710" y="449289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1-9</a:t>
            </a:r>
          </a:p>
        </p:txBody>
      </p:sp>
      <p:sp>
        <p:nvSpPr>
          <p:cNvPr id="45" name="Text 44"/>
          <p:cNvSpPr txBox="1"/>
          <p:nvPr/>
        </p:nvSpPr>
        <p:spPr>
          <a:xfrm>
            <a:off x="8157158" y="4493153"/>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الموارد البشرية</a:t>
            </a:r>
          </a:p>
        </p:txBody>
      </p:sp>
      <p:sp>
        <p:nvSpPr>
          <p:cNvPr id="46" name="Text 45"/>
          <p:cNvSpPr txBox="1"/>
          <p:nvPr/>
        </p:nvSpPr>
        <p:spPr>
          <a:xfrm>
            <a:off x="8091984" y="4492899"/>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65</a:t>
            </a:r>
          </a:p>
        </p:txBody>
      </p:sp>
      <p:sp>
        <p:nvSpPr>
          <p:cNvPr id="47" name="Rule 46"/>
          <p:cNvSpPr/>
          <p:nvPr/>
        </p:nvSpPr>
        <p:spPr>
          <a:xfrm>
            <a:off x="8091984" y="4750395"/>
            <a:ext cx="3153866" cy="6350"/>
          </a:xfrm>
          <a:prstGeom prst="rect">
            <a:avLst/>
          </a:prstGeom>
          <a:solidFill>
            <a:srgbClr val="DDD7CA"/>
          </a:solidFill>
          <a:ln>
            <a:noFill/>
          </a:ln>
        </p:spPr>
        <p:txBody>
          <a:bodyPr rtlCol="0" anchor="ctr"/>
          <a:lstStyle/>
          <a:p>
            <a:pPr algn="ctr"/>
          </a:p>
        </p:txBody>
      </p:sp>
      <p:sp>
        <p:nvSpPr>
          <p:cNvPr id="48" name="Text 47"/>
          <p:cNvSpPr txBox="1"/>
          <p:nvPr/>
        </p:nvSpPr>
        <p:spPr>
          <a:xfrm>
            <a:off x="10760710" y="477477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A6461A"/>
                </a:solidFill>
                <a:latin typeface="IBM Plex Mono"/>
                <a:ea typeface="IBM Plex Mono"/>
                <a:cs typeface="IBM Plex Mono"/>
              </a:rPr>
              <a:t>1-10</a:t>
            </a:r>
          </a:p>
        </p:txBody>
      </p:sp>
      <p:sp>
        <p:nvSpPr>
          <p:cNvPr id="49" name="Text 48"/>
          <p:cNvSpPr txBox="1"/>
          <p:nvPr/>
        </p:nvSpPr>
        <p:spPr>
          <a:xfrm>
            <a:off x="8157158" y="4775033"/>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التوعية والتدريب</a:t>
            </a:r>
          </a:p>
        </p:txBody>
      </p:sp>
      <p:sp>
        <p:nvSpPr>
          <p:cNvPr id="50" name="Text 49"/>
          <p:cNvSpPr txBox="1"/>
          <p:nvPr/>
        </p:nvSpPr>
        <p:spPr>
          <a:xfrm>
            <a:off x="8091984" y="4774779"/>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70</a:t>
            </a:r>
          </a:p>
        </p:txBody>
      </p:sp>
      <p:sp>
        <p:nvSpPr>
          <p:cNvPr id="51" name="Box 50"/>
          <p:cNvSpPr/>
          <p:nvPr/>
        </p:nvSpPr>
        <p:spPr>
          <a:xfrm>
            <a:off x="4388842" y="1855986"/>
            <a:ext cx="3414216" cy="2679204"/>
          </a:xfrm>
          <a:prstGeom prst="roundRect">
            <a:avLst>
              <a:gd name="adj" fmla="val 3783"/>
            </a:avLst>
          </a:prstGeom>
          <a:solidFill>
            <a:srgbClr val="FCFBF8"/>
          </a:solidFill>
          <a:ln w="6350">
            <a:solidFill>
              <a:srgbClr val="DDD7CA"/>
            </a:solidFill>
          </a:ln>
        </p:spPr>
        <p:txBody>
          <a:bodyPr rtlCol="0" anchor="ctr"/>
          <a:lstStyle/>
          <a:p>
            <a:pPr algn="ctr"/>
          </a:p>
        </p:txBody>
      </p:sp>
      <p:sp>
        <p:nvSpPr>
          <p:cNvPr id="52" name="Box 51"/>
          <p:cNvSpPr/>
          <p:nvPr/>
        </p:nvSpPr>
        <p:spPr>
          <a:xfrm>
            <a:off x="4392017" y="1859161"/>
            <a:ext cx="3407866" cy="341610"/>
          </a:xfrm>
          <a:prstGeom prst="round2SameRect">
            <a:avLst>
              <a:gd name="adj1" fmla="val 27882"/>
              <a:gd name="adj2" fmla="val 0"/>
            </a:avLst>
          </a:prstGeom>
          <a:solidFill>
            <a:srgbClr val="1D5B9E"/>
          </a:solidFill>
          <a:ln>
            <a:noFill/>
          </a:ln>
        </p:spPr>
        <p:txBody>
          <a:bodyPr rtlCol="0" anchor="ctr"/>
          <a:lstStyle/>
          <a:p>
            <a:pPr algn="ctr"/>
          </a:p>
        </p:txBody>
      </p:sp>
      <p:sp>
        <p:nvSpPr>
          <p:cNvPr id="53" name="Text 52"/>
          <p:cNvSpPr txBox="1"/>
          <p:nvPr/>
        </p:nvSpPr>
        <p:spPr>
          <a:xfrm>
            <a:off x="7354550" y="1909205"/>
            <a:ext cx="318333"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EEE6"/>
                </a:solidFill>
                <a:latin typeface="Alexandria"/>
                <a:ea typeface="Alexandria"/>
                <a:cs typeface="Alexandria"/>
              </a:rPr>
              <a:t>05</a:t>
            </a:r>
          </a:p>
        </p:txBody>
      </p:sp>
      <p:sp>
        <p:nvSpPr>
          <p:cNvPr id="54" name="Text 53"/>
          <p:cNvSpPr txBox="1"/>
          <p:nvPr/>
        </p:nvSpPr>
        <p:spPr>
          <a:xfrm>
            <a:off x="5103233" y="1914894"/>
            <a:ext cx="2274177"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التعزيز (1)</a:t>
            </a:r>
          </a:p>
        </p:txBody>
      </p:sp>
      <p:sp>
        <p:nvSpPr>
          <p:cNvPr id="55" name="Text 54"/>
          <p:cNvSpPr txBox="1"/>
          <p:nvPr/>
        </p:nvSpPr>
        <p:spPr>
          <a:xfrm>
            <a:off x="4427577" y="1914894"/>
            <a:ext cx="767913"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الشريحة 77</a:t>
            </a:r>
          </a:p>
        </p:txBody>
      </p:sp>
      <p:sp>
        <p:nvSpPr>
          <p:cNvPr id="56" name="Rule 55"/>
          <p:cNvSpPr/>
          <p:nvPr/>
        </p:nvSpPr>
        <p:spPr>
          <a:xfrm>
            <a:off x="4519017" y="2213471"/>
            <a:ext cx="3153866" cy="6350"/>
          </a:xfrm>
          <a:prstGeom prst="rect">
            <a:avLst/>
          </a:prstGeom>
          <a:solidFill>
            <a:srgbClr val="DDD7CA"/>
          </a:solidFill>
          <a:ln>
            <a:noFill/>
          </a:ln>
        </p:spPr>
        <p:txBody>
          <a:bodyPr rtlCol="0" anchor="ctr"/>
          <a:lstStyle/>
          <a:p>
            <a:pPr algn="ctr"/>
          </a:p>
        </p:txBody>
      </p:sp>
      <p:sp>
        <p:nvSpPr>
          <p:cNvPr id="57" name="Text 56"/>
          <p:cNvSpPr txBox="1"/>
          <p:nvPr/>
        </p:nvSpPr>
        <p:spPr>
          <a:xfrm>
            <a:off x="7187744" y="2237855"/>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a:t>
            </a:r>
          </a:p>
        </p:txBody>
      </p:sp>
      <p:sp>
        <p:nvSpPr>
          <p:cNvPr id="58" name="Text 57"/>
          <p:cNvSpPr txBox="1"/>
          <p:nvPr/>
        </p:nvSpPr>
        <p:spPr>
          <a:xfrm>
            <a:off x="4584192" y="2238109"/>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الأصول</a:t>
            </a:r>
          </a:p>
        </p:txBody>
      </p:sp>
      <p:sp>
        <p:nvSpPr>
          <p:cNvPr id="59" name="Text 58"/>
          <p:cNvSpPr txBox="1"/>
          <p:nvPr/>
        </p:nvSpPr>
        <p:spPr>
          <a:xfrm>
            <a:off x="4519017" y="2237855"/>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78</a:t>
            </a:r>
          </a:p>
        </p:txBody>
      </p:sp>
      <p:sp>
        <p:nvSpPr>
          <p:cNvPr id="60" name="Rule 59"/>
          <p:cNvSpPr/>
          <p:nvPr/>
        </p:nvSpPr>
        <p:spPr>
          <a:xfrm>
            <a:off x="4519017" y="2495352"/>
            <a:ext cx="3153866" cy="6350"/>
          </a:xfrm>
          <a:prstGeom prst="rect">
            <a:avLst/>
          </a:prstGeom>
          <a:solidFill>
            <a:srgbClr val="DDD7CA"/>
          </a:solidFill>
          <a:ln>
            <a:noFill/>
          </a:ln>
        </p:spPr>
        <p:txBody>
          <a:bodyPr rtlCol="0" anchor="ctr"/>
          <a:lstStyle/>
          <a:p>
            <a:pPr algn="ctr"/>
          </a:p>
        </p:txBody>
      </p:sp>
      <p:sp>
        <p:nvSpPr>
          <p:cNvPr id="61" name="Text 60"/>
          <p:cNvSpPr txBox="1"/>
          <p:nvPr/>
        </p:nvSpPr>
        <p:spPr>
          <a:xfrm>
            <a:off x="7187744" y="251973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2-2</a:t>
            </a:r>
          </a:p>
        </p:txBody>
      </p:sp>
      <p:sp>
        <p:nvSpPr>
          <p:cNvPr id="62" name="Text 61"/>
          <p:cNvSpPr txBox="1"/>
          <p:nvPr/>
        </p:nvSpPr>
        <p:spPr>
          <a:xfrm>
            <a:off x="4584192" y="251999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الهويات والصلاحيات</a:t>
            </a:r>
          </a:p>
        </p:txBody>
      </p:sp>
      <p:sp>
        <p:nvSpPr>
          <p:cNvPr id="63" name="Text 62"/>
          <p:cNvSpPr txBox="1"/>
          <p:nvPr/>
        </p:nvSpPr>
        <p:spPr>
          <a:xfrm>
            <a:off x="4519017" y="251973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82</a:t>
            </a:r>
          </a:p>
        </p:txBody>
      </p:sp>
      <p:sp>
        <p:nvSpPr>
          <p:cNvPr id="64" name="Rule 63"/>
          <p:cNvSpPr/>
          <p:nvPr/>
        </p:nvSpPr>
        <p:spPr>
          <a:xfrm>
            <a:off x="4519017" y="2777232"/>
            <a:ext cx="3153866" cy="6350"/>
          </a:xfrm>
          <a:prstGeom prst="rect">
            <a:avLst/>
          </a:prstGeom>
          <a:solidFill>
            <a:srgbClr val="DDD7CA"/>
          </a:solidFill>
          <a:ln>
            <a:noFill/>
          </a:ln>
        </p:spPr>
        <p:txBody>
          <a:bodyPr rtlCol="0" anchor="ctr"/>
          <a:lstStyle/>
          <a:p>
            <a:pPr algn="ctr"/>
          </a:p>
        </p:txBody>
      </p:sp>
      <p:sp>
        <p:nvSpPr>
          <p:cNvPr id="65" name="Text 64"/>
          <p:cNvSpPr txBox="1"/>
          <p:nvPr/>
        </p:nvSpPr>
        <p:spPr>
          <a:xfrm>
            <a:off x="7187744" y="280161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2-3</a:t>
            </a:r>
          </a:p>
        </p:txBody>
      </p:sp>
      <p:sp>
        <p:nvSpPr>
          <p:cNvPr id="66" name="Text 65"/>
          <p:cNvSpPr txBox="1"/>
          <p:nvPr/>
        </p:nvSpPr>
        <p:spPr>
          <a:xfrm>
            <a:off x="4584192" y="280187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الأنظمة</a:t>
            </a:r>
          </a:p>
        </p:txBody>
      </p:sp>
      <p:sp>
        <p:nvSpPr>
          <p:cNvPr id="67" name="Text 66"/>
          <p:cNvSpPr txBox="1"/>
          <p:nvPr/>
        </p:nvSpPr>
        <p:spPr>
          <a:xfrm>
            <a:off x="4519017" y="280161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88</a:t>
            </a:r>
          </a:p>
        </p:txBody>
      </p:sp>
      <p:sp>
        <p:nvSpPr>
          <p:cNvPr id="68" name="Rule 67"/>
          <p:cNvSpPr/>
          <p:nvPr/>
        </p:nvSpPr>
        <p:spPr>
          <a:xfrm>
            <a:off x="4519017" y="3059112"/>
            <a:ext cx="3153866" cy="6350"/>
          </a:xfrm>
          <a:prstGeom prst="rect">
            <a:avLst/>
          </a:prstGeom>
          <a:solidFill>
            <a:srgbClr val="DDD7CA"/>
          </a:solidFill>
          <a:ln>
            <a:noFill/>
          </a:ln>
        </p:spPr>
        <p:txBody>
          <a:bodyPr rtlCol="0" anchor="ctr"/>
          <a:lstStyle/>
          <a:p>
            <a:pPr algn="ctr"/>
          </a:p>
        </p:txBody>
      </p:sp>
      <p:sp>
        <p:nvSpPr>
          <p:cNvPr id="69" name="Text 68"/>
          <p:cNvSpPr txBox="1"/>
          <p:nvPr/>
        </p:nvSpPr>
        <p:spPr>
          <a:xfrm>
            <a:off x="7187744" y="308349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2-4</a:t>
            </a:r>
          </a:p>
        </p:txBody>
      </p:sp>
      <p:sp>
        <p:nvSpPr>
          <p:cNvPr id="70" name="Text 69"/>
          <p:cNvSpPr txBox="1"/>
          <p:nvPr/>
        </p:nvSpPr>
        <p:spPr>
          <a:xfrm>
            <a:off x="4584192" y="3083750"/>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البريد</a:t>
            </a:r>
          </a:p>
        </p:txBody>
      </p:sp>
      <p:sp>
        <p:nvSpPr>
          <p:cNvPr id="71" name="Text 70"/>
          <p:cNvSpPr txBox="1"/>
          <p:nvPr/>
        </p:nvSpPr>
        <p:spPr>
          <a:xfrm>
            <a:off x="4519017" y="3083496"/>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92</a:t>
            </a:r>
          </a:p>
        </p:txBody>
      </p:sp>
      <p:sp>
        <p:nvSpPr>
          <p:cNvPr id="72" name="Rule 71"/>
          <p:cNvSpPr/>
          <p:nvPr/>
        </p:nvSpPr>
        <p:spPr>
          <a:xfrm>
            <a:off x="4519017" y="3340993"/>
            <a:ext cx="3153866" cy="6350"/>
          </a:xfrm>
          <a:prstGeom prst="rect">
            <a:avLst/>
          </a:prstGeom>
          <a:solidFill>
            <a:srgbClr val="DDD7CA"/>
          </a:solidFill>
          <a:ln>
            <a:noFill/>
          </a:ln>
        </p:spPr>
        <p:txBody>
          <a:bodyPr rtlCol="0" anchor="ctr"/>
          <a:lstStyle/>
          <a:p>
            <a:pPr algn="ctr"/>
          </a:p>
        </p:txBody>
      </p:sp>
      <p:sp>
        <p:nvSpPr>
          <p:cNvPr id="73" name="Text 72"/>
          <p:cNvSpPr txBox="1"/>
          <p:nvPr/>
        </p:nvSpPr>
        <p:spPr>
          <a:xfrm>
            <a:off x="7187744" y="336537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2-5</a:t>
            </a:r>
          </a:p>
        </p:txBody>
      </p:sp>
      <p:sp>
        <p:nvSpPr>
          <p:cNvPr id="74" name="Text 73"/>
          <p:cNvSpPr txBox="1"/>
          <p:nvPr/>
        </p:nvSpPr>
        <p:spPr>
          <a:xfrm>
            <a:off x="4584192" y="3365631"/>
            <a:ext cx="2618792"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أمن الشبكات</a:t>
            </a:r>
          </a:p>
        </p:txBody>
      </p:sp>
      <p:sp>
        <p:nvSpPr>
          <p:cNvPr id="75" name="Text 74"/>
          <p:cNvSpPr txBox="1"/>
          <p:nvPr/>
        </p:nvSpPr>
        <p:spPr>
          <a:xfrm>
            <a:off x="4519017" y="3365377"/>
            <a:ext cx="18295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96</a:t>
            </a:r>
          </a:p>
        </p:txBody>
      </p:sp>
      <p:sp>
        <p:nvSpPr>
          <p:cNvPr id="76" name="Rule 75"/>
          <p:cNvSpPr/>
          <p:nvPr/>
        </p:nvSpPr>
        <p:spPr>
          <a:xfrm>
            <a:off x="4519017" y="3622873"/>
            <a:ext cx="3153866" cy="6350"/>
          </a:xfrm>
          <a:prstGeom prst="rect">
            <a:avLst/>
          </a:prstGeom>
          <a:solidFill>
            <a:srgbClr val="DDD7CA"/>
          </a:solidFill>
          <a:ln>
            <a:noFill/>
          </a:ln>
        </p:spPr>
        <p:txBody>
          <a:bodyPr rtlCol="0" anchor="ctr"/>
          <a:lstStyle/>
          <a:p>
            <a:pPr algn="ctr"/>
          </a:p>
        </p:txBody>
      </p:sp>
      <p:sp>
        <p:nvSpPr>
          <p:cNvPr id="77" name="Text 76"/>
          <p:cNvSpPr txBox="1"/>
          <p:nvPr/>
        </p:nvSpPr>
        <p:spPr>
          <a:xfrm>
            <a:off x="7187744" y="364725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2-6</a:t>
            </a:r>
          </a:p>
        </p:txBody>
      </p:sp>
      <p:sp>
        <p:nvSpPr>
          <p:cNvPr id="78" name="Text 77"/>
          <p:cNvSpPr txBox="1"/>
          <p:nvPr/>
        </p:nvSpPr>
        <p:spPr>
          <a:xfrm>
            <a:off x="4682883" y="3647511"/>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الأجهزة المحمولة</a:t>
            </a:r>
          </a:p>
        </p:txBody>
      </p:sp>
      <p:sp>
        <p:nvSpPr>
          <p:cNvPr id="79" name="Text 78"/>
          <p:cNvSpPr txBox="1"/>
          <p:nvPr/>
        </p:nvSpPr>
        <p:spPr>
          <a:xfrm>
            <a:off x="4519017" y="364725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102</a:t>
            </a:r>
          </a:p>
        </p:txBody>
      </p:sp>
      <p:sp>
        <p:nvSpPr>
          <p:cNvPr id="80" name="Rule 79"/>
          <p:cNvSpPr/>
          <p:nvPr/>
        </p:nvSpPr>
        <p:spPr>
          <a:xfrm>
            <a:off x="4519017" y="3904754"/>
            <a:ext cx="3153866" cy="6350"/>
          </a:xfrm>
          <a:prstGeom prst="rect">
            <a:avLst/>
          </a:prstGeom>
          <a:solidFill>
            <a:srgbClr val="DDD7CA"/>
          </a:solidFill>
          <a:ln>
            <a:noFill/>
          </a:ln>
        </p:spPr>
        <p:txBody>
          <a:bodyPr rtlCol="0" anchor="ctr"/>
          <a:lstStyle/>
          <a:p>
            <a:pPr algn="ctr"/>
          </a:p>
        </p:txBody>
      </p:sp>
      <p:sp>
        <p:nvSpPr>
          <p:cNvPr id="81" name="Text 80"/>
          <p:cNvSpPr txBox="1"/>
          <p:nvPr/>
        </p:nvSpPr>
        <p:spPr>
          <a:xfrm>
            <a:off x="7187744" y="392913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2-7</a:t>
            </a:r>
          </a:p>
        </p:txBody>
      </p:sp>
      <p:sp>
        <p:nvSpPr>
          <p:cNvPr id="82" name="Text 81"/>
          <p:cNvSpPr txBox="1"/>
          <p:nvPr/>
        </p:nvSpPr>
        <p:spPr>
          <a:xfrm>
            <a:off x="4682883" y="3929392"/>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البيانات</a:t>
            </a:r>
          </a:p>
        </p:txBody>
      </p:sp>
      <p:sp>
        <p:nvSpPr>
          <p:cNvPr id="83" name="Text 82"/>
          <p:cNvSpPr txBox="1"/>
          <p:nvPr/>
        </p:nvSpPr>
        <p:spPr>
          <a:xfrm>
            <a:off x="4519017" y="3929138"/>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106</a:t>
            </a:r>
          </a:p>
        </p:txBody>
      </p:sp>
      <p:sp>
        <p:nvSpPr>
          <p:cNvPr id="84" name="Rule 83"/>
          <p:cNvSpPr/>
          <p:nvPr/>
        </p:nvSpPr>
        <p:spPr>
          <a:xfrm>
            <a:off x="4519017" y="4186634"/>
            <a:ext cx="3153866" cy="6350"/>
          </a:xfrm>
          <a:prstGeom prst="rect">
            <a:avLst/>
          </a:prstGeom>
          <a:solidFill>
            <a:srgbClr val="DDD7CA"/>
          </a:solidFill>
          <a:ln>
            <a:noFill/>
          </a:ln>
        </p:spPr>
        <p:txBody>
          <a:bodyPr rtlCol="0" anchor="ctr"/>
          <a:lstStyle/>
          <a:p>
            <a:pPr algn="ctr"/>
          </a:p>
        </p:txBody>
      </p:sp>
      <p:sp>
        <p:nvSpPr>
          <p:cNvPr id="85" name="Text 84"/>
          <p:cNvSpPr txBox="1"/>
          <p:nvPr/>
        </p:nvSpPr>
        <p:spPr>
          <a:xfrm>
            <a:off x="7187744" y="421101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2-8</a:t>
            </a:r>
          </a:p>
        </p:txBody>
      </p:sp>
      <p:sp>
        <p:nvSpPr>
          <p:cNvPr id="86" name="Text 85"/>
          <p:cNvSpPr txBox="1"/>
          <p:nvPr/>
        </p:nvSpPr>
        <p:spPr>
          <a:xfrm>
            <a:off x="4682883" y="4211272"/>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التشفير</a:t>
            </a:r>
          </a:p>
        </p:txBody>
      </p:sp>
      <p:sp>
        <p:nvSpPr>
          <p:cNvPr id="87" name="Text 86"/>
          <p:cNvSpPr txBox="1"/>
          <p:nvPr/>
        </p:nvSpPr>
        <p:spPr>
          <a:xfrm>
            <a:off x="4519017" y="4211018"/>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108</a:t>
            </a:r>
          </a:p>
        </p:txBody>
      </p:sp>
      <p:sp>
        <p:nvSpPr>
          <p:cNvPr id="88" name="Box 87"/>
          <p:cNvSpPr/>
          <p:nvPr/>
        </p:nvSpPr>
        <p:spPr>
          <a:xfrm>
            <a:off x="815876" y="1855986"/>
            <a:ext cx="3414216" cy="2397323"/>
          </a:xfrm>
          <a:prstGeom prst="roundRect">
            <a:avLst>
              <a:gd name="adj" fmla="val 4226"/>
            </a:avLst>
          </a:prstGeom>
          <a:solidFill>
            <a:srgbClr val="FCFBF8"/>
          </a:solidFill>
          <a:ln w="6350">
            <a:solidFill>
              <a:srgbClr val="DDD7CA"/>
            </a:solidFill>
          </a:ln>
        </p:spPr>
        <p:txBody>
          <a:bodyPr rtlCol="0" anchor="ctr"/>
          <a:lstStyle/>
          <a:p>
            <a:pPr algn="ctr"/>
          </a:p>
        </p:txBody>
      </p:sp>
      <p:sp>
        <p:nvSpPr>
          <p:cNvPr id="89" name="Box 88"/>
          <p:cNvSpPr/>
          <p:nvPr/>
        </p:nvSpPr>
        <p:spPr>
          <a:xfrm>
            <a:off x="819051" y="1859161"/>
            <a:ext cx="3407866" cy="341610"/>
          </a:xfrm>
          <a:prstGeom prst="round2SameRect">
            <a:avLst>
              <a:gd name="adj1" fmla="val 27882"/>
              <a:gd name="adj2" fmla="val 0"/>
            </a:avLst>
          </a:prstGeom>
          <a:solidFill>
            <a:srgbClr val="1D5B9E"/>
          </a:solidFill>
          <a:ln>
            <a:noFill/>
          </a:ln>
        </p:spPr>
        <p:txBody>
          <a:bodyPr rtlCol="0" anchor="ctr"/>
          <a:lstStyle/>
          <a:p>
            <a:pPr algn="ctr"/>
          </a:p>
        </p:txBody>
      </p:sp>
      <p:sp>
        <p:nvSpPr>
          <p:cNvPr id="90" name="Text 89"/>
          <p:cNvSpPr txBox="1"/>
          <p:nvPr/>
        </p:nvSpPr>
        <p:spPr>
          <a:xfrm>
            <a:off x="3780691" y="1909205"/>
            <a:ext cx="319226"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EEE6"/>
                </a:solidFill>
                <a:latin typeface="Alexandria"/>
                <a:ea typeface="Alexandria"/>
                <a:cs typeface="Alexandria"/>
              </a:rPr>
              <a:t>06</a:t>
            </a:r>
          </a:p>
        </p:txBody>
      </p:sp>
      <p:sp>
        <p:nvSpPr>
          <p:cNvPr id="91" name="Text 90"/>
          <p:cNvSpPr txBox="1"/>
          <p:nvPr/>
        </p:nvSpPr>
        <p:spPr>
          <a:xfrm>
            <a:off x="1629029" y="1914894"/>
            <a:ext cx="2174522"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التعزيز (2)</a:t>
            </a:r>
          </a:p>
        </p:txBody>
      </p:sp>
      <p:sp>
        <p:nvSpPr>
          <p:cNvPr id="92" name="Text 91"/>
          <p:cNvSpPr txBox="1"/>
          <p:nvPr/>
        </p:nvSpPr>
        <p:spPr>
          <a:xfrm>
            <a:off x="854611" y="1914894"/>
            <a:ext cx="859294"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الشريحة 114</a:t>
            </a:r>
          </a:p>
        </p:txBody>
      </p:sp>
      <p:sp>
        <p:nvSpPr>
          <p:cNvPr id="93" name="Rule 92"/>
          <p:cNvSpPr/>
          <p:nvPr/>
        </p:nvSpPr>
        <p:spPr>
          <a:xfrm>
            <a:off x="946051" y="2213471"/>
            <a:ext cx="3153866" cy="6350"/>
          </a:xfrm>
          <a:prstGeom prst="rect">
            <a:avLst/>
          </a:prstGeom>
          <a:solidFill>
            <a:srgbClr val="DDD7CA"/>
          </a:solidFill>
          <a:ln>
            <a:noFill/>
          </a:ln>
        </p:spPr>
        <p:txBody>
          <a:bodyPr rtlCol="0" anchor="ctr"/>
          <a:lstStyle/>
          <a:p>
            <a:pPr algn="ctr"/>
          </a:p>
        </p:txBody>
      </p:sp>
      <p:sp>
        <p:nvSpPr>
          <p:cNvPr id="94" name="Text 93"/>
          <p:cNvSpPr txBox="1"/>
          <p:nvPr/>
        </p:nvSpPr>
        <p:spPr>
          <a:xfrm>
            <a:off x="3614777" y="2237855"/>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2-9</a:t>
            </a:r>
          </a:p>
        </p:txBody>
      </p:sp>
      <p:sp>
        <p:nvSpPr>
          <p:cNvPr id="95" name="Text 94"/>
          <p:cNvSpPr txBox="1"/>
          <p:nvPr/>
        </p:nvSpPr>
        <p:spPr>
          <a:xfrm>
            <a:off x="1109916" y="2238109"/>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النسخ الاحتياطية</a:t>
            </a:r>
          </a:p>
        </p:txBody>
      </p:sp>
      <p:sp>
        <p:nvSpPr>
          <p:cNvPr id="96" name="Text 95"/>
          <p:cNvSpPr txBox="1"/>
          <p:nvPr/>
        </p:nvSpPr>
        <p:spPr>
          <a:xfrm>
            <a:off x="946051" y="2237855"/>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115</a:t>
            </a:r>
          </a:p>
        </p:txBody>
      </p:sp>
      <p:sp>
        <p:nvSpPr>
          <p:cNvPr id="97" name="Rule 96"/>
          <p:cNvSpPr/>
          <p:nvPr/>
        </p:nvSpPr>
        <p:spPr>
          <a:xfrm>
            <a:off x="946051" y="2495352"/>
            <a:ext cx="3153866" cy="6350"/>
          </a:xfrm>
          <a:prstGeom prst="rect">
            <a:avLst/>
          </a:prstGeom>
          <a:solidFill>
            <a:srgbClr val="DDD7CA"/>
          </a:solidFill>
          <a:ln>
            <a:noFill/>
          </a:ln>
        </p:spPr>
        <p:txBody>
          <a:bodyPr rtlCol="0" anchor="ctr"/>
          <a:lstStyle/>
          <a:p>
            <a:pPr algn="ctr"/>
          </a:p>
        </p:txBody>
      </p:sp>
      <p:sp>
        <p:nvSpPr>
          <p:cNvPr id="98" name="Text 97"/>
          <p:cNvSpPr txBox="1"/>
          <p:nvPr/>
        </p:nvSpPr>
        <p:spPr>
          <a:xfrm>
            <a:off x="3614777" y="251973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2-10</a:t>
            </a:r>
          </a:p>
        </p:txBody>
      </p:sp>
      <p:sp>
        <p:nvSpPr>
          <p:cNvPr id="99" name="Text 98"/>
          <p:cNvSpPr txBox="1"/>
          <p:nvPr/>
        </p:nvSpPr>
        <p:spPr>
          <a:xfrm>
            <a:off x="1109916" y="2519990"/>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الثغرات</a:t>
            </a:r>
          </a:p>
        </p:txBody>
      </p:sp>
      <p:sp>
        <p:nvSpPr>
          <p:cNvPr id="100" name="Text 99"/>
          <p:cNvSpPr txBox="1"/>
          <p:nvPr/>
        </p:nvSpPr>
        <p:spPr>
          <a:xfrm>
            <a:off x="946051" y="251973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120</a:t>
            </a:r>
          </a:p>
        </p:txBody>
      </p:sp>
      <p:sp>
        <p:nvSpPr>
          <p:cNvPr id="101" name="Rule 100"/>
          <p:cNvSpPr/>
          <p:nvPr/>
        </p:nvSpPr>
        <p:spPr>
          <a:xfrm>
            <a:off x="946051" y="2777232"/>
            <a:ext cx="3153866" cy="6350"/>
          </a:xfrm>
          <a:prstGeom prst="rect">
            <a:avLst/>
          </a:prstGeom>
          <a:solidFill>
            <a:srgbClr val="DDD7CA"/>
          </a:solidFill>
          <a:ln>
            <a:noFill/>
          </a:ln>
        </p:spPr>
        <p:txBody>
          <a:bodyPr rtlCol="0" anchor="ctr"/>
          <a:lstStyle/>
          <a:p>
            <a:pPr algn="ctr"/>
          </a:p>
        </p:txBody>
      </p:sp>
      <p:sp>
        <p:nvSpPr>
          <p:cNvPr id="102" name="Text 101"/>
          <p:cNvSpPr txBox="1"/>
          <p:nvPr/>
        </p:nvSpPr>
        <p:spPr>
          <a:xfrm>
            <a:off x="3614777" y="280161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2-11</a:t>
            </a:r>
          </a:p>
        </p:txBody>
      </p:sp>
      <p:sp>
        <p:nvSpPr>
          <p:cNvPr id="103" name="Text 102"/>
          <p:cNvSpPr txBox="1"/>
          <p:nvPr/>
        </p:nvSpPr>
        <p:spPr>
          <a:xfrm>
            <a:off x="1109916" y="2801870"/>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اختبار الاختراق</a:t>
            </a:r>
          </a:p>
        </p:txBody>
      </p:sp>
      <p:sp>
        <p:nvSpPr>
          <p:cNvPr id="104" name="Text 103"/>
          <p:cNvSpPr txBox="1"/>
          <p:nvPr/>
        </p:nvSpPr>
        <p:spPr>
          <a:xfrm>
            <a:off x="946051" y="280161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124</a:t>
            </a:r>
          </a:p>
        </p:txBody>
      </p:sp>
      <p:sp>
        <p:nvSpPr>
          <p:cNvPr id="105" name="Rule 104"/>
          <p:cNvSpPr/>
          <p:nvPr/>
        </p:nvSpPr>
        <p:spPr>
          <a:xfrm>
            <a:off x="946051" y="3059112"/>
            <a:ext cx="3153866" cy="6350"/>
          </a:xfrm>
          <a:prstGeom prst="rect">
            <a:avLst/>
          </a:prstGeom>
          <a:solidFill>
            <a:srgbClr val="DDD7CA"/>
          </a:solidFill>
          <a:ln>
            <a:noFill/>
          </a:ln>
        </p:spPr>
        <p:txBody>
          <a:bodyPr rtlCol="0" anchor="ctr"/>
          <a:lstStyle/>
          <a:p>
            <a:pPr algn="ctr"/>
          </a:p>
        </p:txBody>
      </p:sp>
      <p:sp>
        <p:nvSpPr>
          <p:cNvPr id="106" name="Text 105"/>
          <p:cNvSpPr txBox="1"/>
          <p:nvPr/>
        </p:nvSpPr>
        <p:spPr>
          <a:xfrm>
            <a:off x="3614777" y="3083496"/>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2-12</a:t>
            </a:r>
          </a:p>
        </p:txBody>
      </p:sp>
      <p:sp>
        <p:nvSpPr>
          <p:cNvPr id="107" name="Text 106"/>
          <p:cNvSpPr txBox="1"/>
          <p:nvPr/>
        </p:nvSpPr>
        <p:spPr>
          <a:xfrm>
            <a:off x="1109916" y="3083750"/>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السجلات والمراقبة</a:t>
            </a:r>
          </a:p>
        </p:txBody>
      </p:sp>
      <p:sp>
        <p:nvSpPr>
          <p:cNvPr id="108" name="Text 107"/>
          <p:cNvSpPr txBox="1"/>
          <p:nvPr/>
        </p:nvSpPr>
        <p:spPr>
          <a:xfrm>
            <a:off x="946051" y="3083496"/>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128</a:t>
            </a:r>
          </a:p>
        </p:txBody>
      </p:sp>
      <p:sp>
        <p:nvSpPr>
          <p:cNvPr id="109" name="Rule 108"/>
          <p:cNvSpPr/>
          <p:nvPr/>
        </p:nvSpPr>
        <p:spPr>
          <a:xfrm>
            <a:off x="946051" y="3340993"/>
            <a:ext cx="3153866" cy="6350"/>
          </a:xfrm>
          <a:prstGeom prst="rect">
            <a:avLst/>
          </a:prstGeom>
          <a:solidFill>
            <a:srgbClr val="DDD7CA"/>
          </a:solidFill>
          <a:ln>
            <a:noFill/>
          </a:ln>
        </p:spPr>
        <p:txBody>
          <a:bodyPr rtlCol="0" anchor="ctr"/>
          <a:lstStyle/>
          <a:p>
            <a:pPr algn="ctr"/>
          </a:p>
        </p:txBody>
      </p:sp>
      <p:sp>
        <p:nvSpPr>
          <p:cNvPr id="110" name="Text 109"/>
          <p:cNvSpPr txBox="1"/>
          <p:nvPr/>
        </p:nvSpPr>
        <p:spPr>
          <a:xfrm>
            <a:off x="3614777" y="336537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2-13</a:t>
            </a:r>
          </a:p>
        </p:txBody>
      </p:sp>
      <p:sp>
        <p:nvSpPr>
          <p:cNvPr id="111" name="Text 110"/>
          <p:cNvSpPr txBox="1"/>
          <p:nvPr/>
        </p:nvSpPr>
        <p:spPr>
          <a:xfrm>
            <a:off x="1109916" y="3365631"/>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الحوادث والتهديدات</a:t>
            </a:r>
          </a:p>
        </p:txBody>
      </p:sp>
      <p:sp>
        <p:nvSpPr>
          <p:cNvPr id="112" name="Text 111"/>
          <p:cNvSpPr txBox="1"/>
          <p:nvPr/>
        </p:nvSpPr>
        <p:spPr>
          <a:xfrm>
            <a:off x="946051" y="336537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133</a:t>
            </a:r>
          </a:p>
        </p:txBody>
      </p:sp>
      <p:sp>
        <p:nvSpPr>
          <p:cNvPr id="113" name="Rule 112"/>
          <p:cNvSpPr/>
          <p:nvPr/>
        </p:nvSpPr>
        <p:spPr>
          <a:xfrm>
            <a:off x="946051" y="3622873"/>
            <a:ext cx="3153866" cy="6350"/>
          </a:xfrm>
          <a:prstGeom prst="rect">
            <a:avLst/>
          </a:prstGeom>
          <a:solidFill>
            <a:srgbClr val="DDD7CA"/>
          </a:solidFill>
          <a:ln>
            <a:noFill/>
          </a:ln>
        </p:spPr>
        <p:txBody>
          <a:bodyPr rtlCol="0" anchor="ctr"/>
          <a:lstStyle/>
          <a:p>
            <a:pPr algn="ctr"/>
          </a:p>
        </p:txBody>
      </p:sp>
      <p:sp>
        <p:nvSpPr>
          <p:cNvPr id="114" name="Text 113"/>
          <p:cNvSpPr txBox="1"/>
          <p:nvPr/>
        </p:nvSpPr>
        <p:spPr>
          <a:xfrm>
            <a:off x="3614777" y="3647257"/>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2-14</a:t>
            </a:r>
          </a:p>
        </p:txBody>
      </p:sp>
      <p:sp>
        <p:nvSpPr>
          <p:cNvPr id="115" name="Text 114"/>
          <p:cNvSpPr txBox="1"/>
          <p:nvPr/>
        </p:nvSpPr>
        <p:spPr>
          <a:xfrm>
            <a:off x="1109916" y="3647511"/>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المادي</a:t>
            </a:r>
          </a:p>
        </p:txBody>
      </p:sp>
      <p:sp>
        <p:nvSpPr>
          <p:cNvPr id="116" name="Text 115"/>
          <p:cNvSpPr txBox="1"/>
          <p:nvPr/>
        </p:nvSpPr>
        <p:spPr>
          <a:xfrm>
            <a:off x="946051" y="3647257"/>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137</a:t>
            </a:r>
          </a:p>
        </p:txBody>
      </p:sp>
      <p:sp>
        <p:nvSpPr>
          <p:cNvPr id="117" name="Rule 116"/>
          <p:cNvSpPr/>
          <p:nvPr/>
        </p:nvSpPr>
        <p:spPr>
          <a:xfrm>
            <a:off x="946051" y="3904754"/>
            <a:ext cx="3153866" cy="6350"/>
          </a:xfrm>
          <a:prstGeom prst="rect">
            <a:avLst/>
          </a:prstGeom>
          <a:solidFill>
            <a:srgbClr val="DDD7CA"/>
          </a:solidFill>
          <a:ln>
            <a:noFill/>
          </a:ln>
        </p:spPr>
        <p:txBody>
          <a:bodyPr rtlCol="0" anchor="ctr"/>
          <a:lstStyle/>
          <a:p>
            <a:pPr algn="ctr"/>
          </a:p>
        </p:txBody>
      </p:sp>
      <p:sp>
        <p:nvSpPr>
          <p:cNvPr id="118" name="Text 117"/>
          <p:cNvSpPr txBox="1"/>
          <p:nvPr/>
        </p:nvSpPr>
        <p:spPr>
          <a:xfrm>
            <a:off x="3614777" y="3929138"/>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1D5B9E"/>
                </a:solidFill>
                <a:latin typeface="IBM Plex Mono"/>
                <a:ea typeface="IBM Plex Mono"/>
                <a:cs typeface="IBM Plex Mono"/>
              </a:rPr>
              <a:t>2-15</a:t>
            </a:r>
          </a:p>
        </p:txBody>
      </p:sp>
      <p:sp>
        <p:nvSpPr>
          <p:cNvPr id="119" name="Text 118"/>
          <p:cNvSpPr txBox="1"/>
          <p:nvPr/>
        </p:nvSpPr>
        <p:spPr>
          <a:xfrm>
            <a:off x="1109916" y="3929392"/>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تطبيقات الويب</a:t>
            </a:r>
          </a:p>
        </p:txBody>
      </p:sp>
      <p:sp>
        <p:nvSpPr>
          <p:cNvPr id="120" name="Text 119"/>
          <p:cNvSpPr txBox="1"/>
          <p:nvPr/>
        </p:nvSpPr>
        <p:spPr>
          <a:xfrm>
            <a:off x="946051" y="3929138"/>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143</a:t>
            </a:r>
          </a:p>
        </p:txBody>
      </p:sp>
      <p:sp>
        <p:nvSpPr>
          <p:cNvPr id="121" name="Box 120"/>
          <p:cNvSpPr/>
          <p:nvPr/>
        </p:nvSpPr>
        <p:spPr>
          <a:xfrm>
            <a:off x="815876" y="4386659"/>
            <a:ext cx="3414216" cy="1269802"/>
          </a:xfrm>
          <a:prstGeom prst="roundRect">
            <a:avLst>
              <a:gd name="adj" fmla="val 7961"/>
            </a:avLst>
          </a:prstGeom>
          <a:solidFill>
            <a:srgbClr val="FCFBF8"/>
          </a:solidFill>
          <a:ln w="6350">
            <a:solidFill>
              <a:srgbClr val="DDD7CA"/>
            </a:solidFill>
          </a:ln>
        </p:spPr>
        <p:txBody>
          <a:bodyPr rtlCol="0" anchor="ctr"/>
          <a:lstStyle/>
          <a:p>
            <a:pPr algn="ctr"/>
          </a:p>
        </p:txBody>
      </p:sp>
      <p:sp>
        <p:nvSpPr>
          <p:cNvPr id="122" name="Box 121"/>
          <p:cNvSpPr/>
          <p:nvPr/>
        </p:nvSpPr>
        <p:spPr>
          <a:xfrm>
            <a:off x="819051" y="4389834"/>
            <a:ext cx="3407866" cy="341610"/>
          </a:xfrm>
          <a:prstGeom prst="round2SameRect">
            <a:avLst>
              <a:gd name="adj1" fmla="val 27882"/>
              <a:gd name="adj2" fmla="val 0"/>
            </a:avLst>
          </a:prstGeom>
          <a:solidFill>
            <a:srgbClr val="22704E"/>
          </a:solidFill>
          <a:ln>
            <a:noFill/>
          </a:ln>
        </p:spPr>
        <p:txBody>
          <a:bodyPr rtlCol="0" anchor="ctr"/>
          <a:lstStyle/>
          <a:p>
            <a:pPr algn="ctr"/>
          </a:p>
        </p:txBody>
      </p:sp>
      <p:sp>
        <p:nvSpPr>
          <p:cNvPr id="123" name="Text 122"/>
          <p:cNvSpPr txBox="1"/>
          <p:nvPr/>
        </p:nvSpPr>
        <p:spPr>
          <a:xfrm>
            <a:off x="3787537" y="4439879"/>
            <a:ext cx="31238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EEE6"/>
                </a:solidFill>
                <a:latin typeface="Alexandria"/>
                <a:ea typeface="Alexandria"/>
                <a:cs typeface="Alexandria"/>
              </a:rPr>
              <a:t>07</a:t>
            </a:r>
          </a:p>
        </p:txBody>
      </p:sp>
      <p:sp>
        <p:nvSpPr>
          <p:cNvPr id="124" name="Text 123"/>
          <p:cNvSpPr txBox="1"/>
          <p:nvPr/>
        </p:nvSpPr>
        <p:spPr>
          <a:xfrm>
            <a:off x="1628481" y="4445568"/>
            <a:ext cx="2181916"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الصمود والأطراف الخارجية</a:t>
            </a:r>
          </a:p>
        </p:txBody>
      </p:sp>
      <p:sp>
        <p:nvSpPr>
          <p:cNvPr id="125" name="Text 124"/>
          <p:cNvSpPr txBox="1"/>
          <p:nvPr/>
        </p:nvSpPr>
        <p:spPr>
          <a:xfrm>
            <a:off x="854611" y="4445568"/>
            <a:ext cx="859294"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الشريحة 149</a:t>
            </a:r>
          </a:p>
        </p:txBody>
      </p:sp>
      <p:sp>
        <p:nvSpPr>
          <p:cNvPr id="126" name="Rule 125"/>
          <p:cNvSpPr/>
          <p:nvPr/>
        </p:nvSpPr>
        <p:spPr>
          <a:xfrm>
            <a:off x="946051" y="4744145"/>
            <a:ext cx="3153866" cy="6350"/>
          </a:xfrm>
          <a:prstGeom prst="rect">
            <a:avLst/>
          </a:prstGeom>
          <a:solidFill>
            <a:srgbClr val="DDD7CA"/>
          </a:solidFill>
          <a:ln>
            <a:noFill/>
          </a:ln>
        </p:spPr>
        <p:txBody>
          <a:bodyPr rtlCol="0" anchor="ctr"/>
          <a:lstStyle/>
          <a:p>
            <a:pPr algn="ctr"/>
          </a:p>
        </p:txBody>
      </p:sp>
      <p:sp>
        <p:nvSpPr>
          <p:cNvPr id="127" name="Text 126"/>
          <p:cNvSpPr txBox="1"/>
          <p:nvPr/>
        </p:nvSpPr>
        <p:spPr>
          <a:xfrm>
            <a:off x="3614777" y="476852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22704E"/>
                </a:solidFill>
                <a:latin typeface="IBM Plex Mono"/>
                <a:ea typeface="IBM Plex Mono"/>
                <a:cs typeface="IBM Plex Mono"/>
              </a:rPr>
              <a:t>3-1</a:t>
            </a:r>
          </a:p>
        </p:txBody>
      </p:sp>
      <p:sp>
        <p:nvSpPr>
          <p:cNvPr id="128" name="Text 127"/>
          <p:cNvSpPr txBox="1"/>
          <p:nvPr/>
        </p:nvSpPr>
        <p:spPr>
          <a:xfrm>
            <a:off x="1109916" y="4768783"/>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السيبراني في استمرارية الأعمال</a:t>
            </a:r>
          </a:p>
        </p:txBody>
      </p:sp>
      <p:sp>
        <p:nvSpPr>
          <p:cNvPr id="129" name="Text 128"/>
          <p:cNvSpPr txBox="1"/>
          <p:nvPr/>
        </p:nvSpPr>
        <p:spPr>
          <a:xfrm>
            <a:off x="946051" y="4768529"/>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150</a:t>
            </a:r>
          </a:p>
        </p:txBody>
      </p:sp>
      <p:sp>
        <p:nvSpPr>
          <p:cNvPr id="130" name="Rule 129"/>
          <p:cNvSpPr/>
          <p:nvPr/>
        </p:nvSpPr>
        <p:spPr>
          <a:xfrm>
            <a:off x="946051" y="5026025"/>
            <a:ext cx="3153866" cy="6350"/>
          </a:xfrm>
          <a:prstGeom prst="rect">
            <a:avLst/>
          </a:prstGeom>
          <a:solidFill>
            <a:srgbClr val="DDD7CA"/>
          </a:solidFill>
          <a:ln>
            <a:noFill/>
          </a:ln>
        </p:spPr>
        <p:txBody>
          <a:bodyPr rtlCol="0" anchor="ctr"/>
          <a:lstStyle/>
          <a:p>
            <a:pPr algn="ctr"/>
          </a:p>
        </p:txBody>
      </p:sp>
      <p:sp>
        <p:nvSpPr>
          <p:cNvPr id="131" name="Text 130"/>
          <p:cNvSpPr txBox="1"/>
          <p:nvPr/>
        </p:nvSpPr>
        <p:spPr>
          <a:xfrm>
            <a:off x="3614777" y="505040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22704E"/>
                </a:solidFill>
                <a:latin typeface="IBM Plex Mono"/>
                <a:ea typeface="IBM Plex Mono"/>
                <a:cs typeface="IBM Plex Mono"/>
              </a:rPr>
              <a:t>4-1</a:t>
            </a:r>
          </a:p>
        </p:txBody>
      </p:sp>
      <p:sp>
        <p:nvSpPr>
          <p:cNvPr id="132" name="Text 131"/>
          <p:cNvSpPr txBox="1"/>
          <p:nvPr/>
        </p:nvSpPr>
        <p:spPr>
          <a:xfrm>
            <a:off x="1109916" y="5050663"/>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الأطراف الخارجية</a:t>
            </a:r>
          </a:p>
        </p:txBody>
      </p:sp>
      <p:sp>
        <p:nvSpPr>
          <p:cNvPr id="133" name="Text 132"/>
          <p:cNvSpPr txBox="1"/>
          <p:nvPr/>
        </p:nvSpPr>
        <p:spPr>
          <a:xfrm>
            <a:off x="946051" y="5050409"/>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154</a:t>
            </a:r>
          </a:p>
        </p:txBody>
      </p:sp>
      <p:sp>
        <p:nvSpPr>
          <p:cNvPr id="134" name="Rule 133"/>
          <p:cNvSpPr/>
          <p:nvPr/>
        </p:nvSpPr>
        <p:spPr>
          <a:xfrm>
            <a:off x="946051" y="5307905"/>
            <a:ext cx="3153866" cy="6350"/>
          </a:xfrm>
          <a:prstGeom prst="rect">
            <a:avLst/>
          </a:prstGeom>
          <a:solidFill>
            <a:srgbClr val="DDD7CA"/>
          </a:solidFill>
          <a:ln>
            <a:noFill/>
          </a:ln>
        </p:spPr>
        <p:txBody>
          <a:bodyPr rtlCol="0" anchor="ctr"/>
          <a:lstStyle/>
          <a:p>
            <a:pPr algn="ctr"/>
          </a:p>
        </p:txBody>
      </p:sp>
      <p:sp>
        <p:nvSpPr>
          <p:cNvPr id="135" name="Text 134"/>
          <p:cNvSpPr txBox="1"/>
          <p:nvPr/>
        </p:nvSpPr>
        <p:spPr>
          <a:xfrm>
            <a:off x="3614777" y="5332289"/>
            <a:ext cx="4851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22704E"/>
                </a:solidFill>
                <a:latin typeface="IBM Plex Mono"/>
                <a:ea typeface="IBM Plex Mono"/>
                <a:cs typeface="IBM Plex Mono"/>
              </a:rPr>
              <a:t>4-2</a:t>
            </a:r>
          </a:p>
        </p:txBody>
      </p:sp>
      <p:sp>
        <p:nvSpPr>
          <p:cNvPr id="136" name="Text 135"/>
          <p:cNvSpPr txBox="1"/>
          <p:nvPr/>
        </p:nvSpPr>
        <p:spPr>
          <a:xfrm>
            <a:off x="1109916" y="5332543"/>
            <a:ext cx="2520101"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الحوسبة السحابية والاستضافة</a:t>
            </a:r>
          </a:p>
        </p:txBody>
      </p:sp>
      <p:sp>
        <p:nvSpPr>
          <p:cNvPr id="137" name="Text 136"/>
          <p:cNvSpPr txBox="1"/>
          <p:nvPr/>
        </p:nvSpPr>
        <p:spPr>
          <a:xfrm>
            <a:off x="946051" y="5332289"/>
            <a:ext cx="2743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5A6371"/>
                </a:solidFill>
                <a:latin typeface="IBM Plex Mono"/>
                <a:ea typeface="IBM Plex Mono"/>
                <a:cs typeface="IBM Plex Mono"/>
              </a:rPr>
              <a:t>158</a:t>
            </a:r>
          </a:p>
        </p:txBody>
      </p:sp>
      <p:sp>
        <p:nvSpPr>
          <p:cNvPr id="138" name="Text 137"/>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139" name="Box 138"/>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140" name="Box 139"/>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141" name="Box 140"/>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142" name="Box 141"/>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43" name="Box 14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44" name="Box 14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45" name="Box 14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6" name="Box 14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47" name="Box 14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48" name="Text 14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251281" y="812800"/>
            <a:ext cx="112791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مقدمة الكورس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تقرأ شرائح هذا الكورس</a:t>
            </a:r>
          </a:p>
        </p:txBody>
      </p:sp>
      <p:sp>
        <p:nvSpPr>
          <p:cNvPr id="5" name="Box 4"/>
          <p:cNvSpPr/>
          <p:nvPr/>
        </p:nvSpPr>
        <p:spPr>
          <a:xfrm>
            <a:off x="815975" y="1881386"/>
            <a:ext cx="250190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6" name="Box 5"/>
          <p:cNvSpPr/>
          <p:nvPr/>
        </p:nvSpPr>
        <p:spPr>
          <a:xfrm>
            <a:off x="2743200" y="20750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2828925" y="2160786"/>
            <a:ext cx="209550" cy="209550"/>
          </a:xfrm>
          <a:prstGeom prst="rect">
            <a:avLst/>
          </a:prstGeom>
        </p:spPr>
      </p:pic>
      <p:sp>
        <p:nvSpPr>
          <p:cNvPr id="8" name="Text 7"/>
          <p:cNvSpPr txBox="1"/>
          <p:nvPr/>
        </p:nvSpPr>
        <p:spPr>
          <a:xfrm>
            <a:off x="840486" y="251197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تمرين وحل</a:t>
            </a:r>
          </a:p>
        </p:txBody>
      </p:sp>
      <p:sp>
        <p:nvSpPr>
          <p:cNvPr id="9" name="Text 8"/>
          <p:cNvSpPr txBox="1"/>
          <p:nvPr/>
        </p:nvSpPr>
        <p:spPr>
          <a:xfrm>
            <a:off x="946214" y="2837061"/>
            <a:ext cx="2177986"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تطبيق عملي على خلفية رمادية زرقاء، تليه شريحة الحل ونقاط النقاش.</a:t>
            </a:r>
          </a:p>
        </p:txBody>
      </p:sp>
      <p:sp>
        <p:nvSpPr>
          <p:cNvPr id="10" name="Box 9"/>
          <p:cNvSpPr/>
          <p:nvPr/>
        </p:nvSpPr>
        <p:spPr>
          <a:xfrm>
            <a:off x="3502025" y="1881386"/>
            <a:ext cx="250190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11" name="Box 10"/>
          <p:cNvSpPr/>
          <p:nvPr/>
        </p:nvSpPr>
        <p:spPr>
          <a:xfrm>
            <a:off x="5429250" y="2075061"/>
            <a:ext cx="381000" cy="381000"/>
          </a:xfrm>
          <a:prstGeom prst="roundRect">
            <a:avLst>
              <a:gd name="adj" fmla="val 26666"/>
            </a:avLst>
          </a:prstGeom>
          <a:solidFill>
            <a:srgbClr val="DCEEEF"/>
          </a:solidFill>
          <a:ln>
            <a:noFill/>
          </a:ln>
        </p:spPr>
        <p:txBody>
          <a:bodyPr rtlCol="0" anchor="ctr"/>
          <a:lstStyle/>
          <a:p>
            <a:pPr algn="ctr"/>
          </a:p>
        </p:txBody>
      </p:sp>
      <p:pic>
        <p:nvPicPr>
          <p:cNvPr id="12" name="Icon Verified 11" descr="icon008.png"/>
          <p:cNvPicPr>
            <a:picLocks noChangeAspect="1"/>
          </p:cNvPicPr>
          <p:nvPr/>
        </p:nvPicPr>
        <p:blipFill>
          <a:blip r:embed="rId3"/>
          <a:stretch>
            <a:fillRect/>
          </a:stretch>
        </p:blipFill>
        <p:spPr>
          <a:xfrm>
            <a:off x="5514975" y="2160786"/>
            <a:ext cx="209550" cy="209550"/>
          </a:xfrm>
          <a:prstGeom prst="rect">
            <a:avLst/>
          </a:prstGeom>
        </p:spPr>
      </p:pic>
      <p:sp>
        <p:nvSpPr>
          <p:cNvPr id="13" name="Text 12"/>
          <p:cNvSpPr txBox="1"/>
          <p:nvPr/>
        </p:nvSpPr>
        <p:spPr>
          <a:xfrm>
            <a:off x="3526536" y="251197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الدليل</a:t>
            </a:r>
          </a:p>
        </p:txBody>
      </p:sp>
      <p:sp>
        <p:nvSpPr>
          <p:cNvPr id="14" name="Text 13"/>
          <p:cNvSpPr txBox="1"/>
          <p:nvPr/>
        </p:nvSpPr>
        <p:spPr>
          <a:xfrm>
            <a:off x="3632264" y="283706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صورة توضيحية أو نموذج دليل تدريبي، مع ما يبحث عنه المقيّم وحدود ما يثبته.</a:t>
            </a:r>
          </a:p>
        </p:txBody>
      </p:sp>
      <p:sp>
        <p:nvSpPr>
          <p:cNvPr id="15" name="Box 14"/>
          <p:cNvSpPr/>
          <p:nvPr/>
        </p:nvSpPr>
        <p:spPr>
          <a:xfrm>
            <a:off x="6188075" y="1881386"/>
            <a:ext cx="250190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16" name="Box 15"/>
          <p:cNvSpPr/>
          <p:nvPr/>
        </p:nvSpPr>
        <p:spPr>
          <a:xfrm>
            <a:off x="8115300" y="2075061"/>
            <a:ext cx="381000" cy="381000"/>
          </a:xfrm>
          <a:prstGeom prst="roundRect">
            <a:avLst>
              <a:gd name="adj" fmla="val 26666"/>
            </a:avLst>
          </a:prstGeom>
          <a:solidFill>
            <a:srgbClr val="DCEEEF"/>
          </a:solidFill>
          <a:ln>
            <a:noFill/>
          </a:ln>
        </p:spPr>
        <p:txBody>
          <a:bodyPr rtlCol="0" anchor="ctr"/>
          <a:lstStyle/>
          <a:p>
            <a:pPr algn="ctr"/>
          </a:p>
        </p:txBody>
      </p:sp>
      <p:pic>
        <p:nvPicPr>
          <p:cNvPr id="17" name="Icon Book 16" descr="icon006.png"/>
          <p:cNvPicPr>
            <a:picLocks noChangeAspect="1"/>
          </p:cNvPicPr>
          <p:nvPr/>
        </p:nvPicPr>
        <p:blipFill>
          <a:blip r:embed="rId4"/>
          <a:stretch>
            <a:fillRect/>
          </a:stretch>
        </p:blipFill>
        <p:spPr>
          <a:xfrm>
            <a:off x="8201025" y="2160786"/>
            <a:ext cx="209550" cy="209550"/>
          </a:xfrm>
          <a:prstGeom prst="rect">
            <a:avLst/>
          </a:prstGeom>
        </p:spPr>
      </p:pic>
      <p:sp>
        <p:nvSpPr>
          <p:cNvPr id="18" name="Text 17"/>
          <p:cNvSpPr txBox="1"/>
          <p:nvPr/>
        </p:nvSpPr>
        <p:spPr>
          <a:xfrm>
            <a:off x="6212586" y="251197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الضوابط</a:t>
            </a:r>
          </a:p>
        </p:txBody>
      </p:sp>
      <p:sp>
        <p:nvSpPr>
          <p:cNvPr id="19" name="Text 18"/>
          <p:cNvSpPr txBox="1"/>
          <p:nvPr/>
        </p:nvSpPr>
        <p:spPr>
          <a:xfrm>
            <a:off x="6318314" y="283706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جدول: رمز الضابط، وما يطلبه، وكيف تطبقه، والدليل. عمود الدليل ملوّن.</a:t>
            </a:r>
          </a:p>
        </p:txBody>
      </p:sp>
      <p:sp>
        <p:nvSpPr>
          <p:cNvPr id="20" name="Box 19"/>
          <p:cNvSpPr/>
          <p:nvPr/>
        </p:nvSpPr>
        <p:spPr>
          <a:xfrm>
            <a:off x="8874125" y="1881386"/>
            <a:ext cx="250190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21" name="Box 20"/>
          <p:cNvSpPr/>
          <p:nvPr/>
        </p:nvSpPr>
        <p:spPr>
          <a:xfrm>
            <a:off x="10801350" y="2075061"/>
            <a:ext cx="381000" cy="381000"/>
          </a:xfrm>
          <a:prstGeom prst="roundRect">
            <a:avLst>
              <a:gd name="adj" fmla="val 26666"/>
            </a:avLst>
          </a:prstGeom>
          <a:solidFill>
            <a:srgbClr val="DCEEEF"/>
          </a:solidFill>
          <a:ln>
            <a:noFill/>
          </a:ln>
        </p:spPr>
        <p:txBody>
          <a:bodyPr rtlCol="0" anchor="ctr"/>
          <a:lstStyle/>
          <a:p>
            <a:pPr algn="ctr"/>
          </a:p>
        </p:txBody>
      </p:sp>
      <p:pic>
        <p:nvPicPr>
          <p:cNvPr id="22" name="Icon Lightbulb 21" descr="icon011.png"/>
          <p:cNvPicPr>
            <a:picLocks noChangeAspect="1"/>
          </p:cNvPicPr>
          <p:nvPr/>
        </p:nvPicPr>
        <p:blipFill>
          <a:blip r:embed="rId5"/>
          <a:stretch>
            <a:fillRect/>
          </a:stretch>
        </p:blipFill>
        <p:spPr>
          <a:xfrm>
            <a:off x="10887075" y="2160786"/>
            <a:ext cx="209550" cy="209550"/>
          </a:xfrm>
          <a:prstGeom prst="rect">
            <a:avLst/>
          </a:prstGeom>
        </p:spPr>
      </p:pic>
      <p:sp>
        <p:nvSpPr>
          <p:cNvPr id="23" name="Text 22"/>
          <p:cNvSpPr txBox="1"/>
          <p:nvPr/>
        </p:nvSpPr>
        <p:spPr>
          <a:xfrm>
            <a:off x="8898636" y="251197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تعريف المكون</a:t>
            </a:r>
          </a:p>
        </p:txBody>
      </p:sp>
      <p:sp>
        <p:nvSpPr>
          <p:cNvPr id="24" name="Text 23"/>
          <p:cNvSpPr txBox="1"/>
          <p:nvPr/>
        </p:nvSpPr>
        <p:spPr>
          <a:xfrm>
            <a:off x="9004364" y="283706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شرح مبسط، ومثال من الحياة، وما يحدث لو غاب. ابدأ منها قبل الجداول.</a:t>
            </a:r>
          </a:p>
        </p:txBody>
      </p:sp>
      <p:sp>
        <p:nvSpPr>
          <p:cNvPr id="25" name="Box 24"/>
          <p:cNvSpPr/>
          <p:nvPr/>
        </p:nvSpPr>
        <p:spPr>
          <a:xfrm>
            <a:off x="815975" y="3984823"/>
            <a:ext cx="10560050" cy="539750"/>
          </a:xfrm>
          <a:prstGeom prst="roundRect">
            <a:avLst>
              <a:gd name="adj" fmla="val 23255"/>
            </a:avLst>
          </a:prstGeom>
          <a:solidFill>
            <a:srgbClr val="FCFBF8"/>
          </a:solidFill>
          <a:ln w="6350">
            <a:solidFill>
              <a:srgbClr val="DDD7CA"/>
            </a:solidFill>
          </a:ln>
        </p:spPr>
        <p:txBody>
          <a:bodyPr rtlCol="0" anchor="ctr"/>
          <a:lstStyle/>
          <a:p>
            <a:pPr algn="ctr"/>
          </a:p>
        </p:txBody>
      </p:sp>
      <p:sp>
        <p:nvSpPr>
          <p:cNvPr id="26" name="Text 25"/>
          <p:cNvSpPr txBox="1"/>
          <p:nvPr/>
        </p:nvSpPr>
        <p:spPr>
          <a:xfrm>
            <a:off x="10666948" y="4124416"/>
            <a:ext cx="5281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أين أنا؟</a:t>
            </a:r>
          </a:p>
        </p:txBody>
      </p:sp>
      <p:sp>
        <p:nvSpPr>
          <p:cNvPr id="27" name="Text 26"/>
          <p:cNvSpPr txBox="1"/>
          <p:nvPr/>
        </p:nvSpPr>
        <p:spPr>
          <a:xfrm>
            <a:off x="4220008" y="4111030"/>
            <a:ext cx="6360581" cy="230188"/>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شريط الخطوات أعلى الشريحة يبيّن موقعك داخل المكوّن.</a:t>
            </a:r>
          </a:p>
        </p:txBody>
      </p:sp>
      <p:sp>
        <p:nvSpPr>
          <p:cNvPr id="28" name="Box 27"/>
          <p:cNvSpPr/>
          <p:nvPr/>
        </p:nvSpPr>
        <p:spPr>
          <a:xfrm>
            <a:off x="3686770" y="4118173"/>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29" name="Box 28"/>
          <p:cNvSpPr/>
          <p:nvPr/>
        </p:nvSpPr>
        <p:spPr>
          <a:xfrm>
            <a:off x="4253012" y="4146748"/>
            <a:ext cx="215900" cy="215900"/>
          </a:xfrm>
          <a:prstGeom prst="roundRect">
            <a:avLst>
              <a:gd name="adj" fmla="val 50000"/>
            </a:avLst>
          </a:prstGeom>
          <a:solidFill>
            <a:srgbClr val="1D5B9E"/>
          </a:solidFill>
          <a:ln>
            <a:noFill/>
          </a:ln>
        </p:spPr>
        <p:txBody>
          <a:bodyPr rtlCol="0" anchor="ctr"/>
          <a:lstStyle/>
          <a:p>
            <a:pPr algn="ctr"/>
          </a:p>
        </p:txBody>
      </p:sp>
      <p:pic>
        <p:nvPicPr>
          <p:cNvPr id="30" name="Icon Check 29" descr="icon012.png"/>
          <p:cNvPicPr>
            <a:picLocks noChangeAspect="1"/>
          </p:cNvPicPr>
          <p:nvPr/>
        </p:nvPicPr>
        <p:blipFill>
          <a:blip r:embed="rId6"/>
          <a:stretch>
            <a:fillRect/>
          </a:stretch>
        </p:blipFill>
        <p:spPr>
          <a:xfrm>
            <a:off x="4297462" y="4191198"/>
            <a:ext cx="127000" cy="127000"/>
          </a:xfrm>
          <a:prstGeom prst="rect">
            <a:avLst/>
          </a:prstGeom>
        </p:spPr>
      </p:pic>
      <p:sp>
        <p:nvSpPr>
          <p:cNvPr id="31" name="Text 30"/>
          <p:cNvSpPr txBox="1"/>
          <p:nvPr/>
        </p:nvSpPr>
        <p:spPr>
          <a:xfrm>
            <a:off x="3712805" y="4124416"/>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32" name="Box 31"/>
          <p:cNvSpPr/>
          <p:nvPr/>
        </p:nvSpPr>
        <p:spPr>
          <a:xfrm>
            <a:off x="3505795" y="4248348"/>
            <a:ext cx="127000" cy="12700"/>
          </a:xfrm>
          <a:prstGeom prst="rect">
            <a:avLst/>
          </a:prstGeom>
          <a:solidFill>
            <a:srgbClr val="DDD7CA"/>
          </a:solidFill>
          <a:ln>
            <a:noFill/>
          </a:ln>
        </p:spPr>
        <p:txBody>
          <a:bodyPr rtlCol="0" anchor="ctr"/>
          <a:lstStyle/>
          <a:p>
            <a:pPr algn="ctr"/>
          </a:p>
        </p:txBody>
      </p:sp>
      <p:sp>
        <p:nvSpPr>
          <p:cNvPr id="33" name="Box 32"/>
          <p:cNvSpPr/>
          <p:nvPr/>
        </p:nvSpPr>
        <p:spPr>
          <a:xfrm>
            <a:off x="2043609" y="4118173"/>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34" name="Box 33"/>
          <p:cNvSpPr/>
          <p:nvPr/>
        </p:nvSpPr>
        <p:spPr>
          <a:xfrm>
            <a:off x="3194645" y="4146748"/>
            <a:ext cx="215900" cy="215900"/>
          </a:xfrm>
          <a:prstGeom prst="roundRect">
            <a:avLst>
              <a:gd name="adj" fmla="val 50000"/>
            </a:avLst>
          </a:prstGeom>
          <a:solidFill>
            <a:srgbClr val="F2EEE6"/>
          </a:solidFill>
          <a:ln>
            <a:noFill/>
          </a:ln>
        </p:spPr>
        <p:txBody>
          <a:bodyPr rtlCol="0" anchor="ctr"/>
          <a:lstStyle/>
          <a:p>
            <a:pPr algn="ctr"/>
          </a:p>
        </p:txBody>
      </p:sp>
      <p:sp>
        <p:nvSpPr>
          <p:cNvPr id="35" name="Text 34"/>
          <p:cNvSpPr txBox="1"/>
          <p:nvPr/>
        </p:nvSpPr>
        <p:spPr>
          <a:xfrm>
            <a:off x="3220045" y="4188938"/>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36" name="Text 35"/>
          <p:cNvSpPr txBox="1"/>
          <p:nvPr/>
        </p:nvSpPr>
        <p:spPr>
          <a:xfrm>
            <a:off x="2069644" y="4124416"/>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37" name="Box 36"/>
          <p:cNvSpPr/>
          <p:nvPr/>
        </p:nvSpPr>
        <p:spPr>
          <a:xfrm>
            <a:off x="1862634" y="4248348"/>
            <a:ext cx="127000" cy="12700"/>
          </a:xfrm>
          <a:prstGeom prst="rect">
            <a:avLst/>
          </a:prstGeom>
          <a:solidFill>
            <a:srgbClr val="DDD7CA"/>
          </a:solidFill>
          <a:ln>
            <a:noFill/>
          </a:ln>
        </p:spPr>
        <p:txBody>
          <a:bodyPr rtlCol="0" anchor="ctr"/>
          <a:lstStyle/>
          <a:p>
            <a:pPr algn="ctr"/>
          </a:p>
        </p:txBody>
      </p:sp>
      <p:sp>
        <p:nvSpPr>
          <p:cNvPr id="38" name="Box 37"/>
          <p:cNvSpPr/>
          <p:nvPr/>
        </p:nvSpPr>
        <p:spPr>
          <a:xfrm>
            <a:off x="1000125" y="4118173"/>
            <a:ext cx="808534" cy="273050"/>
          </a:xfrm>
          <a:prstGeom prst="roundRect">
            <a:avLst>
              <a:gd name="adj" fmla="val 50000"/>
            </a:avLst>
          </a:prstGeom>
          <a:noFill/>
          <a:ln w="6350">
            <a:solidFill>
              <a:srgbClr val="DDD7CA"/>
            </a:solidFill>
          </a:ln>
        </p:spPr>
        <p:txBody>
          <a:bodyPr rtlCol="0" anchor="ctr"/>
          <a:lstStyle/>
          <a:p>
            <a:pPr algn="ctr"/>
          </a:p>
        </p:txBody>
      </p:sp>
      <p:sp>
        <p:nvSpPr>
          <p:cNvPr id="39" name="Box 38"/>
          <p:cNvSpPr/>
          <p:nvPr/>
        </p:nvSpPr>
        <p:spPr>
          <a:xfrm>
            <a:off x="1551484" y="4146748"/>
            <a:ext cx="215900" cy="215900"/>
          </a:xfrm>
          <a:prstGeom prst="roundRect">
            <a:avLst>
              <a:gd name="adj" fmla="val 50000"/>
            </a:avLst>
          </a:prstGeom>
          <a:solidFill>
            <a:srgbClr val="ECE8DF"/>
          </a:solidFill>
          <a:ln>
            <a:noFill/>
          </a:ln>
        </p:spPr>
        <p:txBody>
          <a:bodyPr rtlCol="0" anchor="ctr"/>
          <a:lstStyle/>
          <a:p>
            <a:pPr algn="ctr"/>
          </a:p>
        </p:txBody>
      </p:sp>
      <p:sp>
        <p:nvSpPr>
          <p:cNvPr id="40" name="Text 39"/>
          <p:cNvSpPr txBox="1"/>
          <p:nvPr/>
        </p:nvSpPr>
        <p:spPr>
          <a:xfrm>
            <a:off x="1576884" y="4188938"/>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41" name="Text 40"/>
          <p:cNvSpPr txBox="1"/>
          <p:nvPr/>
        </p:nvSpPr>
        <p:spPr>
          <a:xfrm>
            <a:off x="1026160" y="4124416"/>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42" name="Box 41"/>
          <p:cNvSpPr/>
          <p:nvPr/>
        </p:nvSpPr>
        <p:spPr>
          <a:xfrm>
            <a:off x="812800" y="4984948"/>
            <a:ext cx="10566400" cy="1047552"/>
          </a:xfrm>
          <a:prstGeom prst="roundRect">
            <a:avLst>
              <a:gd name="adj" fmla="val 12123"/>
            </a:avLst>
          </a:prstGeom>
          <a:solidFill>
            <a:srgbClr val="0E1A2B"/>
          </a:solidFill>
          <a:ln>
            <a:noFill/>
          </a:ln>
        </p:spPr>
        <p:txBody>
          <a:bodyPr rtlCol="0" anchor="ctr"/>
          <a:lstStyle/>
          <a:p>
            <a:pPr algn="ctr"/>
          </a:p>
        </p:txBody>
      </p:sp>
      <p:sp>
        <p:nvSpPr>
          <p:cNvPr id="43" name="Box 42"/>
          <p:cNvSpPr/>
          <p:nvPr/>
        </p:nvSpPr>
        <p:spPr>
          <a:xfrm>
            <a:off x="10782300" y="5318224"/>
            <a:ext cx="381000" cy="381000"/>
          </a:xfrm>
          <a:prstGeom prst="roundRect">
            <a:avLst>
              <a:gd name="adj" fmla="val 23333"/>
            </a:avLst>
          </a:prstGeom>
          <a:solidFill>
            <a:srgbClr val="22344D"/>
          </a:solidFill>
          <a:ln>
            <a:noFill/>
          </a:ln>
        </p:spPr>
        <p:txBody>
          <a:bodyPr rtlCol="0" anchor="ctr"/>
          <a:lstStyle/>
          <a:p>
            <a:pPr algn="ctr"/>
          </a:p>
        </p:txBody>
      </p:sp>
      <p:pic>
        <p:nvPicPr>
          <p:cNvPr id="44" name="Icon Book 43" descr="icon004.png"/>
          <p:cNvPicPr>
            <a:picLocks noChangeAspect="1"/>
          </p:cNvPicPr>
          <p:nvPr/>
        </p:nvPicPr>
        <p:blipFill>
          <a:blip r:embed="rId7"/>
          <a:stretch>
            <a:fillRect/>
          </a:stretch>
        </p:blipFill>
        <p:spPr>
          <a:xfrm>
            <a:off x="10864850" y="5400774"/>
            <a:ext cx="215900" cy="215900"/>
          </a:xfrm>
          <a:prstGeom prst="rect">
            <a:avLst/>
          </a:prstGeom>
        </p:spPr>
      </p:pic>
      <p:sp>
        <p:nvSpPr>
          <p:cNvPr id="45" name="Text 44"/>
          <p:cNvSpPr txBox="1"/>
          <p:nvPr/>
        </p:nvSpPr>
        <p:spPr>
          <a:xfrm>
            <a:off x="838200" y="5126426"/>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تنبيه مهم</a:t>
            </a:r>
          </a:p>
        </p:txBody>
      </p:sp>
      <p:sp>
        <p:nvSpPr>
          <p:cNvPr id="46" name="Text 45"/>
          <p:cNvSpPr txBox="1"/>
          <p:nvPr/>
        </p:nvSpPr>
        <p:spPr>
          <a:xfrm>
            <a:off x="838200" y="5359051"/>
            <a:ext cx="9791700"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عمودا «كيف تطبقه» و«الدليل» ممارسات مقترحة من الكورس، لا متطلبات إضافية من الهيئة. صياغات الضوابط مختصرة للشرح، والنص العربي الرسمي هو المرجع.</a:t>
            </a:r>
          </a:p>
        </p:txBody>
      </p:sp>
      <p:sp>
        <p:nvSpPr>
          <p:cNvPr id="47" name="Text 46"/>
          <p:cNvSpPr txBox="1"/>
          <p:nvPr/>
        </p:nvSpPr>
        <p:spPr>
          <a:xfrm>
            <a:off x="2367788" y="6214658"/>
            <a:ext cx="90114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المقدمة</a:t>
            </a:r>
          </a:p>
        </p:txBody>
      </p:sp>
      <p:sp>
        <p:nvSpPr>
          <p:cNvPr id="48" name="Box 47"/>
          <p:cNvSpPr/>
          <p:nvPr/>
        </p:nvSpPr>
        <p:spPr>
          <a:xfrm>
            <a:off x="2743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9004697" y="285750"/>
            <a:ext cx="1474291"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01 · مفاهيم أساسية</a:t>
            </a:r>
          </a:p>
        </p:txBody>
      </p:sp>
      <p:sp>
        <p:nvSpPr>
          <p:cNvPr id="5" name="Text box 4"/>
          <p:cNvSpPr/>
          <p:nvPr/>
        </p:nvSpPr>
        <p:spPr>
          <a:xfrm>
            <a:off x="8555434" y="282575"/>
            <a:ext cx="38258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8102798" y="282575"/>
            <a:ext cx="38278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7649369" y="282575"/>
            <a:ext cx="383580"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7192962" y="282575"/>
            <a:ext cx="38655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6735167"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285012"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5827216"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369719"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9199860" y="899795"/>
            <a:ext cx="217934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01</a:t>
            </a:r>
          </a:p>
        </p:txBody>
      </p:sp>
      <p:sp>
        <p:nvSpPr>
          <p:cNvPr id="14" name="Text 13"/>
          <p:cNvSpPr txBox="1"/>
          <p:nvPr/>
        </p:nvSpPr>
        <p:spPr>
          <a:xfrm>
            <a:off x="105259" y="1000629"/>
            <a:ext cx="9551801"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01</a:t>
            </a:r>
          </a:p>
        </p:txBody>
      </p:sp>
      <p:sp>
        <p:nvSpPr>
          <p:cNvPr id="15" name="Text 14"/>
          <p:cNvSpPr txBox="1"/>
          <p:nvPr/>
        </p:nvSpPr>
        <p:spPr>
          <a:xfrm>
            <a:off x="105259" y="1342898"/>
            <a:ext cx="9551801"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مفاهيم أساسية قبل أن نبدأ</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لغة مشتركة نحتاجها طوال الكورس: ماذا نحمي، ومم نحميه، وكيف نثبت أننا نحميه.</a:t>
            </a:r>
          </a:p>
        </p:txBody>
      </p:sp>
      <p:sp>
        <p:nvSpPr>
          <p:cNvPr id="17" name="Rule 16"/>
          <p:cNvSpPr/>
          <p:nvPr/>
        </p:nvSpPr>
        <p:spPr>
          <a:xfrm>
            <a:off x="812800" y="400714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091666"/>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19" name="Text 18"/>
          <p:cNvSpPr txBox="1"/>
          <p:nvPr/>
        </p:nvSpPr>
        <p:spPr>
          <a:xfrm>
            <a:off x="1207865" y="4076807"/>
            <a:ext cx="3935635"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أهداف الحماية الثلاثة</a:t>
            </a:r>
          </a:p>
        </p:txBody>
      </p:sp>
      <p:sp>
        <p:nvSpPr>
          <p:cNvPr id="20" name="Text 19"/>
          <p:cNvSpPr txBox="1"/>
          <p:nvPr/>
        </p:nvSpPr>
        <p:spPr>
          <a:xfrm>
            <a:off x="812800" y="4091476"/>
            <a:ext cx="58499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9</a:t>
            </a:r>
          </a:p>
        </p:txBody>
      </p:sp>
      <p:sp>
        <p:nvSpPr>
          <p:cNvPr id="21" name="Rule 20"/>
          <p:cNvSpPr/>
          <p:nvPr/>
        </p:nvSpPr>
        <p:spPr>
          <a:xfrm>
            <a:off x="6248400" y="400714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091666"/>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23" name="Text 22"/>
          <p:cNvSpPr txBox="1"/>
          <p:nvPr/>
        </p:nvSpPr>
        <p:spPr>
          <a:xfrm>
            <a:off x="6643465" y="4076807"/>
            <a:ext cx="3935635"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ما الأمن السيبراني</a:t>
            </a:r>
          </a:p>
        </p:txBody>
      </p:sp>
      <p:sp>
        <p:nvSpPr>
          <p:cNvPr id="24" name="Text 23"/>
          <p:cNvSpPr txBox="1"/>
          <p:nvPr/>
        </p:nvSpPr>
        <p:spPr>
          <a:xfrm>
            <a:off x="6248400" y="4091476"/>
            <a:ext cx="58499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8</a:t>
            </a:r>
          </a:p>
        </p:txBody>
      </p:sp>
      <p:sp>
        <p:nvSpPr>
          <p:cNvPr id="25" name="Rule 24"/>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27" name="Text 26"/>
          <p:cNvSpPr txBox="1"/>
          <p:nvPr/>
        </p:nvSpPr>
        <p:spPr>
          <a:xfrm>
            <a:off x="13066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ما الضابط وأنواعه</a:t>
            </a:r>
          </a:p>
        </p:txBody>
      </p:sp>
      <p:sp>
        <p:nvSpPr>
          <p:cNvPr id="28" name="Text 27"/>
          <p:cNvSpPr txBox="1"/>
          <p:nvPr/>
        </p:nvSpPr>
        <p:spPr>
          <a:xfrm>
            <a:off x="8128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11</a:t>
            </a:r>
          </a:p>
        </p:txBody>
      </p:sp>
      <p:sp>
        <p:nvSpPr>
          <p:cNvPr id="29" name="Rule 28"/>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31" name="Text 30"/>
          <p:cNvSpPr txBox="1"/>
          <p:nvPr/>
        </p:nvSpPr>
        <p:spPr>
          <a:xfrm>
            <a:off x="67422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الأصل والتهديد والثغرة والخطر</a:t>
            </a:r>
          </a:p>
        </p:txBody>
      </p:sp>
      <p:sp>
        <p:nvSpPr>
          <p:cNvPr id="32" name="Text 31"/>
          <p:cNvSpPr txBox="1"/>
          <p:nvPr/>
        </p:nvSpPr>
        <p:spPr>
          <a:xfrm>
            <a:off x="62484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10</a:t>
            </a:r>
          </a:p>
        </p:txBody>
      </p:sp>
      <p:sp>
        <p:nvSpPr>
          <p:cNvPr id="33" name="Rule 32"/>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06</a:t>
            </a:r>
          </a:p>
        </p:txBody>
      </p:sp>
      <p:sp>
        <p:nvSpPr>
          <p:cNvPr id="35" name="Text 34"/>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ما الدليل وكيف يكون جيداً</a:t>
            </a:r>
          </a:p>
        </p:txBody>
      </p:sp>
      <p:sp>
        <p:nvSpPr>
          <p:cNvPr id="36" name="Text 35"/>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13</a:t>
            </a:r>
          </a:p>
        </p:txBody>
      </p:sp>
      <p:sp>
        <p:nvSpPr>
          <p:cNvPr id="37" name="Rule 36"/>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9" name="Text 38"/>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الامتثال ودور الهيئة</a:t>
            </a:r>
          </a:p>
        </p:txBody>
      </p:sp>
      <p:sp>
        <p:nvSpPr>
          <p:cNvPr id="40" name="Text 39"/>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12</a:t>
            </a:r>
          </a:p>
        </p:txBody>
      </p:sp>
      <p:sp>
        <p:nvSpPr>
          <p:cNvPr id="41" name="Rule 40"/>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08</a:t>
            </a:r>
          </a:p>
        </p:txBody>
      </p:sp>
      <p:sp>
        <p:nvSpPr>
          <p:cNvPr id="43" name="Text 42"/>
          <p:cNvSpPr txBox="1"/>
          <p:nvPr/>
        </p:nvSpPr>
        <p:spPr>
          <a:xfrm>
            <a:off x="13066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قاموس المصطلحات</a:t>
            </a:r>
          </a:p>
        </p:txBody>
      </p:sp>
      <p:sp>
        <p:nvSpPr>
          <p:cNvPr id="44" name="Text 43"/>
          <p:cNvSpPr txBox="1"/>
          <p:nvPr/>
        </p:nvSpPr>
        <p:spPr>
          <a:xfrm>
            <a:off x="8128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a:t>
            </a:r>
          </a:p>
        </p:txBody>
      </p:sp>
      <p:sp>
        <p:nvSpPr>
          <p:cNvPr id="45" name="Rule 44"/>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46" name="Text 45"/>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07</a:t>
            </a:r>
          </a:p>
        </p:txBody>
      </p:sp>
      <p:sp>
        <p:nvSpPr>
          <p:cNvPr id="47" name="Text 46"/>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النطاق والعينة وأنواع المواد</a:t>
            </a:r>
          </a:p>
        </p:txBody>
      </p:sp>
      <p:sp>
        <p:nvSpPr>
          <p:cNvPr id="48" name="Text 47"/>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15</a:t>
            </a:r>
          </a:p>
        </p:txBody>
      </p:sp>
      <p:sp>
        <p:nvSpPr>
          <p:cNvPr id="49" name="Rule 48"/>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50" name="Text 49"/>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09</a:t>
            </a:r>
          </a:p>
        </p:txBody>
      </p:sp>
      <p:sp>
        <p:nvSpPr>
          <p:cNvPr id="51" name="Text 50"/>
          <p:cNvSpPr txBox="1"/>
          <p:nvPr/>
        </p:nvSpPr>
        <p:spPr>
          <a:xfrm>
            <a:off x="67422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تمرين التصنيف</a:t>
            </a:r>
          </a:p>
        </p:txBody>
      </p:sp>
      <p:sp>
        <p:nvSpPr>
          <p:cNvPr id="52" name="Text 51"/>
          <p:cNvSpPr txBox="1"/>
          <p:nvPr/>
        </p:nvSpPr>
        <p:spPr>
          <a:xfrm>
            <a:off x="62484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 الأمن السيبراني؟</a:t>
            </a:r>
          </a:p>
        </p:txBody>
      </p:sp>
      <p:sp>
        <p:nvSpPr>
          <p:cNvPr id="5" name="Text 4"/>
          <p:cNvSpPr txBox="1"/>
          <p:nvPr/>
        </p:nvSpPr>
        <p:spPr>
          <a:xfrm>
            <a:off x="527050" y="1839158"/>
            <a:ext cx="9810750" cy="57150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ببساطة: حماية الشبكات والأنظمة والأجهزة والبيانات والخدمات الإلكترونية من أي اختراق أو تعطيل أو تعديل أو استخدام غير مشروع. وهذا ما نحميه:</a:t>
            </a:r>
          </a:p>
        </p:txBody>
      </p:sp>
      <p:sp>
        <p:nvSpPr>
          <p:cNvPr id="6" name="Box 5"/>
          <p:cNvSpPr/>
          <p:nvPr/>
        </p:nvSpPr>
        <p:spPr>
          <a:xfrm>
            <a:off x="815975" y="2681486"/>
            <a:ext cx="2501900" cy="1629966"/>
          </a:xfrm>
          <a:prstGeom prst="roundRect">
            <a:avLst>
              <a:gd name="adj" fmla="val 7761"/>
            </a:avLst>
          </a:prstGeom>
          <a:solidFill>
            <a:srgbClr val="FCFBF8"/>
          </a:solidFill>
          <a:ln w="6350">
            <a:solidFill>
              <a:srgbClr val="DDD7CA"/>
            </a:solidFill>
          </a:ln>
        </p:spPr>
        <p:txBody>
          <a:bodyPr rtlCol="0" anchor="ctr"/>
          <a:lstStyle/>
          <a:p>
            <a:pPr algn="ctr"/>
          </a:p>
        </p:txBody>
      </p:sp>
      <p:sp>
        <p:nvSpPr>
          <p:cNvPr id="7" name="Box 6"/>
          <p:cNvSpPr/>
          <p:nvPr/>
        </p:nvSpPr>
        <p:spPr>
          <a:xfrm>
            <a:off x="2755900" y="2862461"/>
            <a:ext cx="381000" cy="381000"/>
          </a:xfrm>
          <a:prstGeom prst="roundRect">
            <a:avLst>
              <a:gd name="adj" fmla="val 26666"/>
            </a:avLst>
          </a:prstGeom>
          <a:solidFill>
            <a:srgbClr val="DCEEEF"/>
          </a:solidFill>
          <a:ln>
            <a:noFill/>
          </a:ln>
        </p:spPr>
        <p:txBody>
          <a:bodyPr rtlCol="0" anchor="ctr"/>
          <a:lstStyle/>
          <a:p>
            <a:pPr algn="ctr"/>
          </a:p>
        </p:txBody>
      </p:sp>
      <p:pic>
        <p:nvPicPr>
          <p:cNvPr id="8" name="Icon Users 7" descr="icon001.png"/>
          <p:cNvPicPr>
            <a:picLocks noChangeAspect="1"/>
          </p:cNvPicPr>
          <p:nvPr/>
        </p:nvPicPr>
        <p:blipFill>
          <a:blip r:embed="rId2"/>
          <a:stretch>
            <a:fillRect/>
          </a:stretch>
        </p:blipFill>
        <p:spPr>
          <a:xfrm>
            <a:off x="2841625" y="2948186"/>
            <a:ext cx="209550" cy="209550"/>
          </a:xfrm>
          <a:prstGeom prst="rect">
            <a:avLst/>
          </a:prstGeom>
        </p:spPr>
      </p:pic>
      <p:sp>
        <p:nvSpPr>
          <p:cNvPr id="9" name="Text 8"/>
          <p:cNvSpPr txBox="1"/>
          <p:nvPr/>
        </p:nvSpPr>
        <p:spPr>
          <a:xfrm>
            <a:off x="838200" y="32980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الأشخاص</a:t>
            </a:r>
          </a:p>
        </p:txBody>
      </p:sp>
      <p:sp>
        <p:nvSpPr>
          <p:cNvPr id="10" name="Text 9"/>
          <p:cNvSpPr txBox="1"/>
          <p:nvPr/>
        </p:nvSpPr>
        <p:spPr>
          <a:xfrm>
            <a:off x="932751" y="36415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الموظفون والمتعاقدون، وهم الهدف الأول لكثير من الهجمات مثل التصيد.</a:t>
            </a:r>
          </a:p>
        </p:txBody>
      </p:sp>
      <p:sp>
        <p:nvSpPr>
          <p:cNvPr id="11" name="Box 10"/>
          <p:cNvSpPr/>
          <p:nvPr/>
        </p:nvSpPr>
        <p:spPr>
          <a:xfrm>
            <a:off x="3502025" y="2681486"/>
            <a:ext cx="2501900" cy="1629966"/>
          </a:xfrm>
          <a:prstGeom prst="roundRect">
            <a:avLst>
              <a:gd name="adj" fmla="val 7761"/>
            </a:avLst>
          </a:prstGeom>
          <a:solidFill>
            <a:srgbClr val="FCFBF8"/>
          </a:solidFill>
          <a:ln w="6350">
            <a:solidFill>
              <a:srgbClr val="DDD7CA"/>
            </a:solidFill>
          </a:ln>
        </p:spPr>
        <p:txBody>
          <a:bodyPr rtlCol="0" anchor="ctr"/>
          <a:lstStyle/>
          <a:p>
            <a:pPr algn="ctr"/>
          </a:p>
        </p:txBody>
      </p:sp>
      <p:sp>
        <p:nvSpPr>
          <p:cNvPr id="12" name="Box 11"/>
          <p:cNvSpPr/>
          <p:nvPr/>
        </p:nvSpPr>
        <p:spPr>
          <a:xfrm>
            <a:off x="5441950" y="2862461"/>
            <a:ext cx="381000" cy="381000"/>
          </a:xfrm>
          <a:prstGeom prst="roundRect">
            <a:avLst>
              <a:gd name="adj" fmla="val 26666"/>
            </a:avLst>
          </a:prstGeom>
          <a:solidFill>
            <a:srgbClr val="DCEEEF"/>
          </a:solidFill>
          <a:ln>
            <a:noFill/>
          </a:ln>
        </p:spPr>
        <p:txBody>
          <a:bodyPr rtlCol="0" anchor="ctr"/>
          <a:lstStyle/>
          <a:p>
            <a:pPr algn="ctr"/>
          </a:p>
        </p:txBody>
      </p:sp>
      <p:pic>
        <p:nvPicPr>
          <p:cNvPr id="13" name="Icon Globe 12" descr="icon013.png"/>
          <p:cNvPicPr>
            <a:picLocks noChangeAspect="1"/>
          </p:cNvPicPr>
          <p:nvPr/>
        </p:nvPicPr>
        <p:blipFill>
          <a:blip r:embed="rId3"/>
          <a:stretch>
            <a:fillRect/>
          </a:stretch>
        </p:blipFill>
        <p:spPr>
          <a:xfrm>
            <a:off x="5527675" y="2948186"/>
            <a:ext cx="209550" cy="209550"/>
          </a:xfrm>
          <a:prstGeom prst="rect">
            <a:avLst/>
          </a:prstGeom>
        </p:spPr>
      </p:pic>
      <p:sp>
        <p:nvSpPr>
          <p:cNvPr id="14" name="Text 13"/>
          <p:cNvSpPr txBox="1"/>
          <p:nvPr/>
        </p:nvSpPr>
        <p:spPr>
          <a:xfrm>
            <a:off x="3524250" y="32980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الشبكات والخدمات</a:t>
            </a:r>
          </a:p>
        </p:txBody>
      </p:sp>
      <p:sp>
        <p:nvSpPr>
          <p:cNvPr id="15" name="Text 14"/>
          <p:cNvSpPr txBox="1"/>
          <p:nvPr/>
        </p:nvSpPr>
        <p:spPr>
          <a:xfrm>
            <a:off x="3618802" y="36415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الشبكة الداخلية، والبريد، والبوابات الإلكترونية، والخدمات السحابية.</a:t>
            </a:r>
          </a:p>
        </p:txBody>
      </p:sp>
      <p:sp>
        <p:nvSpPr>
          <p:cNvPr id="16" name="Box 15"/>
          <p:cNvSpPr/>
          <p:nvPr/>
        </p:nvSpPr>
        <p:spPr>
          <a:xfrm>
            <a:off x="6188075" y="2681486"/>
            <a:ext cx="2501900" cy="1629966"/>
          </a:xfrm>
          <a:prstGeom prst="roundRect">
            <a:avLst>
              <a:gd name="adj" fmla="val 7761"/>
            </a:avLst>
          </a:prstGeom>
          <a:solidFill>
            <a:srgbClr val="FCFBF8"/>
          </a:solidFill>
          <a:ln w="6350">
            <a:solidFill>
              <a:srgbClr val="DDD7CA"/>
            </a:solidFill>
          </a:ln>
        </p:spPr>
        <p:txBody>
          <a:bodyPr rtlCol="0" anchor="ctr"/>
          <a:lstStyle/>
          <a:p>
            <a:pPr algn="ctr"/>
          </a:p>
        </p:txBody>
      </p:sp>
      <p:sp>
        <p:nvSpPr>
          <p:cNvPr id="17" name="Box 16"/>
          <p:cNvSpPr/>
          <p:nvPr/>
        </p:nvSpPr>
        <p:spPr>
          <a:xfrm>
            <a:off x="8128000" y="2862461"/>
            <a:ext cx="381000" cy="381000"/>
          </a:xfrm>
          <a:prstGeom prst="roundRect">
            <a:avLst>
              <a:gd name="adj" fmla="val 26666"/>
            </a:avLst>
          </a:prstGeom>
          <a:solidFill>
            <a:srgbClr val="DCEEEF"/>
          </a:solidFill>
          <a:ln>
            <a:noFill/>
          </a:ln>
        </p:spPr>
        <p:txBody>
          <a:bodyPr rtlCol="0" anchor="ctr"/>
          <a:lstStyle/>
          <a:p>
            <a:pPr algn="ctr"/>
          </a:p>
        </p:txBody>
      </p:sp>
      <p:pic>
        <p:nvPicPr>
          <p:cNvPr id="18" name="Icon Settings 17" descr="icon002.png"/>
          <p:cNvPicPr>
            <a:picLocks noChangeAspect="1"/>
          </p:cNvPicPr>
          <p:nvPr/>
        </p:nvPicPr>
        <p:blipFill>
          <a:blip r:embed="rId4"/>
          <a:stretch>
            <a:fillRect/>
          </a:stretch>
        </p:blipFill>
        <p:spPr>
          <a:xfrm>
            <a:off x="8213725" y="2948186"/>
            <a:ext cx="209550" cy="209550"/>
          </a:xfrm>
          <a:prstGeom prst="rect">
            <a:avLst/>
          </a:prstGeom>
        </p:spPr>
      </p:pic>
      <p:sp>
        <p:nvSpPr>
          <p:cNvPr id="19" name="Text 18"/>
          <p:cNvSpPr txBox="1"/>
          <p:nvPr/>
        </p:nvSpPr>
        <p:spPr>
          <a:xfrm>
            <a:off x="6210300" y="32980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الأنظمة والأجهزة</a:t>
            </a:r>
          </a:p>
        </p:txBody>
      </p:sp>
      <p:sp>
        <p:nvSpPr>
          <p:cNvPr id="20" name="Text 19"/>
          <p:cNvSpPr txBox="1"/>
          <p:nvPr/>
        </p:nvSpPr>
        <p:spPr>
          <a:xfrm>
            <a:off x="6304852" y="36415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الخوادم، وأجهزة الموظفين، والتطبيقات، وقواعد البيانات.</a:t>
            </a:r>
          </a:p>
        </p:txBody>
      </p:sp>
      <p:sp>
        <p:nvSpPr>
          <p:cNvPr id="21" name="Box 20"/>
          <p:cNvSpPr/>
          <p:nvPr/>
        </p:nvSpPr>
        <p:spPr>
          <a:xfrm>
            <a:off x="8874125" y="2681486"/>
            <a:ext cx="2501900" cy="1629966"/>
          </a:xfrm>
          <a:prstGeom prst="roundRect">
            <a:avLst>
              <a:gd name="adj" fmla="val 7761"/>
            </a:avLst>
          </a:prstGeom>
          <a:solidFill>
            <a:srgbClr val="FCFBF8"/>
          </a:solidFill>
          <a:ln w="6350">
            <a:solidFill>
              <a:srgbClr val="DDD7CA"/>
            </a:solidFill>
          </a:ln>
        </p:spPr>
        <p:txBody>
          <a:bodyPr rtlCol="0" anchor="ctr"/>
          <a:lstStyle/>
          <a:p>
            <a:pPr algn="ctr"/>
          </a:p>
        </p:txBody>
      </p:sp>
      <p:sp>
        <p:nvSpPr>
          <p:cNvPr id="22" name="Box 21"/>
          <p:cNvSpPr/>
          <p:nvPr/>
        </p:nvSpPr>
        <p:spPr>
          <a:xfrm>
            <a:off x="10814050" y="2862461"/>
            <a:ext cx="381000" cy="381000"/>
          </a:xfrm>
          <a:prstGeom prst="roundRect">
            <a:avLst>
              <a:gd name="adj" fmla="val 26666"/>
            </a:avLst>
          </a:prstGeom>
          <a:solidFill>
            <a:srgbClr val="DCEEEF"/>
          </a:solidFill>
          <a:ln>
            <a:noFill/>
          </a:ln>
        </p:spPr>
        <p:txBody>
          <a:bodyPr rtlCol="0" anchor="ctr"/>
          <a:lstStyle/>
          <a:p>
            <a:pPr algn="ctr"/>
          </a:p>
        </p:txBody>
      </p:sp>
      <p:pic>
        <p:nvPicPr>
          <p:cNvPr id="23" name="Icon Database 22" descr="icon014.png"/>
          <p:cNvPicPr>
            <a:picLocks noChangeAspect="1"/>
          </p:cNvPicPr>
          <p:nvPr/>
        </p:nvPicPr>
        <p:blipFill>
          <a:blip r:embed="rId5"/>
          <a:stretch>
            <a:fillRect/>
          </a:stretch>
        </p:blipFill>
        <p:spPr>
          <a:xfrm>
            <a:off x="10899775" y="2948186"/>
            <a:ext cx="209550" cy="209550"/>
          </a:xfrm>
          <a:prstGeom prst="rect">
            <a:avLst/>
          </a:prstGeom>
        </p:spPr>
      </p:pic>
      <p:sp>
        <p:nvSpPr>
          <p:cNvPr id="24" name="Text 23"/>
          <p:cNvSpPr txBox="1"/>
          <p:nvPr/>
        </p:nvSpPr>
        <p:spPr>
          <a:xfrm>
            <a:off x="8896350" y="32980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البيانات</a:t>
            </a:r>
          </a:p>
        </p:txBody>
      </p:sp>
      <p:sp>
        <p:nvSpPr>
          <p:cNvPr id="25" name="Text 24"/>
          <p:cNvSpPr txBox="1"/>
          <p:nvPr/>
        </p:nvSpPr>
        <p:spPr>
          <a:xfrm>
            <a:off x="8990902" y="36415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بيانات المستفيدين والموظفين، والبيانات المالية، والوثائق الرسمية.</a:t>
            </a:r>
          </a:p>
        </p:txBody>
      </p:sp>
      <p:sp>
        <p:nvSpPr>
          <p:cNvPr id="26" name="Box 2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7" name="Box 2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8" name="Icon Key 27" descr="icon015.png"/>
          <p:cNvPicPr>
            <a:picLocks noChangeAspect="1"/>
          </p:cNvPicPr>
          <p:nvPr/>
        </p:nvPicPr>
        <p:blipFill>
          <a:blip r:embed="rId6"/>
          <a:stretch>
            <a:fillRect/>
          </a:stretch>
        </p:blipFill>
        <p:spPr>
          <a:xfrm>
            <a:off x="10864850" y="5329932"/>
            <a:ext cx="215900" cy="215900"/>
          </a:xfrm>
          <a:prstGeom prst="rect">
            <a:avLst/>
          </a:prstGeom>
        </p:spPr>
      </p:pic>
      <p:sp>
        <p:nvSpPr>
          <p:cNvPr id="29" name="Text 2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30" name="Text 2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الأمن السيبراني ليس منتجاً تشتريه مرة واحدة، بل منظومة من الأشخاص والإجراءات والتقنية تعمل معاً وتُراجع باستمرار.</a:t>
            </a:r>
          </a:p>
        </p:txBody>
      </p:sp>
      <p:sp>
        <p:nvSpPr>
          <p:cNvPr id="31" name="Text 3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2" name="Box 31"/>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3" name="Box 32"/>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Text 4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أهداف الحماية الثلاثة: السرية والسلامة والتوافر</a:t>
            </a:r>
          </a:p>
        </p:txBody>
      </p:sp>
      <p:sp>
        <p:nvSpPr>
          <p:cNvPr id="5" name="Box 4"/>
          <p:cNvSpPr/>
          <p:nvPr/>
        </p:nvSpPr>
        <p:spPr>
          <a:xfrm>
            <a:off x="815975" y="1881386"/>
            <a:ext cx="3397250" cy="2061666"/>
          </a:xfrm>
          <a:prstGeom prst="roundRect">
            <a:avLst>
              <a:gd name="adj" fmla="val 6141"/>
            </a:avLst>
          </a:prstGeom>
          <a:solidFill>
            <a:srgbClr val="FCFBF8"/>
          </a:solidFill>
          <a:ln w="6350">
            <a:solidFill>
              <a:srgbClr val="DDD7CA"/>
            </a:solidFill>
          </a:ln>
        </p:spPr>
        <p:txBody>
          <a:bodyPr rtlCol="0" anchor="ctr"/>
          <a:lstStyle/>
          <a:p>
            <a:pPr algn="ctr"/>
          </a:p>
        </p:txBody>
      </p:sp>
      <p:sp>
        <p:nvSpPr>
          <p:cNvPr id="6" name="Box 5"/>
          <p:cNvSpPr/>
          <p:nvPr/>
        </p:nvSpPr>
        <p:spPr>
          <a:xfrm>
            <a:off x="3600450" y="2113161"/>
            <a:ext cx="381000" cy="381000"/>
          </a:xfrm>
          <a:prstGeom prst="roundRect">
            <a:avLst>
              <a:gd name="adj" fmla="val 26666"/>
            </a:avLst>
          </a:prstGeom>
          <a:solidFill>
            <a:srgbClr val="DCEEEF"/>
          </a:solidFill>
          <a:ln>
            <a:noFill/>
          </a:ln>
        </p:spPr>
        <p:txBody>
          <a:bodyPr rtlCol="0" anchor="ctr"/>
          <a:lstStyle/>
          <a:p>
            <a:pPr algn="ctr"/>
          </a:p>
        </p:txBody>
      </p:sp>
      <p:pic>
        <p:nvPicPr>
          <p:cNvPr id="7" name="Icon Activity 6" descr="icon007.png"/>
          <p:cNvPicPr>
            <a:picLocks noChangeAspect="1"/>
          </p:cNvPicPr>
          <p:nvPr/>
        </p:nvPicPr>
        <p:blipFill>
          <a:blip r:embed="rId2"/>
          <a:stretch>
            <a:fillRect/>
          </a:stretch>
        </p:blipFill>
        <p:spPr>
          <a:xfrm>
            <a:off x="3686175" y="2198886"/>
            <a:ext cx="209550" cy="209550"/>
          </a:xfrm>
          <a:prstGeom prst="rect">
            <a:avLst/>
          </a:prstGeom>
        </p:spPr>
      </p:pic>
      <p:sp>
        <p:nvSpPr>
          <p:cNvPr id="8" name="Text 7"/>
          <p:cNvSpPr txBox="1"/>
          <p:nvPr/>
        </p:nvSpPr>
        <p:spPr>
          <a:xfrm>
            <a:off x="838200" y="2547368"/>
            <a:ext cx="3143250" cy="291405"/>
          </a:xfrm>
          <a:prstGeom prst="rect">
            <a:avLst/>
          </a:prstGeom>
          <a:noFill/>
        </p:spPr>
        <p:txBody>
          <a:bodyPr wrap="square" tIns="0" rIns="0" bIns="0" lIns="0" anchor="t" rtlCol="0" anchorCtr="0">
            <a:noAutofit/>
          </a:bodyPr>
          <a:lstStyle/>
          <a:p>
            <a:pPr algn="r" rtl="1">
              <a:lnSpc>
                <a:spcPts val="2295"/>
              </a:lnSpc>
              <a:spcBef>
                <a:spcPts val="0"/>
              </a:spcBef>
              <a:spcAft>
                <a:spcPts val="0"/>
              </a:spcAft>
            </a:pPr>
            <a:r>
              <a:rPr sz="1700" b="1" i="0">
                <a:solidFill>
                  <a:srgbClr val="132033"/>
                </a:solidFill>
                <a:latin typeface="Alexandria"/>
                <a:ea typeface="Alexandria"/>
                <a:cs typeface="Alexandria"/>
              </a:rPr>
              <a:t>التوافر</a:t>
            </a:r>
          </a:p>
        </p:txBody>
      </p:sp>
      <p:sp>
        <p:nvSpPr>
          <p:cNvPr id="9" name="Text 8"/>
          <p:cNvSpPr txBox="1"/>
          <p:nvPr/>
        </p:nvSpPr>
        <p:spPr>
          <a:xfrm>
            <a:off x="959739" y="2905962"/>
            <a:ext cx="3021711" cy="773311"/>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465264"/>
                </a:solidFill>
                <a:latin typeface="IBM Plex Sans Arabic"/>
                <a:ea typeface="IBM Plex Sans Arabic"/>
                <a:cs typeface="IBM Plex Sans Arabic"/>
              </a:rPr>
              <a:t>أن تكون الخدمة والمعلومة متاحة عند الحاجة. مثال الإخلال: توقف البوابة الإلكترونية بهجوم حجب خدمة.</a:t>
            </a:r>
          </a:p>
        </p:txBody>
      </p:sp>
      <p:sp>
        <p:nvSpPr>
          <p:cNvPr id="10" name="Box 9"/>
          <p:cNvSpPr/>
          <p:nvPr/>
        </p:nvSpPr>
        <p:spPr>
          <a:xfrm>
            <a:off x="4397375" y="1881386"/>
            <a:ext cx="3397250" cy="2061666"/>
          </a:xfrm>
          <a:prstGeom prst="roundRect">
            <a:avLst>
              <a:gd name="adj" fmla="val 6141"/>
            </a:avLst>
          </a:prstGeom>
          <a:solidFill>
            <a:srgbClr val="FCFBF8"/>
          </a:solidFill>
          <a:ln w="6350">
            <a:solidFill>
              <a:srgbClr val="DDD7CA"/>
            </a:solidFill>
          </a:ln>
        </p:spPr>
        <p:txBody>
          <a:bodyPr rtlCol="0" anchor="ctr"/>
          <a:lstStyle/>
          <a:p>
            <a:pPr algn="ctr"/>
          </a:p>
        </p:txBody>
      </p:sp>
      <p:sp>
        <p:nvSpPr>
          <p:cNvPr id="11" name="Box 10"/>
          <p:cNvSpPr/>
          <p:nvPr/>
        </p:nvSpPr>
        <p:spPr>
          <a:xfrm>
            <a:off x="7181850" y="2113161"/>
            <a:ext cx="381000" cy="381000"/>
          </a:xfrm>
          <a:prstGeom prst="roundRect">
            <a:avLst>
              <a:gd name="adj" fmla="val 26666"/>
            </a:avLst>
          </a:prstGeom>
          <a:solidFill>
            <a:srgbClr val="DCEEEF"/>
          </a:solidFill>
          <a:ln>
            <a:noFill/>
          </a:ln>
        </p:spPr>
        <p:txBody>
          <a:bodyPr rtlCol="0" anchor="ctr"/>
          <a:lstStyle/>
          <a:p>
            <a:pPr algn="ctr"/>
          </a:p>
        </p:txBody>
      </p:sp>
      <p:pic>
        <p:nvPicPr>
          <p:cNvPr id="12" name="Icon CheckCircle 11" descr="icon016.png"/>
          <p:cNvPicPr>
            <a:picLocks noChangeAspect="1"/>
          </p:cNvPicPr>
          <p:nvPr/>
        </p:nvPicPr>
        <p:blipFill>
          <a:blip r:embed="rId3"/>
          <a:stretch>
            <a:fillRect/>
          </a:stretch>
        </p:blipFill>
        <p:spPr>
          <a:xfrm>
            <a:off x="7267575" y="2198886"/>
            <a:ext cx="209550" cy="209550"/>
          </a:xfrm>
          <a:prstGeom prst="rect">
            <a:avLst/>
          </a:prstGeom>
        </p:spPr>
      </p:pic>
      <p:sp>
        <p:nvSpPr>
          <p:cNvPr id="13" name="Text 12"/>
          <p:cNvSpPr txBox="1"/>
          <p:nvPr/>
        </p:nvSpPr>
        <p:spPr>
          <a:xfrm>
            <a:off x="4419600" y="2547368"/>
            <a:ext cx="3143250" cy="291405"/>
          </a:xfrm>
          <a:prstGeom prst="rect">
            <a:avLst/>
          </a:prstGeom>
          <a:noFill/>
        </p:spPr>
        <p:txBody>
          <a:bodyPr wrap="square" tIns="0" rIns="0" bIns="0" lIns="0" anchor="t" rtlCol="0" anchorCtr="0">
            <a:noAutofit/>
          </a:bodyPr>
          <a:lstStyle/>
          <a:p>
            <a:pPr algn="r" rtl="1">
              <a:lnSpc>
                <a:spcPts val="2295"/>
              </a:lnSpc>
              <a:spcBef>
                <a:spcPts val="0"/>
              </a:spcBef>
              <a:spcAft>
                <a:spcPts val="0"/>
              </a:spcAft>
            </a:pPr>
            <a:r>
              <a:rPr sz="1700" b="1" i="0">
                <a:solidFill>
                  <a:srgbClr val="132033"/>
                </a:solidFill>
                <a:latin typeface="Alexandria"/>
                <a:ea typeface="Alexandria"/>
                <a:cs typeface="Alexandria"/>
              </a:rPr>
              <a:t>السلامة</a:t>
            </a:r>
          </a:p>
        </p:txBody>
      </p:sp>
      <p:sp>
        <p:nvSpPr>
          <p:cNvPr id="14" name="Text 13"/>
          <p:cNvSpPr txBox="1"/>
          <p:nvPr/>
        </p:nvSpPr>
        <p:spPr>
          <a:xfrm>
            <a:off x="4541139" y="2905962"/>
            <a:ext cx="3021711" cy="773311"/>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465264"/>
                </a:solidFill>
                <a:latin typeface="IBM Plex Sans Arabic"/>
                <a:ea typeface="IBM Plex Sans Arabic"/>
                <a:cs typeface="IBM Plex Sans Arabic"/>
              </a:rPr>
              <a:t>أن تبقى المعلومة صحيحة كاملة، ولا تُعدَّل دون صلاحية. مثال الإخلال: تغيير رقم حساب بنكي في فاتورة.</a:t>
            </a:r>
          </a:p>
        </p:txBody>
      </p:sp>
      <p:sp>
        <p:nvSpPr>
          <p:cNvPr id="15" name="Box 14"/>
          <p:cNvSpPr/>
          <p:nvPr/>
        </p:nvSpPr>
        <p:spPr>
          <a:xfrm>
            <a:off x="7978775" y="1881386"/>
            <a:ext cx="3397250" cy="2061666"/>
          </a:xfrm>
          <a:prstGeom prst="roundRect">
            <a:avLst>
              <a:gd name="adj" fmla="val 6141"/>
            </a:avLst>
          </a:prstGeom>
          <a:solidFill>
            <a:srgbClr val="FCFBF8"/>
          </a:solidFill>
          <a:ln w="6350">
            <a:solidFill>
              <a:srgbClr val="DDD7CA"/>
            </a:solidFill>
          </a:ln>
        </p:spPr>
        <p:txBody>
          <a:bodyPr rtlCol="0" anchor="ctr"/>
          <a:lstStyle/>
          <a:p>
            <a:pPr algn="ctr"/>
          </a:p>
        </p:txBody>
      </p:sp>
      <p:sp>
        <p:nvSpPr>
          <p:cNvPr id="16" name="Box 15"/>
          <p:cNvSpPr/>
          <p:nvPr/>
        </p:nvSpPr>
        <p:spPr>
          <a:xfrm>
            <a:off x="10763250" y="2113161"/>
            <a:ext cx="381000" cy="381000"/>
          </a:xfrm>
          <a:prstGeom prst="roundRect">
            <a:avLst>
              <a:gd name="adj" fmla="val 26666"/>
            </a:avLst>
          </a:prstGeom>
          <a:solidFill>
            <a:srgbClr val="DCEEEF"/>
          </a:solidFill>
          <a:ln>
            <a:noFill/>
          </a:ln>
        </p:spPr>
        <p:txBody>
          <a:bodyPr rtlCol="0" anchor="ctr"/>
          <a:lstStyle/>
          <a:p>
            <a:pPr algn="ctr"/>
          </a:p>
        </p:txBody>
      </p:sp>
      <p:pic>
        <p:nvPicPr>
          <p:cNvPr id="17" name="Icon Lock 16" descr="icon009.png"/>
          <p:cNvPicPr>
            <a:picLocks noChangeAspect="1"/>
          </p:cNvPicPr>
          <p:nvPr/>
        </p:nvPicPr>
        <p:blipFill>
          <a:blip r:embed="rId4"/>
          <a:stretch>
            <a:fillRect/>
          </a:stretch>
        </p:blipFill>
        <p:spPr>
          <a:xfrm>
            <a:off x="10848975" y="2198886"/>
            <a:ext cx="209550" cy="209550"/>
          </a:xfrm>
          <a:prstGeom prst="rect">
            <a:avLst/>
          </a:prstGeom>
        </p:spPr>
      </p:pic>
      <p:sp>
        <p:nvSpPr>
          <p:cNvPr id="18" name="Text 17"/>
          <p:cNvSpPr txBox="1"/>
          <p:nvPr/>
        </p:nvSpPr>
        <p:spPr>
          <a:xfrm>
            <a:off x="8001000" y="2547368"/>
            <a:ext cx="3143250" cy="291405"/>
          </a:xfrm>
          <a:prstGeom prst="rect">
            <a:avLst/>
          </a:prstGeom>
          <a:noFill/>
        </p:spPr>
        <p:txBody>
          <a:bodyPr wrap="square" tIns="0" rIns="0" bIns="0" lIns="0" anchor="t" rtlCol="0" anchorCtr="0">
            <a:noAutofit/>
          </a:bodyPr>
          <a:lstStyle/>
          <a:p>
            <a:pPr algn="r" rtl="1">
              <a:lnSpc>
                <a:spcPts val="2295"/>
              </a:lnSpc>
              <a:spcBef>
                <a:spcPts val="0"/>
              </a:spcBef>
              <a:spcAft>
                <a:spcPts val="0"/>
              </a:spcAft>
            </a:pPr>
            <a:r>
              <a:rPr sz="1700" b="1" i="0">
                <a:solidFill>
                  <a:srgbClr val="132033"/>
                </a:solidFill>
                <a:latin typeface="Alexandria"/>
                <a:ea typeface="Alexandria"/>
                <a:cs typeface="Alexandria"/>
              </a:rPr>
              <a:t>السرية</a:t>
            </a:r>
          </a:p>
        </p:txBody>
      </p:sp>
      <p:sp>
        <p:nvSpPr>
          <p:cNvPr id="19" name="Text 18"/>
          <p:cNvSpPr txBox="1"/>
          <p:nvPr/>
        </p:nvSpPr>
        <p:spPr>
          <a:xfrm>
            <a:off x="8122539" y="2905962"/>
            <a:ext cx="3021711" cy="773311"/>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465264"/>
                </a:solidFill>
                <a:latin typeface="IBM Plex Sans Arabic"/>
                <a:ea typeface="IBM Plex Sans Arabic"/>
                <a:cs typeface="IBM Plex Sans Arabic"/>
              </a:rPr>
              <a:t>ألا يطّلع على المعلومة إلا المصرح له. مثال الإخلال: ملف رواتب يُرسل بالخطأ إلى بريد خارجي.</a:t>
            </a:r>
          </a:p>
        </p:txBody>
      </p:sp>
      <p:sp>
        <p:nvSpPr>
          <p:cNvPr id="20" name="Box 19"/>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1" name="Box 20"/>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2" name="Icon Book 21" descr="icon004.png"/>
          <p:cNvPicPr>
            <a:picLocks noChangeAspect="1"/>
          </p:cNvPicPr>
          <p:nvPr/>
        </p:nvPicPr>
        <p:blipFill>
          <a:blip r:embed="rId5"/>
          <a:stretch>
            <a:fillRect/>
          </a:stretch>
        </p:blipFill>
        <p:spPr>
          <a:xfrm>
            <a:off x="10864850" y="5329932"/>
            <a:ext cx="215900" cy="215900"/>
          </a:xfrm>
          <a:prstGeom prst="rect">
            <a:avLst/>
          </a:prstGeom>
        </p:spPr>
      </p:pic>
      <p:sp>
        <p:nvSpPr>
          <p:cNvPr id="23" name="Text 22"/>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تذكّر</a:t>
            </a:r>
          </a:p>
        </p:txBody>
      </p:sp>
      <p:sp>
        <p:nvSpPr>
          <p:cNvPr id="24" name="Text 23"/>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تذكر ECC هذه الأهداف صراحة: منهجية إدارة المخاطر في الضابط ‎1-5-1‎ يجب أن تراعي السرية والسلامة والتوافر.</a:t>
            </a:r>
          </a:p>
        </p:txBody>
      </p:sp>
      <p:sp>
        <p:nvSpPr>
          <p:cNvPr id="25" name="Text 2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26" name="Box 25"/>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27" name="Box 26"/>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28" name="Box 2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29" name="Box 2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0" name="Box 2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Text 3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الأصل والتهديد والثغرة والخطر</a:t>
            </a:r>
          </a:p>
        </p:txBody>
      </p:sp>
      <p:sp>
        <p:nvSpPr>
          <p:cNvPr id="5" name="Box 4"/>
          <p:cNvSpPr/>
          <p:nvPr/>
        </p:nvSpPr>
        <p:spPr>
          <a:xfrm>
            <a:off x="815975" y="1881386"/>
            <a:ext cx="2501900" cy="2090341"/>
          </a:xfrm>
          <a:prstGeom prst="roundRect">
            <a:avLst>
              <a:gd name="adj" fmla="val 6057"/>
            </a:avLst>
          </a:prstGeom>
          <a:solidFill>
            <a:srgbClr val="FCFBF8"/>
          </a:solidFill>
          <a:ln w="6350">
            <a:solidFill>
              <a:srgbClr val="DDD7CA"/>
            </a:solidFill>
          </a:ln>
        </p:spPr>
        <p:txBody>
          <a:bodyPr rtlCol="0" anchor="ctr"/>
          <a:lstStyle/>
          <a:p>
            <a:pPr algn="ctr"/>
          </a:p>
        </p:txBody>
      </p:sp>
      <p:sp>
        <p:nvSpPr>
          <p:cNvPr id="6" name="Box 5"/>
          <p:cNvSpPr/>
          <p:nvPr/>
        </p:nvSpPr>
        <p:spPr>
          <a:xfrm>
            <a:off x="2755900" y="2062361"/>
            <a:ext cx="381000" cy="381000"/>
          </a:xfrm>
          <a:prstGeom prst="roundRect">
            <a:avLst>
              <a:gd name="adj" fmla="val 26666"/>
            </a:avLst>
          </a:prstGeom>
          <a:solidFill>
            <a:srgbClr val="DCEEEF"/>
          </a:solidFill>
          <a:ln>
            <a:noFill/>
          </a:ln>
        </p:spPr>
        <p:txBody>
          <a:bodyPr rtlCol="0" anchor="ctr"/>
          <a:lstStyle/>
          <a:p>
            <a:pPr algn="ctr"/>
          </a:p>
        </p:txBody>
      </p:sp>
      <p:pic>
        <p:nvPicPr>
          <p:cNvPr id="7" name="Icon Chart 6" descr="icon017.png"/>
          <p:cNvPicPr>
            <a:picLocks noChangeAspect="1"/>
          </p:cNvPicPr>
          <p:nvPr/>
        </p:nvPicPr>
        <p:blipFill>
          <a:blip r:embed="rId2"/>
          <a:stretch>
            <a:fillRect/>
          </a:stretch>
        </p:blipFill>
        <p:spPr>
          <a:xfrm>
            <a:off x="2841625" y="2148086"/>
            <a:ext cx="209550" cy="209550"/>
          </a:xfrm>
          <a:prstGeom prst="rect">
            <a:avLst/>
          </a:prstGeom>
        </p:spPr>
      </p:pic>
      <p:sp>
        <p:nvSpPr>
          <p:cNvPr id="8" name="Text 7"/>
          <p:cNvSpPr txBox="1"/>
          <p:nvPr/>
        </p:nvSpPr>
        <p:spPr>
          <a:xfrm>
            <a:off x="838200" y="24979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الخطر</a:t>
            </a:r>
          </a:p>
        </p:txBody>
      </p:sp>
      <p:sp>
        <p:nvSpPr>
          <p:cNvPr id="9" name="Text 8"/>
          <p:cNvSpPr txBox="1"/>
          <p:nvPr/>
        </p:nvSpPr>
        <p:spPr>
          <a:xfrm>
            <a:off x="932751" y="2841427"/>
            <a:ext cx="2204148"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احتمال أن يستغل تهديدٌ ثغرةً فيصيب أصلاً، مع حجم الأثر. وفي البيت: احتمال السرقة وقيمة الخسارة.</a:t>
            </a:r>
          </a:p>
        </p:txBody>
      </p:sp>
      <p:sp>
        <p:nvSpPr>
          <p:cNvPr id="10" name="Box 9"/>
          <p:cNvSpPr/>
          <p:nvPr/>
        </p:nvSpPr>
        <p:spPr>
          <a:xfrm>
            <a:off x="3502025" y="1881386"/>
            <a:ext cx="2501900" cy="2090341"/>
          </a:xfrm>
          <a:prstGeom prst="roundRect">
            <a:avLst>
              <a:gd name="adj" fmla="val 6057"/>
            </a:avLst>
          </a:prstGeom>
          <a:solidFill>
            <a:srgbClr val="FCFBF8"/>
          </a:solidFill>
          <a:ln w="6350">
            <a:solidFill>
              <a:srgbClr val="DDD7CA"/>
            </a:solidFill>
          </a:ln>
        </p:spPr>
        <p:txBody>
          <a:bodyPr rtlCol="0" anchor="ctr"/>
          <a:lstStyle/>
          <a:p>
            <a:pPr algn="ctr"/>
          </a:p>
        </p:txBody>
      </p:sp>
      <p:sp>
        <p:nvSpPr>
          <p:cNvPr id="11" name="Box 10"/>
          <p:cNvSpPr/>
          <p:nvPr/>
        </p:nvSpPr>
        <p:spPr>
          <a:xfrm>
            <a:off x="5441950" y="2062361"/>
            <a:ext cx="381000" cy="381000"/>
          </a:xfrm>
          <a:prstGeom prst="roundRect">
            <a:avLst>
              <a:gd name="adj" fmla="val 26666"/>
            </a:avLst>
          </a:prstGeom>
          <a:solidFill>
            <a:srgbClr val="DCEEEF"/>
          </a:solidFill>
          <a:ln>
            <a:noFill/>
          </a:ln>
        </p:spPr>
        <p:txBody>
          <a:bodyPr rtlCol="0" anchor="ctr"/>
          <a:lstStyle/>
          <a:p>
            <a:pPr algn="ctr"/>
          </a:p>
        </p:txBody>
      </p:sp>
      <p:pic>
        <p:nvPicPr>
          <p:cNvPr id="12" name="Icon Key 11" descr="icon018.png"/>
          <p:cNvPicPr>
            <a:picLocks noChangeAspect="1"/>
          </p:cNvPicPr>
          <p:nvPr/>
        </p:nvPicPr>
        <p:blipFill>
          <a:blip r:embed="rId3"/>
          <a:stretch>
            <a:fillRect/>
          </a:stretch>
        </p:blipFill>
        <p:spPr>
          <a:xfrm>
            <a:off x="5527675" y="2148086"/>
            <a:ext cx="209550" cy="209550"/>
          </a:xfrm>
          <a:prstGeom prst="rect">
            <a:avLst/>
          </a:prstGeom>
        </p:spPr>
      </p:pic>
      <p:sp>
        <p:nvSpPr>
          <p:cNvPr id="13" name="Text 12"/>
          <p:cNvSpPr txBox="1"/>
          <p:nvPr/>
        </p:nvSpPr>
        <p:spPr>
          <a:xfrm>
            <a:off x="3524250" y="24979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الثغرة</a:t>
            </a:r>
          </a:p>
        </p:txBody>
      </p:sp>
      <p:sp>
        <p:nvSpPr>
          <p:cNvPr id="14" name="Text 13"/>
          <p:cNvSpPr txBox="1"/>
          <p:nvPr/>
        </p:nvSpPr>
        <p:spPr>
          <a:xfrm>
            <a:off x="3618802" y="284142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ضعف يستغله التهديد: نظام بلا تحديث، كلمة مرور ضعيفة. وفي البيت: نافذة لا تُقفل.</a:t>
            </a:r>
          </a:p>
        </p:txBody>
      </p:sp>
      <p:sp>
        <p:nvSpPr>
          <p:cNvPr id="15" name="Box 14"/>
          <p:cNvSpPr/>
          <p:nvPr/>
        </p:nvSpPr>
        <p:spPr>
          <a:xfrm>
            <a:off x="6188075" y="1881386"/>
            <a:ext cx="2501900" cy="2090341"/>
          </a:xfrm>
          <a:prstGeom prst="roundRect">
            <a:avLst>
              <a:gd name="adj" fmla="val 6057"/>
            </a:avLst>
          </a:prstGeom>
          <a:solidFill>
            <a:srgbClr val="FCFBF8"/>
          </a:solidFill>
          <a:ln w="6350">
            <a:solidFill>
              <a:srgbClr val="DDD7CA"/>
            </a:solidFill>
          </a:ln>
        </p:spPr>
        <p:txBody>
          <a:bodyPr rtlCol="0" anchor="ctr"/>
          <a:lstStyle/>
          <a:p>
            <a:pPr algn="ctr"/>
          </a:p>
        </p:txBody>
      </p:sp>
      <p:sp>
        <p:nvSpPr>
          <p:cNvPr id="16" name="Box 15"/>
          <p:cNvSpPr/>
          <p:nvPr/>
        </p:nvSpPr>
        <p:spPr>
          <a:xfrm>
            <a:off x="8128000" y="2062361"/>
            <a:ext cx="381000" cy="381000"/>
          </a:xfrm>
          <a:prstGeom prst="roundRect">
            <a:avLst>
              <a:gd name="adj" fmla="val 26666"/>
            </a:avLst>
          </a:prstGeom>
          <a:solidFill>
            <a:srgbClr val="DCEEEF"/>
          </a:solidFill>
          <a:ln>
            <a:noFill/>
          </a:ln>
        </p:spPr>
        <p:txBody>
          <a:bodyPr rtlCol="0" anchor="ctr"/>
          <a:lstStyle/>
          <a:p>
            <a:pPr algn="ctr"/>
          </a:p>
        </p:txBody>
      </p:sp>
      <p:pic>
        <p:nvPicPr>
          <p:cNvPr id="17" name="Icon Warning 16" descr="icon019.png"/>
          <p:cNvPicPr>
            <a:picLocks noChangeAspect="1"/>
          </p:cNvPicPr>
          <p:nvPr/>
        </p:nvPicPr>
        <p:blipFill>
          <a:blip r:embed="rId4"/>
          <a:stretch>
            <a:fillRect/>
          </a:stretch>
        </p:blipFill>
        <p:spPr>
          <a:xfrm>
            <a:off x="8213725" y="2148086"/>
            <a:ext cx="209550" cy="209550"/>
          </a:xfrm>
          <a:prstGeom prst="rect">
            <a:avLst/>
          </a:prstGeom>
        </p:spPr>
      </p:pic>
      <p:sp>
        <p:nvSpPr>
          <p:cNvPr id="18" name="Text 17"/>
          <p:cNvSpPr txBox="1"/>
          <p:nvPr/>
        </p:nvSpPr>
        <p:spPr>
          <a:xfrm>
            <a:off x="6210300" y="24979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التهديد</a:t>
            </a:r>
          </a:p>
        </p:txBody>
      </p:sp>
      <p:sp>
        <p:nvSpPr>
          <p:cNvPr id="19" name="Text 18"/>
          <p:cNvSpPr txBox="1"/>
          <p:nvPr/>
        </p:nvSpPr>
        <p:spPr>
          <a:xfrm>
            <a:off x="6304852" y="284142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ما قد يسبب ضرراً: مهاجم، برمجية فدية، موظف مهمل، حريق. وفي البيت: اللص.</a:t>
            </a:r>
          </a:p>
        </p:txBody>
      </p:sp>
      <p:sp>
        <p:nvSpPr>
          <p:cNvPr id="20" name="Box 19"/>
          <p:cNvSpPr/>
          <p:nvPr/>
        </p:nvSpPr>
        <p:spPr>
          <a:xfrm>
            <a:off x="8874125" y="1881386"/>
            <a:ext cx="2501900" cy="2090341"/>
          </a:xfrm>
          <a:prstGeom prst="roundRect">
            <a:avLst>
              <a:gd name="adj" fmla="val 6057"/>
            </a:avLst>
          </a:prstGeom>
          <a:solidFill>
            <a:srgbClr val="FCFBF8"/>
          </a:solidFill>
          <a:ln w="6350">
            <a:solidFill>
              <a:srgbClr val="DDD7CA"/>
            </a:solidFill>
          </a:ln>
        </p:spPr>
        <p:txBody>
          <a:bodyPr rtlCol="0" anchor="ctr"/>
          <a:lstStyle/>
          <a:p>
            <a:pPr algn="ctr"/>
          </a:p>
        </p:txBody>
      </p:sp>
      <p:sp>
        <p:nvSpPr>
          <p:cNvPr id="21" name="Box 20"/>
          <p:cNvSpPr/>
          <p:nvPr/>
        </p:nvSpPr>
        <p:spPr>
          <a:xfrm>
            <a:off x="10814050" y="2062361"/>
            <a:ext cx="381000" cy="381000"/>
          </a:xfrm>
          <a:prstGeom prst="roundRect">
            <a:avLst>
              <a:gd name="adj" fmla="val 26666"/>
            </a:avLst>
          </a:prstGeom>
          <a:solidFill>
            <a:srgbClr val="DCEEEF"/>
          </a:solidFill>
          <a:ln>
            <a:noFill/>
          </a:ln>
        </p:spPr>
        <p:txBody>
          <a:bodyPr rtlCol="0" anchor="ctr"/>
          <a:lstStyle/>
          <a:p>
            <a:pPr algn="ctr"/>
          </a:p>
        </p:txBody>
      </p:sp>
      <p:pic>
        <p:nvPicPr>
          <p:cNvPr id="22" name="Icon Database 21" descr="icon014.png"/>
          <p:cNvPicPr>
            <a:picLocks noChangeAspect="1"/>
          </p:cNvPicPr>
          <p:nvPr/>
        </p:nvPicPr>
        <p:blipFill>
          <a:blip r:embed="rId5"/>
          <a:stretch>
            <a:fillRect/>
          </a:stretch>
        </p:blipFill>
        <p:spPr>
          <a:xfrm>
            <a:off x="10899775" y="2148086"/>
            <a:ext cx="209550" cy="209550"/>
          </a:xfrm>
          <a:prstGeom prst="rect">
            <a:avLst/>
          </a:prstGeom>
        </p:spPr>
      </p:pic>
      <p:sp>
        <p:nvSpPr>
          <p:cNvPr id="23" name="Text 22"/>
          <p:cNvSpPr txBox="1"/>
          <p:nvPr/>
        </p:nvSpPr>
        <p:spPr>
          <a:xfrm>
            <a:off x="8896350" y="24979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الأصل</a:t>
            </a:r>
          </a:p>
        </p:txBody>
      </p:sp>
      <p:sp>
        <p:nvSpPr>
          <p:cNvPr id="24" name="Text 23"/>
          <p:cNvSpPr txBox="1"/>
          <p:nvPr/>
        </p:nvSpPr>
        <p:spPr>
          <a:xfrm>
            <a:off x="8990902" y="284142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كل ما له قيمة ويحتاج حماية: خادم، تطبيق، بيانات، خدمة. وفي البيت: المجوهرات.</a:t>
            </a:r>
          </a:p>
        </p:txBody>
      </p:sp>
      <p:sp>
        <p:nvSpPr>
          <p:cNvPr id="25" name="Box 24"/>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6" name="Box 25"/>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7" name="Icon Key 26" descr="icon015.png"/>
          <p:cNvPicPr>
            <a:picLocks noChangeAspect="1"/>
          </p:cNvPicPr>
          <p:nvPr/>
        </p:nvPicPr>
        <p:blipFill>
          <a:blip r:embed="rId6"/>
          <a:stretch>
            <a:fillRect/>
          </a:stretch>
        </p:blipFill>
        <p:spPr>
          <a:xfrm>
            <a:off x="10864850" y="5329932"/>
            <a:ext cx="215900" cy="215900"/>
          </a:xfrm>
          <a:prstGeom prst="rect">
            <a:avLst/>
          </a:prstGeom>
        </p:spPr>
      </p:pic>
      <p:sp>
        <p:nvSpPr>
          <p:cNvPr id="28" name="Text 27"/>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29" name="Text 28"/>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الخطر = الاحتمال × الأثر. والضابط إما يخفض الاحتمال، مثل قفل النافذة، أو يخفض الأثر، مثل خزنة للمجوهرات.</a:t>
            </a:r>
          </a:p>
        </p:txBody>
      </p:sp>
      <p:sp>
        <p:nvSpPr>
          <p:cNvPr id="30" name="Text 2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1" name="Box 30"/>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2" name="Box 31"/>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Text 3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 الضابط؟ وكيف نصنّف الضوابط</a:t>
            </a:r>
          </a:p>
        </p:txBody>
      </p:sp>
      <p:sp>
        <p:nvSpPr>
          <p:cNvPr id="5" name="Text 4"/>
          <p:cNvSpPr txBox="1"/>
          <p:nvPr/>
        </p:nvSpPr>
        <p:spPr>
          <a:xfrm>
            <a:off x="50800" y="1816362"/>
            <a:ext cx="10287000" cy="266700"/>
          </a:xfrm>
          <a:prstGeom prst="rect">
            <a:avLst/>
          </a:prstGeom>
          <a:noFill/>
        </p:spPr>
        <p:txBody>
          <a:bodyPr wrap="square" tIns="0" rIns="0" bIns="0" lIns="0" anchor="t" rtlCol="0" anchorCtr="0">
            <a:noAutofit/>
          </a:bodyPr>
          <a:lstStyle/>
          <a:p>
            <a:pPr algn="r" rtl="1">
              <a:lnSpc>
                <a:spcPts val="2100"/>
              </a:lnSpc>
              <a:spcBef>
                <a:spcPts val="0"/>
              </a:spcBef>
              <a:spcAft>
                <a:spcPts val="0"/>
              </a:spcAft>
            </a:pPr>
            <a:r>
              <a:rPr sz="1400" b="0" i="0">
                <a:solidFill>
                  <a:srgbClr val="465264"/>
                </a:solidFill>
                <a:latin typeface="IBM Plex Sans Arabic"/>
                <a:ea typeface="IBM Plex Sans Arabic"/>
                <a:cs typeface="IBM Plex Sans Arabic"/>
              </a:rPr>
              <a:t>الضابط إجراء أو وسيلة تخفض الخطر: تمنع الحدث، أو تكشفه بسرعة، أو تحد من أثره وتعالجه. وهذه أمثلة من ECC لكل نوع:</a:t>
            </a:r>
          </a:p>
        </p:txBody>
      </p:sp>
      <p:graphicFrame>
        <p:nvGraphicFramePr>
          <p:cNvPr id="6" name="Table 5"/>
          <p:cNvGraphicFramePr>
            <a:graphicFrameLocks noGrp="1"/>
          </p:cNvGraphicFramePr>
          <p:nvPr/>
        </p:nvGraphicFramePr>
        <p:xfrm>
          <a:off x="815975" y="2325886"/>
          <a:ext cx="10560050" cy="1444624"/>
        </p:xfrm>
        <a:graphic>
          <a:graphicData uri="http://schemas.openxmlformats.org/drawingml/2006/table">
            <a:tbl>
              <a:tblPr firstRow="0" bandRow="0" lastRow="0" firstCol="0" lastCol="0" bandCol="0">
                <a:tableStyleId>{2D5ABB26-0587-4C30-8999-92F81FD0307C}</a:tableStyleId>
              </a:tblPr>
              <a:tblGrid>
                <a:gridCol w="2851150"/>
                <a:gridCol w="2851150"/>
                <a:gridCol w="2851150"/>
                <a:gridCol w="2006600"/>
              </a:tblGrid>
              <a:tr h="361156">
                <a:tc>
                  <a:txBody>
                    <a:bodyPr wrap="square"/>
                    <a:lstStyle/>
                    <a:p>
                      <a:pPr algn="r" rtl="1">
                        <a:lnSpc>
                          <a:spcPts val="1885"/>
                        </a:lnSpc>
                        <a:spcBef>
                          <a:spcPts val="0"/>
                        </a:spcBef>
                        <a:spcAft>
                          <a:spcPts val="0"/>
                        </a:spcAft>
                      </a:pPr>
                      <a:r>
                        <a:rPr sz="1300" b="1" i="0">
                          <a:solidFill>
                            <a:srgbClr val="F2EEE6"/>
                          </a:solidFill>
                          <a:latin typeface="IBM Plex Sans Arabic"/>
                          <a:ea typeface="IBM Plex Sans Arabic"/>
                          <a:cs typeface="IBM Plex Sans Arabic"/>
                        </a:rPr>
                        <a:t>تصحيحي: يعالجه ويحد من أثره</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85"/>
                        </a:lnSpc>
                        <a:spcBef>
                          <a:spcPts val="0"/>
                        </a:spcBef>
                        <a:spcAft>
                          <a:spcPts val="0"/>
                        </a:spcAft>
                      </a:pPr>
                      <a:r>
                        <a:rPr sz="1300" b="1" i="0">
                          <a:solidFill>
                            <a:srgbClr val="F2EEE6"/>
                          </a:solidFill>
                          <a:latin typeface="IBM Plex Sans Arabic"/>
                          <a:ea typeface="IBM Plex Sans Arabic"/>
                          <a:cs typeface="IBM Plex Sans Arabic"/>
                        </a:rPr>
                        <a:t>كشفي: يكشفه عند وقوعه</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85"/>
                        </a:lnSpc>
                        <a:spcBef>
                          <a:spcPts val="0"/>
                        </a:spcBef>
                        <a:spcAft>
                          <a:spcPts val="0"/>
                        </a:spcAft>
                      </a:pPr>
                      <a:r>
                        <a:rPr sz="1300" b="1" i="0">
                          <a:solidFill>
                            <a:srgbClr val="F2EEE6"/>
                          </a:solidFill>
                          <a:latin typeface="IBM Plex Sans Arabic"/>
                          <a:ea typeface="IBM Plex Sans Arabic"/>
                          <a:cs typeface="IBM Plex Sans Arabic"/>
                        </a:rPr>
                        <a:t>وقائي: يمنع الحدث</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85"/>
                        </a:lnSpc>
                        <a:spcBef>
                          <a:spcPts val="0"/>
                        </a:spcBef>
                        <a:spcAft>
                          <a:spcPts val="0"/>
                        </a:spcAft>
                      </a:pPr>
                      <a:r>
                        <a:rPr sz="1300" b="1" i="0">
                          <a:solidFill>
                            <a:srgbClr val="F2EEE6"/>
                          </a:solidFill>
                          <a:latin typeface="IBM Plex Sans Arabic"/>
                          <a:ea typeface="IBM Plex Sans Arabic"/>
                          <a:cs typeface="IBM Plex Sans Arabic"/>
                        </a:rPr>
                        <a:t>طبيعة الضابط</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61156">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خطة الاستجابة للحوادث</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مراجعة الصلاحيات الدورية</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سياسة الاستخدام المقبول والتوعية</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إداري (أشخاص وإجراءات)</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61156">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الاستعادة من النسخ الاحتياطية</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نظام إدارة الأحداث ومراقبة السجلات</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التحقق متعدد العوامل والجدار الناري</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تقني (أنظمة)</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61156">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موقع بديل للتعافي من الكوارث</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كاميرات المراقبة وسجل الزوار</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بطاقات دخول غرفة الخوادم</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مادي (أماكن ومعدات)</a:t>
                      </a:r>
                    </a:p>
                  </a:txBody>
                  <a:tcPr marT="69590" marR="99060" marB="4598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7" name="Box 6"/>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8" name="Box 7"/>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9" name="Icon Key 8" descr="icon015.png"/>
          <p:cNvPicPr>
            <a:picLocks noChangeAspect="1"/>
          </p:cNvPicPr>
          <p:nvPr/>
        </p:nvPicPr>
        <p:blipFill>
          <a:blip r:embed="rId2"/>
          <a:stretch>
            <a:fillRect/>
          </a:stretch>
        </p:blipFill>
        <p:spPr>
          <a:xfrm>
            <a:off x="10864850" y="5329932"/>
            <a:ext cx="215900" cy="215900"/>
          </a:xfrm>
          <a:prstGeom prst="rect">
            <a:avLst/>
          </a:prstGeom>
        </p:spPr>
      </p:pic>
      <p:sp>
        <p:nvSpPr>
          <p:cNvPr id="10" name="Text 9"/>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11" name="Text 10"/>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ECC تجمع الأنواع كلها، ولهذا تجد فيها لجاناً وسياسات وتدريباً بجانب الأنظمة التقنية. وأقوى حماية تجمع طبقات من الأنواع الثلاثة.</a:t>
            </a:r>
          </a:p>
        </p:txBody>
      </p:sp>
      <p:sp>
        <p:nvSpPr>
          <p:cNvPr id="12" name="Text 1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13" name="Box 12"/>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14" name="Box 13"/>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Box 15"/>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7" name="Box 1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8" name="Box 1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9" name="Box 1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20" name="Box 1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21" name="Box 2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22" name="Text 2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الامتثال، والهيئة، والضوابط الأساسية</a:t>
            </a:r>
          </a:p>
        </p:txBody>
      </p:sp>
      <p:sp>
        <p:nvSpPr>
          <p:cNvPr id="5" name="Box 4"/>
          <p:cNvSpPr/>
          <p:nvPr/>
        </p:nvSpPr>
        <p:spPr>
          <a:xfrm>
            <a:off x="815975" y="1881386"/>
            <a:ext cx="2501900" cy="2100262"/>
          </a:xfrm>
          <a:prstGeom prst="roundRect">
            <a:avLst>
              <a:gd name="adj" fmla="val 6028"/>
            </a:avLst>
          </a:prstGeom>
          <a:solidFill>
            <a:srgbClr val="FCFBF8"/>
          </a:solidFill>
          <a:ln w="6350">
            <a:solidFill>
              <a:srgbClr val="DDD7CA"/>
            </a:solidFill>
          </a:ln>
        </p:spPr>
        <p:txBody>
          <a:bodyPr rtlCol="0" anchor="ctr"/>
          <a:lstStyle/>
          <a:p>
            <a:pPr algn="ctr"/>
          </a:p>
        </p:txBody>
      </p:sp>
      <p:sp>
        <p:nvSpPr>
          <p:cNvPr id="6" name="Box 5"/>
          <p:cNvSpPr/>
          <p:nvPr/>
        </p:nvSpPr>
        <p:spPr>
          <a:xfrm>
            <a:off x="2755900" y="2062361"/>
            <a:ext cx="381000" cy="381000"/>
          </a:xfrm>
          <a:prstGeom prst="roundRect">
            <a:avLst>
              <a:gd name="adj" fmla="val 26666"/>
            </a:avLst>
          </a:prstGeom>
          <a:solidFill>
            <a:srgbClr val="DCEEEF"/>
          </a:solidFill>
          <a:ln>
            <a:noFill/>
          </a:ln>
        </p:spPr>
        <p:txBody>
          <a:bodyPr rtlCol="0" anchor="ctr"/>
          <a:lstStyle/>
          <a:p>
            <a:pPr algn="ctr"/>
          </a:p>
        </p:txBody>
      </p:sp>
      <p:pic>
        <p:nvPicPr>
          <p:cNvPr id="7" name="Icon Search 6" descr="icon005.png"/>
          <p:cNvPicPr>
            <a:picLocks noChangeAspect="1"/>
          </p:cNvPicPr>
          <p:nvPr/>
        </p:nvPicPr>
        <p:blipFill>
          <a:blip r:embed="rId2"/>
          <a:stretch>
            <a:fillRect/>
          </a:stretch>
        </p:blipFill>
        <p:spPr>
          <a:xfrm>
            <a:off x="2841625" y="2148086"/>
            <a:ext cx="209550" cy="209550"/>
          </a:xfrm>
          <a:prstGeom prst="rect">
            <a:avLst/>
          </a:prstGeom>
        </p:spPr>
      </p:pic>
      <p:sp>
        <p:nvSpPr>
          <p:cNvPr id="8" name="Text 7"/>
          <p:cNvSpPr txBox="1"/>
          <p:nvPr/>
        </p:nvSpPr>
        <p:spPr>
          <a:xfrm>
            <a:off x="838200" y="249927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كيف يُقاس الامتثال</a:t>
            </a:r>
          </a:p>
        </p:txBody>
      </p:sp>
      <p:sp>
        <p:nvSpPr>
          <p:cNvPr id="9" name="Text 8"/>
          <p:cNvSpPr txBox="1"/>
          <p:nvPr/>
        </p:nvSpPr>
        <p:spPr>
          <a:xfrm>
            <a:off x="932751" y="2824361"/>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بالزيارات الميدانية للتدقيق، أو بالتقييم الذاتي للجهات، أو وفق الآلية التي تراها الهيئة مناسبة.</a:t>
            </a:r>
          </a:p>
        </p:txBody>
      </p:sp>
      <p:sp>
        <p:nvSpPr>
          <p:cNvPr id="10" name="Box 9"/>
          <p:cNvSpPr/>
          <p:nvPr/>
        </p:nvSpPr>
        <p:spPr>
          <a:xfrm>
            <a:off x="3502025" y="1881386"/>
            <a:ext cx="2501900" cy="2100262"/>
          </a:xfrm>
          <a:prstGeom prst="roundRect">
            <a:avLst>
              <a:gd name="adj" fmla="val 6028"/>
            </a:avLst>
          </a:prstGeom>
          <a:solidFill>
            <a:srgbClr val="FCFBF8"/>
          </a:solidFill>
          <a:ln w="6350">
            <a:solidFill>
              <a:srgbClr val="DDD7CA"/>
            </a:solidFill>
          </a:ln>
        </p:spPr>
        <p:txBody>
          <a:bodyPr rtlCol="0" anchor="ctr"/>
          <a:lstStyle/>
          <a:p>
            <a:pPr algn="ctr"/>
          </a:p>
        </p:txBody>
      </p:sp>
      <p:sp>
        <p:nvSpPr>
          <p:cNvPr id="11" name="Box 10"/>
          <p:cNvSpPr/>
          <p:nvPr/>
        </p:nvSpPr>
        <p:spPr>
          <a:xfrm>
            <a:off x="5441950" y="2062361"/>
            <a:ext cx="381000" cy="381000"/>
          </a:xfrm>
          <a:prstGeom prst="roundRect">
            <a:avLst>
              <a:gd name="adj" fmla="val 26666"/>
            </a:avLst>
          </a:prstGeom>
          <a:solidFill>
            <a:srgbClr val="DCEEEF"/>
          </a:solidFill>
          <a:ln>
            <a:noFill/>
          </a:ln>
        </p:spPr>
        <p:txBody>
          <a:bodyPr rtlCol="0" anchor="ctr"/>
          <a:lstStyle/>
          <a:p>
            <a:pPr algn="ctr"/>
          </a:p>
        </p:txBody>
      </p:sp>
      <p:pic>
        <p:nvPicPr>
          <p:cNvPr id="12" name="Icon Book 11" descr="icon006.png"/>
          <p:cNvPicPr>
            <a:picLocks noChangeAspect="1"/>
          </p:cNvPicPr>
          <p:nvPr/>
        </p:nvPicPr>
        <p:blipFill>
          <a:blip r:embed="rId3"/>
          <a:stretch>
            <a:fillRect/>
          </a:stretch>
        </p:blipFill>
        <p:spPr>
          <a:xfrm>
            <a:off x="5527675" y="2148086"/>
            <a:ext cx="209550" cy="209550"/>
          </a:xfrm>
          <a:prstGeom prst="rect">
            <a:avLst/>
          </a:prstGeom>
        </p:spPr>
      </p:pic>
      <p:sp>
        <p:nvSpPr>
          <p:cNvPr id="13" name="Text 12"/>
          <p:cNvSpPr txBox="1"/>
          <p:nvPr/>
        </p:nvSpPr>
        <p:spPr>
          <a:xfrm>
            <a:off x="3524250" y="249927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الضوابط الأساسية ECC</a:t>
            </a:r>
          </a:p>
        </p:txBody>
      </p:sp>
      <p:sp>
        <p:nvSpPr>
          <p:cNvPr id="14" name="Text 13"/>
          <p:cNvSpPr txBox="1"/>
          <p:nvPr/>
        </p:nvSpPr>
        <p:spPr>
          <a:xfrm>
            <a:off x="3618802" y="2824361"/>
            <a:ext cx="2204148"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الحد الأدنى من متطلبات الأمن السيبراني للجهات الوطنية. صدر إصدارها الأول عام 2018، والحالي ‎ECC-2:2024‎.</a:t>
            </a:r>
          </a:p>
        </p:txBody>
      </p:sp>
      <p:sp>
        <p:nvSpPr>
          <p:cNvPr id="15" name="Box 14"/>
          <p:cNvSpPr/>
          <p:nvPr/>
        </p:nvSpPr>
        <p:spPr>
          <a:xfrm>
            <a:off x="6188075" y="1881386"/>
            <a:ext cx="2501900" cy="2100262"/>
          </a:xfrm>
          <a:prstGeom prst="roundRect">
            <a:avLst>
              <a:gd name="adj" fmla="val 6028"/>
            </a:avLst>
          </a:prstGeom>
          <a:solidFill>
            <a:srgbClr val="FCFBF8"/>
          </a:solidFill>
          <a:ln w="6350">
            <a:solidFill>
              <a:srgbClr val="DDD7CA"/>
            </a:solidFill>
          </a:ln>
        </p:spPr>
        <p:txBody>
          <a:bodyPr rtlCol="0" anchor="ctr"/>
          <a:lstStyle/>
          <a:p>
            <a:pPr algn="ctr"/>
          </a:p>
        </p:txBody>
      </p:sp>
      <p:sp>
        <p:nvSpPr>
          <p:cNvPr id="16" name="Box 15"/>
          <p:cNvSpPr/>
          <p:nvPr/>
        </p:nvSpPr>
        <p:spPr>
          <a:xfrm>
            <a:off x="8128000" y="2062361"/>
            <a:ext cx="381000" cy="381000"/>
          </a:xfrm>
          <a:prstGeom prst="roundRect">
            <a:avLst>
              <a:gd name="adj" fmla="val 26666"/>
            </a:avLst>
          </a:prstGeom>
          <a:solidFill>
            <a:srgbClr val="DCEEEF"/>
          </a:solidFill>
          <a:ln>
            <a:noFill/>
          </a:ln>
        </p:spPr>
        <p:txBody>
          <a:bodyPr rtlCol="0" anchor="ctr"/>
          <a:lstStyle/>
          <a:p>
            <a:pPr algn="ctr"/>
          </a:p>
        </p:txBody>
      </p:sp>
      <p:pic>
        <p:nvPicPr>
          <p:cNvPr id="17" name="Icon Trust 16" descr="icon020.png"/>
          <p:cNvPicPr>
            <a:picLocks noChangeAspect="1"/>
          </p:cNvPicPr>
          <p:nvPr/>
        </p:nvPicPr>
        <p:blipFill>
          <a:blip r:embed="rId4"/>
          <a:stretch>
            <a:fillRect/>
          </a:stretch>
        </p:blipFill>
        <p:spPr>
          <a:xfrm>
            <a:off x="8213725" y="2148086"/>
            <a:ext cx="209550" cy="209550"/>
          </a:xfrm>
          <a:prstGeom prst="rect">
            <a:avLst/>
          </a:prstGeom>
        </p:spPr>
      </p:pic>
      <p:sp>
        <p:nvSpPr>
          <p:cNvPr id="18" name="Text 17"/>
          <p:cNvSpPr txBox="1"/>
          <p:nvPr/>
        </p:nvSpPr>
        <p:spPr>
          <a:xfrm>
            <a:off x="6304852" y="2499273"/>
            <a:ext cx="2204148"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الهيئة الوطنية للأمن السيبراني</a:t>
            </a:r>
          </a:p>
        </p:txBody>
      </p:sp>
      <p:sp>
        <p:nvSpPr>
          <p:cNvPr id="19" name="Text 18"/>
          <p:cNvSpPr txBox="1"/>
          <p:nvPr/>
        </p:nvSpPr>
        <p:spPr>
          <a:xfrm>
            <a:off x="6304852" y="3081536"/>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الجهة المختصة بالأمن السيبراني في المملكة، وتصدر الضوابط والأطر وتتابع الالتزام بها.</a:t>
            </a:r>
          </a:p>
        </p:txBody>
      </p:sp>
      <p:sp>
        <p:nvSpPr>
          <p:cNvPr id="20" name="Box 19"/>
          <p:cNvSpPr/>
          <p:nvPr/>
        </p:nvSpPr>
        <p:spPr>
          <a:xfrm>
            <a:off x="8874125" y="1881386"/>
            <a:ext cx="2501900" cy="2100262"/>
          </a:xfrm>
          <a:prstGeom prst="roundRect">
            <a:avLst>
              <a:gd name="adj" fmla="val 6028"/>
            </a:avLst>
          </a:prstGeom>
          <a:solidFill>
            <a:srgbClr val="FCFBF8"/>
          </a:solidFill>
          <a:ln w="6350">
            <a:solidFill>
              <a:srgbClr val="DDD7CA"/>
            </a:solidFill>
          </a:ln>
        </p:spPr>
        <p:txBody>
          <a:bodyPr rtlCol="0" anchor="ctr"/>
          <a:lstStyle/>
          <a:p>
            <a:pPr algn="ctr"/>
          </a:p>
        </p:txBody>
      </p:sp>
      <p:sp>
        <p:nvSpPr>
          <p:cNvPr id="21" name="Box 20"/>
          <p:cNvSpPr/>
          <p:nvPr/>
        </p:nvSpPr>
        <p:spPr>
          <a:xfrm>
            <a:off x="10814050" y="2062361"/>
            <a:ext cx="381000" cy="381000"/>
          </a:xfrm>
          <a:prstGeom prst="roundRect">
            <a:avLst>
              <a:gd name="adj" fmla="val 26666"/>
            </a:avLst>
          </a:prstGeom>
          <a:solidFill>
            <a:srgbClr val="DCEEEF"/>
          </a:solidFill>
          <a:ln>
            <a:noFill/>
          </a:ln>
        </p:spPr>
        <p:txBody>
          <a:bodyPr rtlCol="0" anchor="ctr"/>
          <a:lstStyle/>
          <a:p>
            <a:pPr algn="ctr"/>
          </a:p>
        </p:txBody>
      </p:sp>
      <p:pic>
        <p:nvPicPr>
          <p:cNvPr id="22" name="Icon Verified 21" descr="icon008.png"/>
          <p:cNvPicPr>
            <a:picLocks noChangeAspect="1"/>
          </p:cNvPicPr>
          <p:nvPr/>
        </p:nvPicPr>
        <p:blipFill>
          <a:blip r:embed="rId5"/>
          <a:stretch>
            <a:fillRect/>
          </a:stretch>
        </p:blipFill>
        <p:spPr>
          <a:xfrm>
            <a:off x="10899775" y="2148086"/>
            <a:ext cx="209550" cy="209550"/>
          </a:xfrm>
          <a:prstGeom prst="rect">
            <a:avLst/>
          </a:prstGeom>
        </p:spPr>
      </p:pic>
      <p:sp>
        <p:nvSpPr>
          <p:cNvPr id="23" name="Text 22"/>
          <p:cNvSpPr txBox="1"/>
          <p:nvPr/>
        </p:nvSpPr>
        <p:spPr>
          <a:xfrm>
            <a:off x="8896350" y="249927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الامتثال</a:t>
            </a:r>
          </a:p>
        </p:txBody>
      </p:sp>
      <p:sp>
        <p:nvSpPr>
          <p:cNvPr id="24" name="Text 23"/>
          <p:cNvSpPr txBox="1"/>
          <p:nvPr/>
        </p:nvSpPr>
        <p:spPr>
          <a:xfrm>
            <a:off x="8990902" y="2824361"/>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أن تطبق الجهة متطلبات محددة، وتثبت ذلك بأدلة يمكن التحقق منها.</a:t>
            </a:r>
          </a:p>
        </p:txBody>
      </p:sp>
      <p:sp>
        <p:nvSpPr>
          <p:cNvPr id="25" name="Box 24"/>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6" name="Box 25"/>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7" name="Icon Key 26" descr="icon015.png"/>
          <p:cNvPicPr>
            <a:picLocks noChangeAspect="1"/>
          </p:cNvPicPr>
          <p:nvPr/>
        </p:nvPicPr>
        <p:blipFill>
          <a:blip r:embed="rId6"/>
          <a:stretch>
            <a:fillRect/>
          </a:stretch>
        </p:blipFill>
        <p:spPr>
          <a:xfrm>
            <a:off x="10864850" y="5329932"/>
            <a:ext cx="215900" cy="215900"/>
          </a:xfrm>
          <a:prstGeom prst="rect">
            <a:avLst/>
          </a:prstGeom>
        </p:spPr>
      </p:pic>
      <p:sp>
        <p:nvSpPr>
          <p:cNvPr id="28" name="Text 27"/>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29" name="Text 28"/>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الامتثال ليس الهدف النهائي، فالهدف خفض المخاطر فعلاً. لكنه يعطينا حداً أدنى منظماً، وطريقة واضحة لإثبات أننا نطبقه.</a:t>
            </a:r>
          </a:p>
        </p:txBody>
      </p:sp>
      <p:sp>
        <p:nvSpPr>
          <p:cNvPr id="30" name="Text 2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1" name="Box 30"/>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2" name="Box 31"/>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Text 3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 الدليل؟ أربعة أنواع ستراها في كل الكورس</a:t>
            </a:r>
          </a:p>
        </p:txBody>
      </p:sp>
      <p:sp>
        <p:nvSpPr>
          <p:cNvPr id="5" name="Text 4"/>
          <p:cNvSpPr txBox="1"/>
          <p:nvPr/>
        </p:nvSpPr>
        <p:spPr>
          <a:xfrm>
            <a:off x="50800" y="1839158"/>
            <a:ext cx="10287000" cy="28575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الدليل هو ما يثبت للمقيّم أن الضابط مطبق فعلاً، وله أربعة أنواع:</a:t>
            </a:r>
          </a:p>
        </p:txBody>
      </p:sp>
      <p:sp>
        <p:nvSpPr>
          <p:cNvPr id="6" name="Box 5"/>
          <p:cNvSpPr/>
          <p:nvPr/>
        </p:nvSpPr>
        <p:spPr>
          <a:xfrm>
            <a:off x="815975" y="2395736"/>
            <a:ext cx="2501900" cy="1860153"/>
          </a:xfrm>
          <a:prstGeom prst="roundRect">
            <a:avLst>
              <a:gd name="adj" fmla="val 6804"/>
            </a:avLst>
          </a:prstGeom>
          <a:solidFill>
            <a:srgbClr val="FCFBF8"/>
          </a:solidFill>
          <a:ln w="6350">
            <a:solidFill>
              <a:srgbClr val="DDD7CA"/>
            </a:solidFill>
          </a:ln>
        </p:spPr>
        <p:txBody>
          <a:bodyPr rtlCol="0" anchor="ctr"/>
          <a:lstStyle/>
          <a:p>
            <a:pPr algn="ctr"/>
          </a:p>
        </p:txBody>
      </p:sp>
      <p:sp>
        <p:nvSpPr>
          <p:cNvPr id="7" name="Box 6"/>
          <p:cNvSpPr/>
          <p:nvPr/>
        </p:nvSpPr>
        <p:spPr>
          <a:xfrm>
            <a:off x="2755900" y="2576711"/>
            <a:ext cx="381000" cy="381000"/>
          </a:xfrm>
          <a:prstGeom prst="roundRect">
            <a:avLst>
              <a:gd name="adj" fmla="val 26666"/>
            </a:avLst>
          </a:prstGeom>
          <a:solidFill>
            <a:srgbClr val="DCEEEF"/>
          </a:solidFill>
          <a:ln>
            <a:noFill/>
          </a:ln>
        </p:spPr>
        <p:txBody>
          <a:bodyPr rtlCol="0" anchor="ctr"/>
          <a:lstStyle/>
          <a:p>
            <a:pPr algn="ctr"/>
          </a:p>
        </p:txBody>
      </p:sp>
      <p:pic>
        <p:nvPicPr>
          <p:cNvPr id="8" name="Icon Users 7" descr="icon001.png"/>
          <p:cNvPicPr>
            <a:picLocks noChangeAspect="1"/>
          </p:cNvPicPr>
          <p:nvPr/>
        </p:nvPicPr>
        <p:blipFill>
          <a:blip r:embed="rId2"/>
          <a:stretch>
            <a:fillRect/>
          </a:stretch>
        </p:blipFill>
        <p:spPr>
          <a:xfrm>
            <a:off x="2841625" y="2662436"/>
            <a:ext cx="209550" cy="209550"/>
          </a:xfrm>
          <a:prstGeom prst="rect">
            <a:avLst/>
          </a:prstGeom>
        </p:spPr>
      </p:pic>
      <p:sp>
        <p:nvSpPr>
          <p:cNvPr id="9" name="Text 8"/>
          <p:cNvSpPr txBox="1"/>
          <p:nvPr/>
        </p:nvSpPr>
        <p:spPr>
          <a:xfrm>
            <a:off x="838200" y="301227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محضر</a:t>
            </a:r>
          </a:p>
        </p:txBody>
      </p:sp>
      <p:sp>
        <p:nvSpPr>
          <p:cNvPr id="10" name="Text 9"/>
          <p:cNvSpPr txBox="1"/>
          <p:nvPr/>
        </p:nvSpPr>
        <p:spPr>
          <a:xfrm>
            <a:off x="932751" y="335577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اجتماع أو مراجعة أو قرار موثق. يثبت أن المراجعة حدثت. مثال: محضر اللجنة الإشرافية.</a:t>
            </a:r>
          </a:p>
        </p:txBody>
      </p:sp>
      <p:sp>
        <p:nvSpPr>
          <p:cNvPr id="11" name="Box 10"/>
          <p:cNvSpPr/>
          <p:nvPr/>
        </p:nvSpPr>
        <p:spPr>
          <a:xfrm>
            <a:off x="3502025" y="2395736"/>
            <a:ext cx="2501900" cy="1860153"/>
          </a:xfrm>
          <a:prstGeom prst="roundRect">
            <a:avLst>
              <a:gd name="adj" fmla="val 6804"/>
            </a:avLst>
          </a:prstGeom>
          <a:solidFill>
            <a:srgbClr val="FCFBF8"/>
          </a:solidFill>
          <a:ln w="6350">
            <a:solidFill>
              <a:srgbClr val="DDD7CA"/>
            </a:solidFill>
          </a:ln>
        </p:spPr>
        <p:txBody>
          <a:bodyPr rtlCol="0" anchor="ctr"/>
          <a:lstStyle/>
          <a:p>
            <a:pPr algn="ctr"/>
          </a:p>
        </p:txBody>
      </p:sp>
      <p:sp>
        <p:nvSpPr>
          <p:cNvPr id="12" name="Box 11"/>
          <p:cNvSpPr/>
          <p:nvPr/>
        </p:nvSpPr>
        <p:spPr>
          <a:xfrm>
            <a:off x="5441950" y="2576711"/>
            <a:ext cx="381000" cy="381000"/>
          </a:xfrm>
          <a:prstGeom prst="roundRect">
            <a:avLst>
              <a:gd name="adj" fmla="val 26666"/>
            </a:avLst>
          </a:prstGeom>
          <a:solidFill>
            <a:srgbClr val="DCEEEF"/>
          </a:solidFill>
          <a:ln>
            <a:noFill/>
          </a:ln>
        </p:spPr>
        <p:txBody>
          <a:bodyPr rtlCol="0" anchor="ctr"/>
          <a:lstStyle/>
          <a:p>
            <a:pPr algn="ctr"/>
          </a:p>
        </p:txBody>
      </p:sp>
      <p:pic>
        <p:nvPicPr>
          <p:cNvPr id="13" name="Icon Clock 12" descr="icon021.png"/>
          <p:cNvPicPr>
            <a:picLocks noChangeAspect="1"/>
          </p:cNvPicPr>
          <p:nvPr/>
        </p:nvPicPr>
        <p:blipFill>
          <a:blip r:embed="rId3"/>
          <a:stretch>
            <a:fillRect/>
          </a:stretch>
        </p:blipFill>
        <p:spPr>
          <a:xfrm>
            <a:off x="5527675" y="2662436"/>
            <a:ext cx="209550" cy="209550"/>
          </a:xfrm>
          <a:prstGeom prst="rect">
            <a:avLst/>
          </a:prstGeom>
        </p:spPr>
      </p:pic>
      <p:sp>
        <p:nvSpPr>
          <p:cNvPr id="14" name="Text 13"/>
          <p:cNvSpPr txBox="1"/>
          <p:nvPr/>
        </p:nvSpPr>
        <p:spPr>
          <a:xfrm>
            <a:off x="3524250" y="301227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سجل</a:t>
            </a:r>
          </a:p>
        </p:txBody>
      </p:sp>
      <p:sp>
        <p:nvSpPr>
          <p:cNvPr id="15" name="Text 14"/>
          <p:cNvSpPr txBox="1"/>
          <p:nvPr/>
        </p:nvSpPr>
        <p:spPr>
          <a:xfrm>
            <a:off x="3618802" y="335577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أثر تشغيلي يتكرر بتواريخ. يثبت أن الممارسة تحدث فعلاً. مثال: تقارير فحص الثغرات الشهرية.</a:t>
            </a:r>
          </a:p>
        </p:txBody>
      </p:sp>
      <p:sp>
        <p:nvSpPr>
          <p:cNvPr id="16" name="Box 15"/>
          <p:cNvSpPr/>
          <p:nvPr/>
        </p:nvSpPr>
        <p:spPr>
          <a:xfrm>
            <a:off x="6188075" y="2395736"/>
            <a:ext cx="2501900" cy="1860153"/>
          </a:xfrm>
          <a:prstGeom prst="roundRect">
            <a:avLst>
              <a:gd name="adj" fmla="val 6804"/>
            </a:avLst>
          </a:prstGeom>
          <a:solidFill>
            <a:srgbClr val="FCFBF8"/>
          </a:solidFill>
          <a:ln w="6350">
            <a:solidFill>
              <a:srgbClr val="DDD7CA"/>
            </a:solidFill>
          </a:ln>
        </p:spPr>
        <p:txBody>
          <a:bodyPr rtlCol="0" anchor="ctr"/>
          <a:lstStyle/>
          <a:p>
            <a:pPr algn="ctr"/>
          </a:p>
        </p:txBody>
      </p:sp>
      <p:sp>
        <p:nvSpPr>
          <p:cNvPr id="17" name="Box 16"/>
          <p:cNvSpPr/>
          <p:nvPr/>
        </p:nvSpPr>
        <p:spPr>
          <a:xfrm>
            <a:off x="8128000" y="2576711"/>
            <a:ext cx="381000" cy="381000"/>
          </a:xfrm>
          <a:prstGeom prst="roundRect">
            <a:avLst>
              <a:gd name="adj" fmla="val 26666"/>
            </a:avLst>
          </a:prstGeom>
          <a:solidFill>
            <a:srgbClr val="DCEEEF"/>
          </a:solidFill>
          <a:ln>
            <a:noFill/>
          </a:ln>
        </p:spPr>
        <p:txBody>
          <a:bodyPr rtlCol="0" anchor="ctr"/>
          <a:lstStyle/>
          <a:p>
            <a:pPr algn="ctr"/>
          </a:p>
        </p:txBody>
      </p:sp>
      <p:pic>
        <p:nvPicPr>
          <p:cNvPr id="18" name="Icon Settings 17" descr="icon002.png"/>
          <p:cNvPicPr>
            <a:picLocks noChangeAspect="1"/>
          </p:cNvPicPr>
          <p:nvPr/>
        </p:nvPicPr>
        <p:blipFill>
          <a:blip r:embed="rId4"/>
          <a:stretch>
            <a:fillRect/>
          </a:stretch>
        </p:blipFill>
        <p:spPr>
          <a:xfrm>
            <a:off x="8213725" y="2662436"/>
            <a:ext cx="209550" cy="209550"/>
          </a:xfrm>
          <a:prstGeom prst="rect">
            <a:avLst/>
          </a:prstGeom>
        </p:spPr>
      </p:pic>
      <p:sp>
        <p:nvSpPr>
          <p:cNvPr id="19" name="Text 18"/>
          <p:cNvSpPr txBox="1"/>
          <p:nvPr/>
        </p:nvSpPr>
        <p:spPr>
          <a:xfrm>
            <a:off x="6210300" y="301227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إعداد</a:t>
            </a:r>
          </a:p>
        </p:txBody>
      </p:sp>
      <p:sp>
        <p:nvSpPr>
          <p:cNvPr id="20" name="Text 19"/>
          <p:cNvSpPr txBox="1"/>
          <p:nvPr/>
        </p:nvSpPr>
        <p:spPr>
          <a:xfrm>
            <a:off x="6304852" y="335577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لقطة أو تصدير من النظام. يثبت أن التقنية مضبوطة. مثال: إعداد التحقق متعدد العوامل.</a:t>
            </a:r>
          </a:p>
        </p:txBody>
      </p:sp>
      <p:sp>
        <p:nvSpPr>
          <p:cNvPr id="21" name="Box 20"/>
          <p:cNvSpPr/>
          <p:nvPr/>
        </p:nvSpPr>
        <p:spPr>
          <a:xfrm>
            <a:off x="8874125" y="2395736"/>
            <a:ext cx="2501900" cy="1860153"/>
          </a:xfrm>
          <a:prstGeom prst="roundRect">
            <a:avLst>
              <a:gd name="adj" fmla="val 6804"/>
            </a:avLst>
          </a:prstGeom>
          <a:solidFill>
            <a:srgbClr val="FCFBF8"/>
          </a:solidFill>
          <a:ln w="6350">
            <a:solidFill>
              <a:srgbClr val="DDD7CA"/>
            </a:solidFill>
          </a:ln>
        </p:spPr>
        <p:txBody>
          <a:bodyPr rtlCol="0" anchor="ctr"/>
          <a:lstStyle/>
          <a:p>
            <a:pPr algn="ctr"/>
          </a:p>
        </p:txBody>
      </p:sp>
      <p:sp>
        <p:nvSpPr>
          <p:cNvPr id="22" name="Box 21"/>
          <p:cNvSpPr/>
          <p:nvPr/>
        </p:nvSpPr>
        <p:spPr>
          <a:xfrm>
            <a:off x="10814050" y="2576711"/>
            <a:ext cx="381000" cy="381000"/>
          </a:xfrm>
          <a:prstGeom prst="roundRect">
            <a:avLst>
              <a:gd name="adj" fmla="val 26666"/>
            </a:avLst>
          </a:prstGeom>
          <a:solidFill>
            <a:srgbClr val="DCEEEF"/>
          </a:solidFill>
          <a:ln>
            <a:noFill/>
          </a:ln>
        </p:spPr>
        <p:txBody>
          <a:bodyPr rtlCol="0" anchor="ctr"/>
          <a:lstStyle/>
          <a:p>
            <a:pPr algn="ctr"/>
          </a:p>
        </p:txBody>
      </p:sp>
      <p:pic>
        <p:nvPicPr>
          <p:cNvPr id="23" name="Icon Book 22" descr="icon006.png"/>
          <p:cNvPicPr>
            <a:picLocks noChangeAspect="1"/>
          </p:cNvPicPr>
          <p:nvPr/>
        </p:nvPicPr>
        <p:blipFill>
          <a:blip r:embed="rId5"/>
          <a:stretch>
            <a:fillRect/>
          </a:stretch>
        </p:blipFill>
        <p:spPr>
          <a:xfrm>
            <a:off x="10899775" y="2662436"/>
            <a:ext cx="209550" cy="209550"/>
          </a:xfrm>
          <a:prstGeom prst="rect">
            <a:avLst/>
          </a:prstGeom>
        </p:spPr>
      </p:pic>
      <p:sp>
        <p:nvSpPr>
          <p:cNvPr id="24" name="Text 23"/>
          <p:cNvSpPr txBox="1"/>
          <p:nvPr/>
        </p:nvSpPr>
        <p:spPr>
          <a:xfrm>
            <a:off x="8896350" y="301227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وثيقة</a:t>
            </a:r>
          </a:p>
        </p:txBody>
      </p:sp>
      <p:sp>
        <p:nvSpPr>
          <p:cNvPr id="25" name="Text 24"/>
          <p:cNvSpPr txBox="1"/>
          <p:nvPr/>
        </p:nvSpPr>
        <p:spPr>
          <a:xfrm>
            <a:off x="8990902" y="3355777"/>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سياسة أو إجراء أو معيار معتمد. تثبت أن المتطلب محدد ومعتمد. مثال: سياسة النسخ الاحتياطي موقعة.</a:t>
            </a:r>
          </a:p>
        </p:txBody>
      </p:sp>
      <p:sp>
        <p:nvSpPr>
          <p:cNvPr id="26" name="Box 2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7" name="Box 2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8" name="Icon Lightbulb 27" descr="icon022.png"/>
          <p:cNvPicPr>
            <a:picLocks noChangeAspect="1"/>
          </p:cNvPicPr>
          <p:nvPr/>
        </p:nvPicPr>
        <p:blipFill>
          <a:blip r:embed="rId6"/>
          <a:stretch>
            <a:fillRect/>
          </a:stretch>
        </p:blipFill>
        <p:spPr>
          <a:xfrm>
            <a:off x="10864850" y="5329932"/>
            <a:ext cx="215900" cy="215900"/>
          </a:xfrm>
          <a:prstGeom prst="rect">
            <a:avLst/>
          </a:prstGeom>
        </p:spPr>
      </p:pic>
      <p:sp>
        <p:nvSpPr>
          <p:cNvPr id="29" name="Text 2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نصيحة عملية</a:t>
            </a:r>
          </a:p>
        </p:txBody>
      </p:sp>
      <p:sp>
        <p:nvSpPr>
          <p:cNvPr id="30" name="Text 2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الضابط التشغيلي يحتاج غالباً أكثر من نوع: الوثيقة تقول ماذا نفعل، والإعداد يثبت أننا ضبطناه، والسجل يثبت أنه يعمل عبر الزمن.</a:t>
            </a:r>
          </a:p>
        </p:txBody>
      </p:sp>
      <p:sp>
        <p:nvSpPr>
          <p:cNvPr id="31" name="Text 3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2" name="Box 31"/>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3" name="Box 32"/>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Text 4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متى يكون الدليل جيداً؟ أربعة أسئلة</a:t>
            </a:r>
          </a:p>
        </p:txBody>
      </p:sp>
      <p:sp>
        <p:nvSpPr>
          <p:cNvPr id="5" name="Box 4"/>
          <p:cNvSpPr/>
          <p:nvPr/>
        </p:nvSpPr>
        <p:spPr>
          <a:xfrm>
            <a:off x="815975" y="1881386"/>
            <a:ext cx="2501900" cy="1853406"/>
          </a:xfrm>
          <a:prstGeom prst="roundRect">
            <a:avLst>
              <a:gd name="adj" fmla="val 6828"/>
            </a:avLst>
          </a:prstGeom>
          <a:solidFill>
            <a:srgbClr val="FCFBF8"/>
          </a:solidFill>
          <a:ln w="6350">
            <a:solidFill>
              <a:srgbClr val="DDD7CA"/>
            </a:solidFill>
          </a:ln>
        </p:spPr>
        <p:txBody>
          <a:bodyPr rtlCol="0" anchor="ctr"/>
          <a:lstStyle/>
          <a:p>
            <a:pPr algn="ctr"/>
          </a:p>
        </p:txBody>
      </p:sp>
      <p:sp>
        <p:nvSpPr>
          <p:cNvPr id="6" name="Box 5"/>
          <p:cNvSpPr/>
          <p:nvPr/>
        </p:nvSpPr>
        <p:spPr>
          <a:xfrm>
            <a:off x="2806700" y="2062361"/>
            <a:ext cx="330200" cy="330200"/>
          </a:xfrm>
          <a:prstGeom prst="roundRect">
            <a:avLst>
              <a:gd name="adj" fmla="val 50000"/>
            </a:avLst>
          </a:prstGeom>
          <a:solidFill>
            <a:srgbClr val="0B6F7C"/>
          </a:solidFill>
          <a:ln>
            <a:noFill/>
          </a:ln>
        </p:spPr>
        <p:txBody>
          <a:bodyPr rtlCol="0" anchor="ctr"/>
          <a:lstStyle/>
          <a:p>
            <a:pPr algn="ctr"/>
          </a:p>
        </p:txBody>
      </p:sp>
      <p:sp>
        <p:nvSpPr>
          <p:cNvPr id="7" name="Text 6"/>
          <p:cNvSpPr txBox="1"/>
          <p:nvPr/>
        </p:nvSpPr>
        <p:spPr>
          <a:xfrm>
            <a:off x="2872065" y="215622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8" name="Text 7"/>
          <p:cNvSpPr txBox="1"/>
          <p:nvPr/>
        </p:nvSpPr>
        <p:spPr>
          <a:xfrm>
            <a:off x="838200" y="24471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قابل للتحقق</a:t>
            </a:r>
          </a:p>
        </p:txBody>
      </p:sp>
      <p:sp>
        <p:nvSpPr>
          <p:cNvPr id="9" name="Text 8"/>
          <p:cNvSpPr txBox="1"/>
          <p:nvPr/>
        </p:nvSpPr>
        <p:spPr>
          <a:xfrm>
            <a:off x="932751" y="27906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مصدره واضح، ويستطيع المقيّم رؤيته في النظام عند الطلب.</a:t>
            </a:r>
          </a:p>
        </p:txBody>
      </p:sp>
      <p:sp>
        <p:nvSpPr>
          <p:cNvPr id="10" name="Box 9"/>
          <p:cNvSpPr/>
          <p:nvPr/>
        </p:nvSpPr>
        <p:spPr>
          <a:xfrm>
            <a:off x="3502025" y="1881386"/>
            <a:ext cx="2501900" cy="1853406"/>
          </a:xfrm>
          <a:prstGeom prst="roundRect">
            <a:avLst>
              <a:gd name="adj" fmla="val 6828"/>
            </a:avLst>
          </a:prstGeom>
          <a:solidFill>
            <a:srgbClr val="FCFBF8"/>
          </a:solidFill>
          <a:ln w="6350">
            <a:solidFill>
              <a:srgbClr val="DDD7CA"/>
            </a:solidFill>
          </a:ln>
        </p:spPr>
        <p:txBody>
          <a:bodyPr rtlCol="0" anchor="ctr"/>
          <a:lstStyle/>
          <a:p>
            <a:pPr algn="ctr"/>
          </a:p>
        </p:txBody>
      </p:sp>
      <p:sp>
        <p:nvSpPr>
          <p:cNvPr id="11" name="Box 10"/>
          <p:cNvSpPr/>
          <p:nvPr/>
        </p:nvSpPr>
        <p:spPr>
          <a:xfrm>
            <a:off x="5492750" y="2062361"/>
            <a:ext cx="330200" cy="330200"/>
          </a:xfrm>
          <a:prstGeom prst="roundRect">
            <a:avLst>
              <a:gd name="adj" fmla="val 50000"/>
            </a:avLst>
          </a:prstGeom>
          <a:solidFill>
            <a:srgbClr val="0B6F7C"/>
          </a:solidFill>
          <a:ln>
            <a:noFill/>
          </a:ln>
        </p:spPr>
        <p:txBody>
          <a:bodyPr rtlCol="0" anchor="ctr"/>
          <a:lstStyle/>
          <a:p>
            <a:pPr algn="ctr"/>
          </a:p>
        </p:txBody>
      </p:sp>
      <p:sp>
        <p:nvSpPr>
          <p:cNvPr id="12" name="Text 11"/>
          <p:cNvSpPr txBox="1"/>
          <p:nvPr/>
        </p:nvSpPr>
        <p:spPr>
          <a:xfrm>
            <a:off x="5558512" y="215622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13" name="Text 12"/>
          <p:cNvSpPr txBox="1"/>
          <p:nvPr/>
        </p:nvSpPr>
        <p:spPr>
          <a:xfrm>
            <a:off x="3524250" y="24471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حديث</a:t>
            </a:r>
          </a:p>
        </p:txBody>
      </p:sp>
      <p:sp>
        <p:nvSpPr>
          <p:cNvPr id="14" name="Text 13"/>
          <p:cNvSpPr txBox="1"/>
          <p:nvPr/>
        </p:nvSpPr>
        <p:spPr>
          <a:xfrm>
            <a:off x="3618802" y="27906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ضمن الفترة التي يغطيها التقييم، لا لقطة قديمة.</a:t>
            </a:r>
          </a:p>
        </p:txBody>
      </p:sp>
      <p:sp>
        <p:nvSpPr>
          <p:cNvPr id="15" name="Box 14"/>
          <p:cNvSpPr/>
          <p:nvPr/>
        </p:nvSpPr>
        <p:spPr>
          <a:xfrm>
            <a:off x="6188075" y="1881386"/>
            <a:ext cx="2501900" cy="1853406"/>
          </a:xfrm>
          <a:prstGeom prst="roundRect">
            <a:avLst>
              <a:gd name="adj" fmla="val 6828"/>
            </a:avLst>
          </a:prstGeom>
          <a:solidFill>
            <a:srgbClr val="FCFBF8"/>
          </a:solidFill>
          <a:ln w="6350">
            <a:solidFill>
              <a:srgbClr val="DDD7CA"/>
            </a:solidFill>
          </a:ln>
        </p:spPr>
        <p:txBody>
          <a:bodyPr rtlCol="0" anchor="ctr"/>
          <a:lstStyle/>
          <a:p>
            <a:pPr algn="ctr"/>
          </a:p>
        </p:txBody>
      </p:sp>
      <p:sp>
        <p:nvSpPr>
          <p:cNvPr id="16" name="Box 15"/>
          <p:cNvSpPr/>
          <p:nvPr/>
        </p:nvSpPr>
        <p:spPr>
          <a:xfrm>
            <a:off x="8178800" y="2062361"/>
            <a:ext cx="330200" cy="330200"/>
          </a:xfrm>
          <a:prstGeom prst="roundRect">
            <a:avLst>
              <a:gd name="adj" fmla="val 50000"/>
            </a:avLst>
          </a:prstGeom>
          <a:solidFill>
            <a:srgbClr val="0B6F7C"/>
          </a:solidFill>
          <a:ln>
            <a:noFill/>
          </a:ln>
        </p:spPr>
        <p:txBody>
          <a:bodyPr rtlCol="0" anchor="ctr"/>
          <a:lstStyle/>
          <a:p>
            <a:pPr algn="ctr"/>
          </a:p>
        </p:txBody>
      </p:sp>
      <p:sp>
        <p:nvSpPr>
          <p:cNvPr id="17" name="Text 16"/>
          <p:cNvSpPr txBox="1"/>
          <p:nvPr/>
        </p:nvSpPr>
        <p:spPr>
          <a:xfrm>
            <a:off x="8244364" y="215622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8" name="Text 17"/>
          <p:cNvSpPr txBox="1"/>
          <p:nvPr/>
        </p:nvSpPr>
        <p:spPr>
          <a:xfrm>
            <a:off x="6304852" y="2447120"/>
            <a:ext cx="2204148" cy="54848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يغطي المجتمع المعني</a:t>
            </a:r>
          </a:p>
        </p:txBody>
      </p:sp>
      <p:sp>
        <p:nvSpPr>
          <p:cNvPr id="19" name="Text 18"/>
          <p:cNvSpPr txBox="1"/>
          <p:nvPr/>
        </p:nvSpPr>
        <p:spPr>
          <a:xfrm>
            <a:off x="6304852" y="306486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كل الحسابات أو الأجهزة المعنية، أو عينة مبررة من قائمة مكتملة.</a:t>
            </a:r>
          </a:p>
        </p:txBody>
      </p:sp>
      <p:sp>
        <p:nvSpPr>
          <p:cNvPr id="20" name="Box 19"/>
          <p:cNvSpPr/>
          <p:nvPr/>
        </p:nvSpPr>
        <p:spPr>
          <a:xfrm>
            <a:off x="8874125" y="1881386"/>
            <a:ext cx="2501900" cy="1853406"/>
          </a:xfrm>
          <a:prstGeom prst="roundRect">
            <a:avLst>
              <a:gd name="adj" fmla="val 6828"/>
            </a:avLst>
          </a:prstGeom>
          <a:solidFill>
            <a:srgbClr val="FCFBF8"/>
          </a:solidFill>
          <a:ln w="6350">
            <a:solidFill>
              <a:srgbClr val="DDD7CA"/>
            </a:solidFill>
          </a:ln>
        </p:spPr>
        <p:txBody>
          <a:bodyPr rtlCol="0" anchor="ctr"/>
          <a:lstStyle/>
          <a:p>
            <a:pPr algn="ctr"/>
          </a:p>
        </p:txBody>
      </p:sp>
      <p:sp>
        <p:nvSpPr>
          <p:cNvPr id="21" name="Box 20"/>
          <p:cNvSpPr/>
          <p:nvPr/>
        </p:nvSpPr>
        <p:spPr>
          <a:xfrm>
            <a:off x="10864850" y="2062361"/>
            <a:ext cx="330200" cy="330200"/>
          </a:xfrm>
          <a:prstGeom prst="roundRect">
            <a:avLst>
              <a:gd name="adj" fmla="val 50000"/>
            </a:avLst>
          </a:prstGeom>
          <a:solidFill>
            <a:srgbClr val="0B6F7C"/>
          </a:solidFill>
          <a:ln>
            <a:noFill/>
          </a:ln>
        </p:spPr>
        <p:txBody>
          <a:bodyPr rtlCol="0" anchor="ctr"/>
          <a:lstStyle/>
          <a:p>
            <a:pPr algn="ctr"/>
          </a:p>
        </p:txBody>
      </p:sp>
      <p:sp>
        <p:nvSpPr>
          <p:cNvPr id="22" name="Text 21"/>
          <p:cNvSpPr txBox="1"/>
          <p:nvPr/>
        </p:nvSpPr>
        <p:spPr>
          <a:xfrm>
            <a:off x="10946983" y="215622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3" name="Text 22"/>
          <p:cNvSpPr txBox="1"/>
          <p:nvPr/>
        </p:nvSpPr>
        <p:spPr>
          <a:xfrm>
            <a:off x="8896350" y="2447120"/>
            <a:ext cx="229870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مرتبط</a:t>
            </a:r>
          </a:p>
        </p:txBody>
      </p:sp>
      <p:sp>
        <p:nvSpPr>
          <p:cNvPr id="24" name="Text 23"/>
          <p:cNvSpPr txBox="1"/>
          <p:nvPr/>
        </p:nvSpPr>
        <p:spPr>
          <a:xfrm>
            <a:off x="8990902" y="2790627"/>
            <a:ext cx="2204148"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يثبت الضابط المطلوب بعينه، ويحمل رمزه في اسمه.</a:t>
            </a:r>
          </a:p>
        </p:txBody>
      </p:sp>
      <p:sp>
        <p:nvSpPr>
          <p:cNvPr id="25" name="Box 24"/>
          <p:cNvSpPr/>
          <p:nvPr/>
        </p:nvSpPr>
        <p:spPr>
          <a:xfrm>
            <a:off x="6184900" y="3966567"/>
            <a:ext cx="5194300" cy="1060252"/>
          </a:xfrm>
          <a:prstGeom prst="roundRect">
            <a:avLst>
              <a:gd name="adj" fmla="val 11978"/>
            </a:avLst>
          </a:prstGeom>
          <a:solidFill>
            <a:srgbClr val="F6E6DC"/>
          </a:solidFill>
          <a:ln>
            <a:noFill/>
          </a:ln>
        </p:spPr>
        <p:txBody>
          <a:bodyPr rtlCol="0" anchor="ctr"/>
          <a:lstStyle/>
          <a:p>
            <a:pPr algn="ctr"/>
          </a:p>
        </p:txBody>
      </p:sp>
      <p:sp>
        <p:nvSpPr>
          <p:cNvPr id="26" name="Box 25"/>
          <p:cNvSpPr/>
          <p:nvPr/>
        </p:nvSpPr>
        <p:spPr>
          <a:xfrm>
            <a:off x="10833100" y="4131667"/>
            <a:ext cx="355600" cy="355600"/>
          </a:xfrm>
          <a:prstGeom prst="roundRect">
            <a:avLst>
              <a:gd name="adj" fmla="val 25000"/>
            </a:avLst>
          </a:prstGeom>
          <a:solidFill>
            <a:srgbClr val="A6461A"/>
          </a:solidFill>
          <a:ln>
            <a:noFill/>
          </a:ln>
        </p:spPr>
        <p:txBody>
          <a:bodyPr rtlCol="0" anchor="ctr"/>
          <a:lstStyle/>
          <a:p>
            <a:pPr algn="ctr"/>
          </a:p>
        </p:txBody>
      </p:sp>
      <p:pic>
        <p:nvPicPr>
          <p:cNvPr id="27" name="Icon Warning 26" descr="icon023.png"/>
          <p:cNvPicPr>
            <a:picLocks noChangeAspect="1"/>
          </p:cNvPicPr>
          <p:nvPr/>
        </p:nvPicPr>
        <p:blipFill>
          <a:blip r:embed="rId2"/>
          <a:stretch>
            <a:fillRect/>
          </a:stretch>
        </p:blipFill>
        <p:spPr>
          <a:xfrm>
            <a:off x="10909300" y="4207867"/>
            <a:ext cx="203200" cy="203200"/>
          </a:xfrm>
          <a:prstGeom prst="rect">
            <a:avLst/>
          </a:prstGeom>
        </p:spPr>
      </p:pic>
      <p:sp>
        <p:nvSpPr>
          <p:cNvPr id="28" name="Text 27"/>
          <p:cNvSpPr txBox="1"/>
          <p:nvPr/>
        </p:nvSpPr>
        <p:spPr>
          <a:xfrm>
            <a:off x="6210300" y="4108045"/>
            <a:ext cx="44958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دليل ضعيف</a:t>
            </a:r>
          </a:p>
        </p:txBody>
      </p:sp>
      <p:sp>
        <p:nvSpPr>
          <p:cNvPr id="29" name="Text 28"/>
          <p:cNvSpPr txBox="1"/>
          <p:nvPr/>
        </p:nvSpPr>
        <p:spPr>
          <a:xfrm>
            <a:off x="6245479" y="4353370"/>
            <a:ext cx="4460621"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لقطة شاشة لإعداد التحقق متعدد العوامل على حساب واحد، مأخوذة قبل سنة.</a:t>
            </a:r>
          </a:p>
        </p:txBody>
      </p:sp>
      <p:sp>
        <p:nvSpPr>
          <p:cNvPr id="30" name="Box 29"/>
          <p:cNvSpPr/>
          <p:nvPr/>
        </p:nvSpPr>
        <p:spPr>
          <a:xfrm>
            <a:off x="812800" y="3966567"/>
            <a:ext cx="5194300" cy="1060252"/>
          </a:xfrm>
          <a:prstGeom prst="roundRect">
            <a:avLst>
              <a:gd name="adj" fmla="val 11978"/>
            </a:avLst>
          </a:prstGeom>
          <a:solidFill>
            <a:srgbClr val="DFEEE6"/>
          </a:solidFill>
          <a:ln>
            <a:noFill/>
          </a:ln>
        </p:spPr>
        <p:txBody>
          <a:bodyPr rtlCol="0" anchor="ctr"/>
          <a:lstStyle/>
          <a:p>
            <a:pPr algn="ctr"/>
          </a:p>
        </p:txBody>
      </p:sp>
      <p:sp>
        <p:nvSpPr>
          <p:cNvPr id="31" name="Box 30"/>
          <p:cNvSpPr/>
          <p:nvPr/>
        </p:nvSpPr>
        <p:spPr>
          <a:xfrm>
            <a:off x="5461000" y="4131667"/>
            <a:ext cx="355600" cy="355600"/>
          </a:xfrm>
          <a:prstGeom prst="roundRect">
            <a:avLst>
              <a:gd name="adj" fmla="val 25000"/>
            </a:avLst>
          </a:prstGeom>
          <a:solidFill>
            <a:srgbClr val="22704E"/>
          </a:solidFill>
          <a:ln>
            <a:noFill/>
          </a:ln>
        </p:spPr>
        <p:txBody>
          <a:bodyPr rtlCol="0" anchor="ctr"/>
          <a:lstStyle/>
          <a:p>
            <a:pPr algn="ctr"/>
          </a:p>
        </p:txBody>
      </p:sp>
      <p:pic>
        <p:nvPicPr>
          <p:cNvPr id="32" name="Icon CheckCircle 31" descr="icon024.png"/>
          <p:cNvPicPr>
            <a:picLocks noChangeAspect="1"/>
          </p:cNvPicPr>
          <p:nvPr/>
        </p:nvPicPr>
        <p:blipFill>
          <a:blip r:embed="rId3"/>
          <a:stretch>
            <a:fillRect/>
          </a:stretch>
        </p:blipFill>
        <p:spPr>
          <a:xfrm>
            <a:off x="5537200" y="4207867"/>
            <a:ext cx="203200" cy="203200"/>
          </a:xfrm>
          <a:prstGeom prst="rect">
            <a:avLst/>
          </a:prstGeom>
        </p:spPr>
      </p:pic>
      <p:sp>
        <p:nvSpPr>
          <p:cNvPr id="33" name="Text 32"/>
          <p:cNvSpPr txBox="1"/>
          <p:nvPr/>
        </p:nvSpPr>
        <p:spPr>
          <a:xfrm>
            <a:off x="838200" y="4108045"/>
            <a:ext cx="44958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دليل قوي</a:t>
            </a:r>
          </a:p>
        </p:txBody>
      </p:sp>
      <p:sp>
        <p:nvSpPr>
          <p:cNvPr id="34" name="Text 33"/>
          <p:cNvSpPr txBox="1"/>
          <p:nvPr/>
        </p:nvSpPr>
        <p:spPr>
          <a:xfrm>
            <a:off x="873379" y="4353370"/>
            <a:ext cx="4460621"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تقرير بتاريخ هذا الشهر يقارن كل الحسابات المميزة المعنية بسياسة إلزام مفعّلة، مع سجلات دخول لعينة منها.</a:t>
            </a:r>
          </a:p>
        </p:txBody>
      </p:sp>
      <p:sp>
        <p:nvSpPr>
          <p:cNvPr id="35" name="Text 3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6" name="Box 35"/>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7" name="Box 36"/>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Box 4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Text 4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من النطاق إلى الحكم: أربع خطوات قبل أن تقول «مطبق»</a:t>
            </a:r>
          </a:p>
        </p:txBody>
      </p:sp>
      <p:sp>
        <p:nvSpPr>
          <p:cNvPr id="5" name="Text 4"/>
          <p:cNvSpPr txBox="1"/>
          <p:nvPr/>
        </p:nvSpPr>
        <p:spPr>
          <a:xfrm>
            <a:off x="50800" y="1839158"/>
            <a:ext cx="10287000" cy="28575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كل حكم على ضابط يمر بأربعة أسئلة: ما النطاق؟ وما المجتمع الكامل؟ وما الذي فُحص منه؟ وماذا يمكن أن نستنتج؟</a:t>
            </a:r>
          </a:p>
        </p:txBody>
      </p:sp>
      <p:sp>
        <p:nvSpPr>
          <p:cNvPr id="6" name="Box 5"/>
          <p:cNvSpPr/>
          <p:nvPr/>
        </p:nvSpPr>
        <p:spPr>
          <a:xfrm>
            <a:off x="9004300" y="2392561"/>
            <a:ext cx="2374900" cy="1918295"/>
          </a:xfrm>
          <a:prstGeom prst="roundRect">
            <a:avLst>
              <a:gd name="adj" fmla="val 5296"/>
            </a:avLst>
          </a:prstGeom>
          <a:solidFill>
            <a:srgbClr val="FCFBF8"/>
          </a:solidFill>
          <a:ln>
            <a:noFill/>
          </a:ln>
        </p:spPr>
        <p:txBody>
          <a:bodyPr rtlCol="0" anchor="ctr"/>
          <a:lstStyle/>
          <a:p>
            <a:pPr algn="ctr"/>
          </a:p>
        </p:txBody>
      </p:sp>
      <p:sp>
        <p:nvSpPr>
          <p:cNvPr id="7" name="Rule 6"/>
          <p:cNvSpPr/>
          <p:nvPr/>
        </p:nvSpPr>
        <p:spPr>
          <a:xfrm>
            <a:off x="9004300" y="2392561"/>
            <a:ext cx="2374900" cy="38100"/>
          </a:xfrm>
          <a:prstGeom prst="rect">
            <a:avLst/>
          </a:prstGeom>
          <a:solidFill>
            <a:srgbClr val="0B6F7C"/>
          </a:solidFill>
          <a:ln>
            <a:noFill/>
          </a:ln>
        </p:spPr>
        <p:txBody>
          <a:bodyPr rtlCol="0" anchor="ctr"/>
          <a:lstStyle/>
          <a:p>
            <a:pPr algn="ctr"/>
          </a:p>
        </p:txBody>
      </p:sp>
      <p:sp>
        <p:nvSpPr>
          <p:cNvPr id="8" name="Rule 7"/>
          <p:cNvSpPr/>
          <p:nvPr/>
        </p:nvSpPr>
        <p:spPr>
          <a:xfrm>
            <a:off x="11372850" y="2392561"/>
            <a:ext cx="6350" cy="1918295"/>
          </a:xfrm>
          <a:prstGeom prst="rect">
            <a:avLst/>
          </a:prstGeom>
          <a:solidFill>
            <a:srgbClr val="DDD7CA"/>
          </a:solidFill>
          <a:ln>
            <a:noFill/>
          </a:ln>
        </p:spPr>
        <p:txBody>
          <a:bodyPr rtlCol="0" anchor="ctr"/>
          <a:lstStyle/>
          <a:p>
            <a:pPr algn="ctr"/>
          </a:p>
        </p:txBody>
      </p:sp>
      <p:sp>
        <p:nvSpPr>
          <p:cNvPr id="9" name="Rule 8"/>
          <p:cNvSpPr/>
          <p:nvPr/>
        </p:nvSpPr>
        <p:spPr>
          <a:xfrm>
            <a:off x="9004300" y="4304506"/>
            <a:ext cx="2374900" cy="6350"/>
          </a:xfrm>
          <a:prstGeom prst="rect">
            <a:avLst/>
          </a:prstGeom>
          <a:solidFill>
            <a:srgbClr val="DDD7CA"/>
          </a:solidFill>
          <a:ln>
            <a:noFill/>
          </a:ln>
        </p:spPr>
        <p:txBody>
          <a:bodyPr rtlCol="0" anchor="ctr"/>
          <a:lstStyle/>
          <a:p>
            <a:pPr algn="ctr"/>
          </a:p>
        </p:txBody>
      </p:sp>
      <p:sp>
        <p:nvSpPr>
          <p:cNvPr id="10" name="Rule 9"/>
          <p:cNvSpPr/>
          <p:nvPr/>
        </p:nvSpPr>
        <p:spPr>
          <a:xfrm>
            <a:off x="9004300" y="2392561"/>
            <a:ext cx="6350" cy="1918295"/>
          </a:xfrm>
          <a:prstGeom prst="rect">
            <a:avLst/>
          </a:prstGeom>
          <a:solidFill>
            <a:srgbClr val="DDD7CA"/>
          </a:solidFill>
          <a:ln>
            <a:noFill/>
          </a:ln>
        </p:spPr>
        <p:txBody>
          <a:bodyPr rtlCol="0" anchor="ctr"/>
          <a:lstStyle/>
          <a:p>
            <a:pPr algn="ctr"/>
          </a:p>
        </p:txBody>
      </p:sp>
      <p:sp>
        <p:nvSpPr>
          <p:cNvPr id="11" name="Text 10"/>
          <p:cNvSpPr txBox="1"/>
          <p:nvPr/>
        </p:nvSpPr>
        <p:spPr>
          <a:xfrm>
            <a:off x="90297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01</a:t>
            </a:r>
          </a:p>
        </p:txBody>
      </p:sp>
      <p:sp>
        <p:nvSpPr>
          <p:cNvPr id="12" name="Text 11"/>
          <p:cNvSpPr txBox="1"/>
          <p:nvPr/>
        </p:nvSpPr>
        <p:spPr>
          <a:xfrm>
            <a:off x="90297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نطاق الضابط</a:t>
            </a:r>
          </a:p>
        </p:txBody>
      </p:sp>
      <p:sp>
        <p:nvSpPr>
          <p:cNvPr id="13" name="Text 12"/>
          <p:cNvSpPr txBox="1"/>
          <p:nvPr/>
        </p:nvSpPr>
        <p:spPr>
          <a:xfrm>
            <a:off x="9114790" y="3190081"/>
            <a:ext cx="2092960"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‎2-2-3-2‎ مثلاً يشمل الدخول عن بعد والحسابات ذات الصلاحيات الهامة والحساسة. حدد ما يشمله النص بالضبط.</a:t>
            </a:r>
          </a:p>
        </p:txBody>
      </p:sp>
      <p:sp>
        <p:nvSpPr>
          <p:cNvPr id="14" name="Shape arrow-left 13"/>
          <p:cNvSpPr/>
          <p:nvPr/>
        </p:nvSpPr>
        <p:spPr>
          <a:xfrm>
            <a:off x="8724900" y="3288209"/>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15" name="Box 14"/>
          <p:cNvSpPr/>
          <p:nvPr/>
        </p:nvSpPr>
        <p:spPr>
          <a:xfrm>
            <a:off x="6273800" y="2392561"/>
            <a:ext cx="2374900" cy="1918295"/>
          </a:xfrm>
          <a:prstGeom prst="roundRect">
            <a:avLst>
              <a:gd name="adj" fmla="val 5296"/>
            </a:avLst>
          </a:prstGeom>
          <a:solidFill>
            <a:srgbClr val="FCFBF8"/>
          </a:solidFill>
          <a:ln>
            <a:noFill/>
          </a:ln>
        </p:spPr>
        <p:txBody>
          <a:bodyPr rtlCol="0" anchor="ctr"/>
          <a:lstStyle/>
          <a:p>
            <a:pPr algn="ctr"/>
          </a:p>
        </p:txBody>
      </p:sp>
      <p:sp>
        <p:nvSpPr>
          <p:cNvPr id="16" name="Rule 15"/>
          <p:cNvSpPr/>
          <p:nvPr/>
        </p:nvSpPr>
        <p:spPr>
          <a:xfrm>
            <a:off x="6273800" y="2392561"/>
            <a:ext cx="2374900" cy="38100"/>
          </a:xfrm>
          <a:prstGeom prst="rect">
            <a:avLst/>
          </a:prstGeom>
          <a:solidFill>
            <a:srgbClr val="0B6F7C"/>
          </a:solidFill>
          <a:ln>
            <a:noFill/>
          </a:ln>
        </p:spPr>
        <p:txBody>
          <a:bodyPr rtlCol="0" anchor="ctr"/>
          <a:lstStyle/>
          <a:p>
            <a:pPr algn="ctr"/>
          </a:p>
        </p:txBody>
      </p:sp>
      <p:sp>
        <p:nvSpPr>
          <p:cNvPr id="17" name="Rule 16"/>
          <p:cNvSpPr/>
          <p:nvPr/>
        </p:nvSpPr>
        <p:spPr>
          <a:xfrm>
            <a:off x="8642350" y="2392561"/>
            <a:ext cx="6350" cy="1918295"/>
          </a:xfrm>
          <a:prstGeom prst="rect">
            <a:avLst/>
          </a:prstGeom>
          <a:solidFill>
            <a:srgbClr val="DDD7CA"/>
          </a:solidFill>
          <a:ln>
            <a:noFill/>
          </a:ln>
        </p:spPr>
        <p:txBody>
          <a:bodyPr rtlCol="0" anchor="ctr"/>
          <a:lstStyle/>
          <a:p>
            <a:pPr algn="ctr"/>
          </a:p>
        </p:txBody>
      </p:sp>
      <p:sp>
        <p:nvSpPr>
          <p:cNvPr id="18" name="Rule 17"/>
          <p:cNvSpPr/>
          <p:nvPr/>
        </p:nvSpPr>
        <p:spPr>
          <a:xfrm>
            <a:off x="6273800" y="4304506"/>
            <a:ext cx="2374900" cy="6350"/>
          </a:xfrm>
          <a:prstGeom prst="rect">
            <a:avLst/>
          </a:prstGeom>
          <a:solidFill>
            <a:srgbClr val="DDD7CA"/>
          </a:solidFill>
          <a:ln>
            <a:noFill/>
          </a:ln>
        </p:spPr>
        <p:txBody>
          <a:bodyPr rtlCol="0" anchor="ctr"/>
          <a:lstStyle/>
          <a:p>
            <a:pPr algn="ctr"/>
          </a:p>
        </p:txBody>
      </p:sp>
      <p:sp>
        <p:nvSpPr>
          <p:cNvPr id="19" name="Rule 18"/>
          <p:cNvSpPr/>
          <p:nvPr/>
        </p:nvSpPr>
        <p:spPr>
          <a:xfrm>
            <a:off x="6273800" y="2392561"/>
            <a:ext cx="6350" cy="1918295"/>
          </a:xfrm>
          <a:prstGeom prst="rect">
            <a:avLst/>
          </a:prstGeom>
          <a:solidFill>
            <a:srgbClr val="DDD7CA"/>
          </a:solidFill>
          <a:ln>
            <a:noFill/>
          </a:ln>
        </p:spPr>
        <p:txBody>
          <a:bodyPr rtlCol="0" anchor="ctr"/>
          <a:lstStyle/>
          <a:p>
            <a:pPr algn="ctr"/>
          </a:p>
        </p:txBody>
      </p:sp>
      <p:sp>
        <p:nvSpPr>
          <p:cNvPr id="20" name="Text 19"/>
          <p:cNvSpPr txBox="1"/>
          <p:nvPr/>
        </p:nvSpPr>
        <p:spPr>
          <a:xfrm>
            <a:off x="62992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02</a:t>
            </a:r>
          </a:p>
        </p:txBody>
      </p:sp>
      <p:sp>
        <p:nvSpPr>
          <p:cNvPr id="21" name="Text 20"/>
          <p:cNvSpPr txBox="1"/>
          <p:nvPr/>
        </p:nvSpPr>
        <p:spPr>
          <a:xfrm>
            <a:off x="62992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المجتمع الكامل</a:t>
            </a:r>
          </a:p>
        </p:txBody>
      </p:sp>
      <p:sp>
        <p:nvSpPr>
          <p:cNvPr id="22" name="Text 21"/>
          <p:cNvSpPr txBox="1"/>
          <p:nvPr/>
        </p:nvSpPr>
        <p:spPr>
          <a:xfrm>
            <a:off x="6384290" y="3190081"/>
            <a:ext cx="2092960"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القائمة الكاملة لما يشمله النطاق في كل الأنظمة، بعد التحقق من اكتمالها هي نفسها.</a:t>
            </a:r>
          </a:p>
        </p:txBody>
      </p:sp>
      <p:sp>
        <p:nvSpPr>
          <p:cNvPr id="23" name="Shape arrow-left 22"/>
          <p:cNvSpPr/>
          <p:nvPr/>
        </p:nvSpPr>
        <p:spPr>
          <a:xfrm>
            <a:off x="5994400" y="3288209"/>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24" name="Box 23"/>
          <p:cNvSpPr/>
          <p:nvPr/>
        </p:nvSpPr>
        <p:spPr>
          <a:xfrm>
            <a:off x="3543300" y="2392561"/>
            <a:ext cx="2374900" cy="1918295"/>
          </a:xfrm>
          <a:prstGeom prst="roundRect">
            <a:avLst>
              <a:gd name="adj" fmla="val 5296"/>
            </a:avLst>
          </a:prstGeom>
          <a:solidFill>
            <a:srgbClr val="FCFBF8"/>
          </a:solidFill>
          <a:ln>
            <a:noFill/>
          </a:ln>
        </p:spPr>
        <p:txBody>
          <a:bodyPr rtlCol="0" anchor="ctr"/>
          <a:lstStyle/>
          <a:p>
            <a:pPr algn="ctr"/>
          </a:p>
        </p:txBody>
      </p:sp>
      <p:sp>
        <p:nvSpPr>
          <p:cNvPr id="25" name="Rule 24"/>
          <p:cNvSpPr/>
          <p:nvPr/>
        </p:nvSpPr>
        <p:spPr>
          <a:xfrm>
            <a:off x="3543300" y="2392561"/>
            <a:ext cx="2374900" cy="38100"/>
          </a:xfrm>
          <a:prstGeom prst="rect">
            <a:avLst/>
          </a:prstGeom>
          <a:solidFill>
            <a:srgbClr val="0B6F7C"/>
          </a:solidFill>
          <a:ln>
            <a:noFill/>
          </a:ln>
        </p:spPr>
        <p:txBody>
          <a:bodyPr rtlCol="0" anchor="ctr"/>
          <a:lstStyle/>
          <a:p>
            <a:pPr algn="ctr"/>
          </a:p>
        </p:txBody>
      </p:sp>
      <p:sp>
        <p:nvSpPr>
          <p:cNvPr id="26" name="Rule 25"/>
          <p:cNvSpPr/>
          <p:nvPr/>
        </p:nvSpPr>
        <p:spPr>
          <a:xfrm>
            <a:off x="5911850" y="2392561"/>
            <a:ext cx="6350" cy="1918295"/>
          </a:xfrm>
          <a:prstGeom prst="rect">
            <a:avLst/>
          </a:prstGeom>
          <a:solidFill>
            <a:srgbClr val="DDD7CA"/>
          </a:solidFill>
          <a:ln>
            <a:noFill/>
          </a:ln>
        </p:spPr>
        <p:txBody>
          <a:bodyPr rtlCol="0" anchor="ctr"/>
          <a:lstStyle/>
          <a:p>
            <a:pPr algn="ctr"/>
          </a:p>
        </p:txBody>
      </p:sp>
      <p:sp>
        <p:nvSpPr>
          <p:cNvPr id="27" name="Rule 26"/>
          <p:cNvSpPr/>
          <p:nvPr/>
        </p:nvSpPr>
        <p:spPr>
          <a:xfrm>
            <a:off x="3543300" y="4304506"/>
            <a:ext cx="2374900" cy="6350"/>
          </a:xfrm>
          <a:prstGeom prst="rect">
            <a:avLst/>
          </a:prstGeom>
          <a:solidFill>
            <a:srgbClr val="DDD7CA"/>
          </a:solidFill>
          <a:ln>
            <a:noFill/>
          </a:ln>
        </p:spPr>
        <p:txBody>
          <a:bodyPr rtlCol="0" anchor="ctr"/>
          <a:lstStyle/>
          <a:p>
            <a:pPr algn="ctr"/>
          </a:p>
        </p:txBody>
      </p:sp>
      <p:sp>
        <p:nvSpPr>
          <p:cNvPr id="28" name="Rule 27"/>
          <p:cNvSpPr/>
          <p:nvPr/>
        </p:nvSpPr>
        <p:spPr>
          <a:xfrm>
            <a:off x="3543300" y="2392561"/>
            <a:ext cx="6350" cy="1918295"/>
          </a:xfrm>
          <a:prstGeom prst="rect">
            <a:avLst/>
          </a:prstGeom>
          <a:solidFill>
            <a:srgbClr val="DDD7CA"/>
          </a:solidFill>
          <a:ln>
            <a:noFill/>
          </a:ln>
        </p:spPr>
        <p:txBody>
          <a:bodyPr rtlCol="0" anchor="ctr"/>
          <a:lstStyle/>
          <a:p>
            <a:pPr algn="ctr"/>
          </a:p>
        </p:txBody>
      </p:sp>
      <p:sp>
        <p:nvSpPr>
          <p:cNvPr id="29" name="Text 28"/>
          <p:cNvSpPr txBox="1"/>
          <p:nvPr/>
        </p:nvSpPr>
        <p:spPr>
          <a:xfrm>
            <a:off x="35687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03</a:t>
            </a:r>
          </a:p>
        </p:txBody>
      </p:sp>
      <p:sp>
        <p:nvSpPr>
          <p:cNvPr id="30" name="Text 29"/>
          <p:cNvSpPr txBox="1"/>
          <p:nvPr/>
        </p:nvSpPr>
        <p:spPr>
          <a:xfrm>
            <a:off x="35687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العينة</a:t>
            </a:r>
          </a:p>
        </p:txBody>
      </p:sp>
      <p:sp>
        <p:nvSpPr>
          <p:cNvPr id="31" name="Text 30"/>
          <p:cNvSpPr txBox="1"/>
          <p:nvPr/>
        </p:nvSpPr>
        <p:spPr>
          <a:xfrm>
            <a:off x="3653790" y="3190081"/>
            <a:ext cx="2092960"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جزء يُختار بطريقة مبررة لاختبار التنفيذ، مثل 10 حسابات تُفحص سجلات دخولها.</a:t>
            </a:r>
          </a:p>
        </p:txBody>
      </p:sp>
      <p:sp>
        <p:nvSpPr>
          <p:cNvPr id="32" name="Shape arrow-left 31"/>
          <p:cNvSpPr/>
          <p:nvPr/>
        </p:nvSpPr>
        <p:spPr>
          <a:xfrm>
            <a:off x="3263900" y="3288209"/>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33" name="Box 32"/>
          <p:cNvSpPr/>
          <p:nvPr/>
        </p:nvSpPr>
        <p:spPr>
          <a:xfrm>
            <a:off x="812800" y="2392561"/>
            <a:ext cx="2374900" cy="1918295"/>
          </a:xfrm>
          <a:prstGeom prst="roundRect">
            <a:avLst>
              <a:gd name="adj" fmla="val 5296"/>
            </a:avLst>
          </a:prstGeom>
          <a:solidFill>
            <a:srgbClr val="FCFBF8"/>
          </a:solidFill>
          <a:ln>
            <a:noFill/>
          </a:ln>
        </p:spPr>
        <p:txBody>
          <a:bodyPr rtlCol="0" anchor="ctr"/>
          <a:lstStyle/>
          <a:p>
            <a:pPr algn="ctr"/>
          </a:p>
        </p:txBody>
      </p:sp>
      <p:sp>
        <p:nvSpPr>
          <p:cNvPr id="34" name="Rule 33"/>
          <p:cNvSpPr/>
          <p:nvPr/>
        </p:nvSpPr>
        <p:spPr>
          <a:xfrm>
            <a:off x="812800" y="2392561"/>
            <a:ext cx="2374900" cy="38100"/>
          </a:xfrm>
          <a:prstGeom prst="rect">
            <a:avLst/>
          </a:prstGeom>
          <a:solidFill>
            <a:srgbClr val="0B6F7C"/>
          </a:solidFill>
          <a:ln>
            <a:noFill/>
          </a:ln>
        </p:spPr>
        <p:txBody>
          <a:bodyPr rtlCol="0" anchor="ctr"/>
          <a:lstStyle/>
          <a:p>
            <a:pPr algn="ctr"/>
          </a:p>
        </p:txBody>
      </p:sp>
      <p:sp>
        <p:nvSpPr>
          <p:cNvPr id="35" name="Rule 34"/>
          <p:cNvSpPr/>
          <p:nvPr/>
        </p:nvSpPr>
        <p:spPr>
          <a:xfrm>
            <a:off x="3181350" y="2392561"/>
            <a:ext cx="6350" cy="1918295"/>
          </a:xfrm>
          <a:prstGeom prst="rect">
            <a:avLst/>
          </a:prstGeom>
          <a:solidFill>
            <a:srgbClr val="DDD7CA"/>
          </a:solidFill>
          <a:ln>
            <a:noFill/>
          </a:ln>
        </p:spPr>
        <p:txBody>
          <a:bodyPr rtlCol="0" anchor="ctr"/>
          <a:lstStyle/>
          <a:p>
            <a:pPr algn="ctr"/>
          </a:p>
        </p:txBody>
      </p:sp>
      <p:sp>
        <p:nvSpPr>
          <p:cNvPr id="36" name="Rule 35"/>
          <p:cNvSpPr/>
          <p:nvPr/>
        </p:nvSpPr>
        <p:spPr>
          <a:xfrm>
            <a:off x="812800" y="4304506"/>
            <a:ext cx="2374900" cy="6350"/>
          </a:xfrm>
          <a:prstGeom prst="rect">
            <a:avLst/>
          </a:prstGeom>
          <a:solidFill>
            <a:srgbClr val="DDD7CA"/>
          </a:solidFill>
          <a:ln>
            <a:noFill/>
          </a:ln>
        </p:spPr>
        <p:txBody>
          <a:bodyPr rtlCol="0" anchor="ctr"/>
          <a:lstStyle/>
          <a:p>
            <a:pPr algn="ctr"/>
          </a:p>
        </p:txBody>
      </p:sp>
      <p:sp>
        <p:nvSpPr>
          <p:cNvPr id="37" name="Rule 36"/>
          <p:cNvSpPr/>
          <p:nvPr/>
        </p:nvSpPr>
        <p:spPr>
          <a:xfrm>
            <a:off x="812800" y="2392561"/>
            <a:ext cx="6350" cy="1918295"/>
          </a:xfrm>
          <a:prstGeom prst="rect">
            <a:avLst/>
          </a:prstGeom>
          <a:solidFill>
            <a:srgbClr val="DDD7CA"/>
          </a:solidFill>
          <a:ln>
            <a:noFill/>
          </a:ln>
        </p:spPr>
        <p:txBody>
          <a:bodyPr rtlCol="0" anchor="ctr"/>
          <a:lstStyle/>
          <a:p>
            <a:pPr algn="ctr"/>
          </a:p>
        </p:txBody>
      </p:sp>
      <p:sp>
        <p:nvSpPr>
          <p:cNvPr id="38" name="Text 37"/>
          <p:cNvSpPr txBox="1"/>
          <p:nvPr/>
        </p:nvSpPr>
        <p:spPr>
          <a:xfrm>
            <a:off x="8382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04</a:t>
            </a:r>
          </a:p>
        </p:txBody>
      </p:sp>
      <p:sp>
        <p:nvSpPr>
          <p:cNvPr id="39" name="Text 38"/>
          <p:cNvSpPr txBox="1"/>
          <p:nvPr/>
        </p:nvSpPr>
        <p:spPr>
          <a:xfrm>
            <a:off x="8382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حدود الاستنتاج</a:t>
            </a:r>
          </a:p>
        </p:txBody>
      </p:sp>
      <p:sp>
        <p:nvSpPr>
          <p:cNvPr id="40" name="Text 39"/>
          <p:cNvSpPr txBox="1"/>
          <p:nvPr/>
        </p:nvSpPr>
        <p:spPr>
          <a:xfrm>
            <a:off x="923290" y="3190081"/>
            <a:ext cx="2092960"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نجاح العينة يدعم الحكم ولا يثبت وحده تغطية كل الأنظمة؛ اذكر ما لم يُختبر.</a:t>
            </a:r>
          </a:p>
        </p:txBody>
      </p:sp>
      <p:sp>
        <p:nvSpPr>
          <p:cNvPr id="41" name="Box 40"/>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42" name="Box 41"/>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43" name="Icon Key 42" descr="icon015.png"/>
          <p:cNvPicPr>
            <a:picLocks noChangeAspect="1"/>
          </p:cNvPicPr>
          <p:nvPr/>
        </p:nvPicPr>
        <p:blipFill>
          <a:blip r:embed="rId2"/>
          <a:stretch>
            <a:fillRect/>
          </a:stretch>
        </p:blipFill>
        <p:spPr>
          <a:xfrm>
            <a:off x="10864850" y="5329932"/>
            <a:ext cx="215900" cy="215900"/>
          </a:xfrm>
          <a:prstGeom prst="rect">
            <a:avLst/>
          </a:prstGeom>
        </p:spPr>
      </p:pic>
      <p:sp>
        <p:nvSpPr>
          <p:cNvPr id="44" name="Text 43"/>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45" name="Text 44"/>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العينة أداة مقبولة حين تكون القائمة الكاملة مكتملة والاختيار مبرراً. وإذا أتاح النظام تقريراً للمجتمع كله، فهو أقوى من أي عينة.</a:t>
            </a:r>
          </a:p>
        </p:txBody>
      </p:sp>
      <p:sp>
        <p:nvSpPr>
          <p:cNvPr id="46" name="Text 4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47" name="Box 46"/>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48" name="Box 47"/>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Text 5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ثلاثة أنواع من المواد في شرائح الأدلة</a:t>
            </a:r>
          </a:p>
        </p:txBody>
      </p:sp>
      <p:sp>
        <p:nvSpPr>
          <p:cNvPr id="5" name="Box 4"/>
          <p:cNvSpPr/>
          <p:nvPr/>
        </p:nvSpPr>
        <p:spPr>
          <a:xfrm>
            <a:off x="815975" y="1881386"/>
            <a:ext cx="3397250" cy="1938338"/>
          </a:xfrm>
          <a:prstGeom prst="roundRect">
            <a:avLst>
              <a:gd name="adj" fmla="val 6530"/>
            </a:avLst>
          </a:prstGeom>
          <a:solidFill>
            <a:srgbClr val="FCFBF8"/>
          </a:solidFill>
          <a:ln w="6350">
            <a:solidFill>
              <a:srgbClr val="DDD7CA"/>
            </a:solidFill>
          </a:ln>
        </p:spPr>
        <p:txBody>
          <a:bodyPr rtlCol="0" anchor="ctr"/>
          <a:lstStyle/>
          <a:p>
            <a:pPr algn="ctr"/>
          </a:p>
        </p:txBody>
      </p:sp>
      <p:sp>
        <p:nvSpPr>
          <p:cNvPr id="6" name="Box 5"/>
          <p:cNvSpPr/>
          <p:nvPr/>
        </p:nvSpPr>
        <p:spPr>
          <a:xfrm>
            <a:off x="3625850" y="2087761"/>
            <a:ext cx="381000" cy="381000"/>
          </a:xfrm>
          <a:prstGeom prst="roundRect">
            <a:avLst>
              <a:gd name="adj" fmla="val 26666"/>
            </a:avLst>
          </a:prstGeom>
          <a:solidFill>
            <a:srgbClr val="DCEEEF"/>
          </a:solidFill>
          <a:ln>
            <a:noFill/>
          </a:ln>
        </p:spPr>
        <p:txBody>
          <a:bodyPr rtlCol="0" anchor="ctr"/>
          <a:lstStyle/>
          <a:p>
            <a:pPr algn="ctr"/>
          </a:p>
        </p:txBody>
      </p:sp>
      <p:pic>
        <p:nvPicPr>
          <p:cNvPr id="7" name="Icon Verified 6" descr="icon008.png"/>
          <p:cNvPicPr>
            <a:picLocks noChangeAspect="1"/>
          </p:cNvPicPr>
          <p:nvPr/>
        </p:nvPicPr>
        <p:blipFill>
          <a:blip r:embed="rId2"/>
          <a:stretch>
            <a:fillRect/>
          </a:stretch>
        </p:blipFill>
        <p:spPr>
          <a:xfrm>
            <a:off x="3711575" y="2173486"/>
            <a:ext cx="209550" cy="209550"/>
          </a:xfrm>
          <a:prstGeom prst="rect">
            <a:avLst/>
          </a:prstGeom>
        </p:spPr>
      </p:pic>
      <p:sp>
        <p:nvSpPr>
          <p:cNvPr id="8" name="Text 7"/>
          <p:cNvSpPr txBox="1"/>
          <p:nvPr/>
        </p:nvSpPr>
        <p:spPr>
          <a:xfrm>
            <a:off x="838200" y="2523320"/>
            <a:ext cx="31686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دليل تشغيلي صادر عن الجهة</a:t>
            </a:r>
          </a:p>
        </p:txBody>
      </p:sp>
      <p:sp>
        <p:nvSpPr>
          <p:cNvPr id="9" name="Text 8"/>
          <p:cNvSpPr txBox="1"/>
          <p:nvPr/>
        </p:nvSpPr>
        <p:spPr>
          <a:xfrm>
            <a:off x="932815" y="2865684"/>
            <a:ext cx="3074035"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ما تقدمه الجهة فعلاً: مستخرج من أنظمتها أو وثائقها، مؤرخ ومنسوب إلى مصدره. هو ما يُبنى عليه الحكم.</a:t>
            </a:r>
          </a:p>
        </p:txBody>
      </p:sp>
      <p:sp>
        <p:nvSpPr>
          <p:cNvPr id="10" name="Box 9"/>
          <p:cNvSpPr/>
          <p:nvPr/>
        </p:nvSpPr>
        <p:spPr>
          <a:xfrm>
            <a:off x="4397375" y="1881386"/>
            <a:ext cx="3397250" cy="1938338"/>
          </a:xfrm>
          <a:prstGeom prst="roundRect">
            <a:avLst>
              <a:gd name="adj" fmla="val 6530"/>
            </a:avLst>
          </a:prstGeom>
          <a:solidFill>
            <a:srgbClr val="FCFBF8"/>
          </a:solidFill>
          <a:ln w="6350">
            <a:solidFill>
              <a:srgbClr val="DDD7CA"/>
            </a:solidFill>
          </a:ln>
        </p:spPr>
        <p:txBody>
          <a:bodyPr rtlCol="0" anchor="ctr"/>
          <a:lstStyle/>
          <a:p>
            <a:pPr algn="ctr"/>
          </a:p>
        </p:txBody>
      </p:sp>
      <p:sp>
        <p:nvSpPr>
          <p:cNvPr id="11" name="Box 10"/>
          <p:cNvSpPr/>
          <p:nvPr/>
        </p:nvSpPr>
        <p:spPr>
          <a:xfrm>
            <a:off x="7207250" y="2087761"/>
            <a:ext cx="381000" cy="381000"/>
          </a:xfrm>
          <a:prstGeom prst="roundRect">
            <a:avLst>
              <a:gd name="adj" fmla="val 26666"/>
            </a:avLst>
          </a:prstGeom>
          <a:solidFill>
            <a:srgbClr val="DCEEEF"/>
          </a:solidFill>
          <a:ln>
            <a:noFill/>
          </a:ln>
        </p:spPr>
        <p:txBody>
          <a:bodyPr rtlCol="0" anchor="ctr"/>
          <a:lstStyle/>
          <a:p>
            <a:pPr algn="ctr"/>
          </a:p>
        </p:txBody>
      </p:sp>
      <p:pic>
        <p:nvPicPr>
          <p:cNvPr id="12" name="Icon Book 11" descr="icon006.png"/>
          <p:cNvPicPr>
            <a:picLocks noChangeAspect="1"/>
          </p:cNvPicPr>
          <p:nvPr/>
        </p:nvPicPr>
        <p:blipFill>
          <a:blip r:embed="rId3"/>
          <a:stretch>
            <a:fillRect/>
          </a:stretch>
        </p:blipFill>
        <p:spPr>
          <a:xfrm>
            <a:off x="7292975" y="2173486"/>
            <a:ext cx="209550" cy="209550"/>
          </a:xfrm>
          <a:prstGeom prst="rect">
            <a:avLst/>
          </a:prstGeom>
        </p:spPr>
      </p:pic>
      <p:sp>
        <p:nvSpPr>
          <p:cNvPr id="13" name="Text 12"/>
          <p:cNvSpPr txBox="1"/>
          <p:nvPr/>
        </p:nvSpPr>
        <p:spPr>
          <a:xfrm>
            <a:off x="4419600" y="2523320"/>
            <a:ext cx="31686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نموذج دليل تدريبي</a:t>
            </a:r>
          </a:p>
        </p:txBody>
      </p:sp>
      <p:sp>
        <p:nvSpPr>
          <p:cNvPr id="14" name="Text 13"/>
          <p:cNvSpPr txBox="1"/>
          <p:nvPr/>
        </p:nvSpPr>
        <p:spPr>
          <a:xfrm>
            <a:off x="4514215" y="2865684"/>
            <a:ext cx="3074035"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جدول أو وثيقة من إعداد الكورس ببيانات وأسماء افتراضية، للتدرب على قراءة الدليل والحكم عليه.</a:t>
            </a:r>
          </a:p>
        </p:txBody>
      </p:sp>
      <p:sp>
        <p:nvSpPr>
          <p:cNvPr id="15" name="Box 14"/>
          <p:cNvSpPr/>
          <p:nvPr/>
        </p:nvSpPr>
        <p:spPr>
          <a:xfrm>
            <a:off x="7978775" y="1881386"/>
            <a:ext cx="3397250" cy="1938338"/>
          </a:xfrm>
          <a:prstGeom prst="roundRect">
            <a:avLst>
              <a:gd name="adj" fmla="val 6530"/>
            </a:avLst>
          </a:prstGeom>
          <a:solidFill>
            <a:srgbClr val="FCFBF8"/>
          </a:solidFill>
          <a:ln w="6350">
            <a:solidFill>
              <a:srgbClr val="DDD7CA"/>
            </a:solidFill>
          </a:ln>
        </p:spPr>
        <p:txBody>
          <a:bodyPr rtlCol="0" anchor="ctr"/>
          <a:lstStyle/>
          <a:p>
            <a:pPr algn="ctr"/>
          </a:p>
        </p:txBody>
      </p:sp>
      <p:sp>
        <p:nvSpPr>
          <p:cNvPr id="16" name="Box 15"/>
          <p:cNvSpPr/>
          <p:nvPr/>
        </p:nvSpPr>
        <p:spPr>
          <a:xfrm>
            <a:off x="10788650" y="2087761"/>
            <a:ext cx="381000" cy="381000"/>
          </a:xfrm>
          <a:prstGeom prst="roundRect">
            <a:avLst>
              <a:gd name="adj" fmla="val 26666"/>
            </a:avLst>
          </a:prstGeom>
          <a:solidFill>
            <a:srgbClr val="DCEEEF"/>
          </a:solidFill>
          <a:ln>
            <a:noFill/>
          </a:ln>
        </p:spPr>
        <p:txBody>
          <a:bodyPr rtlCol="0" anchor="ctr"/>
          <a:lstStyle/>
          <a:p>
            <a:pPr algn="ctr"/>
          </a:p>
        </p:txBody>
      </p:sp>
      <p:pic>
        <p:nvPicPr>
          <p:cNvPr id="17" name="Icon Search 16" descr="icon005.png"/>
          <p:cNvPicPr>
            <a:picLocks noChangeAspect="1"/>
          </p:cNvPicPr>
          <p:nvPr/>
        </p:nvPicPr>
        <p:blipFill>
          <a:blip r:embed="rId4"/>
          <a:stretch>
            <a:fillRect/>
          </a:stretch>
        </p:blipFill>
        <p:spPr>
          <a:xfrm>
            <a:off x="10874375" y="2173486"/>
            <a:ext cx="209550" cy="209550"/>
          </a:xfrm>
          <a:prstGeom prst="rect">
            <a:avLst/>
          </a:prstGeom>
        </p:spPr>
      </p:pic>
      <p:sp>
        <p:nvSpPr>
          <p:cNvPr id="18" name="Text 17"/>
          <p:cNvSpPr txBox="1"/>
          <p:nvPr/>
        </p:nvSpPr>
        <p:spPr>
          <a:xfrm>
            <a:off x="8001000" y="2523320"/>
            <a:ext cx="31686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صورة توضيحية</a:t>
            </a:r>
          </a:p>
        </p:txBody>
      </p:sp>
      <p:sp>
        <p:nvSpPr>
          <p:cNvPr id="19" name="Text 18"/>
          <p:cNvSpPr txBox="1"/>
          <p:nvPr/>
        </p:nvSpPr>
        <p:spPr>
          <a:xfrm>
            <a:off x="8095615" y="2865684"/>
            <a:ext cx="3074035"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صورة توضيحية من الإنترنت لأداة أو ممارسة، بترخيص حر ومصدر مذكور. توضح الشكل والفكرة، ولا تثبت تطبيق أي جهة.</a:t>
            </a:r>
          </a:p>
        </p:txBody>
      </p:sp>
      <p:sp>
        <p:nvSpPr>
          <p:cNvPr id="20" name="Box 19"/>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1" name="Box 20"/>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2" name="Icon Book 21" descr="icon004.png"/>
          <p:cNvPicPr>
            <a:picLocks noChangeAspect="1"/>
          </p:cNvPicPr>
          <p:nvPr/>
        </p:nvPicPr>
        <p:blipFill>
          <a:blip r:embed="rId5"/>
          <a:stretch>
            <a:fillRect/>
          </a:stretch>
        </p:blipFill>
        <p:spPr>
          <a:xfrm>
            <a:off x="10864850" y="5329932"/>
            <a:ext cx="215900" cy="215900"/>
          </a:xfrm>
          <a:prstGeom prst="rect">
            <a:avLst/>
          </a:prstGeom>
        </p:spPr>
      </p:pic>
      <p:sp>
        <p:nvSpPr>
          <p:cNvPr id="23" name="Text 22"/>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تذكّر</a:t>
            </a:r>
          </a:p>
        </p:txBody>
      </p:sp>
      <p:sp>
        <p:nvSpPr>
          <p:cNvPr id="24" name="Text 23"/>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على كل شريحة دليل شارة تبين نوع المادة، وعبارة «يرتبط بالضوابط» بدل «يثبت»، ومربع «لا يثبت وحده» يبين حدود ما تدل عليه.</a:t>
            </a:r>
          </a:p>
        </p:txBody>
      </p:sp>
      <p:sp>
        <p:nvSpPr>
          <p:cNvPr id="25" name="Text 2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26" name="Box 25"/>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27" name="Box 26"/>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28" name="Box 2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29" name="Box 2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0" name="Box 2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Text 3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(1): الهويات والوصول</a:t>
            </a:r>
          </a:p>
        </p:txBody>
      </p:sp>
      <p:sp>
        <p:nvSpPr>
          <p:cNvPr id="5" name="Box 4"/>
          <p:cNvSpPr/>
          <p:nvPr/>
        </p:nvSpPr>
        <p:spPr>
          <a:xfrm>
            <a:off x="815975" y="188138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6" name="Text 5"/>
          <p:cNvSpPr txBox="1"/>
          <p:nvPr/>
        </p:nvSpPr>
        <p:spPr>
          <a:xfrm>
            <a:off x="1939671" y="2042073"/>
            <a:ext cx="2079879"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حساب ذو صلاحيات هامة</a:t>
            </a:r>
          </a:p>
        </p:txBody>
      </p:sp>
      <p:sp>
        <p:nvSpPr>
          <p:cNvPr id="7" name="Text 6"/>
          <p:cNvSpPr txBox="1"/>
          <p:nvPr/>
        </p:nvSpPr>
        <p:spPr>
          <a:xfrm>
            <a:off x="918210" y="2080395"/>
            <a:ext cx="10058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Privileged</a:t>
            </a:r>
          </a:p>
        </p:txBody>
      </p:sp>
      <p:sp>
        <p:nvSpPr>
          <p:cNvPr id="8" name="Text 7"/>
          <p:cNvSpPr txBox="1"/>
          <p:nvPr/>
        </p:nvSpPr>
        <p:spPr>
          <a:xfrm>
            <a:off x="919353" y="2586236"/>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حساب يستطيع تغيير الأنظمة أو الوصول لكل البيانات، مثل مدير النظام.</a:t>
            </a:r>
          </a:p>
        </p:txBody>
      </p:sp>
      <p:sp>
        <p:nvSpPr>
          <p:cNvPr id="9" name="Box 8"/>
          <p:cNvSpPr/>
          <p:nvPr/>
        </p:nvSpPr>
        <p:spPr>
          <a:xfrm>
            <a:off x="4397375" y="188138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10" name="Text 9"/>
          <p:cNvSpPr txBox="1"/>
          <p:nvPr/>
        </p:nvSpPr>
        <p:spPr>
          <a:xfrm>
            <a:off x="5349919" y="2042073"/>
            <a:ext cx="2251031"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التحقق متعدد العوامل</a:t>
            </a:r>
          </a:p>
        </p:txBody>
      </p:sp>
      <p:sp>
        <p:nvSpPr>
          <p:cNvPr id="11" name="Text 10"/>
          <p:cNvSpPr txBox="1"/>
          <p:nvPr/>
        </p:nvSpPr>
        <p:spPr>
          <a:xfrm>
            <a:off x="44996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MFA</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إثبات الهوية بعاملين أو أكثر: شيء تعرفه كالكلمة السرية، وشيء تملكه كالجوال.</a:t>
            </a:r>
          </a:p>
        </p:txBody>
      </p:sp>
      <p:sp>
        <p:nvSpPr>
          <p:cNvPr id="13" name="Box 12"/>
          <p:cNvSpPr/>
          <p:nvPr/>
        </p:nvSpPr>
        <p:spPr>
          <a:xfrm>
            <a:off x="7978775" y="188138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14" name="Text 13"/>
          <p:cNvSpPr txBox="1"/>
          <p:nvPr/>
        </p:nvSpPr>
        <p:spPr>
          <a:xfrm>
            <a:off x="10382250" y="2042073"/>
            <a:ext cx="8001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الحساب</a:t>
            </a:r>
          </a:p>
        </p:txBody>
      </p:sp>
      <p:sp>
        <p:nvSpPr>
          <p:cNvPr id="15" name="Text 14"/>
          <p:cNvSpPr txBox="1"/>
          <p:nvPr/>
        </p:nvSpPr>
        <p:spPr>
          <a:xfrm>
            <a:off x="8081010" y="2080395"/>
            <a:ext cx="73159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Account</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المعرّف الذي يدخل به المستخدم أو النظام، ويجب أن يكون فريداً لكل شخص.</a:t>
            </a:r>
          </a:p>
        </p:txBody>
      </p:sp>
      <p:sp>
        <p:nvSpPr>
          <p:cNvPr id="17" name="Box 16"/>
          <p:cNvSpPr/>
          <p:nvPr/>
        </p:nvSpPr>
        <p:spPr>
          <a:xfrm>
            <a:off x="815975" y="3440311"/>
            <a:ext cx="3397250" cy="1144588"/>
          </a:xfrm>
          <a:prstGeom prst="roundRect">
            <a:avLst>
              <a:gd name="adj" fmla="val 11034"/>
            </a:avLst>
          </a:prstGeom>
          <a:solidFill>
            <a:srgbClr val="FCFBF8"/>
          </a:solidFill>
          <a:ln w="6350">
            <a:solidFill>
              <a:srgbClr val="DDD7CA"/>
            </a:solidFill>
          </a:ln>
        </p:spPr>
        <p:txBody>
          <a:bodyPr rtlCol="0" anchor="ctr"/>
          <a:lstStyle/>
          <a:p>
            <a:pPr algn="ctr"/>
          </a:p>
        </p:txBody>
      </p:sp>
      <p:sp>
        <p:nvSpPr>
          <p:cNvPr id="18" name="Text 17"/>
          <p:cNvSpPr txBox="1"/>
          <p:nvPr/>
        </p:nvSpPr>
        <p:spPr>
          <a:xfrm>
            <a:off x="1735622" y="3600998"/>
            <a:ext cx="2283928"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إدارة الصلاحيات المميزة</a:t>
            </a:r>
          </a:p>
        </p:txBody>
      </p:sp>
      <p:sp>
        <p:nvSpPr>
          <p:cNvPr id="19" name="Text 18"/>
          <p:cNvSpPr txBox="1"/>
          <p:nvPr/>
        </p:nvSpPr>
        <p:spPr>
          <a:xfrm>
            <a:off x="918210" y="3639320"/>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PAM</a:t>
            </a:r>
          </a:p>
        </p:txBody>
      </p:sp>
      <p:sp>
        <p:nvSpPr>
          <p:cNvPr id="20" name="Text 19"/>
          <p:cNvSpPr txBox="1"/>
          <p:nvPr/>
        </p:nvSpPr>
        <p:spPr>
          <a:xfrm>
            <a:off x="919353" y="3887986"/>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نظام يحفظ كلمات مرور الحسابات المميزة، ويسجل جلساتها، ويمنحها مؤقتاً.</a:t>
            </a:r>
          </a:p>
        </p:txBody>
      </p:sp>
      <p:sp>
        <p:nvSpPr>
          <p:cNvPr id="21" name="Box 20"/>
          <p:cNvSpPr/>
          <p:nvPr/>
        </p:nvSpPr>
        <p:spPr>
          <a:xfrm>
            <a:off x="4397375" y="3440311"/>
            <a:ext cx="3397250" cy="1144588"/>
          </a:xfrm>
          <a:prstGeom prst="roundRect">
            <a:avLst>
              <a:gd name="adj" fmla="val 11034"/>
            </a:avLst>
          </a:prstGeom>
          <a:solidFill>
            <a:srgbClr val="FCFBF8"/>
          </a:solidFill>
          <a:ln w="6350">
            <a:solidFill>
              <a:srgbClr val="DDD7CA"/>
            </a:solidFill>
          </a:ln>
        </p:spPr>
        <p:txBody>
          <a:bodyPr rtlCol="0" anchor="ctr"/>
          <a:lstStyle/>
          <a:p>
            <a:pPr algn="ctr"/>
          </a:p>
        </p:txBody>
      </p:sp>
      <p:sp>
        <p:nvSpPr>
          <p:cNvPr id="22" name="Text 21"/>
          <p:cNvSpPr txBox="1"/>
          <p:nvPr/>
        </p:nvSpPr>
        <p:spPr>
          <a:xfrm>
            <a:off x="6330851" y="3600998"/>
            <a:ext cx="1270099"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فصل المهام</a:t>
            </a:r>
          </a:p>
        </p:txBody>
      </p:sp>
      <p:sp>
        <p:nvSpPr>
          <p:cNvPr id="23" name="Text 22"/>
          <p:cNvSpPr txBox="1"/>
          <p:nvPr/>
        </p:nvSpPr>
        <p:spPr>
          <a:xfrm>
            <a:off x="4499610" y="3639320"/>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SoD</a:t>
            </a:r>
          </a:p>
        </p:txBody>
      </p:sp>
      <p:sp>
        <p:nvSpPr>
          <p:cNvPr id="24" name="Text 23"/>
          <p:cNvSpPr txBox="1"/>
          <p:nvPr/>
        </p:nvSpPr>
        <p:spPr>
          <a:xfrm>
            <a:off x="4500753" y="3887986"/>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ألا ينفذ شخص واحد عملية حساسة كلها، مثل طلب الصلاحية واعتمادها معاً.</a:t>
            </a:r>
          </a:p>
        </p:txBody>
      </p:sp>
      <p:sp>
        <p:nvSpPr>
          <p:cNvPr id="25" name="Box 24"/>
          <p:cNvSpPr/>
          <p:nvPr/>
        </p:nvSpPr>
        <p:spPr>
          <a:xfrm>
            <a:off x="7978775" y="3440311"/>
            <a:ext cx="3397250" cy="1144588"/>
          </a:xfrm>
          <a:prstGeom prst="roundRect">
            <a:avLst>
              <a:gd name="adj" fmla="val 11034"/>
            </a:avLst>
          </a:prstGeom>
          <a:solidFill>
            <a:srgbClr val="FCFBF8"/>
          </a:solidFill>
          <a:ln w="6350">
            <a:solidFill>
              <a:srgbClr val="DDD7CA"/>
            </a:solidFill>
          </a:ln>
        </p:spPr>
        <p:txBody>
          <a:bodyPr rtlCol="0" anchor="ctr"/>
          <a:lstStyle/>
          <a:p>
            <a:pPr algn="ctr"/>
          </a:p>
        </p:txBody>
      </p:sp>
      <p:sp>
        <p:nvSpPr>
          <p:cNvPr id="26" name="Text 25"/>
          <p:cNvSpPr txBox="1"/>
          <p:nvPr/>
        </p:nvSpPr>
        <p:spPr>
          <a:xfrm>
            <a:off x="9286627" y="3600998"/>
            <a:ext cx="1895723"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الحد الأدنى من الصلاحيات</a:t>
            </a:r>
          </a:p>
        </p:txBody>
      </p:sp>
      <p:sp>
        <p:nvSpPr>
          <p:cNvPr id="27" name="Text 26"/>
          <p:cNvSpPr txBox="1"/>
          <p:nvPr/>
        </p:nvSpPr>
        <p:spPr>
          <a:xfrm>
            <a:off x="8134350" y="3639320"/>
            <a:ext cx="1131292" cy="411361"/>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Least Privilege</a:t>
            </a:r>
          </a:p>
        </p:txBody>
      </p:sp>
      <p:sp>
        <p:nvSpPr>
          <p:cNvPr id="28" name="Text 27"/>
          <p:cNvSpPr txBox="1"/>
          <p:nvPr/>
        </p:nvSpPr>
        <p:spPr>
          <a:xfrm>
            <a:off x="8001000" y="4145161"/>
            <a:ext cx="3181350" cy="230188"/>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أن يُمنح كل شخص ما يحتاجه لعمله فقط، لا أكثر.</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(2): الشبكات والأنظمة</a:t>
            </a:r>
          </a:p>
        </p:txBody>
      </p:sp>
      <p:sp>
        <p:nvSpPr>
          <p:cNvPr id="5" name="Box 4"/>
          <p:cNvSpPr/>
          <p:nvPr/>
        </p:nvSpPr>
        <p:spPr>
          <a:xfrm>
            <a:off x="8159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6" name="Text 5"/>
          <p:cNvSpPr txBox="1"/>
          <p:nvPr/>
        </p:nvSpPr>
        <p:spPr>
          <a:xfrm>
            <a:off x="1567494" y="2042073"/>
            <a:ext cx="245205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المنطقة المنزوعة السلاح</a:t>
            </a:r>
          </a:p>
        </p:txBody>
      </p:sp>
      <p:sp>
        <p:nvSpPr>
          <p:cNvPr id="7" name="Text 6"/>
          <p:cNvSpPr txBox="1"/>
          <p:nvPr/>
        </p:nvSpPr>
        <p:spPr>
          <a:xfrm>
            <a:off x="9182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DMZ</a:t>
            </a:r>
          </a:p>
        </p:txBody>
      </p:sp>
      <p:sp>
        <p:nvSpPr>
          <p:cNvPr id="8" name="Text 7"/>
          <p:cNvSpPr txBox="1"/>
          <p:nvPr/>
        </p:nvSpPr>
        <p:spPr>
          <a:xfrm>
            <a:off x="9193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منطقة للخدمات المواجهة للإنترنت، معزولة عن الشبكة الداخلية.</a:t>
            </a:r>
          </a:p>
        </p:txBody>
      </p:sp>
      <p:sp>
        <p:nvSpPr>
          <p:cNvPr id="9" name="Box 8"/>
          <p:cNvSpPr/>
          <p:nvPr/>
        </p:nvSpPr>
        <p:spPr>
          <a:xfrm>
            <a:off x="43973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0" name="Text 9"/>
          <p:cNvSpPr txBox="1"/>
          <p:nvPr/>
        </p:nvSpPr>
        <p:spPr>
          <a:xfrm>
            <a:off x="6188373" y="2042073"/>
            <a:ext cx="141257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تقسيم الشبكة</a:t>
            </a:r>
          </a:p>
        </p:txBody>
      </p:sp>
      <p:sp>
        <p:nvSpPr>
          <p:cNvPr id="11" name="Text 10"/>
          <p:cNvSpPr txBox="1"/>
          <p:nvPr/>
        </p:nvSpPr>
        <p:spPr>
          <a:xfrm>
            <a:off x="4499610" y="2080395"/>
            <a:ext cx="1188799"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Segmentation</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فصل الشبكة إلى مناطق، مثل الخوادم والمستخدمين، بينها جدار ناري.</a:t>
            </a:r>
          </a:p>
        </p:txBody>
      </p:sp>
      <p:sp>
        <p:nvSpPr>
          <p:cNvPr id="13" name="Box 12"/>
          <p:cNvSpPr/>
          <p:nvPr/>
        </p:nvSpPr>
        <p:spPr>
          <a:xfrm>
            <a:off x="79787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4" name="Text 13"/>
          <p:cNvSpPr txBox="1"/>
          <p:nvPr/>
        </p:nvSpPr>
        <p:spPr>
          <a:xfrm>
            <a:off x="10032107" y="2042073"/>
            <a:ext cx="1150243"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الجدار الناري</a:t>
            </a:r>
          </a:p>
        </p:txBody>
      </p:sp>
      <p:sp>
        <p:nvSpPr>
          <p:cNvPr id="15" name="Text 14"/>
          <p:cNvSpPr txBox="1"/>
          <p:nvPr/>
        </p:nvSpPr>
        <p:spPr>
          <a:xfrm>
            <a:off x="8081010" y="2080395"/>
            <a:ext cx="8229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Firewall</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جهاز أو برنامج يسمح بحركة الشبكة أو يمنعها حسب قواعد محددة.</a:t>
            </a:r>
          </a:p>
        </p:txBody>
      </p:sp>
      <p:sp>
        <p:nvSpPr>
          <p:cNvPr id="17" name="Box 16"/>
          <p:cNvSpPr/>
          <p:nvPr/>
        </p:nvSpPr>
        <p:spPr>
          <a:xfrm>
            <a:off x="8159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8" name="Text 17"/>
          <p:cNvSpPr txBox="1"/>
          <p:nvPr/>
        </p:nvSpPr>
        <p:spPr>
          <a:xfrm>
            <a:off x="1945434" y="3343823"/>
            <a:ext cx="20741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التحديثات والإصلاحات</a:t>
            </a:r>
          </a:p>
        </p:txBody>
      </p:sp>
      <p:sp>
        <p:nvSpPr>
          <p:cNvPr id="19" name="Text 18"/>
          <p:cNvSpPr txBox="1"/>
          <p:nvPr/>
        </p:nvSpPr>
        <p:spPr>
          <a:xfrm>
            <a:off x="918210" y="3382145"/>
            <a:ext cx="5486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Patch</a:t>
            </a:r>
          </a:p>
        </p:txBody>
      </p:sp>
      <p:sp>
        <p:nvSpPr>
          <p:cNvPr id="20" name="Text 19"/>
          <p:cNvSpPr txBox="1"/>
          <p:nvPr/>
        </p:nvSpPr>
        <p:spPr>
          <a:xfrm>
            <a:off x="9193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تحديث يصدره المورد لسد ثغرة أو إصلاح خلل في نظامه.</a:t>
            </a:r>
          </a:p>
        </p:txBody>
      </p:sp>
      <p:sp>
        <p:nvSpPr>
          <p:cNvPr id="21" name="Box 20"/>
          <p:cNvSpPr/>
          <p:nvPr/>
        </p:nvSpPr>
        <p:spPr>
          <a:xfrm>
            <a:off x="43973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2" name="Text 21"/>
          <p:cNvSpPr txBox="1"/>
          <p:nvPr/>
        </p:nvSpPr>
        <p:spPr>
          <a:xfrm>
            <a:off x="5867269" y="3343823"/>
            <a:ext cx="1733681"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نظام منع الاختراق</a:t>
            </a:r>
          </a:p>
        </p:txBody>
      </p:sp>
      <p:sp>
        <p:nvSpPr>
          <p:cNvPr id="23" name="Text 22"/>
          <p:cNvSpPr txBox="1"/>
          <p:nvPr/>
        </p:nvSpPr>
        <p:spPr>
          <a:xfrm>
            <a:off x="44996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IPS</a:t>
            </a:r>
          </a:p>
        </p:txBody>
      </p:sp>
      <p:sp>
        <p:nvSpPr>
          <p:cNvPr id="24" name="Text 23"/>
          <p:cNvSpPr txBox="1"/>
          <p:nvPr/>
        </p:nvSpPr>
        <p:spPr>
          <a:xfrm>
            <a:off x="45007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يراقب حركة الشبكة، ويوقف الأنماط الهجومية المعروفة.</a:t>
            </a:r>
          </a:p>
        </p:txBody>
      </p:sp>
      <p:sp>
        <p:nvSpPr>
          <p:cNvPr id="25" name="Box 24"/>
          <p:cNvSpPr/>
          <p:nvPr/>
        </p:nvSpPr>
        <p:spPr>
          <a:xfrm>
            <a:off x="79787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6" name="Text 25"/>
          <p:cNvSpPr txBox="1"/>
          <p:nvPr/>
        </p:nvSpPr>
        <p:spPr>
          <a:xfrm>
            <a:off x="8696861" y="3343823"/>
            <a:ext cx="2485489"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الشبكة الافتراضية الخاصة</a:t>
            </a:r>
          </a:p>
        </p:txBody>
      </p:sp>
      <p:sp>
        <p:nvSpPr>
          <p:cNvPr id="27" name="Text 26"/>
          <p:cNvSpPr txBox="1"/>
          <p:nvPr/>
        </p:nvSpPr>
        <p:spPr>
          <a:xfrm>
            <a:off x="80810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VPN</a:t>
            </a:r>
          </a:p>
        </p:txBody>
      </p:sp>
      <p:sp>
        <p:nvSpPr>
          <p:cNvPr id="28" name="Text 27"/>
          <p:cNvSpPr txBox="1"/>
          <p:nvPr/>
        </p:nvSpPr>
        <p:spPr>
          <a:xfrm>
            <a:off x="80821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قناة مشفرة يدخل منها الموظف عن بعد إلى شبكة الجهة.</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(3): المراقبة والاستجابة</a:t>
            </a:r>
          </a:p>
        </p:txBody>
      </p:sp>
      <p:sp>
        <p:nvSpPr>
          <p:cNvPr id="5" name="Box 4"/>
          <p:cNvSpPr/>
          <p:nvPr/>
        </p:nvSpPr>
        <p:spPr>
          <a:xfrm>
            <a:off x="8159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6" name="Text 5"/>
          <p:cNvSpPr txBox="1"/>
          <p:nvPr/>
        </p:nvSpPr>
        <p:spPr>
          <a:xfrm>
            <a:off x="1930646" y="2042073"/>
            <a:ext cx="208890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مركز العمليات الأمنية</a:t>
            </a:r>
          </a:p>
        </p:txBody>
      </p:sp>
      <p:sp>
        <p:nvSpPr>
          <p:cNvPr id="7" name="Text 6"/>
          <p:cNvSpPr txBox="1"/>
          <p:nvPr/>
        </p:nvSpPr>
        <p:spPr>
          <a:xfrm>
            <a:off x="9182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SOC</a:t>
            </a:r>
          </a:p>
        </p:txBody>
      </p:sp>
      <p:sp>
        <p:nvSpPr>
          <p:cNvPr id="8" name="Text 7"/>
          <p:cNvSpPr txBox="1"/>
          <p:nvPr/>
        </p:nvSpPr>
        <p:spPr>
          <a:xfrm>
            <a:off x="9193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الفريق والمنصة اللذان يراقبان التنبيهات باستمرار ويستجيبان لها.</a:t>
            </a:r>
          </a:p>
        </p:txBody>
      </p:sp>
      <p:sp>
        <p:nvSpPr>
          <p:cNvPr id="9" name="Box 8"/>
          <p:cNvSpPr/>
          <p:nvPr/>
        </p:nvSpPr>
        <p:spPr>
          <a:xfrm>
            <a:off x="43973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0" name="Text 9"/>
          <p:cNvSpPr txBox="1"/>
          <p:nvPr/>
        </p:nvSpPr>
        <p:spPr>
          <a:xfrm>
            <a:off x="5837265" y="2042073"/>
            <a:ext cx="1763685"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نظام إدارة الأحداث</a:t>
            </a:r>
          </a:p>
        </p:txBody>
      </p:sp>
      <p:sp>
        <p:nvSpPr>
          <p:cNvPr id="11" name="Text 10"/>
          <p:cNvSpPr txBox="1"/>
          <p:nvPr/>
        </p:nvSpPr>
        <p:spPr>
          <a:xfrm>
            <a:off x="4499610" y="2080395"/>
            <a:ext cx="45726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SIEM</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منصة تجمع السجلات من الأنظمة، وتحللها، وتطلق التنبيهات.</a:t>
            </a:r>
          </a:p>
        </p:txBody>
      </p:sp>
      <p:sp>
        <p:nvSpPr>
          <p:cNvPr id="13" name="Box 12"/>
          <p:cNvSpPr/>
          <p:nvPr/>
        </p:nvSpPr>
        <p:spPr>
          <a:xfrm>
            <a:off x="79787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4" name="Text 13"/>
          <p:cNvSpPr txBox="1"/>
          <p:nvPr/>
        </p:nvSpPr>
        <p:spPr>
          <a:xfrm>
            <a:off x="9863237" y="2042073"/>
            <a:ext cx="1319113"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سجل الأحداث</a:t>
            </a:r>
          </a:p>
        </p:txBody>
      </p:sp>
      <p:sp>
        <p:nvSpPr>
          <p:cNvPr id="15" name="Text 14"/>
          <p:cNvSpPr txBox="1"/>
          <p:nvPr/>
        </p:nvSpPr>
        <p:spPr>
          <a:xfrm>
            <a:off x="80810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Log</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سطر يكتبه النظام عند كل حدث: من دخل، ومتى، وماذا فعل.</a:t>
            </a:r>
          </a:p>
        </p:txBody>
      </p:sp>
      <p:sp>
        <p:nvSpPr>
          <p:cNvPr id="17" name="Box 16"/>
          <p:cNvSpPr/>
          <p:nvPr/>
        </p:nvSpPr>
        <p:spPr>
          <a:xfrm>
            <a:off x="8159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8" name="Text 17"/>
          <p:cNvSpPr txBox="1"/>
          <p:nvPr/>
        </p:nvSpPr>
        <p:spPr>
          <a:xfrm>
            <a:off x="2697559" y="3343823"/>
            <a:ext cx="1321991"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اختبار الاختراق</a:t>
            </a:r>
          </a:p>
        </p:txBody>
      </p:sp>
      <p:sp>
        <p:nvSpPr>
          <p:cNvPr id="19" name="Text 18"/>
          <p:cNvSpPr txBox="1"/>
          <p:nvPr/>
        </p:nvSpPr>
        <p:spPr>
          <a:xfrm>
            <a:off x="892604" y="3382145"/>
            <a:ext cx="1580126"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Penetration Test</a:t>
            </a:r>
          </a:p>
        </p:txBody>
      </p:sp>
      <p:sp>
        <p:nvSpPr>
          <p:cNvPr id="20" name="Text 19"/>
          <p:cNvSpPr txBox="1"/>
          <p:nvPr/>
        </p:nvSpPr>
        <p:spPr>
          <a:xfrm>
            <a:off x="9193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محاكاة هجوم حقيقي يجريها مختص، ليعرف ما يمكن استغلاله فعلاً.</a:t>
            </a:r>
          </a:p>
        </p:txBody>
      </p:sp>
      <p:sp>
        <p:nvSpPr>
          <p:cNvPr id="21" name="Box 20"/>
          <p:cNvSpPr/>
          <p:nvPr/>
        </p:nvSpPr>
        <p:spPr>
          <a:xfrm>
            <a:off x="43973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2" name="Text 21"/>
          <p:cNvSpPr txBox="1"/>
          <p:nvPr/>
        </p:nvSpPr>
        <p:spPr>
          <a:xfrm>
            <a:off x="6231930" y="3343823"/>
            <a:ext cx="136902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فحص الثغرات</a:t>
            </a:r>
          </a:p>
        </p:txBody>
      </p:sp>
      <p:sp>
        <p:nvSpPr>
          <p:cNvPr id="23" name="Text 22"/>
          <p:cNvSpPr txBox="1"/>
          <p:nvPr/>
        </p:nvSpPr>
        <p:spPr>
          <a:xfrm>
            <a:off x="4459375" y="3382145"/>
            <a:ext cx="1777615"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Vulnerability Scan</a:t>
            </a:r>
          </a:p>
        </p:txBody>
      </p:sp>
      <p:sp>
        <p:nvSpPr>
          <p:cNvPr id="24" name="Text 23"/>
          <p:cNvSpPr txBox="1"/>
          <p:nvPr/>
        </p:nvSpPr>
        <p:spPr>
          <a:xfrm>
            <a:off x="4419600" y="3630811"/>
            <a:ext cx="3181350" cy="230188"/>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أداة آلية تبحث عن الثغرات المعروفة في الأنظمة.</a:t>
            </a:r>
          </a:p>
        </p:txBody>
      </p:sp>
      <p:sp>
        <p:nvSpPr>
          <p:cNvPr id="25" name="Box 24"/>
          <p:cNvSpPr/>
          <p:nvPr/>
        </p:nvSpPr>
        <p:spPr>
          <a:xfrm>
            <a:off x="79787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6" name="Text 25"/>
          <p:cNvSpPr txBox="1"/>
          <p:nvPr/>
        </p:nvSpPr>
        <p:spPr>
          <a:xfrm>
            <a:off x="8394680" y="3343823"/>
            <a:ext cx="278767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حماية نقاط النهاية المتقدمة</a:t>
            </a:r>
          </a:p>
        </p:txBody>
      </p:sp>
      <p:sp>
        <p:nvSpPr>
          <p:cNvPr id="27" name="Text 26"/>
          <p:cNvSpPr txBox="1"/>
          <p:nvPr/>
        </p:nvSpPr>
        <p:spPr>
          <a:xfrm>
            <a:off x="80810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EDR</a:t>
            </a:r>
          </a:p>
        </p:txBody>
      </p:sp>
      <p:sp>
        <p:nvSpPr>
          <p:cNvPr id="28" name="Text 27"/>
          <p:cNvSpPr txBox="1"/>
          <p:nvPr/>
        </p:nvSpPr>
        <p:spPr>
          <a:xfrm>
            <a:off x="80821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برنامج على الجهاز يكتشف السلوك المشبوه ويوقفه، لا التواقيع المعروفة فقط.</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(4): البيانات والصمود</a:t>
            </a:r>
          </a:p>
        </p:txBody>
      </p:sp>
      <p:sp>
        <p:nvSpPr>
          <p:cNvPr id="5" name="Box 4"/>
          <p:cNvSpPr/>
          <p:nvPr/>
        </p:nvSpPr>
        <p:spPr>
          <a:xfrm>
            <a:off x="8159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6" name="Text 5"/>
          <p:cNvSpPr txBox="1"/>
          <p:nvPr/>
        </p:nvSpPr>
        <p:spPr>
          <a:xfrm>
            <a:off x="2430316" y="2042073"/>
            <a:ext cx="158923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النسخ الاحتياطي</a:t>
            </a:r>
          </a:p>
        </p:txBody>
      </p:sp>
      <p:sp>
        <p:nvSpPr>
          <p:cNvPr id="7" name="Text 6"/>
          <p:cNvSpPr txBox="1"/>
          <p:nvPr/>
        </p:nvSpPr>
        <p:spPr>
          <a:xfrm>
            <a:off x="918210" y="2080395"/>
            <a:ext cx="64012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Backup</a:t>
            </a:r>
          </a:p>
        </p:txBody>
      </p:sp>
      <p:sp>
        <p:nvSpPr>
          <p:cNvPr id="8" name="Text 7"/>
          <p:cNvSpPr txBox="1"/>
          <p:nvPr/>
        </p:nvSpPr>
        <p:spPr>
          <a:xfrm>
            <a:off x="9193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نسخة من البيانات والإعدادات تُحفظ لاستعادتها عند الفقد أو الهجوم.</a:t>
            </a:r>
          </a:p>
        </p:txBody>
      </p:sp>
      <p:sp>
        <p:nvSpPr>
          <p:cNvPr id="9" name="Box 8"/>
          <p:cNvSpPr/>
          <p:nvPr/>
        </p:nvSpPr>
        <p:spPr>
          <a:xfrm>
            <a:off x="43973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0" name="Text 9"/>
          <p:cNvSpPr txBox="1"/>
          <p:nvPr/>
        </p:nvSpPr>
        <p:spPr>
          <a:xfrm>
            <a:off x="6822480" y="2042073"/>
            <a:ext cx="77847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التشفير</a:t>
            </a:r>
          </a:p>
        </p:txBody>
      </p:sp>
      <p:sp>
        <p:nvSpPr>
          <p:cNvPr id="11" name="Text 10"/>
          <p:cNvSpPr txBox="1"/>
          <p:nvPr/>
        </p:nvSpPr>
        <p:spPr>
          <a:xfrm>
            <a:off x="4499610" y="2080395"/>
            <a:ext cx="100584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Encryption</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تحويل البيانات إلى صيغة لا يقرؤها إلا من يملك المفتاح.</a:t>
            </a:r>
          </a:p>
        </p:txBody>
      </p:sp>
      <p:sp>
        <p:nvSpPr>
          <p:cNvPr id="13" name="Box 12"/>
          <p:cNvSpPr/>
          <p:nvPr/>
        </p:nvSpPr>
        <p:spPr>
          <a:xfrm>
            <a:off x="79787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4" name="Text 13"/>
          <p:cNvSpPr txBox="1"/>
          <p:nvPr/>
        </p:nvSpPr>
        <p:spPr>
          <a:xfrm>
            <a:off x="9717584" y="2042073"/>
            <a:ext cx="146476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تصنيف البيانات</a:t>
            </a:r>
          </a:p>
        </p:txBody>
      </p:sp>
      <p:sp>
        <p:nvSpPr>
          <p:cNvPr id="15" name="Text 14"/>
          <p:cNvSpPr txBox="1"/>
          <p:nvPr/>
        </p:nvSpPr>
        <p:spPr>
          <a:xfrm>
            <a:off x="8070032" y="2080395"/>
            <a:ext cx="1382637"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Classification</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تحديد مستوى حساسية البيانات، لتحديد كيف تُحمى وتُتداول.</a:t>
            </a:r>
          </a:p>
        </p:txBody>
      </p:sp>
      <p:sp>
        <p:nvSpPr>
          <p:cNvPr id="17" name="Box 16"/>
          <p:cNvSpPr/>
          <p:nvPr/>
        </p:nvSpPr>
        <p:spPr>
          <a:xfrm>
            <a:off x="815975" y="318313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18" name="Text 17"/>
          <p:cNvSpPr txBox="1"/>
          <p:nvPr/>
        </p:nvSpPr>
        <p:spPr>
          <a:xfrm>
            <a:off x="1841921" y="3343823"/>
            <a:ext cx="2177629"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إدارة الأجهزة المحمولة</a:t>
            </a:r>
          </a:p>
        </p:txBody>
      </p:sp>
      <p:sp>
        <p:nvSpPr>
          <p:cNvPr id="19" name="Text 18"/>
          <p:cNvSpPr txBox="1"/>
          <p:nvPr/>
        </p:nvSpPr>
        <p:spPr>
          <a:xfrm>
            <a:off x="9182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MDM</a:t>
            </a:r>
          </a:p>
        </p:txBody>
      </p:sp>
      <p:sp>
        <p:nvSpPr>
          <p:cNvPr id="20" name="Text 19"/>
          <p:cNvSpPr txBox="1"/>
          <p:nvPr/>
        </p:nvSpPr>
        <p:spPr>
          <a:xfrm>
            <a:off x="9193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نظام يفرض سياسة الجهة على الحواسيب والجوالات، ويمسحها عند الفقد.</a:t>
            </a:r>
          </a:p>
        </p:txBody>
      </p:sp>
      <p:sp>
        <p:nvSpPr>
          <p:cNvPr id="21" name="Box 20"/>
          <p:cNvSpPr/>
          <p:nvPr/>
        </p:nvSpPr>
        <p:spPr>
          <a:xfrm>
            <a:off x="4397375" y="318313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22" name="Text 21"/>
          <p:cNvSpPr txBox="1"/>
          <p:nvPr/>
        </p:nvSpPr>
        <p:spPr>
          <a:xfrm>
            <a:off x="5892653" y="3343823"/>
            <a:ext cx="1708297"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حماية البريد من الانتحال</a:t>
            </a:r>
          </a:p>
        </p:txBody>
      </p:sp>
      <p:sp>
        <p:nvSpPr>
          <p:cNvPr id="23" name="Text 22"/>
          <p:cNvSpPr txBox="1"/>
          <p:nvPr/>
        </p:nvSpPr>
        <p:spPr>
          <a:xfrm>
            <a:off x="4552795" y="3382145"/>
            <a:ext cx="1313414" cy="411361"/>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SPF · DKIM · DMARC</a:t>
            </a:r>
          </a:p>
        </p:txBody>
      </p:sp>
      <p:sp>
        <p:nvSpPr>
          <p:cNvPr id="24" name="Text 23"/>
          <p:cNvSpPr txBox="1"/>
          <p:nvPr/>
        </p:nvSpPr>
        <p:spPr>
          <a:xfrm>
            <a:off x="4500753" y="3887986"/>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سجلات تثبت أن البريد المرسل باسم نطاق الجهة صادر منها فعلاً.</a:t>
            </a:r>
          </a:p>
        </p:txBody>
      </p:sp>
      <p:sp>
        <p:nvSpPr>
          <p:cNvPr id="25" name="Box 24"/>
          <p:cNvSpPr/>
          <p:nvPr/>
        </p:nvSpPr>
        <p:spPr>
          <a:xfrm>
            <a:off x="7978775" y="3183136"/>
            <a:ext cx="3397250" cy="1374775"/>
          </a:xfrm>
          <a:prstGeom prst="roundRect">
            <a:avLst>
              <a:gd name="adj" fmla="val 9195"/>
            </a:avLst>
          </a:prstGeom>
          <a:solidFill>
            <a:srgbClr val="FCFBF8"/>
          </a:solidFill>
          <a:ln w="6350">
            <a:solidFill>
              <a:srgbClr val="DDD7CA"/>
            </a:solidFill>
          </a:ln>
        </p:spPr>
        <p:txBody>
          <a:bodyPr rtlCol="0" anchor="ctr"/>
          <a:lstStyle/>
          <a:p>
            <a:pPr algn="ctr"/>
          </a:p>
        </p:txBody>
      </p:sp>
      <p:sp>
        <p:nvSpPr>
          <p:cNvPr id="26" name="Text 25"/>
          <p:cNvSpPr txBox="1"/>
          <p:nvPr/>
        </p:nvSpPr>
        <p:spPr>
          <a:xfrm>
            <a:off x="9540502" y="3343823"/>
            <a:ext cx="1641848"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أهداف الاستعادة</a:t>
            </a:r>
          </a:p>
        </p:txBody>
      </p:sp>
      <p:sp>
        <p:nvSpPr>
          <p:cNvPr id="27" name="Text 26"/>
          <p:cNvSpPr txBox="1"/>
          <p:nvPr/>
        </p:nvSpPr>
        <p:spPr>
          <a:xfrm>
            <a:off x="8081010" y="3382145"/>
            <a:ext cx="91446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RTO · RPO</a:t>
            </a:r>
          </a:p>
        </p:txBody>
      </p:sp>
      <p:sp>
        <p:nvSpPr>
          <p:cNvPr id="28" name="Text 27"/>
          <p:cNvSpPr txBox="1"/>
          <p:nvPr/>
        </p:nvSpPr>
        <p:spPr>
          <a:xfrm>
            <a:off x="80821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أقصى مدة توقف مقبولة، وأقصى فقد بيانات مقبول، لكل نظام.</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49395" y="812800"/>
            <a:ext cx="192980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01 · مفاهيم أساسية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قاموس المصطلحات (5): مصطلحات أخرى ستمر بها</a:t>
            </a:r>
          </a:p>
        </p:txBody>
      </p:sp>
      <p:sp>
        <p:nvSpPr>
          <p:cNvPr id="5" name="Box 4"/>
          <p:cNvSpPr/>
          <p:nvPr/>
        </p:nvSpPr>
        <p:spPr>
          <a:xfrm>
            <a:off x="8159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6" name="Text 5"/>
          <p:cNvSpPr txBox="1"/>
          <p:nvPr/>
        </p:nvSpPr>
        <p:spPr>
          <a:xfrm>
            <a:off x="2414992" y="2042073"/>
            <a:ext cx="1604558"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مؤشرات الاختراق</a:t>
            </a:r>
          </a:p>
        </p:txBody>
      </p:sp>
      <p:sp>
        <p:nvSpPr>
          <p:cNvPr id="7" name="Text 6"/>
          <p:cNvSpPr txBox="1"/>
          <p:nvPr/>
        </p:nvSpPr>
        <p:spPr>
          <a:xfrm>
            <a:off x="9182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IoC</a:t>
            </a:r>
          </a:p>
        </p:txBody>
      </p:sp>
      <p:sp>
        <p:nvSpPr>
          <p:cNvPr id="8" name="Text 7"/>
          <p:cNvSpPr txBox="1"/>
          <p:nvPr/>
        </p:nvSpPr>
        <p:spPr>
          <a:xfrm>
            <a:off x="9193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آثار تدل على هجوم، مثل عنوان أو نطاق أو بصمة ملف ضار.</a:t>
            </a:r>
          </a:p>
        </p:txBody>
      </p:sp>
      <p:sp>
        <p:nvSpPr>
          <p:cNvPr id="9" name="Box 8"/>
          <p:cNvSpPr/>
          <p:nvPr/>
        </p:nvSpPr>
        <p:spPr>
          <a:xfrm>
            <a:off x="43973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0" name="Text 9"/>
          <p:cNvSpPr txBox="1"/>
          <p:nvPr/>
        </p:nvSpPr>
        <p:spPr>
          <a:xfrm>
            <a:off x="5693890" y="2042073"/>
            <a:ext cx="190706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حجب الخدمة الموزع</a:t>
            </a:r>
          </a:p>
        </p:txBody>
      </p:sp>
      <p:sp>
        <p:nvSpPr>
          <p:cNvPr id="11" name="Text 10"/>
          <p:cNvSpPr txBox="1"/>
          <p:nvPr/>
        </p:nvSpPr>
        <p:spPr>
          <a:xfrm>
            <a:off x="4499610" y="2080395"/>
            <a:ext cx="45726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DDoS</a:t>
            </a:r>
          </a:p>
        </p:txBody>
      </p:sp>
      <p:sp>
        <p:nvSpPr>
          <p:cNvPr id="12" name="Text 11"/>
          <p:cNvSpPr txBox="1"/>
          <p:nvPr/>
        </p:nvSpPr>
        <p:spPr>
          <a:xfrm>
            <a:off x="45007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إغراق خدمة بطلبات كثيرة من أجهزة متعددة حتى تتوقف.</a:t>
            </a:r>
          </a:p>
        </p:txBody>
      </p:sp>
      <p:sp>
        <p:nvSpPr>
          <p:cNvPr id="13" name="Box 12"/>
          <p:cNvSpPr/>
          <p:nvPr/>
        </p:nvSpPr>
        <p:spPr>
          <a:xfrm>
            <a:off x="7978775" y="188138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4" name="Text 13"/>
          <p:cNvSpPr txBox="1"/>
          <p:nvPr/>
        </p:nvSpPr>
        <p:spPr>
          <a:xfrm>
            <a:off x="8660106" y="2042073"/>
            <a:ext cx="252224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جدار حماية تطبيقات الويب</a:t>
            </a:r>
          </a:p>
        </p:txBody>
      </p:sp>
      <p:sp>
        <p:nvSpPr>
          <p:cNvPr id="15" name="Text 14"/>
          <p:cNvSpPr txBox="1"/>
          <p:nvPr/>
        </p:nvSpPr>
        <p:spPr>
          <a:xfrm>
            <a:off x="8081010" y="208039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WAF</a:t>
            </a:r>
          </a:p>
        </p:txBody>
      </p:sp>
      <p:sp>
        <p:nvSpPr>
          <p:cNvPr id="16" name="Text 15"/>
          <p:cNvSpPr txBox="1"/>
          <p:nvPr/>
        </p:nvSpPr>
        <p:spPr>
          <a:xfrm>
            <a:off x="8082153" y="232906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يحمي مواقع الويب من الهجمات على التطبيق نفسه، مثل حقن الأوامر.</a:t>
            </a:r>
          </a:p>
        </p:txBody>
      </p:sp>
      <p:sp>
        <p:nvSpPr>
          <p:cNvPr id="17" name="Box 16"/>
          <p:cNvSpPr/>
          <p:nvPr/>
        </p:nvSpPr>
        <p:spPr>
          <a:xfrm>
            <a:off x="8159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18" name="Text 17"/>
          <p:cNvSpPr txBox="1"/>
          <p:nvPr/>
        </p:nvSpPr>
        <p:spPr>
          <a:xfrm>
            <a:off x="2527598" y="3343823"/>
            <a:ext cx="1491952"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مزامنة التوقيت</a:t>
            </a:r>
          </a:p>
        </p:txBody>
      </p:sp>
      <p:sp>
        <p:nvSpPr>
          <p:cNvPr id="19" name="Text 18"/>
          <p:cNvSpPr txBox="1"/>
          <p:nvPr/>
        </p:nvSpPr>
        <p:spPr>
          <a:xfrm>
            <a:off x="9182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NTP</a:t>
            </a:r>
          </a:p>
        </p:txBody>
      </p:sp>
      <p:sp>
        <p:nvSpPr>
          <p:cNvPr id="20" name="Text 19"/>
          <p:cNvSpPr txBox="1"/>
          <p:nvPr/>
        </p:nvSpPr>
        <p:spPr>
          <a:xfrm>
            <a:off x="9193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بروتوكول يوحّد ساعة كل الأنظمة، فتتطابق أوقات السجلات.</a:t>
            </a:r>
          </a:p>
        </p:txBody>
      </p:sp>
      <p:sp>
        <p:nvSpPr>
          <p:cNvPr id="21" name="Box 20"/>
          <p:cNvSpPr/>
          <p:nvPr/>
        </p:nvSpPr>
        <p:spPr>
          <a:xfrm>
            <a:off x="43973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2" name="Text 21"/>
          <p:cNvSpPr txBox="1"/>
          <p:nvPr/>
        </p:nvSpPr>
        <p:spPr>
          <a:xfrm>
            <a:off x="5851196" y="3343823"/>
            <a:ext cx="174975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منع تسرب البيانات</a:t>
            </a:r>
          </a:p>
        </p:txBody>
      </p:sp>
      <p:sp>
        <p:nvSpPr>
          <p:cNvPr id="23" name="Text 22"/>
          <p:cNvSpPr txBox="1"/>
          <p:nvPr/>
        </p:nvSpPr>
        <p:spPr>
          <a:xfrm>
            <a:off x="4499610" y="3382145"/>
            <a:ext cx="36578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DLP</a:t>
            </a:r>
          </a:p>
        </p:txBody>
      </p:sp>
      <p:sp>
        <p:nvSpPr>
          <p:cNvPr id="24" name="Text 23"/>
          <p:cNvSpPr txBox="1"/>
          <p:nvPr/>
        </p:nvSpPr>
        <p:spPr>
          <a:xfrm>
            <a:off x="45007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تقنية تكشف خروج البيانات الحساسة عبر البريد أو الوسائط وتمنعه.</a:t>
            </a:r>
          </a:p>
        </p:txBody>
      </p:sp>
      <p:sp>
        <p:nvSpPr>
          <p:cNvPr id="25" name="Box 24"/>
          <p:cNvSpPr/>
          <p:nvPr/>
        </p:nvSpPr>
        <p:spPr>
          <a:xfrm>
            <a:off x="7978775" y="3183136"/>
            <a:ext cx="3397250" cy="1117600"/>
          </a:xfrm>
          <a:prstGeom prst="roundRect">
            <a:avLst>
              <a:gd name="adj" fmla="val 11299"/>
            </a:avLst>
          </a:prstGeom>
          <a:solidFill>
            <a:srgbClr val="FCFBF8"/>
          </a:solidFill>
          <a:ln w="6350">
            <a:solidFill>
              <a:srgbClr val="DDD7CA"/>
            </a:solidFill>
          </a:ln>
        </p:spPr>
        <p:txBody>
          <a:bodyPr rtlCol="0" anchor="ctr"/>
          <a:lstStyle/>
          <a:p>
            <a:pPr algn="ctr"/>
          </a:p>
        </p:txBody>
      </p:sp>
      <p:sp>
        <p:nvSpPr>
          <p:cNvPr id="26" name="Text 25"/>
          <p:cNvSpPr txBox="1"/>
          <p:nvPr/>
        </p:nvSpPr>
        <p:spPr>
          <a:xfrm>
            <a:off x="8986611" y="3343823"/>
            <a:ext cx="2195739"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مقياس خطورة الثغرات</a:t>
            </a:r>
          </a:p>
        </p:txBody>
      </p:sp>
      <p:sp>
        <p:nvSpPr>
          <p:cNvPr id="27" name="Text 26"/>
          <p:cNvSpPr txBox="1"/>
          <p:nvPr/>
        </p:nvSpPr>
        <p:spPr>
          <a:xfrm>
            <a:off x="8081010" y="3382145"/>
            <a:ext cx="457260" cy="205680"/>
          </a:xfrm>
          <a:prstGeom prst="rect">
            <a:avLst/>
          </a:prstGeom>
          <a:noFill/>
        </p:spPr>
        <p:txBody>
          <a:bodyPr wrap="square" tIns="0" rIns="0" bIns="0" lIns="0" anchor="t" rtlCol="0" anchorCtr="0">
            <a:noAutofit/>
          </a:bodyPr>
          <a:lstStyle/>
          <a:p>
            <a:pPr algn="r">
              <a:lnSpc>
                <a:spcPts val="1620"/>
              </a:lnSpc>
              <a:spcBef>
                <a:spcPts val="0"/>
              </a:spcBef>
              <a:spcAft>
                <a:spcPts val="0"/>
              </a:spcAft>
            </a:pPr>
            <a:r>
              <a:rPr sz="1200" b="1" i="0">
                <a:solidFill>
                  <a:srgbClr val="0B6F7C"/>
                </a:solidFill>
                <a:latin typeface="IBM Plex Mono"/>
                <a:ea typeface="IBM Plex Mono"/>
                <a:cs typeface="IBM Plex Mono"/>
              </a:rPr>
              <a:t>CVSS</a:t>
            </a:r>
          </a:p>
        </p:txBody>
      </p:sp>
      <p:sp>
        <p:nvSpPr>
          <p:cNvPr id="28" name="Text 27"/>
          <p:cNvSpPr txBox="1"/>
          <p:nvPr/>
        </p:nvSpPr>
        <p:spPr>
          <a:xfrm>
            <a:off x="8082153" y="3630811"/>
            <a:ext cx="3100197"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مقياس عالمي من 0 إلى 10 لتصنيف خطورة الثغرات.</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30" name="Box 29"/>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31" name="Box 30"/>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09720" y="812800"/>
            <a:ext cx="1869480"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تمرين 1 · فردي · 10 دقائق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صنّف: أصل، أم تهديد، أم ثغرة، أم ضابط؟</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عنصر، اكتب نوعه. وإن كان ضابطاً، فاذكر طبيعته (إداري، تقني، مادي) ووظيفته (وقائي، كشفي، تصحيحي).</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5557421" y="2975370"/>
            <a:ext cx="264259"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ب</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رسالة تصيد تنتحل بنكاً معروفاً</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10974467" y="2975370"/>
            <a:ext cx="148967"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أ</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خادم قاعدة بيانات الموارد البشرية</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5589568" y="3686570"/>
            <a:ext cx="199965"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د</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التحقق متعدد العوامل على البريد</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0B6F7C"/>
          </a:solidFill>
          <a:ln>
            <a:noFill/>
          </a:ln>
        </p:spPr>
        <p:txBody>
          <a:bodyPr rtlCol="0" anchor="ctr"/>
          <a:lstStyle/>
          <a:p>
            <a:pPr algn="ctr"/>
          </a:p>
        </p:txBody>
      </p:sp>
      <p:sp>
        <p:nvSpPr>
          <p:cNvPr id="23" name="Text 22"/>
          <p:cNvSpPr txBox="1"/>
          <p:nvPr/>
        </p:nvSpPr>
        <p:spPr>
          <a:xfrm>
            <a:off x="10938550" y="36865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ج</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نظام تشغيل لم يُحدَّث منذ سنة</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5591254" y="4397770"/>
            <a:ext cx="19669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و</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كاميرا عند باب غرفة الخوادم</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10915650" y="4397770"/>
            <a:ext cx="266700"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هـ</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موظف يكتب كلمة المرور على ورقة بجانب الشاشة</a:t>
            </a:r>
          </a:p>
        </p:txBody>
      </p:sp>
      <p:sp>
        <p:nvSpPr>
          <p:cNvPr id="33" name="Box 32"/>
          <p:cNvSpPr/>
          <p:nvPr/>
        </p:nvSpPr>
        <p:spPr>
          <a:xfrm>
            <a:off x="8159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4" name="Box 33"/>
          <p:cNvSpPr/>
          <p:nvPr/>
        </p:nvSpPr>
        <p:spPr>
          <a:xfrm>
            <a:off x="5530850" y="5021461"/>
            <a:ext cx="317500" cy="317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5579150" y="51089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ح</a:t>
            </a:r>
          </a:p>
        </p:txBody>
      </p:sp>
      <p:sp>
        <p:nvSpPr>
          <p:cNvPr id="36" name="Text 35"/>
          <p:cNvSpPr txBox="1"/>
          <p:nvPr/>
        </p:nvSpPr>
        <p:spPr>
          <a:xfrm>
            <a:off x="8382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برمجية فدية تشفّر الملفات</a:t>
            </a:r>
          </a:p>
        </p:txBody>
      </p:sp>
      <p:sp>
        <p:nvSpPr>
          <p:cNvPr id="37" name="Box 36"/>
          <p:cNvSpPr/>
          <p:nvPr/>
        </p:nvSpPr>
        <p:spPr>
          <a:xfrm>
            <a:off x="61753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8" name="Box 37"/>
          <p:cNvSpPr/>
          <p:nvPr/>
        </p:nvSpPr>
        <p:spPr>
          <a:xfrm>
            <a:off x="10890250" y="5021461"/>
            <a:ext cx="317500" cy="317500"/>
          </a:xfrm>
          <a:prstGeom prst="roundRect">
            <a:avLst>
              <a:gd name="adj" fmla="val 50000"/>
            </a:avLst>
          </a:prstGeom>
          <a:solidFill>
            <a:srgbClr val="0B6F7C"/>
          </a:solidFill>
          <a:ln>
            <a:noFill/>
          </a:ln>
        </p:spPr>
        <p:txBody>
          <a:bodyPr rtlCol="0" anchor="ctr"/>
          <a:lstStyle/>
          <a:p>
            <a:pPr algn="ctr"/>
          </a:p>
        </p:txBody>
      </p:sp>
      <p:sp>
        <p:nvSpPr>
          <p:cNvPr id="39" name="Text 38"/>
          <p:cNvSpPr txBox="1"/>
          <p:nvPr/>
        </p:nvSpPr>
        <p:spPr>
          <a:xfrm>
            <a:off x="10971391" y="5108970"/>
            <a:ext cx="155218"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ز</a:t>
            </a:r>
          </a:p>
        </p:txBody>
      </p:sp>
      <p:sp>
        <p:nvSpPr>
          <p:cNvPr id="40" name="Text 39"/>
          <p:cNvSpPr txBox="1"/>
          <p:nvPr/>
        </p:nvSpPr>
        <p:spPr>
          <a:xfrm>
            <a:off x="61976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البوابة الإلكترونية لخدمات المستفيدين</a:t>
            </a:r>
          </a:p>
        </p:txBody>
      </p:sp>
      <p:sp>
        <p:nvSpPr>
          <p:cNvPr id="41" name="Text 4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42" name="Box 41"/>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43" name="Box 42"/>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Box 4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Box 4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Box 4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Text 5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حل التمرين 1</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الحل ونقاط النقاش</a:t>
            </a:r>
          </a:p>
        </p:txBody>
      </p:sp>
      <p:graphicFrame>
        <p:nvGraphicFramePr>
          <p:cNvPr id="5" name="Table 4"/>
          <p:cNvGraphicFramePr>
            <a:graphicFrameLocks noGrp="1"/>
          </p:cNvGraphicFramePr>
          <p:nvPr/>
        </p:nvGraphicFramePr>
        <p:xfrm>
          <a:off x="815975" y="1855986"/>
          <a:ext cx="10560050" cy="3004839"/>
        </p:xfrm>
        <a:graphic>
          <a:graphicData uri="http://schemas.openxmlformats.org/drawingml/2006/table">
            <a:tbl>
              <a:tblPr firstRow="0" bandRow="0" lastRow="0" firstCol="0" lastCol="0" bandCol="0">
                <a:tableStyleId>{2D5ABB26-0587-4C30-8999-92F81FD0307C}</a:tableStyleId>
              </a:tblPr>
              <a:tblGrid>
                <a:gridCol w="4646295"/>
                <a:gridCol w="2112010"/>
                <a:gridCol w="380174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لماذا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النوع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العنصر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يحوي بيانات حساسة للموظفين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أصل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 · خادم قاعدة بيانات الموارد البشرية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وسيلة هجوم تستهدف الموظفين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تهديد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 · رسالة تصيد تنتحل بنكاً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ضعف معروف يمكن استغلاله</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ثغرة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 · نظام تشغيل بلا تحديث</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يمنع الدخول بكلمة مرور مسروقة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ضابط تقني وقائي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د · التحقق متعدد العوامل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سلوك يسهل سرقة الحساب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ثغرة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هـ · كلمة المرور على ورقة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يكشف الدخول ويسجله، مع أثر رادع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ضابط مادي كشفي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و · كاميرا عند غرفة الخوادم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خدمة مهمة مواجهة للإنترنت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أصل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ز · البوابة الإلكترونية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تمس التوافر، وقد تمس السرية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تهديد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 · برمجية فدية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01 · مفاهيم أساسية</a:t>
            </a:r>
          </a:p>
        </p:txBody>
      </p:sp>
      <p:sp>
        <p:nvSpPr>
          <p:cNvPr id="7" name="Box 6"/>
          <p:cNvSpPr/>
          <p:nvPr/>
        </p:nvSpPr>
        <p:spPr>
          <a:xfrm>
            <a:off x="2743200" y="6313190"/>
            <a:ext cx="279400" cy="63500"/>
          </a:xfrm>
          <a:prstGeom prst="roundRect">
            <a:avLst>
              <a:gd name="adj" fmla="val 50000"/>
            </a:avLst>
          </a:prstGeom>
          <a:solidFill>
            <a:srgbClr val="0B6F7C"/>
          </a:solidFill>
          <a:ln>
            <a:noFill/>
          </a:ln>
        </p:spPr>
        <p:txBody>
          <a:bodyPr rtlCol="0" anchor="ctr"/>
          <a:lstStyle/>
          <a:p>
            <a:pPr algn="ctr"/>
          </a:p>
        </p:txBody>
      </p:sp>
      <p:sp>
        <p:nvSpPr>
          <p:cNvPr id="8" name="Box 7"/>
          <p:cNvSpPr/>
          <p:nvPr/>
        </p:nvSpPr>
        <p:spPr>
          <a:xfrm>
            <a:off x="2565400" y="6313190"/>
            <a:ext cx="139700" cy="63500"/>
          </a:xfrm>
          <a:prstGeom prst="roundRect">
            <a:avLst>
              <a:gd name="adj" fmla="val 50000"/>
            </a:avLst>
          </a:prstGeom>
          <a:solidFill>
            <a:srgbClr val="DDD7CA"/>
          </a:solidFill>
          <a:ln>
            <a:noFill/>
          </a:ln>
        </p:spPr>
        <p:txBody>
          <a:bodyPr rtlCol="0" anchor="ctr"/>
          <a:lstStyle/>
          <a:p>
            <a:pPr algn="ctr"/>
          </a:p>
        </p:txBody>
      </p:sp>
      <p:sp>
        <p:nvSpPr>
          <p:cNvPr id="9" name="Box 8"/>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8665468" y="285750"/>
            <a:ext cx="1404838"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02 · أساسيات ECC</a:t>
            </a:r>
          </a:p>
        </p:txBody>
      </p:sp>
      <p:sp>
        <p:nvSpPr>
          <p:cNvPr id="6" name="Text box 5"/>
          <p:cNvSpPr/>
          <p:nvPr/>
        </p:nvSpPr>
        <p:spPr>
          <a:xfrm>
            <a:off x="8216007" y="282575"/>
            <a:ext cx="38278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7762577" y="282575"/>
            <a:ext cx="383580"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7306171" y="282575"/>
            <a:ext cx="38655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6848376"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398220"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5940425"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482927"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48341" y="899795"/>
            <a:ext cx="2430859"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02</a:t>
            </a:r>
          </a:p>
        </p:txBody>
      </p:sp>
      <p:sp>
        <p:nvSpPr>
          <p:cNvPr id="14" name="Text 13"/>
          <p:cNvSpPr txBox="1"/>
          <p:nvPr/>
        </p:nvSpPr>
        <p:spPr>
          <a:xfrm>
            <a:off x="125381" y="1000629"/>
            <a:ext cx="92801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02</a:t>
            </a:r>
          </a:p>
        </p:txBody>
      </p:sp>
      <p:sp>
        <p:nvSpPr>
          <p:cNvPr id="15" name="Text 14"/>
          <p:cNvSpPr txBox="1"/>
          <p:nvPr/>
        </p:nvSpPr>
        <p:spPr>
          <a:xfrm>
            <a:off x="125381" y="1342898"/>
            <a:ext cx="9280160"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أساسيات ‎ECC-2:2024‎</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ما الضوابط، ومن يلتزم بها، وكيف بُنيت، والنمط الذي يتكرر في أغلب المكونات الفرعية.</a:t>
            </a:r>
          </a:p>
        </p:txBody>
      </p:sp>
      <p:sp>
        <p:nvSpPr>
          <p:cNvPr id="17" name="Rule 16"/>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19" name="Text 18"/>
          <p:cNvSpPr txBox="1"/>
          <p:nvPr/>
        </p:nvSpPr>
        <p:spPr>
          <a:xfrm>
            <a:off x="13066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النطاق وقابلية التطبيق</a:t>
            </a:r>
          </a:p>
        </p:txBody>
      </p:sp>
      <p:sp>
        <p:nvSpPr>
          <p:cNvPr id="20" name="Text 19"/>
          <p:cNvSpPr txBox="1"/>
          <p:nvPr/>
        </p:nvSpPr>
        <p:spPr>
          <a:xfrm>
            <a:off x="8128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26</a:t>
            </a:r>
          </a:p>
        </p:txBody>
      </p:sp>
      <p:sp>
        <p:nvSpPr>
          <p:cNvPr id="21" name="Rule 20"/>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23" name="Text 22"/>
          <p:cNvSpPr txBox="1"/>
          <p:nvPr/>
        </p:nvSpPr>
        <p:spPr>
          <a:xfrm>
            <a:off x="67422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التعريف والأساس النظامي</a:t>
            </a:r>
          </a:p>
        </p:txBody>
      </p:sp>
      <p:sp>
        <p:nvSpPr>
          <p:cNvPr id="24" name="Text 23"/>
          <p:cNvSpPr txBox="1"/>
          <p:nvPr/>
        </p:nvSpPr>
        <p:spPr>
          <a:xfrm>
            <a:off x="62484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25</a:t>
            </a:r>
          </a:p>
        </p:txBody>
      </p:sp>
      <p:sp>
        <p:nvSpPr>
          <p:cNvPr id="25" name="Rule 24"/>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27" name="Text 26"/>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ECC والضوابط المكملة</a:t>
            </a:r>
          </a:p>
        </p:txBody>
      </p:sp>
      <p:sp>
        <p:nvSpPr>
          <p:cNvPr id="28" name="Text 27"/>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28</a:t>
            </a:r>
          </a:p>
        </p:txBody>
      </p:sp>
      <p:sp>
        <p:nvSpPr>
          <p:cNvPr id="29" name="Rule 28"/>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31" name="Text 30"/>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البنية وقراءة رمز الضابط</a:t>
            </a:r>
          </a:p>
        </p:txBody>
      </p:sp>
      <p:sp>
        <p:nvSpPr>
          <p:cNvPr id="32" name="Text 31"/>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27</a:t>
            </a:r>
          </a:p>
        </p:txBody>
      </p:sp>
      <p:sp>
        <p:nvSpPr>
          <p:cNvPr id="33" name="Rule 32"/>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06</a:t>
            </a:r>
          </a:p>
        </p:txBody>
      </p:sp>
      <p:sp>
        <p:nvSpPr>
          <p:cNvPr id="35" name="Text 34"/>
          <p:cNvSpPr txBox="1"/>
          <p:nvPr/>
        </p:nvSpPr>
        <p:spPr>
          <a:xfrm>
            <a:off x="13066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هرم الوثائق</a:t>
            </a:r>
          </a:p>
        </p:txBody>
      </p:sp>
      <p:sp>
        <p:nvSpPr>
          <p:cNvPr id="36" name="Text 35"/>
          <p:cNvSpPr txBox="1"/>
          <p:nvPr/>
        </p:nvSpPr>
        <p:spPr>
          <a:xfrm>
            <a:off x="8128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30</a:t>
            </a:r>
          </a:p>
        </p:txBody>
      </p:sp>
      <p:sp>
        <p:nvSpPr>
          <p:cNvPr id="37" name="Rule 36"/>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9" name="Text 38"/>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الطبقات الأربع</a:t>
            </a:r>
          </a:p>
        </p:txBody>
      </p:sp>
      <p:sp>
        <p:nvSpPr>
          <p:cNvPr id="40" name="Text 39"/>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29</a:t>
            </a:r>
          </a:p>
        </p:txBody>
      </p:sp>
      <p:sp>
        <p:nvSpPr>
          <p:cNvPr id="41" name="Rule 40"/>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07</a:t>
            </a:r>
          </a:p>
        </p:txBody>
      </p:sp>
      <p:sp>
        <p:nvSpPr>
          <p:cNvPr id="43" name="Text 42"/>
          <p:cNvSpPr txBox="1"/>
          <p:nvPr/>
        </p:nvSpPr>
        <p:spPr>
          <a:xfrm>
            <a:off x="67422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تمرين ربط الأدلة</a:t>
            </a:r>
          </a:p>
        </p:txBody>
      </p:sp>
      <p:sp>
        <p:nvSpPr>
          <p:cNvPr id="44" name="Text 43"/>
          <p:cNvSpPr txBox="1"/>
          <p:nvPr/>
        </p:nvSpPr>
        <p:spPr>
          <a:xfrm>
            <a:off x="62484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 الضوابط الأساسية، ولماذا هي ملزمة</a:t>
            </a:r>
          </a:p>
        </p:txBody>
      </p:sp>
      <p:sp>
        <p:nvSpPr>
          <p:cNvPr id="5" name="Box 4"/>
          <p:cNvSpPr/>
          <p:nvPr/>
        </p:nvSpPr>
        <p:spPr>
          <a:xfrm>
            <a:off x="815975" y="1881386"/>
            <a:ext cx="5187950" cy="1912938"/>
          </a:xfrm>
          <a:prstGeom prst="roundRect">
            <a:avLst>
              <a:gd name="adj" fmla="val 6617"/>
            </a:avLst>
          </a:prstGeom>
          <a:solidFill>
            <a:srgbClr val="FCFBF8"/>
          </a:solidFill>
          <a:ln w="6350">
            <a:solidFill>
              <a:srgbClr val="DDD7CA"/>
            </a:solidFill>
          </a:ln>
        </p:spPr>
        <p:txBody>
          <a:bodyPr rtlCol="0" anchor="ctr"/>
          <a:lstStyle/>
          <a:p>
            <a:pPr algn="ctr"/>
          </a:p>
        </p:txBody>
      </p:sp>
      <p:sp>
        <p:nvSpPr>
          <p:cNvPr id="6" name="Box 5"/>
          <p:cNvSpPr/>
          <p:nvPr/>
        </p:nvSpPr>
        <p:spPr>
          <a:xfrm>
            <a:off x="5429250" y="2075061"/>
            <a:ext cx="381000" cy="381000"/>
          </a:xfrm>
          <a:prstGeom prst="roundRect">
            <a:avLst>
              <a:gd name="adj" fmla="val 26666"/>
            </a:avLst>
          </a:prstGeom>
          <a:solidFill>
            <a:srgbClr val="DCEEEF"/>
          </a:solidFill>
          <a:ln>
            <a:noFill/>
          </a:ln>
        </p:spPr>
        <p:txBody>
          <a:bodyPr rtlCol="0" anchor="ctr"/>
          <a:lstStyle/>
          <a:p>
            <a:pPr algn="ctr"/>
          </a:p>
        </p:txBody>
      </p:sp>
      <p:pic>
        <p:nvPicPr>
          <p:cNvPr id="7" name="Icon Verified 6" descr="icon008.png"/>
          <p:cNvPicPr>
            <a:picLocks noChangeAspect="1"/>
          </p:cNvPicPr>
          <p:nvPr/>
        </p:nvPicPr>
        <p:blipFill>
          <a:blip r:embed="rId2"/>
          <a:stretch>
            <a:fillRect/>
          </a:stretch>
        </p:blipFill>
        <p:spPr>
          <a:xfrm>
            <a:off x="5514975" y="2160786"/>
            <a:ext cx="209550" cy="209550"/>
          </a:xfrm>
          <a:prstGeom prst="rect">
            <a:avLst/>
          </a:prstGeom>
        </p:spPr>
      </p:pic>
      <p:sp>
        <p:nvSpPr>
          <p:cNvPr id="8" name="Text 7"/>
          <p:cNvSpPr txBox="1"/>
          <p:nvPr/>
        </p:nvSpPr>
        <p:spPr>
          <a:xfrm>
            <a:off x="838200" y="2510620"/>
            <a:ext cx="49720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الأساس النظامي</a:t>
            </a:r>
          </a:p>
        </p:txBody>
      </p:sp>
      <p:sp>
        <p:nvSpPr>
          <p:cNvPr id="9" name="Text 8"/>
          <p:cNvSpPr txBox="1"/>
          <p:nvPr/>
        </p:nvSpPr>
        <p:spPr>
          <a:xfrm>
            <a:off x="865632" y="2852984"/>
            <a:ext cx="4944618"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المادة العاشرة (الفقرة 3) من تنظيم الهيئة، والأمر السامي رقم 57231 وتاريخ ‎1439/11/10‎هـ: على الجهات اتخاذ ما يلزم لضمان الالتزام المستمر بالضوابط.</a:t>
            </a:r>
          </a:p>
        </p:txBody>
      </p:sp>
      <p:sp>
        <p:nvSpPr>
          <p:cNvPr id="10" name="Box 9"/>
          <p:cNvSpPr/>
          <p:nvPr/>
        </p:nvSpPr>
        <p:spPr>
          <a:xfrm>
            <a:off x="6188075" y="1881386"/>
            <a:ext cx="5187950" cy="1912938"/>
          </a:xfrm>
          <a:prstGeom prst="roundRect">
            <a:avLst>
              <a:gd name="adj" fmla="val 6617"/>
            </a:avLst>
          </a:prstGeom>
          <a:solidFill>
            <a:srgbClr val="FCFBF8"/>
          </a:solidFill>
          <a:ln w="6350">
            <a:solidFill>
              <a:srgbClr val="DDD7CA"/>
            </a:solidFill>
          </a:ln>
        </p:spPr>
        <p:txBody>
          <a:bodyPr rtlCol="0" anchor="ctr"/>
          <a:lstStyle/>
          <a:p>
            <a:pPr algn="ctr"/>
          </a:p>
        </p:txBody>
      </p:sp>
      <p:sp>
        <p:nvSpPr>
          <p:cNvPr id="11" name="Box 10"/>
          <p:cNvSpPr/>
          <p:nvPr/>
        </p:nvSpPr>
        <p:spPr>
          <a:xfrm>
            <a:off x="10801350" y="2075061"/>
            <a:ext cx="381000" cy="381000"/>
          </a:xfrm>
          <a:prstGeom prst="roundRect">
            <a:avLst>
              <a:gd name="adj" fmla="val 26666"/>
            </a:avLst>
          </a:prstGeom>
          <a:solidFill>
            <a:srgbClr val="DCEEEF"/>
          </a:solidFill>
          <a:ln>
            <a:noFill/>
          </a:ln>
        </p:spPr>
        <p:txBody>
          <a:bodyPr rtlCol="0" anchor="ctr"/>
          <a:lstStyle/>
          <a:p>
            <a:pPr algn="ctr"/>
          </a:p>
        </p:txBody>
      </p:sp>
      <p:pic>
        <p:nvPicPr>
          <p:cNvPr id="12" name="Icon Book 11" descr="icon006.png"/>
          <p:cNvPicPr>
            <a:picLocks noChangeAspect="1"/>
          </p:cNvPicPr>
          <p:nvPr/>
        </p:nvPicPr>
        <p:blipFill>
          <a:blip r:embed="rId3"/>
          <a:stretch>
            <a:fillRect/>
          </a:stretch>
        </p:blipFill>
        <p:spPr>
          <a:xfrm>
            <a:off x="10887075" y="2160786"/>
            <a:ext cx="209550" cy="209550"/>
          </a:xfrm>
          <a:prstGeom prst="rect">
            <a:avLst/>
          </a:prstGeom>
        </p:spPr>
      </p:pic>
      <p:sp>
        <p:nvSpPr>
          <p:cNvPr id="13" name="Text 12"/>
          <p:cNvSpPr txBox="1"/>
          <p:nvPr/>
        </p:nvSpPr>
        <p:spPr>
          <a:xfrm>
            <a:off x="6210300" y="2510620"/>
            <a:ext cx="49720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التعريف</a:t>
            </a:r>
          </a:p>
        </p:txBody>
      </p:sp>
      <p:sp>
        <p:nvSpPr>
          <p:cNvPr id="14" name="Text 13"/>
          <p:cNvSpPr txBox="1"/>
          <p:nvPr/>
        </p:nvSpPr>
        <p:spPr>
          <a:xfrm>
            <a:off x="6237732" y="2852984"/>
            <a:ext cx="4944618"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الحد الأدنى من متطلبات الأمن السيبراني للجهات الوطنية، مبني على أفضل الممارسات والمعايير، لتقليل التهديدات الداخلية والخارجية على أصولها المعلوماتية والتقنية.</a:t>
            </a:r>
          </a:p>
        </p:txBody>
      </p:sp>
      <p:sp>
        <p:nvSpPr>
          <p:cNvPr id="15" name="Text 14"/>
          <p:cNvSpPr txBox="1"/>
          <p:nvPr/>
        </p:nvSpPr>
        <p:spPr>
          <a:xfrm>
            <a:off x="9100201" y="4002476"/>
            <a:ext cx="227899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أهداف الحماية الثلاثة</a:t>
            </a:r>
          </a:p>
        </p:txBody>
      </p:sp>
      <p:sp>
        <p:nvSpPr>
          <p:cNvPr id="16" name="Text box 15"/>
          <p:cNvSpPr/>
          <p:nvPr/>
        </p:nvSpPr>
        <p:spPr>
          <a:xfrm>
            <a:off x="10759182" y="4331494"/>
            <a:ext cx="61684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السرية</a:t>
            </a:r>
          </a:p>
        </p:txBody>
      </p:sp>
      <p:sp>
        <p:nvSpPr>
          <p:cNvPr id="17" name="Text box 16"/>
          <p:cNvSpPr/>
          <p:nvPr/>
        </p:nvSpPr>
        <p:spPr>
          <a:xfrm>
            <a:off x="9970294" y="4331494"/>
            <a:ext cx="69363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السلامة</a:t>
            </a:r>
          </a:p>
        </p:txBody>
      </p:sp>
      <p:sp>
        <p:nvSpPr>
          <p:cNvPr id="18" name="Text box 17"/>
          <p:cNvSpPr/>
          <p:nvPr/>
        </p:nvSpPr>
        <p:spPr>
          <a:xfrm>
            <a:off x="9272191" y="4331494"/>
            <a:ext cx="60285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التوافر</a:t>
            </a:r>
          </a:p>
        </p:txBody>
      </p:sp>
      <p:sp>
        <p:nvSpPr>
          <p:cNvPr id="19" name="Text 18"/>
          <p:cNvSpPr txBox="1"/>
          <p:nvPr/>
        </p:nvSpPr>
        <p:spPr>
          <a:xfrm>
            <a:off x="5068197" y="4002476"/>
            <a:ext cx="369281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الركائز الأربع</a:t>
            </a:r>
          </a:p>
        </p:txBody>
      </p:sp>
      <p:sp>
        <p:nvSpPr>
          <p:cNvPr id="20" name="Text box 19"/>
          <p:cNvSpPr/>
          <p:nvPr/>
        </p:nvSpPr>
        <p:spPr>
          <a:xfrm>
            <a:off x="7841853" y="4331494"/>
            <a:ext cx="91598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الاستراتيجية</a:t>
            </a:r>
          </a:p>
        </p:txBody>
      </p:sp>
      <p:sp>
        <p:nvSpPr>
          <p:cNvPr id="21" name="Text box 20"/>
          <p:cNvSpPr/>
          <p:nvPr/>
        </p:nvSpPr>
        <p:spPr>
          <a:xfrm>
            <a:off x="6926560" y="4331494"/>
            <a:ext cx="82004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الأشخاص</a:t>
            </a:r>
          </a:p>
        </p:txBody>
      </p:sp>
      <p:sp>
        <p:nvSpPr>
          <p:cNvPr id="22" name="Text box 21"/>
          <p:cNvSpPr/>
          <p:nvPr/>
        </p:nvSpPr>
        <p:spPr>
          <a:xfrm>
            <a:off x="6057305" y="4331494"/>
            <a:ext cx="774005"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الإجراءات</a:t>
            </a:r>
          </a:p>
        </p:txBody>
      </p:sp>
      <p:sp>
        <p:nvSpPr>
          <p:cNvPr id="23" name="Text box 22"/>
          <p:cNvSpPr/>
          <p:nvPr/>
        </p:nvSpPr>
        <p:spPr>
          <a:xfrm>
            <a:off x="5344914" y="4331494"/>
            <a:ext cx="617141"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التقنية</a:t>
            </a:r>
          </a:p>
        </p:txBody>
      </p:sp>
      <p:sp>
        <p:nvSpPr>
          <p:cNvPr id="24" name="Box 23"/>
          <p:cNvSpPr/>
          <p:nvPr/>
        </p:nvSpPr>
        <p:spPr>
          <a:xfrm>
            <a:off x="812800" y="5113139"/>
            <a:ext cx="10566400" cy="808236"/>
          </a:xfrm>
          <a:prstGeom prst="roundRect">
            <a:avLst>
              <a:gd name="adj" fmla="val 15713"/>
            </a:avLst>
          </a:prstGeom>
          <a:solidFill>
            <a:srgbClr val="0E1A2B"/>
          </a:solidFill>
          <a:ln>
            <a:noFill/>
          </a:ln>
        </p:spPr>
        <p:txBody>
          <a:bodyPr rtlCol="0" anchor="ctr"/>
          <a:lstStyle/>
          <a:p>
            <a:pPr algn="ctr"/>
          </a:p>
        </p:txBody>
      </p:sp>
      <p:sp>
        <p:nvSpPr>
          <p:cNvPr id="25" name="Box 24"/>
          <p:cNvSpPr/>
          <p:nvPr/>
        </p:nvSpPr>
        <p:spPr>
          <a:xfrm>
            <a:off x="10782300" y="5326757"/>
            <a:ext cx="381000" cy="381000"/>
          </a:xfrm>
          <a:prstGeom prst="roundRect">
            <a:avLst>
              <a:gd name="adj" fmla="val 23333"/>
            </a:avLst>
          </a:prstGeom>
          <a:solidFill>
            <a:srgbClr val="22344D"/>
          </a:solidFill>
          <a:ln>
            <a:noFill/>
          </a:ln>
        </p:spPr>
        <p:txBody>
          <a:bodyPr rtlCol="0" anchor="ctr"/>
          <a:lstStyle/>
          <a:p>
            <a:pPr algn="ctr"/>
          </a:p>
        </p:txBody>
      </p:sp>
      <p:pic>
        <p:nvPicPr>
          <p:cNvPr id="26" name="Icon Key 25" descr="icon015.png"/>
          <p:cNvPicPr>
            <a:picLocks noChangeAspect="1"/>
          </p:cNvPicPr>
          <p:nvPr/>
        </p:nvPicPr>
        <p:blipFill>
          <a:blip r:embed="rId4"/>
          <a:stretch>
            <a:fillRect/>
          </a:stretch>
        </p:blipFill>
        <p:spPr>
          <a:xfrm>
            <a:off x="10864850" y="5409307"/>
            <a:ext cx="215900" cy="215900"/>
          </a:xfrm>
          <a:prstGeom prst="rect">
            <a:avLst/>
          </a:prstGeom>
        </p:spPr>
      </p:pic>
      <p:sp>
        <p:nvSpPr>
          <p:cNvPr id="27" name="Text 26"/>
          <p:cNvSpPr txBox="1"/>
          <p:nvPr/>
        </p:nvSpPr>
        <p:spPr>
          <a:xfrm>
            <a:off x="838200" y="5254617"/>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28" name="Text 27"/>
          <p:cNvSpPr txBox="1"/>
          <p:nvPr/>
        </p:nvSpPr>
        <p:spPr>
          <a:xfrm>
            <a:off x="838200" y="5487241"/>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الكلمة المفتاحية «الحد الأدنى»: الضوابط ليست وصفاً لجهة مثالية، بل الأرضية التي لا يجوز النزول عنها.</a:t>
            </a:r>
          </a:p>
        </p:txBody>
      </p:sp>
      <p:sp>
        <p:nvSpPr>
          <p:cNvPr id="29" name="Text 2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30" name="Box 2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1" name="Box 30"/>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32" name="Box 31"/>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Text 3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من يلتزم، وما الذي ينطبق، وكيف يُقاس</a:t>
            </a:r>
          </a:p>
        </p:txBody>
      </p:sp>
      <p:sp>
        <p:nvSpPr>
          <p:cNvPr id="5" name="Box 4"/>
          <p:cNvSpPr/>
          <p:nvPr/>
        </p:nvSpPr>
        <p:spPr>
          <a:xfrm>
            <a:off x="815975" y="1881386"/>
            <a:ext cx="3397250" cy="2345928"/>
          </a:xfrm>
          <a:prstGeom prst="roundRect">
            <a:avLst>
              <a:gd name="adj" fmla="val 5399"/>
            </a:avLst>
          </a:prstGeom>
          <a:solidFill>
            <a:srgbClr val="FCFBF8"/>
          </a:solidFill>
          <a:ln w="6350">
            <a:solidFill>
              <a:srgbClr val="DDD7CA"/>
            </a:solidFill>
          </a:ln>
        </p:spPr>
        <p:txBody>
          <a:bodyPr rtlCol="0" anchor="ctr"/>
          <a:lstStyle/>
          <a:p>
            <a:pPr algn="ctr"/>
          </a:p>
        </p:txBody>
      </p:sp>
      <p:sp>
        <p:nvSpPr>
          <p:cNvPr id="6" name="Box 5"/>
          <p:cNvSpPr/>
          <p:nvPr/>
        </p:nvSpPr>
        <p:spPr>
          <a:xfrm>
            <a:off x="3638550" y="2075061"/>
            <a:ext cx="381000" cy="381000"/>
          </a:xfrm>
          <a:prstGeom prst="roundRect">
            <a:avLst>
              <a:gd name="adj" fmla="val 26666"/>
            </a:avLst>
          </a:prstGeom>
          <a:solidFill>
            <a:srgbClr val="DCEEEF"/>
          </a:solidFill>
          <a:ln>
            <a:noFill/>
          </a:ln>
        </p:spPr>
        <p:txBody>
          <a:bodyPr rtlCol="0" anchor="ctr"/>
          <a:lstStyle/>
          <a:p>
            <a:pPr algn="ctr"/>
          </a:p>
        </p:txBody>
      </p:sp>
      <p:pic>
        <p:nvPicPr>
          <p:cNvPr id="7" name="Icon Search 6" descr="icon005.png"/>
          <p:cNvPicPr>
            <a:picLocks noChangeAspect="1"/>
          </p:cNvPicPr>
          <p:nvPr/>
        </p:nvPicPr>
        <p:blipFill>
          <a:blip r:embed="rId2"/>
          <a:stretch>
            <a:fillRect/>
          </a:stretch>
        </p:blipFill>
        <p:spPr>
          <a:xfrm>
            <a:off x="3724275" y="2160786"/>
            <a:ext cx="209550" cy="209550"/>
          </a:xfrm>
          <a:prstGeom prst="rect">
            <a:avLst/>
          </a:prstGeom>
        </p:spPr>
      </p:pic>
      <p:sp>
        <p:nvSpPr>
          <p:cNvPr id="8" name="Text 7"/>
          <p:cNvSpPr txBox="1"/>
          <p:nvPr/>
        </p:nvSpPr>
        <p:spPr>
          <a:xfrm>
            <a:off x="8382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قياس الامتثال</a:t>
            </a:r>
          </a:p>
        </p:txBody>
      </p:sp>
      <p:sp>
        <p:nvSpPr>
          <p:cNvPr id="9" name="Text 8"/>
          <p:cNvSpPr txBox="1"/>
          <p:nvPr/>
        </p:nvSpPr>
        <p:spPr>
          <a:xfrm>
            <a:off x="919353" y="2854127"/>
            <a:ext cx="3100197"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تقيّم الهيئة الالتزام بالزيارات الميدانية للتدقيق، أو بالتقييم الذاتي للجهات، أو وفق الآلية التي تراها مناسبة، وتصدر أداة خاصة لتقييم الالتزام بهذه الضوابط.</a:t>
            </a:r>
          </a:p>
        </p:txBody>
      </p:sp>
      <p:sp>
        <p:nvSpPr>
          <p:cNvPr id="10" name="Box 9"/>
          <p:cNvSpPr/>
          <p:nvPr/>
        </p:nvSpPr>
        <p:spPr>
          <a:xfrm>
            <a:off x="4397375" y="1881386"/>
            <a:ext cx="3397250" cy="2345928"/>
          </a:xfrm>
          <a:prstGeom prst="roundRect">
            <a:avLst>
              <a:gd name="adj" fmla="val 5399"/>
            </a:avLst>
          </a:prstGeom>
          <a:solidFill>
            <a:srgbClr val="FCFBF8"/>
          </a:solidFill>
          <a:ln w="6350">
            <a:solidFill>
              <a:srgbClr val="DDD7CA"/>
            </a:solidFill>
          </a:ln>
        </p:spPr>
        <p:txBody>
          <a:bodyPr rtlCol="0" anchor="ctr"/>
          <a:lstStyle/>
          <a:p>
            <a:pPr algn="ctr"/>
          </a:p>
        </p:txBody>
      </p:sp>
      <p:sp>
        <p:nvSpPr>
          <p:cNvPr id="11" name="Box 10"/>
          <p:cNvSpPr/>
          <p:nvPr/>
        </p:nvSpPr>
        <p:spPr>
          <a:xfrm>
            <a:off x="7219950" y="2075061"/>
            <a:ext cx="381000" cy="381000"/>
          </a:xfrm>
          <a:prstGeom prst="roundRect">
            <a:avLst>
              <a:gd name="adj" fmla="val 26666"/>
            </a:avLst>
          </a:prstGeom>
          <a:solidFill>
            <a:srgbClr val="DCEEEF"/>
          </a:solidFill>
          <a:ln>
            <a:noFill/>
          </a:ln>
        </p:spPr>
        <p:txBody>
          <a:bodyPr rtlCol="0" anchor="ctr"/>
          <a:lstStyle/>
          <a:p>
            <a:pPr algn="ctr"/>
          </a:p>
        </p:txBody>
      </p:sp>
      <p:pic>
        <p:nvPicPr>
          <p:cNvPr id="12" name="Icon CheckCircle 11" descr="icon016.png"/>
          <p:cNvPicPr>
            <a:picLocks noChangeAspect="1"/>
          </p:cNvPicPr>
          <p:nvPr/>
        </p:nvPicPr>
        <p:blipFill>
          <a:blip r:embed="rId3"/>
          <a:stretch>
            <a:fillRect/>
          </a:stretch>
        </p:blipFill>
        <p:spPr>
          <a:xfrm>
            <a:off x="7305675" y="2160786"/>
            <a:ext cx="209550" cy="209550"/>
          </a:xfrm>
          <a:prstGeom prst="rect">
            <a:avLst/>
          </a:prstGeom>
        </p:spPr>
      </p:pic>
      <p:sp>
        <p:nvSpPr>
          <p:cNvPr id="13" name="Text 12"/>
          <p:cNvSpPr txBox="1"/>
          <p:nvPr/>
        </p:nvSpPr>
        <p:spPr>
          <a:xfrm>
            <a:off x="44196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قابلية التطبيق</a:t>
            </a:r>
          </a:p>
        </p:txBody>
      </p:sp>
      <p:sp>
        <p:nvSpPr>
          <p:cNvPr id="14" name="Text 13"/>
          <p:cNvSpPr txBox="1"/>
          <p:nvPr/>
        </p:nvSpPr>
        <p:spPr>
          <a:xfrm>
            <a:off x="4500753" y="2854127"/>
            <a:ext cx="3100197" cy="1150938"/>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تلتزم الجهة بكل الضوابط المنطبقة عليها، وبعضها يختلف حسب طبيعة عملها والتقنيات التي تستخدمها. مثال الوثيقة: ضوابط ‎4-2‎ ملزمة لمن يستخدم الحوسبة السحابية والاستضافة أو يخطط لاستخدامها.</a:t>
            </a:r>
          </a:p>
        </p:txBody>
      </p:sp>
      <p:sp>
        <p:nvSpPr>
          <p:cNvPr id="15" name="Box 14"/>
          <p:cNvSpPr/>
          <p:nvPr/>
        </p:nvSpPr>
        <p:spPr>
          <a:xfrm>
            <a:off x="7978775" y="1881386"/>
            <a:ext cx="3397250" cy="2345928"/>
          </a:xfrm>
          <a:prstGeom prst="roundRect">
            <a:avLst>
              <a:gd name="adj" fmla="val 5399"/>
            </a:avLst>
          </a:prstGeom>
          <a:solidFill>
            <a:srgbClr val="FCFBF8"/>
          </a:solidFill>
          <a:ln w="6350">
            <a:solidFill>
              <a:srgbClr val="DDD7CA"/>
            </a:solidFill>
          </a:ln>
        </p:spPr>
        <p:txBody>
          <a:bodyPr rtlCol="0" anchor="ctr"/>
          <a:lstStyle/>
          <a:p>
            <a:pPr algn="ctr"/>
          </a:p>
        </p:txBody>
      </p:sp>
      <p:sp>
        <p:nvSpPr>
          <p:cNvPr id="16" name="Box 15"/>
          <p:cNvSpPr/>
          <p:nvPr/>
        </p:nvSpPr>
        <p:spPr>
          <a:xfrm>
            <a:off x="10801350" y="2075061"/>
            <a:ext cx="381000" cy="381000"/>
          </a:xfrm>
          <a:prstGeom prst="roundRect">
            <a:avLst>
              <a:gd name="adj" fmla="val 26666"/>
            </a:avLst>
          </a:prstGeom>
          <a:solidFill>
            <a:srgbClr val="DCEEEF"/>
          </a:solidFill>
          <a:ln>
            <a:noFill/>
          </a:ln>
        </p:spPr>
        <p:txBody>
          <a:bodyPr rtlCol="0" anchor="ctr"/>
          <a:lstStyle/>
          <a:p>
            <a:pPr algn="ctr"/>
          </a:p>
        </p:txBody>
      </p:sp>
      <p:pic>
        <p:nvPicPr>
          <p:cNvPr id="17" name="Icon Users 16" descr="icon001.png"/>
          <p:cNvPicPr>
            <a:picLocks noChangeAspect="1"/>
          </p:cNvPicPr>
          <p:nvPr/>
        </p:nvPicPr>
        <p:blipFill>
          <a:blip r:embed="rId4"/>
          <a:stretch>
            <a:fillRect/>
          </a:stretch>
        </p:blipFill>
        <p:spPr>
          <a:xfrm>
            <a:off x="10887075" y="2160786"/>
            <a:ext cx="209550" cy="209550"/>
          </a:xfrm>
          <a:prstGeom prst="rect">
            <a:avLst/>
          </a:prstGeom>
        </p:spPr>
      </p:pic>
      <p:sp>
        <p:nvSpPr>
          <p:cNvPr id="18" name="Text 17"/>
          <p:cNvSpPr txBox="1"/>
          <p:nvPr/>
        </p:nvSpPr>
        <p:spPr>
          <a:xfrm>
            <a:off x="8001000" y="2510620"/>
            <a:ext cx="3181350"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نطاق العمل</a:t>
            </a:r>
          </a:p>
        </p:txBody>
      </p:sp>
      <p:sp>
        <p:nvSpPr>
          <p:cNvPr id="19" name="Text 18"/>
          <p:cNvSpPr txBox="1"/>
          <p:nvPr/>
        </p:nvSpPr>
        <p:spPr>
          <a:xfrm>
            <a:off x="8082153" y="2854127"/>
            <a:ext cx="3100197"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الجهات الحكومية من وزارات وهيئات ومؤسسات وغيرها، وشركاتها والجهات التابعة لها داخل المملكة وخارجها. وجهات القطاع الخاص التي تملك أو تشغّل أو تستضيف بنى تحتية وطنية حساسة.</a:t>
            </a:r>
          </a:p>
        </p:txBody>
      </p:sp>
      <p:sp>
        <p:nvSpPr>
          <p:cNvPr id="20" name="Box 19"/>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1" name="Box 20"/>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2" name="Icon Lightbulb 21" descr="icon022.png"/>
          <p:cNvPicPr>
            <a:picLocks noChangeAspect="1"/>
          </p:cNvPicPr>
          <p:nvPr/>
        </p:nvPicPr>
        <p:blipFill>
          <a:blip r:embed="rId5"/>
          <a:stretch>
            <a:fillRect/>
          </a:stretch>
        </p:blipFill>
        <p:spPr>
          <a:xfrm>
            <a:off x="10864850" y="5329932"/>
            <a:ext cx="215900" cy="215900"/>
          </a:xfrm>
          <a:prstGeom prst="rect">
            <a:avLst/>
          </a:prstGeom>
        </p:spPr>
      </p:pic>
      <p:sp>
        <p:nvSpPr>
          <p:cNvPr id="23" name="Text 22"/>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نصيحة عملية</a:t>
            </a:r>
          </a:p>
        </p:txBody>
      </p:sp>
      <p:sp>
        <p:nvSpPr>
          <p:cNvPr id="24" name="Text 23"/>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القاعدة العملية: كل الضوابط منطبقة إلا ما تثبت الجهة عدم انطباقه بمبرر موثق ومعتمد.</a:t>
            </a:r>
          </a:p>
        </p:txBody>
      </p:sp>
      <p:sp>
        <p:nvSpPr>
          <p:cNvPr id="25" name="Text 2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26" name="Box 2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7" name="Box 26"/>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28" name="Box 2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29" name="Box 2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0" name="Box 2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Text 3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البنية بالأرقام، وكيف تقرأ رمز الضابط</a:t>
            </a:r>
          </a:p>
        </p:txBody>
      </p:sp>
      <p:sp>
        <p:nvSpPr>
          <p:cNvPr id="5" name="Rule 4"/>
          <p:cNvSpPr/>
          <p:nvPr/>
        </p:nvSpPr>
        <p:spPr>
          <a:xfrm>
            <a:off x="8870950" y="1878211"/>
            <a:ext cx="2508250" cy="25400"/>
          </a:xfrm>
          <a:prstGeom prst="rect">
            <a:avLst/>
          </a:prstGeom>
          <a:solidFill>
            <a:srgbClr val="132033"/>
          </a:solidFill>
          <a:ln>
            <a:noFill/>
          </a:ln>
        </p:spPr>
        <p:txBody>
          <a:bodyPr rtlCol="0" anchor="ctr"/>
          <a:lstStyle/>
          <a:p>
            <a:pPr algn="ctr"/>
          </a:p>
        </p:txBody>
      </p:sp>
      <p:sp>
        <p:nvSpPr>
          <p:cNvPr id="6" name="Text 5"/>
          <p:cNvSpPr txBox="1"/>
          <p:nvPr/>
        </p:nvSpPr>
        <p:spPr>
          <a:xfrm>
            <a:off x="8870950" y="2053058"/>
            <a:ext cx="2508250" cy="698500"/>
          </a:xfrm>
          <a:prstGeom prst="rect">
            <a:avLst/>
          </a:prstGeom>
          <a:noFill/>
        </p:spPr>
        <p:txBody>
          <a:bodyPr wrap="square" tIns="0" rIns="0" bIns="0" lIns="0" anchor="t" rtlCol="0" anchorCtr="0">
            <a:noAutofit/>
          </a:bodyPr>
          <a:lstStyle/>
          <a:p>
            <a:pPr algn="r">
              <a:lnSpc>
                <a:spcPts val="5500"/>
              </a:lnSpc>
              <a:spcBef>
                <a:spcPts val="0"/>
              </a:spcBef>
              <a:spcAft>
                <a:spcPts val="0"/>
              </a:spcAft>
            </a:pPr>
            <a:r>
              <a:rPr sz="5500" b="1" i="0">
                <a:solidFill>
                  <a:srgbClr val="0B6F7C"/>
                </a:solidFill>
                <a:latin typeface="Alexandria"/>
                <a:ea typeface="Alexandria"/>
                <a:cs typeface="Alexandria"/>
              </a:rPr>
              <a:t>4</a:t>
            </a:r>
          </a:p>
        </p:txBody>
      </p:sp>
      <p:sp>
        <p:nvSpPr>
          <p:cNvPr id="7" name="Text 6"/>
          <p:cNvSpPr txBox="1"/>
          <p:nvPr/>
        </p:nvSpPr>
        <p:spPr>
          <a:xfrm>
            <a:off x="8870950" y="2701552"/>
            <a:ext cx="250825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مكونات أساسية</a:t>
            </a:r>
          </a:p>
        </p:txBody>
      </p:sp>
      <p:sp>
        <p:nvSpPr>
          <p:cNvPr id="8" name="Rule 7"/>
          <p:cNvSpPr/>
          <p:nvPr/>
        </p:nvSpPr>
        <p:spPr>
          <a:xfrm>
            <a:off x="6184900" y="1878211"/>
            <a:ext cx="2508250" cy="25400"/>
          </a:xfrm>
          <a:prstGeom prst="rect">
            <a:avLst/>
          </a:prstGeom>
          <a:solidFill>
            <a:srgbClr val="132033"/>
          </a:solidFill>
          <a:ln>
            <a:noFill/>
          </a:ln>
        </p:spPr>
        <p:txBody>
          <a:bodyPr rtlCol="0" anchor="ctr"/>
          <a:lstStyle/>
          <a:p>
            <a:pPr algn="ctr"/>
          </a:p>
        </p:txBody>
      </p:sp>
      <p:sp>
        <p:nvSpPr>
          <p:cNvPr id="9" name="Text 8"/>
          <p:cNvSpPr txBox="1"/>
          <p:nvPr/>
        </p:nvSpPr>
        <p:spPr>
          <a:xfrm>
            <a:off x="6184900" y="2053058"/>
            <a:ext cx="2508250" cy="698500"/>
          </a:xfrm>
          <a:prstGeom prst="rect">
            <a:avLst/>
          </a:prstGeom>
          <a:noFill/>
        </p:spPr>
        <p:txBody>
          <a:bodyPr wrap="square" tIns="0" rIns="0" bIns="0" lIns="0" anchor="t" rtlCol="0" anchorCtr="0">
            <a:noAutofit/>
          </a:bodyPr>
          <a:lstStyle/>
          <a:p>
            <a:pPr algn="r">
              <a:lnSpc>
                <a:spcPts val="5500"/>
              </a:lnSpc>
              <a:spcBef>
                <a:spcPts val="0"/>
              </a:spcBef>
              <a:spcAft>
                <a:spcPts val="0"/>
              </a:spcAft>
            </a:pPr>
            <a:r>
              <a:rPr sz="5500" b="1" i="0">
                <a:solidFill>
                  <a:srgbClr val="0B6F7C"/>
                </a:solidFill>
                <a:latin typeface="Alexandria"/>
                <a:ea typeface="Alexandria"/>
                <a:cs typeface="Alexandria"/>
              </a:rPr>
              <a:t>28</a:t>
            </a:r>
          </a:p>
        </p:txBody>
      </p:sp>
      <p:sp>
        <p:nvSpPr>
          <p:cNvPr id="10" name="Text 9"/>
          <p:cNvSpPr txBox="1"/>
          <p:nvPr/>
        </p:nvSpPr>
        <p:spPr>
          <a:xfrm>
            <a:off x="6184900" y="2701552"/>
            <a:ext cx="250825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مكوناً فرعياً</a:t>
            </a:r>
          </a:p>
        </p:txBody>
      </p:sp>
      <p:sp>
        <p:nvSpPr>
          <p:cNvPr id="11" name="Rule 10"/>
          <p:cNvSpPr/>
          <p:nvPr/>
        </p:nvSpPr>
        <p:spPr>
          <a:xfrm>
            <a:off x="3498850" y="1878211"/>
            <a:ext cx="2508250" cy="25400"/>
          </a:xfrm>
          <a:prstGeom prst="rect">
            <a:avLst/>
          </a:prstGeom>
          <a:solidFill>
            <a:srgbClr val="132033"/>
          </a:solidFill>
          <a:ln>
            <a:noFill/>
          </a:ln>
        </p:spPr>
        <p:txBody>
          <a:bodyPr rtlCol="0" anchor="ctr"/>
          <a:lstStyle/>
          <a:p>
            <a:pPr algn="ctr"/>
          </a:p>
        </p:txBody>
      </p:sp>
      <p:sp>
        <p:nvSpPr>
          <p:cNvPr id="12" name="Text 11"/>
          <p:cNvSpPr txBox="1"/>
          <p:nvPr/>
        </p:nvSpPr>
        <p:spPr>
          <a:xfrm>
            <a:off x="3498850" y="2053058"/>
            <a:ext cx="2508250" cy="698500"/>
          </a:xfrm>
          <a:prstGeom prst="rect">
            <a:avLst/>
          </a:prstGeom>
          <a:noFill/>
        </p:spPr>
        <p:txBody>
          <a:bodyPr wrap="square" tIns="0" rIns="0" bIns="0" lIns="0" anchor="t" rtlCol="0" anchorCtr="0">
            <a:noAutofit/>
          </a:bodyPr>
          <a:lstStyle/>
          <a:p>
            <a:pPr algn="r">
              <a:lnSpc>
                <a:spcPts val="5500"/>
              </a:lnSpc>
              <a:spcBef>
                <a:spcPts val="0"/>
              </a:spcBef>
              <a:spcAft>
                <a:spcPts val="0"/>
              </a:spcAft>
            </a:pPr>
            <a:r>
              <a:rPr sz="5500" b="1" i="0">
                <a:solidFill>
                  <a:srgbClr val="0B6F7C"/>
                </a:solidFill>
                <a:latin typeface="Alexandria"/>
                <a:ea typeface="Alexandria"/>
                <a:cs typeface="Alexandria"/>
              </a:rPr>
              <a:t>108</a:t>
            </a:r>
          </a:p>
        </p:txBody>
      </p:sp>
      <p:sp>
        <p:nvSpPr>
          <p:cNvPr id="13" name="Text 12"/>
          <p:cNvSpPr txBox="1"/>
          <p:nvPr/>
        </p:nvSpPr>
        <p:spPr>
          <a:xfrm>
            <a:off x="3498850" y="2701552"/>
            <a:ext cx="250825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ضوابط أساسية</a:t>
            </a:r>
          </a:p>
        </p:txBody>
      </p:sp>
      <p:sp>
        <p:nvSpPr>
          <p:cNvPr id="14" name="Rule 13"/>
          <p:cNvSpPr/>
          <p:nvPr/>
        </p:nvSpPr>
        <p:spPr>
          <a:xfrm>
            <a:off x="812800" y="1878211"/>
            <a:ext cx="2508250" cy="25400"/>
          </a:xfrm>
          <a:prstGeom prst="rect">
            <a:avLst/>
          </a:prstGeom>
          <a:solidFill>
            <a:srgbClr val="132033"/>
          </a:solidFill>
          <a:ln>
            <a:noFill/>
          </a:ln>
        </p:spPr>
        <p:txBody>
          <a:bodyPr rtlCol="0" anchor="ctr"/>
          <a:lstStyle/>
          <a:p>
            <a:pPr algn="ctr"/>
          </a:p>
        </p:txBody>
      </p:sp>
      <p:sp>
        <p:nvSpPr>
          <p:cNvPr id="15" name="Text 14"/>
          <p:cNvSpPr txBox="1"/>
          <p:nvPr/>
        </p:nvSpPr>
        <p:spPr>
          <a:xfrm>
            <a:off x="812800" y="2053058"/>
            <a:ext cx="2508250" cy="698500"/>
          </a:xfrm>
          <a:prstGeom prst="rect">
            <a:avLst/>
          </a:prstGeom>
          <a:noFill/>
        </p:spPr>
        <p:txBody>
          <a:bodyPr wrap="square" tIns="0" rIns="0" bIns="0" lIns="0" anchor="t" rtlCol="0" anchorCtr="0">
            <a:noAutofit/>
          </a:bodyPr>
          <a:lstStyle/>
          <a:p>
            <a:pPr algn="r">
              <a:lnSpc>
                <a:spcPts val="5500"/>
              </a:lnSpc>
              <a:spcBef>
                <a:spcPts val="0"/>
              </a:spcBef>
              <a:spcAft>
                <a:spcPts val="0"/>
              </a:spcAft>
            </a:pPr>
            <a:r>
              <a:rPr sz="5500" b="1" i="0">
                <a:solidFill>
                  <a:srgbClr val="0B6F7C"/>
                </a:solidFill>
                <a:latin typeface="Alexandria"/>
                <a:ea typeface="Alexandria"/>
                <a:cs typeface="Alexandria"/>
              </a:rPr>
              <a:t>92</a:t>
            </a:r>
          </a:p>
        </p:txBody>
      </p:sp>
      <p:sp>
        <p:nvSpPr>
          <p:cNvPr id="16" name="Text 15"/>
          <p:cNvSpPr txBox="1"/>
          <p:nvPr/>
        </p:nvSpPr>
        <p:spPr>
          <a:xfrm>
            <a:off x="812800" y="2701552"/>
            <a:ext cx="250825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ضابطاً فرعياً</a:t>
            </a:r>
          </a:p>
        </p:txBody>
      </p:sp>
      <p:sp>
        <p:nvSpPr>
          <p:cNvPr id="17" name="Text 16"/>
          <p:cNvSpPr txBox="1"/>
          <p:nvPr/>
        </p:nvSpPr>
        <p:spPr>
          <a:xfrm>
            <a:off x="0" y="420309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كيف تقرأ رمز الضابط: المثال ‎2-2-3-2‎، ويُقرأ من اليسار إلى اليمين</a:t>
            </a:r>
          </a:p>
        </p:txBody>
      </p:sp>
      <p:sp>
        <p:nvSpPr>
          <p:cNvPr id="18" name="Box 17"/>
          <p:cNvSpPr/>
          <p:nvPr/>
        </p:nvSpPr>
        <p:spPr>
          <a:xfrm>
            <a:off x="812800" y="4541639"/>
            <a:ext cx="2393950" cy="1300361"/>
          </a:xfrm>
          <a:prstGeom prst="roundRect">
            <a:avLst>
              <a:gd name="adj" fmla="val 9766"/>
            </a:avLst>
          </a:prstGeom>
          <a:solidFill>
            <a:srgbClr val="0E1A2B"/>
          </a:solidFill>
          <a:ln>
            <a:noFill/>
          </a:ln>
        </p:spPr>
        <p:txBody>
          <a:bodyPr rtlCol="0" anchor="ctr"/>
          <a:lstStyle/>
          <a:p>
            <a:pPr algn="ctr"/>
          </a:p>
        </p:txBody>
      </p:sp>
      <p:sp>
        <p:nvSpPr>
          <p:cNvPr id="19" name="Text 18"/>
          <p:cNvSpPr txBox="1"/>
          <p:nvPr/>
        </p:nvSpPr>
        <p:spPr>
          <a:xfrm>
            <a:off x="1717060" y="4714397"/>
            <a:ext cx="585430" cy="482600"/>
          </a:xfrm>
          <a:prstGeom prst="rect">
            <a:avLst/>
          </a:prstGeom>
          <a:noFill/>
        </p:spPr>
        <p:txBody>
          <a:bodyPr wrap="square" tIns="0" rIns="0" bIns="0" lIns="0" anchor="t" rtlCol="0" anchorCtr="0">
            <a:noAutofit/>
          </a:bodyPr>
          <a:lstStyle/>
          <a:p>
            <a:pPr algn="ctr">
              <a:lnSpc>
                <a:spcPts val="3800"/>
              </a:lnSpc>
              <a:spcBef>
                <a:spcPts val="0"/>
              </a:spcBef>
              <a:spcAft>
                <a:spcPts val="0"/>
              </a:spcAft>
            </a:pPr>
            <a:r>
              <a:rPr sz="3800" b="1" i="0">
                <a:solidFill>
                  <a:srgbClr val="7FB2EA"/>
                </a:solidFill>
                <a:latin typeface="Alexandria"/>
                <a:ea typeface="Alexandria"/>
                <a:cs typeface="Alexandria"/>
              </a:rPr>
              <a:t>2</a:t>
            </a:r>
          </a:p>
        </p:txBody>
      </p:sp>
      <p:sp>
        <p:nvSpPr>
          <p:cNvPr id="20" name="Text 19"/>
          <p:cNvSpPr txBox="1"/>
          <p:nvPr/>
        </p:nvSpPr>
        <p:spPr>
          <a:xfrm>
            <a:off x="1496338" y="5207627"/>
            <a:ext cx="1026775"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1" i="0">
                <a:solidFill>
                  <a:srgbClr val="F2EEE6"/>
                </a:solidFill>
                <a:latin typeface="IBM Plex Sans Arabic"/>
                <a:ea typeface="IBM Plex Sans Arabic"/>
                <a:cs typeface="IBM Plex Sans Arabic"/>
              </a:rPr>
              <a:t>المكون الأساسي</a:t>
            </a:r>
          </a:p>
        </p:txBody>
      </p:sp>
      <p:sp>
        <p:nvSpPr>
          <p:cNvPr id="21" name="Text 20"/>
          <p:cNvSpPr txBox="1"/>
          <p:nvPr/>
        </p:nvSpPr>
        <p:spPr>
          <a:xfrm>
            <a:off x="1791613" y="5476808"/>
            <a:ext cx="436225"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0" i="0">
                <a:solidFill>
                  <a:srgbClr val="AEBACB"/>
                </a:solidFill>
                <a:latin typeface="IBM Plex Sans Arabic"/>
                <a:ea typeface="IBM Plex Sans Arabic"/>
                <a:cs typeface="IBM Plex Sans Arabic"/>
              </a:rPr>
              <a:t>التعزيز</a:t>
            </a:r>
          </a:p>
        </p:txBody>
      </p:sp>
      <p:sp>
        <p:nvSpPr>
          <p:cNvPr id="22" name="Text 21"/>
          <p:cNvSpPr txBox="1"/>
          <p:nvPr/>
        </p:nvSpPr>
        <p:spPr>
          <a:xfrm>
            <a:off x="3051810" y="5016458"/>
            <a:ext cx="396240" cy="406400"/>
          </a:xfrm>
          <a:prstGeom prst="rect">
            <a:avLst/>
          </a:prstGeom>
          <a:noFill/>
        </p:spPr>
        <p:txBody>
          <a:bodyPr wrap="square" tIns="0" rIns="0" bIns="0" lIns="0" anchor="t" rtlCol="0" anchorCtr="0">
            <a:noAutofit/>
          </a:bodyPr>
          <a:lstStyle/>
          <a:p>
            <a:pPr algn="r">
              <a:lnSpc>
                <a:spcPts val="3200"/>
              </a:lnSpc>
              <a:spcBef>
                <a:spcPts val="0"/>
              </a:spcBef>
              <a:spcAft>
                <a:spcPts val="0"/>
              </a:spcAft>
            </a:pPr>
            <a:r>
              <a:rPr sz="3200" b="1" i="0">
                <a:solidFill>
                  <a:srgbClr val="5A6371"/>
                </a:solidFill>
                <a:latin typeface="Alexandria"/>
                <a:ea typeface="Alexandria"/>
                <a:cs typeface="Alexandria"/>
              </a:rPr>
              <a:t>-</a:t>
            </a:r>
          </a:p>
        </p:txBody>
      </p:sp>
      <p:sp>
        <p:nvSpPr>
          <p:cNvPr id="23" name="Box 22"/>
          <p:cNvSpPr/>
          <p:nvPr/>
        </p:nvSpPr>
        <p:spPr>
          <a:xfrm>
            <a:off x="3536950" y="4541639"/>
            <a:ext cx="2393950" cy="1300361"/>
          </a:xfrm>
          <a:prstGeom prst="roundRect">
            <a:avLst>
              <a:gd name="adj" fmla="val 9766"/>
            </a:avLst>
          </a:prstGeom>
          <a:solidFill>
            <a:srgbClr val="0E1A2B"/>
          </a:solidFill>
          <a:ln>
            <a:noFill/>
          </a:ln>
        </p:spPr>
        <p:txBody>
          <a:bodyPr rtlCol="0" anchor="ctr"/>
          <a:lstStyle/>
          <a:p>
            <a:pPr algn="ctr"/>
          </a:p>
        </p:txBody>
      </p:sp>
      <p:sp>
        <p:nvSpPr>
          <p:cNvPr id="24" name="Text 23"/>
          <p:cNvSpPr txBox="1"/>
          <p:nvPr/>
        </p:nvSpPr>
        <p:spPr>
          <a:xfrm>
            <a:off x="4441210" y="4714397"/>
            <a:ext cx="585430" cy="482600"/>
          </a:xfrm>
          <a:prstGeom prst="rect">
            <a:avLst/>
          </a:prstGeom>
          <a:noFill/>
        </p:spPr>
        <p:txBody>
          <a:bodyPr wrap="square" tIns="0" rIns="0" bIns="0" lIns="0" anchor="t" rtlCol="0" anchorCtr="0">
            <a:noAutofit/>
          </a:bodyPr>
          <a:lstStyle/>
          <a:p>
            <a:pPr algn="ctr">
              <a:lnSpc>
                <a:spcPts val="3800"/>
              </a:lnSpc>
              <a:spcBef>
                <a:spcPts val="0"/>
              </a:spcBef>
              <a:spcAft>
                <a:spcPts val="0"/>
              </a:spcAft>
            </a:pPr>
            <a:r>
              <a:rPr sz="3800" b="1" i="0">
                <a:solidFill>
                  <a:srgbClr val="7FB2EA"/>
                </a:solidFill>
                <a:latin typeface="Alexandria"/>
                <a:ea typeface="Alexandria"/>
                <a:cs typeface="Alexandria"/>
              </a:rPr>
              <a:t>2</a:t>
            </a:r>
          </a:p>
        </p:txBody>
      </p:sp>
      <p:sp>
        <p:nvSpPr>
          <p:cNvPr id="25" name="Text 24"/>
          <p:cNvSpPr txBox="1"/>
          <p:nvPr/>
        </p:nvSpPr>
        <p:spPr>
          <a:xfrm>
            <a:off x="4263152" y="5207627"/>
            <a:ext cx="941447"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1" i="0">
                <a:solidFill>
                  <a:srgbClr val="F2EEE6"/>
                </a:solidFill>
                <a:latin typeface="IBM Plex Sans Arabic"/>
                <a:ea typeface="IBM Plex Sans Arabic"/>
                <a:cs typeface="IBM Plex Sans Arabic"/>
              </a:rPr>
              <a:t>المكون الفرعي</a:t>
            </a:r>
          </a:p>
        </p:txBody>
      </p:sp>
      <p:sp>
        <p:nvSpPr>
          <p:cNvPr id="26" name="Text 25"/>
          <p:cNvSpPr txBox="1"/>
          <p:nvPr/>
        </p:nvSpPr>
        <p:spPr>
          <a:xfrm>
            <a:off x="4120773" y="5476808"/>
            <a:ext cx="1226304"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0" i="0">
                <a:solidFill>
                  <a:srgbClr val="AEBACB"/>
                </a:solidFill>
                <a:latin typeface="IBM Plex Sans Arabic"/>
                <a:ea typeface="IBM Plex Sans Arabic"/>
                <a:cs typeface="IBM Plex Sans Arabic"/>
              </a:rPr>
              <a:t>الهويات والصلاحيات</a:t>
            </a:r>
          </a:p>
        </p:txBody>
      </p:sp>
      <p:sp>
        <p:nvSpPr>
          <p:cNvPr id="27" name="Text 26"/>
          <p:cNvSpPr txBox="1"/>
          <p:nvPr/>
        </p:nvSpPr>
        <p:spPr>
          <a:xfrm>
            <a:off x="5775960" y="5016458"/>
            <a:ext cx="396240" cy="406400"/>
          </a:xfrm>
          <a:prstGeom prst="rect">
            <a:avLst/>
          </a:prstGeom>
          <a:noFill/>
        </p:spPr>
        <p:txBody>
          <a:bodyPr wrap="square" tIns="0" rIns="0" bIns="0" lIns="0" anchor="t" rtlCol="0" anchorCtr="0">
            <a:noAutofit/>
          </a:bodyPr>
          <a:lstStyle/>
          <a:p>
            <a:pPr algn="r">
              <a:lnSpc>
                <a:spcPts val="3200"/>
              </a:lnSpc>
              <a:spcBef>
                <a:spcPts val="0"/>
              </a:spcBef>
              <a:spcAft>
                <a:spcPts val="0"/>
              </a:spcAft>
            </a:pPr>
            <a:r>
              <a:rPr sz="3200" b="1" i="0">
                <a:solidFill>
                  <a:srgbClr val="5A6371"/>
                </a:solidFill>
                <a:latin typeface="Alexandria"/>
                <a:ea typeface="Alexandria"/>
                <a:cs typeface="Alexandria"/>
              </a:rPr>
              <a:t>-</a:t>
            </a:r>
          </a:p>
        </p:txBody>
      </p:sp>
      <p:sp>
        <p:nvSpPr>
          <p:cNvPr id="28" name="Box 27"/>
          <p:cNvSpPr/>
          <p:nvPr/>
        </p:nvSpPr>
        <p:spPr>
          <a:xfrm>
            <a:off x="6261100" y="4541639"/>
            <a:ext cx="2393950" cy="1300361"/>
          </a:xfrm>
          <a:prstGeom prst="roundRect">
            <a:avLst>
              <a:gd name="adj" fmla="val 9766"/>
            </a:avLst>
          </a:prstGeom>
          <a:solidFill>
            <a:srgbClr val="0E1A2B"/>
          </a:solidFill>
          <a:ln>
            <a:noFill/>
          </a:ln>
        </p:spPr>
        <p:txBody>
          <a:bodyPr rtlCol="0" anchor="ctr"/>
          <a:lstStyle/>
          <a:p>
            <a:pPr algn="ctr"/>
          </a:p>
        </p:txBody>
      </p:sp>
      <p:sp>
        <p:nvSpPr>
          <p:cNvPr id="29" name="Text 28"/>
          <p:cNvSpPr txBox="1"/>
          <p:nvPr/>
        </p:nvSpPr>
        <p:spPr>
          <a:xfrm>
            <a:off x="7166253" y="4714397"/>
            <a:ext cx="583545" cy="482600"/>
          </a:xfrm>
          <a:prstGeom prst="rect">
            <a:avLst/>
          </a:prstGeom>
          <a:noFill/>
        </p:spPr>
        <p:txBody>
          <a:bodyPr wrap="square" tIns="0" rIns="0" bIns="0" lIns="0" anchor="t" rtlCol="0" anchorCtr="0">
            <a:noAutofit/>
          </a:bodyPr>
          <a:lstStyle/>
          <a:p>
            <a:pPr algn="ctr">
              <a:lnSpc>
                <a:spcPts val="3800"/>
              </a:lnSpc>
              <a:spcBef>
                <a:spcPts val="0"/>
              </a:spcBef>
              <a:spcAft>
                <a:spcPts val="0"/>
              </a:spcAft>
            </a:pPr>
            <a:r>
              <a:rPr sz="3800" b="1" i="0">
                <a:solidFill>
                  <a:srgbClr val="6CC9D3"/>
                </a:solidFill>
                <a:latin typeface="Alexandria"/>
                <a:ea typeface="Alexandria"/>
                <a:cs typeface="Alexandria"/>
              </a:rPr>
              <a:t>3</a:t>
            </a:r>
          </a:p>
        </p:txBody>
      </p:sp>
      <p:sp>
        <p:nvSpPr>
          <p:cNvPr id="30" name="Text 29"/>
          <p:cNvSpPr txBox="1"/>
          <p:nvPr/>
        </p:nvSpPr>
        <p:spPr>
          <a:xfrm>
            <a:off x="6942356" y="5207627"/>
            <a:ext cx="1031339"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1" i="0">
                <a:solidFill>
                  <a:srgbClr val="F2EEE6"/>
                </a:solidFill>
                <a:latin typeface="IBM Plex Sans Arabic"/>
                <a:ea typeface="IBM Plex Sans Arabic"/>
                <a:cs typeface="IBM Plex Sans Arabic"/>
              </a:rPr>
              <a:t>الضابط الأساسي</a:t>
            </a:r>
          </a:p>
        </p:txBody>
      </p:sp>
      <p:sp>
        <p:nvSpPr>
          <p:cNvPr id="31" name="Text 30"/>
          <p:cNvSpPr txBox="1"/>
          <p:nvPr/>
        </p:nvSpPr>
        <p:spPr>
          <a:xfrm>
            <a:off x="7118271" y="5476808"/>
            <a:ext cx="679609"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0" i="0">
                <a:solidFill>
                  <a:srgbClr val="AEBACB"/>
                </a:solidFill>
                <a:latin typeface="IBM Plex Sans Arabic"/>
                <a:ea typeface="IBM Plex Sans Arabic"/>
                <a:cs typeface="IBM Plex Sans Arabic"/>
              </a:rPr>
              <a:t>الحد الأدنى</a:t>
            </a:r>
          </a:p>
        </p:txBody>
      </p:sp>
      <p:sp>
        <p:nvSpPr>
          <p:cNvPr id="32" name="Text 31"/>
          <p:cNvSpPr txBox="1"/>
          <p:nvPr/>
        </p:nvSpPr>
        <p:spPr>
          <a:xfrm>
            <a:off x="8500110" y="5016458"/>
            <a:ext cx="396240" cy="406400"/>
          </a:xfrm>
          <a:prstGeom prst="rect">
            <a:avLst/>
          </a:prstGeom>
          <a:noFill/>
        </p:spPr>
        <p:txBody>
          <a:bodyPr wrap="square" tIns="0" rIns="0" bIns="0" lIns="0" anchor="t" rtlCol="0" anchorCtr="0">
            <a:noAutofit/>
          </a:bodyPr>
          <a:lstStyle/>
          <a:p>
            <a:pPr algn="r">
              <a:lnSpc>
                <a:spcPts val="3200"/>
              </a:lnSpc>
              <a:spcBef>
                <a:spcPts val="0"/>
              </a:spcBef>
              <a:spcAft>
                <a:spcPts val="0"/>
              </a:spcAft>
            </a:pPr>
            <a:r>
              <a:rPr sz="3200" b="1" i="0">
                <a:solidFill>
                  <a:srgbClr val="5A6371"/>
                </a:solidFill>
                <a:latin typeface="Alexandria"/>
                <a:ea typeface="Alexandria"/>
                <a:cs typeface="Alexandria"/>
              </a:rPr>
              <a:t>-</a:t>
            </a:r>
          </a:p>
        </p:txBody>
      </p:sp>
      <p:sp>
        <p:nvSpPr>
          <p:cNvPr id="33" name="Box 32"/>
          <p:cNvSpPr/>
          <p:nvPr/>
        </p:nvSpPr>
        <p:spPr>
          <a:xfrm>
            <a:off x="8985250" y="4541639"/>
            <a:ext cx="2393950" cy="1300361"/>
          </a:xfrm>
          <a:prstGeom prst="roundRect">
            <a:avLst>
              <a:gd name="adj" fmla="val 9766"/>
            </a:avLst>
          </a:prstGeom>
          <a:solidFill>
            <a:srgbClr val="0E1A2B"/>
          </a:solidFill>
          <a:ln>
            <a:noFill/>
          </a:ln>
        </p:spPr>
        <p:txBody>
          <a:bodyPr rtlCol="0" anchor="ctr"/>
          <a:lstStyle/>
          <a:p>
            <a:pPr algn="ctr"/>
          </a:p>
        </p:txBody>
      </p:sp>
      <p:sp>
        <p:nvSpPr>
          <p:cNvPr id="34" name="Text 33"/>
          <p:cNvSpPr txBox="1"/>
          <p:nvPr/>
        </p:nvSpPr>
        <p:spPr>
          <a:xfrm>
            <a:off x="9889510" y="4714397"/>
            <a:ext cx="585430" cy="482600"/>
          </a:xfrm>
          <a:prstGeom prst="rect">
            <a:avLst/>
          </a:prstGeom>
          <a:noFill/>
        </p:spPr>
        <p:txBody>
          <a:bodyPr wrap="square" tIns="0" rIns="0" bIns="0" lIns="0" anchor="t" rtlCol="0" anchorCtr="0">
            <a:noAutofit/>
          </a:bodyPr>
          <a:lstStyle/>
          <a:p>
            <a:pPr algn="ctr">
              <a:lnSpc>
                <a:spcPts val="3800"/>
              </a:lnSpc>
              <a:spcBef>
                <a:spcPts val="0"/>
              </a:spcBef>
              <a:spcAft>
                <a:spcPts val="0"/>
              </a:spcAft>
            </a:pPr>
            <a:r>
              <a:rPr sz="3800" b="1" i="0">
                <a:solidFill>
                  <a:srgbClr val="6CC9D3"/>
                </a:solidFill>
                <a:latin typeface="Alexandria"/>
                <a:ea typeface="Alexandria"/>
                <a:cs typeface="Alexandria"/>
              </a:rPr>
              <a:t>2</a:t>
            </a:r>
          </a:p>
        </p:txBody>
      </p:sp>
      <p:sp>
        <p:nvSpPr>
          <p:cNvPr id="35" name="Text 34"/>
          <p:cNvSpPr txBox="1"/>
          <p:nvPr/>
        </p:nvSpPr>
        <p:spPr>
          <a:xfrm>
            <a:off x="9709170" y="5207627"/>
            <a:ext cx="946011"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1" i="0">
                <a:solidFill>
                  <a:srgbClr val="F2EEE6"/>
                </a:solidFill>
                <a:latin typeface="IBM Plex Sans Arabic"/>
                <a:ea typeface="IBM Plex Sans Arabic"/>
                <a:cs typeface="IBM Plex Sans Arabic"/>
              </a:rPr>
              <a:t>الضابط الفرعي</a:t>
            </a:r>
          </a:p>
        </p:txBody>
      </p:sp>
      <p:sp>
        <p:nvSpPr>
          <p:cNvPr id="36" name="Text 35"/>
          <p:cNvSpPr txBox="1"/>
          <p:nvPr/>
        </p:nvSpPr>
        <p:spPr>
          <a:xfrm>
            <a:off x="9508002" y="5476808"/>
            <a:ext cx="1348347" cy="205680"/>
          </a:xfrm>
          <a:prstGeom prst="rect">
            <a:avLst/>
          </a:prstGeom>
          <a:noFill/>
        </p:spPr>
        <p:txBody>
          <a:bodyPr wrap="square" tIns="0" rIns="0" bIns="0" lIns="0" anchor="t" rtlCol="0" anchorCtr="0">
            <a:noAutofit/>
          </a:bodyPr>
          <a:lstStyle/>
          <a:p>
            <a:pPr algn="ctr" rtl="1">
              <a:lnSpc>
                <a:spcPts val="1620"/>
              </a:lnSpc>
              <a:spcBef>
                <a:spcPts val="0"/>
              </a:spcBef>
              <a:spcAft>
                <a:spcPts val="0"/>
              </a:spcAft>
            </a:pPr>
            <a:r>
              <a:rPr sz="1200" b="0" i="0">
                <a:solidFill>
                  <a:srgbClr val="AEBACB"/>
                </a:solidFill>
                <a:latin typeface="IBM Plex Sans Arabic"/>
                <a:ea typeface="IBM Plex Sans Arabic"/>
                <a:cs typeface="IBM Plex Sans Arabic"/>
              </a:rPr>
              <a:t>التحقق متعدد العوامل</a:t>
            </a:r>
          </a:p>
        </p:txBody>
      </p:sp>
      <p:sp>
        <p:nvSpPr>
          <p:cNvPr id="37" name="Text 3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38" name="Box 3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9" name="Box 38"/>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40" name="Box 39"/>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Box 4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Box 4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Box 4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Text 4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ECC هي الأساس، وفوقها ضوابط مكملة</a:t>
            </a:r>
          </a:p>
        </p:txBody>
      </p:sp>
      <p:sp>
        <p:nvSpPr>
          <p:cNvPr id="5" name="Box 4"/>
          <p:cNvSpPr/>
          <p:nvPr/>
        </p:nvSpPr>
        <p:spPr>
          <a:xfrm>
            <a:off x="815975" y="1881386"/>
            <a:ext cx="3414117"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6" name="Text 5"/>
          <p:cNvSpPr txBox="1"/>
          <p:nvPr/>
        </p:nvSpPr>
        <p:spPr>
          <a:xfrm>
            <a:off x="838200" y="2025404"/>
            <a:ext cx="3210917"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DCC</a:t>
            </a:r>
          </a:p>
        </p:txBody>
      </p:sp>
      <p:sp>
        <p:nvSpPr>
          <p:cNvPr id="7" name="Text 6"/>
          <p:cNvSpPr txBox="1"/>
          <p:nvPr/>
        </p:nvSpPr>
        <p:spPr>
          <a:xfrm>
            <a:off x="838200" y="2298553"/>
            <a:ext cx="32109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البيانات</a:t>
            </a:r>
          </a:p>
        </p:txBody>
      </p:sp>
      <p:sp>
        <p:nvSpPr>
          <p:cNvPr id="8" name="Text 7"/>
          <p:cNvSpPr txBox="1"/>
          <p:nvPr/>
        </p:nvSpPr>
        <p:spPr>
          <a:xfrm>
            <a:off x="838200" y="2599384"/>
            <a:ext cx="321091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لحماية البيانات حسب مستوى تصنيفها</a:t>
            </a:r>
          </a:p>
        </p:txBody>
      </p:sp>
      <p:sp>
        <p:nvSpPr>
          <p:cNvPr id="9" name="Box 8"/>
          <p:cNvSpPr/>
          <p:nvPr/>
        </p:nvSpPr>
        <p:spPr>
          <a:xfrm>
            <a:off x="4388842" y="1881386"/>
            <a:ext cx="3414216"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10" name="Text 9"/>
          <p:cNvSpPr txBox="1"/>
          <p:nvPr/>
        </p:nvSpPr>
        <p:spPr>
          <a:xfrm>
            <a:off x="4411067" y="2025404"/>
            <a:ext cx="3211016"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CCC</a:t>
            </a:r>
          </a:p>
        </p:txBody>
      </p:sp>
      <p:sp>
        <p:nvSpPr>
          <p:cNvPr id="11" name="Text 10"/>
          <p:cNvSpPr txBox="1"/>
          <p:nvPr/>
        </p:nvSpPr>
        <p:spPr>
          <a:xfrm>
            <a:off x="4411067" y="2298553"/>
            <a:ext cx="32110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الحوسبة السحابية</a:t>
            </a:r>
          </a:p>
        </p:txBody>
      </p:sp>
      <p:sp>
        <p:nvSpPr>
          <p:cNvPr id="12" name="Text 11"/>
          <p:cNvSpPr txBox="1"/>
          <p:nvPr/>
        </p:nvSpPr>
        <p:spPr>
          <a:xfrm>
            <a:off x="4411067" y="2599384"/>
            <a:ext cx="32110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لمقدمي الخدمات السحابية والمستفيدين منها</a:t>
            </a:r>
          </a:p>
        </p:txBody>
      </p:sp>
      <p:sp>
        <p:nvSpPr>
          <p:cNvPr id="13" name="Box 12"/>
          <p:cNvSpPr/>
          <p:nvPr/>
        </p:nvSpPr>
        <p:spPr>
          <a:xfrm>
            <a:off x="7961809" y="1881386"/>
            <a:ext cx="3414216"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14" name="Text 13"/>
          <p:cNvSpPr txBox="1"/>
          <p:nvPr/>
        </p:nvSpPr>
        <p:spPr>
          <a:xfrm>
            <a:off x="7984034" y="2025404"/>
            <a:ext cx="3211016"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CSCC</a:t>
            </a:r>
          </a:p>
        </p:txBody>
      </p:sp>
      <p:sp>
        <p:nvSpPr>
          <p:cNvPr id="15" name="Text 14"/>
          <p:cNvSpPr txBox="1"/>
          <p:nvPr/>
        </p:nvSpPr>
        <p:spPr>
          <a:xfrm>
            <a:off x="7984034" y="2298553"/>
            <a:ext cx="32110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الأنظمة الحساسة</a:t>
            </a:r>
          </a:p>
        </p:txBody>
      </p:sp>
      <p:sp>
        <p:nvSpPr>
          <p:cNvPr id="16" name="Text 15"/>
          <p:cNvSpPr txBox="1"/>
          <p:nvPr/>
        </p:nvSpPr>
        <p:spPr>
          <a:xfrm>
            <a:off x="7984034" y="2599384"/>
            <a:ext cx="32110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للجهات التي لديها أنظمة حساسة</a:t>
            </a:r>
          </a:p>
        </p:txBody>
      </p:sp>
      <p:sp>
        <p:nvSpPr>
          <p:cNvPr id="17" name="Box 16"/>
          <p:cNvSpPr/>
          <p:nvPr/>
        </p:nvSpPr>
        <p:spPr>
          <a:xfrm>
            <a:off x="815975" y="3162102"/>
            <a:ext cx="3414117"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18" name="Text 17"/>
          <p:cNvSpPr txBox="1"/>
          <p:nvPr/>
        </p:nvSpPr>
        <p:spPr>
          <a:xfrm>
            <a:off x="838200" y="3306120"/>
            <a:ext cx="3210917"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OSMACC</a:t>
            </a:r>
          </a:p>
        </p:txBody>
      </p:sp>
      <p:sp>
        <p:nvSpPr>
          <p:cNvPr id="19" name="Text 18"/>
          <p:cNvSpPr txBox="1"/>
          <p:nvPr/>
        </p:nvSpPr>
        <p:spPr>
          <a:xfrm>
            <a:off x="838200" y="3579269"/>
            <a:ext cx="3210917"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حسابات التواصل الاجتماعي</a:t>
            </a:r>
          </a:p>
        </p:txBody>
      </p:sp>
      <p:sp>
        <p:nvSpPr>
          <p:cNvPr id="20" name="Text 19"/>
          <p:cNvSpPr txBox="1"/>
          <p:nvPr/>
        </p:nvSpPr>
        <p:spPr>
          <a:xfrm>
            <a:off x="838200" y="3880100"/>
            <a:ext cx="321091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للحسابات الرسمية للجهة</a:t>
            </a:r>
          </a:p>
        </p:txBody>
      </p:sp>
      <p:sp>
        <p:nvSpPr>
          <p:cNvPr id="21" name="Box 20"/>
          <p:cNvSpPr/>
          <p:nvPr/>
        </p:nvSpPr>
        <p:spPr>
          <a:xfrm>
            <a:off x="4388842" y="3162102"/>
            <a:ext cx="3414216"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22" name="Text 21"/>
          <p:cNvSpPr txBox="1"/>
          <p:nvPr/>
        </p:nvSpPr>
        <p:spPr>
          <a:xfrm>
            <a:off x="4411067" y="3306120"/>
            <a:ext cx="3211016"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TCC</a:t>
            </a:r>
          </a:p>
        </p:txBody>
      </p:sp>
      <p:sp>
        <p:nvSpPr>
          <p:cNvPr id="23" name="Text 22"/>
          <p:cNvSpPr txBox="1"/>
          <p:nvPr/>
        </p:nvSpPr>
        <p:spPr>
          <a:xfrm>
            <a:off x="4411067" y="3579269"/>
            <a:ext cx="32110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العمل عن بعد</a:t>
            </a:r>
          </a:p>
        </p:txBody>
      </p:sp>
      <p:sp>
        <p:nvSpPr>
          <p:cNvPr id="24" name="Text 23"/>
          <p:cNvSpPr txBox="1"/>
          <p:nvPr/>
        </p:nvSpPr>
        <p:spPr>
          <a:xfrm>
            <a:off x="4411067" y="3880100"/>
            <a:ext cx="32110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عند إتاحة العمل عن بعد</a:t>
            </a:r>
          </a:p>
        </p:txBody>
      </p:sp>
      <p:sp>
        <p:nvSpPr>
          <p:cNvPr id="25" name="Box 24"/>
          <p:cNvSpPr/>
          <p:nvPr/>
        </p:nvSpPr>
        <p:spPr>
          <a:xfrm>
            <a:off x="7961809" y="3162102"/>
            <a:ext cx="3414216" cy="1121966"/>
          </a:xfrm>
          <a:prstGeom prst="roundRect">
            <a:avLst>
              <a:gd name="adj" fmla="val 10130"/>
            </a:avLst>
          </a:prstGeom>
          <a:solidFill>
            <a:srgbClr val="FCFBF8"/>
          </a:solidFill>
          <a:ln w="6350">
            <a:solidFill>
              <a:srgbClr val="DDD7CA"/>
            </a:solidFill>
          </a:ln>
        </p:spPr>
        <p:txBody>
          <a:bodyPr rtlCol="0" anchor="ctr"/>
          <a:lstStyle/>
          <a:p>
            <a:pPr algn="ctr"/>
          </a:p>
        </p:txBody>
      </p:sp>
      <p:sp>
        <p:nvSpPr>
          <p:cNvPr id="26" name="Text 25"/>
          <p:cNvSpPr txBox="1"/>
          <p:nvPr/>
        </p:nvSpPr>
        <p:spPr>
          <a:xfrm>
            <a:off x="7984034" y="3306120"/>
            <a:ext cx="3211016" cy="231080"/>
          </a:xfrm>
          <a:prstGeom prst="rect">
            <a:avLst/>
          </a:prstGeom>
          <a:noFill/>
        </p:spPr>
        <p:txBody>
          <a:bodyPr wrap="square" tIns="0" rIns="0" bIns="0" lIns="0" anchor="t" rtlCol="0" anchorCtr="0">
            <a:noAutofit/>
          </a:bodyPr>
          <a:lstStyle/>
          <a:p>
            <a:pPr algn="r">
              <a:lnSpc>
                <a:spcPts val="1820"/>
              </a:lnSpc>
              <a:spcBef>
                <a:spcPts val="0"/>
              </a:spcBef>
              <a:spcAft>
                <a:spcPts val="0"/>
              </a:spcAft>
            </a:pPr>
            <a:r>
              <a:rPr sz="1400" b="1" i="0">
                <a:solidFill>
                  <a:srgbClr val="0B6F7C"/>
                </a:solidFill>
                <a:latin typeface="IBM Plex Mono"/>
                <a:ea typeface="IBM Plex Mono"/>
                <a:cs typeface="IBM Plex Mono"/>
              </a:rPr>
              <a:t>OTCC</a:t>
            </a:r>
          </a:p>
        </p:txBody>
      </p:sp>
      <p:sp>
        <p:nvSpPr>
          <p:cNvPr id="27" name="Text 26"/>
          <p:cNvSpPr txBox="1"/>
          <p:nvPr/>
        </p:nvSpPr>
        <p:spPr>
          <a:xfrm>
            <a:off x="7984034" y="3579269"/>
            <a:ext cx="3211016"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الأنظمة التشغيلية</a:t>
            </a:r>
          </a:p>
        </p:txBody>
      </p:sp>
      <p:sp>
        <p:nvSpPr>
          <p:cNvPr id="28" name="Text 27"/>
          <p:cNvSpPr txBox="1"/>
          <p:nvPr/>
        </p:nvSpPr>
        <p:spPr>
          <a:xfrm>
            <a:off x="7984034" y="3880100"/>
            <a:ext cx="32110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للأنظمة الصناعية والتشغيلية</a:t>
            </a:r>
          </a:p>
        </p:txBody>
      </p:sp>
      <p:sp>
        <p:nvSpPr>
          <p:cNvPr id="29" name="Box 28"/>
          <p:cNvSpPr/>
          <p:nvPr/>
        </p:nvSpPr>
        <p:spPr>
          <a:xfrm>
            <a:off x="812800" y="4515842"/>
            <a:ext cx="10566400" cy="635000"/>
          </a:xfrm>
          <a:prstGeom prst="roundRect">
            <a:avLst>
              <a:gd name="adj" fmla="val 20000"/>
            </a:avLst>
          </a:prstGeom>
          <a:solidFill>
            <a:srgbClr val="0E1A2B"/>
          </a:solidFill>
          <a:ln>
            <a:noFill/>
          </a:ln>
        </p:spPr>
        <p:txBody>
          <a:bodyPr rtlCol="0" anchor="ctr"/>
          <a:lstStyle/>
          <a:p>
            <a:pPr algn="ctr"/>
          </a:p>
        </p:txBody>
      </p:sp>
      <p:sp>
        <p:nvSpPr>
          <p:cNvPr id="30" name="Text 29"/>
          <p:cNvSpPr txBox="1"/>
          <p:nvPr/>
        </p:nvSpPr>
        <p:spPr>
          <a:xfrm>
            <a:off x="9528770" y="4672941"/>
            <a:ext cx="1634530" cy="304800"/>
          </a:xfrm>
          <a:prstGeom prst="rect">
            <a:avLst/>
          </a:prstGeom>
          <a:noFill/>
        </p:spPr>
        <p:txBody>
          <a:bodyPr wrap="square" tIns="0" rIns="0" bIns="0" lIns="0" anchor="t" rtlCol="0" anchorCtr="0">
            <a:noAutofit/>
          </a:bodyPr>
          <a:lstStyle/>
          <a:p>
            <a:pPr algn="r">
              <a:lnSpc>
                <a:spcPts val="2400"/>
              </a:lnSpc>
              <a:spcBef>
                <a:spcPts val="0"/>
              </a:spcBef>
              <a:spcAft>
                <a:spcPts val="0"/>
              </a:spcAft>
            </a:pPr>
            <a:r>
              <a:rPr sz="2000" b="1" i="0">
                <a:solidFill>
                  <a:srgbClr val="6CC9D3"/>
                </a:solidFill>
                <a:latin typeface="Alexandria"/>
                <a:ea typeface="Alexandria"/>
                <a:cs typeface="Alexandria"/>
              </a:rPr>
              <a:t>ECC-2:2024</a:t>
            </a:r>
          </a:p>
        </p:txBody>
      </p:sp>
      <p:sp>
        <p:nvSpPr>
          <p:cNvPr id="31" name="Text 30"/>
          <p:cNvSpPr txBox="1"/>
          <p:nvPr/>
        </p:nvSpPr>
        <p:spPr>
          <a:xfrm>
            <a:off x="838200" y="4683966"/>
            <a:ext cx="866517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الأساس لكل جهة داخل النطاق؛ والضوابط المكملة تضيف عليها ولا تحل محلها. تحقق من الإصدار الحالي لكل وثيقة ونطاقها في موقع الهيئة.</a:t>
            </a:r>
          </a:p>
        </p:txBody>
      </p:sp>
      <p:sp>
        <p:nvSpPr>
          <p:cNvPr id="32" name="Text 3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33" name="Box 3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4" name="Box 33"/>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35" name="Box 34"/>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Box 35"/>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7" name="Box 3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8" name="Box 3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Text 4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الطبقات الأربع: النمط الذي يتكرر في أغلب المكونات</a:t>
            </a:r>
          </a:p>
        </p:txBody>
      </p:sp>
      <p:sp>
        <p:nvSpPr>
          <p:cNvPr id="5" name="Text 4"/>
          <p:cNvSpPr txBox="1"/>
          <p:nvPr/>
        </p:nvSpPr>
        <p:spPr>
          <a:xfrm>
            <a:off x="50800" y="1839158"/>
            <a:ext cx="10287000" cy="28575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أغلب المكونات الفرعية مبنية بالترتيب نفسه، وحرف X رقم المكون. مثال ‎2-9‎: من ‎2-9-1‎ إلى ‎2-9-4‎.</a:t>
            </a:r>
          </a:p>
        </p:txBody>
      </p:sp>
      <p:sp>
        <p:nvSpPr>
          <p:cNvPr id="6" name="Box 5"/>
          <p:cNvSpPr/>
          <p:nvPr/>
        </p:nvSpPr>
        <p:spPr>
          <a:xfrm>
            <a:off x="9004300" y="2392561"/>
            <a:ext cx="2374900" cy="1715492"/>
          </a:xfrm>
          <a:prstGeom prst="roundRect">
            <a:avLst>
              <a:gd name="adj" fmla="val 5922"/>
            </a:avLst>
          </a:prstGeom>
          <a:solidFill>
            <a:srgbClr val="FCFBF8"/>
          </a:solidFill>
          <a:ln>
            <a:noFill/>
          </a:ln>
        </p:spPr>
        <p:txBody>
          <a:bodyPr rtlCol="0" anchor="ctr"/>
          <a:lstStyle/>
          <a:p>
            <a:pPr algn="ctr"/>
          </a:p>
        </p:txBody>
      </p:sp>
      <p:sp>
        <p:nvSpPr>
          <p:cNvPr id="7" name="Rule 6"/>
          <p:cNvSpPr/>
          <p:nvPr/>
        </p:nvSpPr>
        <p:spPr>
          <a:xfrm>
            <a:off x="9004300" y="2392561"/>
            <a:ext cx="2374900" cy="38100"/>
          </a:xfrm>
          <a:prstGeom prst="rect">
            <a:avLst/>
          </a:prstGeom>
          <a:solidFill>
            <a:srgbClr val="0B6F7C"/>
          </a:solidFill>
          <a:ln>
            <a:noFill/>
          </a:ln>
        </p:spPr>
        <p:txBody>
          <a:bodyPr rtlCol="0" anchor="ctr"/>
          <a:lstStyle/>
          <a:p>
            <a:pPr algn="ctr"/>
          </a:p>
        </p:txBody>
      </p:sp>
      <p:sp>
        <p:nvSpPr>
          <p:cNvPr id="8" name="Rule 7"/>
          <p:cNvSpPr/>
          <p:nvPr/>
        </p:nvSpPr>
        <p:spPr>
          <a:xfrm>
            <a:off x="11372850" y="2392561"/>
            <a:ext cx="6350" cy="1715492"/>
          </a:xfrm>
          <a:prstGeom prst="rect">
            <a:avLst/>
          </a:prstGeom>
          <a:solidFill>
            <a:srgbClr val="DDD7CA"/>
          </a:solidFill>
          <a:ln>
            <a:noFill/>
          </a:ln>
        </p:spPr>
        <p:txBody>
          <a:bodyPr rtlCol="0" anchor="ctr"/>
          <a:lstStyle/>
          <a:p>
            <a:pPr algn="ctr"/>
          </a:p>
        </p:txBody>
      </p:sp>
      <p:sp>
        <p:nvSpPr>
          <p:cNvPr id="9" name="Rule 8"/>
          <p:cNvSpPr/>
          <p:nvPr/>
        </p:nvSpPr>
        <p:spPr>
          <a:xfrm>
            <a:off x="9004300" y="4101703"/>
            <a:ext cx="2374900" cy="6350"/>
          </a:xfrm>
          <a:prstGeom prst="rect">
            <a:avLst/>
          </a:prstGeom>
          <a:solidFill>
            <a:srgbClr val="DDD7CA"/>
          </a:solidFill>
          <a:ln>
            <a:noFill/>
          </a:ln>
        </p:spPr>
        <p:txBody>
          <a:bodyPr rtlCol="0" anchor="ctr"/>
          <a:lstStyle/>
          <a:p>
            <a:pPr algn="ctr"/>
          </a:p>
        </p:txBody>
      </p:sp>
      <p:sp>
        <p:nvSpPr>
          <p:cNvPr id="10" name="Rule 9"/>
          <p:cNvSpPr/>
          <p:nvPr/>
        </p:nvSpPr>
        <p:spPr>
          <a:xfrm>
            <a:off x="9004300" y="2392561"/>
            <a:ext cx="6350" cy="1715492"/>
          </a:xfrm>
          <a:prstGeom prst="rect">
            <a:avLst/>
          </a:prstGeom>
          <a:solidFill>
            <a:srgbClr val="DDD7CA"/>
          </a:solidFill>
          <a:ln>
            <a:noFill/>
          </a:ln>
        </p:spPr>
        <p:txBody>
          <a:bodyPr rtlCol="0" anchor="ctr"/>
          <a:lstStyle/>
          <a:p>
            <a:pPr algn="ctr"/>
          </a:p>
        </p:txBody>
      </p:sp>
      <p:sp>
        <p:nvSpPr>
          <p:cNvPr id="11" name="Text 10"/>
          <p:cNvSpPr txBox="1"/>
          <p:nvPr/>
        </p:nvSpPr>
        <p:spPr>
          <a:xfrm>
            <a:off x="90297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01</a:t>
            </a:r>
          </a:p>
        </p:txBody>
      </p:sp>
      <p:sp>
        <p:nvSpPr>
          <p:cNvPr id="12" name="Text 11"/>
          <p:cNvSpPr txBox="1"/>
          <p:nvPr/>
        </p:nvSpPr>
        <p:spPr>
          <a:xfrm>
            <a:off x="90297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حدّد ووثّق واعتمد</a:t>
            </a:r>
          </a:p>
        </p:txBody>
      </p:sp>
      <p:sp>
        <p:nvSpPr>
          <p:cNvPr id="13" name="Text 12"/>
          <p:cNvSpPr txBox="1"/>
          <p:nvPr/>
        </p:nvSpPr>
        <p:spPr>
          <a:xfrm>
            <a:off x="9114790" y="3188938"/>
            <a:ext cx="2092960"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‎X-1‎ · المخرج: وثيقة متطلبات معتمدة. الدليل: الوثيقة واعتمادها ودليل تعميمها.</a:t>
            </a:r>
          </a:p>
        </p:txBody>
      </p:sp>
      <p:sp>
        <p:nvSpPr>
          <p:cNvPr id="14" name="Shape arrow-left 13"/>
          <p:cNvSpPr/>
          <p:nvPr/>
        </p:nvSpPr>
        <p:spPr>
          <a:xfrm>
            <a:off x="8724900" y="3186807"/>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15" name="Box 14"/>
          <p:cNvSpPr/>
          <p:nvPr/>
        </p:nvSpPr>
        <p:spPr>
          <a:xfrm>
            <a:off x="6273800" y="2392561"/>
            <a:ext cx="2374900" cy="1715492"/>
          </a:xfrm>
          <a:prstGeom prst="roundRect">
            <a:avLst>
              <a:gd name="adj" fmla="val 5922"/>
            </a:avLst>
          </a:prstGeom>
          <a:solidFill>
            <a:srgbClr val="FCFBF8"/>
          </a:solidFill>
          <a:ln>
            <a:noFill/>
          </a:ln>
        </p:spPr>
        <p:txBody>
          <a:bodyPr rtlCol="0" anchor="ctr"/>
          <a:lstStyle/>
          <a:p>
            <a:pPr algn="ctr"/>
          </a:p>
        </p:txBody>
      </p:sp>
      <p:sp>
        <p:nvSpPr>
          <p:cNvPr id="16" name="Rule 15"/>
          <p:cNvSpPr/>
          <p:nvPr/>
        </p:nvSpPr>
        <p:spPr>
          <a:xfrm>
            <a:off x="6273800" y="2392561"/>
            <a:ext cx="2374900" cy="38100"/>
          </a:xfrm>
          <a:prstGeom prst="rect">
            <a:avLst/>
          </a:prstGeom>
          <a:solidFill>
            <a:srgbClr val="0B6F7C"/>
          </a:solidFill>
          <a:ln>
            <a:noFill/>
          </a:ln>
        </p:spPr>
        <p:txBody>
          <a:bodyPr rtlCol="0" anchor="ctr"/>
          <a:lstStyle/>
          <a:p>
            <a:pPr algn="ctr"/>
          </a:p>
        </p:txBody>
      </p:sp>
      <p:sp>
        <p:nvSpPr>
          <p:cNvPr id="17" name="Rule 16"/>
          <p:cNvSpPr/>
          <p:nvPr/>
        </p:nvSpPr>
        <p:spPr>
          <a:xfrm>
            <a:off x="8642350" y="2392561"/>
            <a:ext cx="6350" cy="1715492"/>
          </a:xfrm>
          <a:prstGeom prst="rect">
            <a:avLst/>
          </a:prstGeom>
          <a:solidFill>
            <a:srgbClr val="DDD7CA"/>
          </a:solidFill>
          <a:ln>
            <a:noFill/>
          </a:ln>
        </p:spPr>
        <p:txBody>
          <a:bodyPr rtlCol="0" anchor="ctr"/>
          <a:lstStyle/>
          <a:p>
            <a:pPr algn="ctr"/>
          </a:p>
        </p:txBody>
      </p:sp>
      <p:sp>
        <p:nvSpPr>
          <p:cNvPr id="18" name="Rule 17"/>
          <p:cNvSpPr/>
          <p:nvPr/>
        </p:nvSpPr>
        <p:spPr>
          <a:xfrm>
            <a:off x="6273800" y="4101703"/>
            <a:ext cx="2374900" cy="6350"/>
          </a:xfrm>
          <a:prstGeom prst="rect">
            <a:avLst/>
          </a:prstGeom>
          <a:solidFill>
            <a:srgbClr val="DDD7CA"/>
          </a:solidFill>
          <a:ln>
            <a:noFill/>
          </a:ln>
        </p:spPr>
        <p:txBody>
          <a:bodyPr rtlCol="0" anchor="ctr"/>
          <a:lstStyle/>
          <a:p>
            <a:pPr algn="ctr"/>
          </a:p>
        </p:txBody>
      </p:sp>
      <p:sp>
        <p:nvSpPr>
          <p:cNvPr id="19" name="Rule 18"/>
          <p:cNvSpPr/>
          <p:nvPr/>
        </p:nvSpPr>
        <p:spPr>
          <a:xfrm>
            <a:off x="6273800" y="2392561"/>
            <a:ext cx="6350" cy="1715492"/>
          </a:xfrm>
          <a:prstGeom prst="rect">
            <a:avLst/>
          </a:prstGeom>
          <a:solidFill>
            <a:srgbClr val="DDD7CA"/>
          </a:solidFill>
          <a:ln>
            <a:noFill/>
          </a:ln>
        </p:spPr>
        <p:txBody>
          <a:bodyPr rtlCol="0" anchor="ctr"/>
          <a:lstStyle/>
          <a:p>
            <a:pPr algn="ctr"/>
          </a:p>
        </p:txBody>
      </p:sp>
      <p:sp>
        <p:nvSpPr>
          <p:cNvPr id="20" name="Text 19"/>
          <p:cNvSpPr txBox="1"/>
          <p:nvPr/>
        </p:nvSpPr>
        <p:spPr>
          <a:xfrm>
            <a:off x="62992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02</a:t>
            </a:r>
          </a:p>
        </p:txBody>
      </p:sp>
      <p:sp>
        <p:nvSpPr>
          <p:cNvPr id="21" name="Text 20"/>
          <p:cNvSpPr txBox="1"/>
          <p:nvPr/>
        </p:nvSpPr>
        <p:spPr>
          <a:xfrm>
            <a:off x="62992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طبّق</a:t>
            </a:r>
          </a:p>
        </p:txBody>
      </p:sp>
      <p:sp>
        <p:nvSpPr>
          <p:cNvPr id="22" name="Text 21"/>
          <p:cNvSpPr txBox="1"/>
          <p:nvPr/>
        </p:nvSpPr>
        <p:spPr>
          <a:xfrm>
            <a:off x="6384290" y="3188938"/>
            <a:ext cx="2092960"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‎X-2‎ · المخرج: ضوابط تقنية وتشغيلية تعمل. الدليل: إعدادات وسجلات تغطي النطاق كله.</a:t>
            </a:r>
          </a:p>
        </p:txBody>
      </p:sp>
      <p:sp>
        <p:nvSpPr>
          <p:cNvPr id="23" name="Shape arrow-left 22"/>
          <p:cNvSpPr/>
          <p:nvPr/>
        </p:nvSpPr>
        <p:spPr>
          <a:xfrm>
            <a:off x="5994400" y="3186807"/>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24" name="Box 23"/>
          <p:cNvSpPr/>
          <p:nvPr/>
        </p:nvSpPr>
        <p:spPr>
          <a:xfrm>
            <a:off x="3543300" y="2392561"/>
            <a:ext cx="2374900" cy="1715492"/>
          </a:xfrm>
          <a:prstGeom prst="roundRect">
            <a:avLst>
              <a:gd name="adj" fmla="val 5922"/>
            </a:avLst>
          </a:prstGeom>
          <a:solidFill>
            <a:srgbClr val="FCFBF8"/>
          </a:solidFill>
          <a:ln>
            <a:noFill/>
          </a:ln>
        </p:spPr>
        <p:txBody>
          <a:bodyPr rtlCol="0" anchor="ctr"/>
          <a:lstStyle/>
          <a:p>
            <a:pPr algn="ctr"/>
          </a:p>
        </p:txBody>
      </p:sp>
      <p:sp>
        <p:nvSpPr>
          <p:cNvPr id="25" name="Rule 24"/>
          <p:cNvSpPr/>
          <p:nvPr/>
        </p:nvSpPr>
        <p:spPr>
          <a:xfrm>
            <a:off x="3543300" y="2392561"/>
            <a:ext cx="2374900" cy="38100"/>
          </a:xfrm>
          <a:prstGeom prst="rect">
            <a:avLst/>
          </a:prstGeom>
          <a:solidFill>
            <a:srgbClr val="0B6F7C"/>
          </a:solidFill>
          <a:ln>
            <a:noFill/>
          </a:ln>
        </p:spPr>
        <p:txBody>
          <a:bodyPr rtlCol="0" anchor="ctr"/>
          <a:lstStyle/>
          <a:p>
            <a:pPr algn="ctr"/>
          </a:p>
        </p:txBody>
      </p:sp>
      <p:sp>
        <p:nvSpPr>
          <p:cNvPr id="26" name="Rule 25"/>
          <p:cNvSpPr/>
          <p:nvPr/>
        </p:nvSpPr>
        <p:spPr>
          <a:xfrm>
            <a:off x="5911850" y="2392561"/>
            <a:ext cx="6350" cy="1715492"/>
          </a:xfrm>
          <a:prstGeom prst="rect">
            <a:avLst/>
          </a:prstGeom>
          <a:solidFill>
            <a:srgbClr val="DDD7CA"/>
          </a:solidFill>
          <a:ln>
            <a:noFill/>
          </a:ln>
        </p:spPr>
        <p:txBody>
          <a:bodyPr rtlCol="0" anchor="ctr"/>
          <a:lstStyle/>
          <a:p>
            <a:pPr algn="ctr"/>
          </a:p>
        </p:txBody>
      </p:sp>
      <p:sp>
        <p:nvSpPr>
          <p:cNvPr id="27" name="Rule 26"/>
          <p:cNvSpPr/>
          <p:nvPr/>
        </p:nvSpPr>
        <p:spPr>
          <a:xfrm>
            <a:off x="3543300" y="4101703"/>
            <a:ext cx="2374900" cy="6350"/>
          </a:xfrm>
          <a:prstGeom prst="rect">
            <a:avLst/>
          </a:prstGeom>
          <a:solidFill>
            <a:srgbClr val="DDD7CA"/>
          </a:solidFill>
          <a:ln>
            <a:noFill/>
          </a:ln>
        </p:spPr>
        <p:txBody>
          <a:bodyPr rtlCol="0" anchor="ctr"/>
          <a:lstStyle/>
          <a:p>
            <a:pPr algn="ctr"/>
          </a:p>
        </p:txBody>
      </p:sp>
      <p:sp>
        <p:nvSpPr>
          <p:cNvPr id="28" name="Rule 27"/>
          <p:cNvSpPr/>
          <p:nvPr/>
        </p:nvSpPr>
        <p:spPr>
          <a:xfrm>
            <a:off x="3543300" y="2392561"/>
            <a:ext cx="6350" cy="1715492"/>
          </a:xfrm>
          <a:prstGeom prst="rect">
            <a:avLst/>
          </a:prstGeom>
          <a:solidFill>
            <a:srgbClr val="DDD7CA"/>
          </a:solidFill>
          <a:ln>
            <a:noFill/>
          </a:ln>
        </p:spPr>
        <p:txBody>
          <a:bodyPr rtlCol="0" anchor="ctr"/>
          <a:lstStyle/>
          <a:p>
            <a:pPr algn="ctr"/>
          </a:p>
        </p:txBody>
      </p:sp>
      <p:sp>
        <p:nvSpPr>
          <p:cNvPr id="29" name="Text 28"/>
          <p:cNvSpPr txBox="1"/>
          <p:nvPr/>
        </p:nvSpPr>
        <p:spPr>
          <a:xfrm>
            <a:off x="35687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03</a:t>
            </a:r>
          </a:p>
        </p:txBody>
      </p:sp>
      <p:sp>
        <p:nvSpPr>
          <p:cNvPr id="30" name="Text 29"/>
          <p:cNvSpPr txBox="1"/>
          <p:nvPr/>
        </p:nvSpPr>
        <p:spPr>
          <a:xfrm>
            <a:off x="35687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غطِّ الحد الأدنى</a:t>
            </a:r>
          </a:p>
        </p:txBody>
      </p:sp>
      <p:sp>
        <p:nvSpPr>
          <p:cNvPr id="31" name="Text 30"/>
          <p:cNvSpPr txBox="1"/>
          <p:nvPr/>
        </p:nvSpPr>
        <p:spPr>
          <a:xfrm>
            <a:off x="3653790" y="3188938"/>
            <a:ext cx="2092960"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‎X-3‎ · المخرج: كل بند فرعي مغطى في الوثيقة والتطبيق. الدليل: دليل مستقل لكل بند.</a:t>
            </a:r>
          </a:p>
        </p:txBody>
      </p:sp>
      <p:sp>
        <p:nvSpPr>
          <p:cNvPr id="32" name="Shape arrow-left 31"/>
          <p:cNvSpPr/>
          <p:nvPr/>
        </p:nvSpPr>
        <p:spPr>
          <a:xfrm>
            <a:off x="3263900" y="3186807"/>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33" name="Box 32"/>
          <p:cNvSpPr/>
          <p:nvPr/>
        </p:nvSpPr>
        <p:spPr>
          <a:xfrm>
            <a:off x="812800" y="2392561"/>
            <a:ext cx="2374900" cy="1715492"/>
          </a:xfrm>
          <a:prstGeom prst="roundRect">
            <a:avLst>
              <a:gd name="adj" fmla="val 5922"/>
            </a:avLst>
          </a:prstGeom>
          <a:solidFill>
            <a:srgbClr val="FCFBF8"/>
          </a:solidFill>
          <a:ln>
            <a:noFill/>
          </a:ln>
        </p:spPr>
        <p:txBody>
          <a:bodyPr rtlCol="0" anchor="ctr"/>
          <a:lstStyle/>
          <a:p>
            <a:pPr algn="ctr"/>
          </a:p>
        </p:txBody>
      </p:sp>
      <p:sp>
        <p:nvSpPr>
          <p:cNvPr id="34" name="Rule 33"/>
          <p:cNvSpPr/>
          <p:nvPr/>
        </p:nvSpPr>
        <p:spPr>
          <a:xfrm>
            <a:off x="812800" y="2392561"/>
            <a:ext cx="2374900" cy="38100"/>
          </a:xfrm>
          <a:prstGeom prst="rect">
            <a:avLst/>
          </a:prstGeom>
          <a:solidFill>
            <a:srgbClr val="0B6F7C"/>
          </a:solidFill>
          <a:ln>
            <a:noFill/>
          </a:ln>
        </p:spPr>
        <p:txBody>
          <a:bodyPr rtlCol="0" anchor="ctr"/>
          <a:lstStyle/>
          <a:p>
            <a:pPr algn="ctr"/>
          </a:p>
        </p:txBody>
      </p:sp>
      <p:sp>
        <p:nvSpPr>
          <p:cNvPr id="35" name="Rule 34"/>
          <p:cNvSpPr/>
          <p:nvPr/>
        </p:nvSpPr>
        <p:spPr>
          <a:xfrm>
            <a:off x="3181350" y="2392561"/>
            <a:ext cx="6350" cy="1715492"/>
          </a:xfrm>
          <a:prstGeom prst="rect">
            <a:avLst/>
          </a:prstGeom>
          <a:solidFill>
            <a:srgbClr val="DDD7CA"/>
          </a:solidFill>
          <a:ln>
            <a:noFill/>
          </a:ln>
        </p:spPr>
        <p:txBody>
          <a:bodyPr rtlCol="0" anchor="ctr"/>
          <a:lstStyle/>
          <a:p>
            <a:pPr algn="ctr"/>
          </a:p>
        </p:txBody>
      </p:sp>
      <p:sp>
        <p:nvSpPr>
          <p:cNvPr id="36" name="Rule 35"/>
          <p:cNvSpPr/>
          <p:nvPr/>
        </p:nvSpPr>
        <p:spPr>
          <a:xfrm>
            <a:off x="812800" y="4101703"/>
            <a:ext cx="2374900" cy="6350"/>
          </a:xfrm>
          <a:prstGeom prst="rect">
            <a:avLst/>
          </a:prstGeom>
          <a:solidFill>
            <a:srgbClr val="DDD7CA"/>
          </a:solidFill>
          <a:ln>
            <a:noFill/>
          </a:ln>
        </p:spPr>
        <p:txBody>
          <a:bodyPr rtlCol="0" anchor="ctr"/>
          <a:lstStyle/>
          <a:p>
            <a:pPr algn="ctr"/>
          </a:p>
        </p:txBody>
      </p:sp>
      <p:sp>
        <p:nvSpPr>
          <p:cNvPr id="37" name="Rule 36"/>
          <p:cNvSpPr/>
          <p:nvPr/>
        </p:nvSpPr>
        <p:spPr>
          <a:xfrm>
            <a:off x="812800" y="2392561"/>
            <a:ext cx="6350" cy="1715492"/>
          </a:xfrm>
          <a:prstGeom prst="rect">
            <a:avLst/>
          </a:prstGeom>
          <a:solidFill>
            <a:srgbClr val="DDD7CA"/>
          </a:solidFill>
          <a:ln>
            <a:noFill/>
          </a:ln>
        </p:spPr>
        <p:txBody>
          <a:bodyPr rtlCol="0" anchor="ctr"/>
          <a:lstStyle/>
          <a:p>
            <a:pPr algn="ctr"/>
          </a:p>
        </p:txBody>
      </p:sp>
      <p:sp>
        <p:nvSpPr>
          <p:cNvPr id="38" name="Text 37"/>
          <p:cNvSpPr txBox="1"/>
          <p:nvPr/>
        </p:nvSpPr>
        <p:spPr>
          <a:xfrm>
            <a:off x="8382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04</a:t>
            </a:r>
          </a:p>
        </p:txBody>
      </p:sp>
      <p:sp>
        <p:nvSpPr>
          <p:cNvPr id="39" name="Text 38"/>
          <p:cNvSpPr txBox="1"/>
          <p:nvPr/>
        </p:nvSpPr>
        <p:spPr>
          <a:xfrm>
            <a:off x="8382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راجع دورياً</a:t>
            </a:r>
          </a:p>
        </p:txBody>
      </p:sp>
      <p:sp>
        <p:nvSpPr>
          <p:cNvPr id="40" name="Text 39"/>
          <p:cNvSpPr txBox="1"/>
          <p:nvPr/>
        </p:nvSpPr>
        <p:spPr>
          <a:xfrm>
            <a:off x="923290" y="3188938"/>
            <a:ext cx="2092960"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‎X-4‎ · المخرج: مراجعة مجدولة بنتائج وإجراءات. الدليل: تقرير أو محضر مؤرخ.</a:t>
            </a:r>
          </a:p>
        </p:txBody>
      </p:sp>
      <p:sp>
        <p:nvSpPr>
          <p:cNvPr id="41" name="Box 40"/>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42" name="Box 41"/>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43" name="Icon Book 42" descr="icon004.png"/>
          <p:cNvPicPr>
            <a:picLocks noChangeAspect="1"/>
          </p:cNvPicPr>
          <p:nvPr/>
        </p:nvPicPr>
        <p:blipFill>
          <a:blip r:embed="rId2"/>
          <a:stretch>
            <a:fillRect/>
          </a:stretch>
        </p:blipFill>
        <p:spPr>
          <a:xfrm>
            <a:off x="10864850" y="5329932"/>
            <a:ext cx="215900" cy="215900"/>
          </a:xfrm>
          <a:prstGeom prst="rect">
            <a:avLst/>
          </a:prstGeom>
        </p:spPr>
      </p:pic>
      <p:sp>
        <p:nvSpPr>
          <p:cNvPr id="44" name="Text 43"/>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تذكّر</a:t>
            </a:r>
          </a:p>
        </p:txBody>
      </p:sp>
      <p:sp>
        <p:nvSpPr>
          <p:cNvPr id="45" name="Text 44"/>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يتكرر النمط في أغلب مكونات التعزيز وفي ‎3-1‎ و‎4-2‎. أما الحوكمة و‎2-1‎ و‎2-7‎ و‎4-1‎ فلها صياغات خاصة، فاقرأها ضابطاً ضابطاً.</a:t>
            </a:r>
          </a:p>
        </p:txBody>
      </p:sp>
      <p:sp>
        <p:nvSpPr>
          <p:cNvPr id="46" name="Text 4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47" name="Box 4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49" name="Box 48"/>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Box 5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Text 5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13292" y="812800"/>
            <a:ext cx="18659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02 · أساسيات ECC</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هرم الوثائق: من الاستراتيجية إلى السجل</a:t>
            </a:r>
          </a:p>
        </p:txBody>
      </p:sp>
      <p:sp>
        <p:nvSpPr>
          <p:cNvPr id="5" name="Box 4"/>
          <p:cNvSpPr/>
          <p:nvPr/>
        </p:nvSpPr>
        <p:spPr>
          <a:xfrm>
            <a:off x="4064000" y="1878211"/>
            <a:ext cx="4064000" cy="450850"/>
          </a:xfrm>
          <a:prstGeom prst="roundRect">
            <a:avLst>
              <a:gd name="adj" fmla="val 19718"/>
            </a:avLst>
          </a:prstGeom>
          <a:solidFill>
            <a:srgbClr val="0B6F7C"/>
          </a:solidFill>
          <a:ln>
            <a:noFill/>
          </a:ln>
        </p:spPr>
        <p:txBody>
          <a:bodyPr rtlCol="0" anchor="ctr"/>
          <a:lstStyle/>
          <a:p>
            <a:pPr algn="ctr"/>
          </a:p>
        </p:txBody>
      </p:sp>
      <p:sp>
        <p:nvSpPr>
          <p:cNvPr id="6" name="Text 5"/>
          <p:cNvSpPr txBox="1"/>
          <p:nvPr/>
        </p:nvSpPr>
        <p:spPr>
          <a:xfrm>
            <a:off x="6291580" y="1964285"/>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F2EEE6"/>
                </a:solidFill>
                <a:latin typeface="Alexandria"/>
                <a:ea typeface="Alexandria"/>
                <a:cs typeface="Alexandria"/>
              </a:rPr>
              <a:t>الاستراتيجية</a:t>
            </a:r>
          </a:p>
        </p:txBody>
      </p:sp>
      <p:sp>
        <p:nvSpPr>
          <p:cNvPr id="7" name="Text 6"/>
          <p:cNvSpPr txBox="1"/>
          <p:nvPr/>
        </p:nvSpPr>
        <p:spPr>
          <a:xfrm>
            <a:off x="4554851" y="1973354"/>
            <a:ext cx="170624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الاتجاه والأهداف</a:t>
            </a:r>
          </a:p>
        </p:txBody>
      </p:sp>
      <p:sp>
        <p:nvSpPr>
          <p:cNvPr id="8" name="Text 7"/>
          <p:cNvSpPr txBox="1"/>
          <p:nvPr/>
        </p:nvSpPr>
        <p:spPr>
          <a:xfrm>
            <a:off x="4163060" y="1994710"/>
            <a:ext cx="36578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Mono"/>
                <a:ea typeface="IBM Plex Mono"/>
                <a:cs typeface="IBM Plex Mono"/>
              </a:rPr>
              <a:t>‎1-1‎</a:t>
            </a:r>
          </a:p>
        </p:txBody>
      </p:sp>
      <p:sp>
        <p:nvSpPr>
          <p:cNvPr id="9" name="Box 8"/>
          <p:cNvSpPr/>
          <p:nvPr/>
        </p:nvSpPr>
        <p:spPr>
          <a:xfrm>
            <a:off x="3365500" y="2405261"/>
            <a:ext cx="5461000" cy="629841"/>
          </a:xfrm>
          <a:prstGeom prst="roundRect">
            <a:avLst>
              <a:gd name="adj" fmla="val 14114"/>
            </a:avLst>
          </a:prstGeom>
          <a:solidFill>
            <a:srgbClr val="2C7F8B"/>
          </a:solidFill>
          <a:ln>
            <a:noFill/>
          </a:ln>
        </p:spPr>
        <p:txBody>
          <a:bodyPr rtlCol="0" anchor="ctr"/>
          <a:lstStyle/>
          <a:p>
            <a:pPr algn="ctr"/>
          </a:p>
        </p:txBody>
      </p:sp>
      <p:sp>
        <p:nvSpPr>
          <p:cNvPr id="10" name="Text 9"/>
          <p:cNvSpPr txBox="1"/>
          <p:nvPr/>
        </p:nvSpPr>
        <p:spPr>
          <a:xfrm>
            <a:off x="6990080" y="2580830"/>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F2EEE6"/>
                </a:solidFill>
                <a:latin typeface="Alexandria"/>
                <a:ea typeface="Alexandria"/>
                <a:cs typeface="Alexandria"/>
              </a:rPr>
              <a:t>السياسات</a:t>
            </a:r>
          </a:p>
        </p:txBody>
      </p:sp>
      <p:sp>
        <p:nvSpPr>
          <p:cNvPr id="11" name="Text 10"/>
          <p:cNvSpPr txBox="1"/>
          <p:nvPr/>
        </p:nvSpPr>
        <p:spPr>
          <a:xfrm>
            <a:off x="4081780" y="2483239"/>
            <a:ext cx="287782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ماذا ولماذا: متطلبات ملزمة يعتمدها صاحب الصلاحية</a:t>
            </a:r>
          </a:p>
        </p:txBody>
      </p:sp>
      <p:sp>
        <p:nvSpPr>
          <p:cNvPr id="12" name="Text 11"/>
          <p:cNvSpPr txBox="1"/>
          <p:nvPr/>
        </p:nvSpPr>
        <p:spPr>
          <a:xfrm>
            <a:off x="3464560" y="2611255"/>
            <a:ext cx="54864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Mono"/>
                <a:ea typeface="IBM Plex Mono"/>
                <a:cs typeface="IBM Plex Mono"/>
              </a:rPr>
              <a:t>‎1-3-1‎</a:t>
            </a:r>
          </a:p>
        </p:txBody>
      </p:sp>
      <p:sp>
        <p:nvSpPr>
          <p:cNvPr id="13" name="Box 12"/>
          <p:cNvSpPr/>
          <p:nvPr/>
        </p:nvSpPr>
        <p:spPr>
          <a:xfrm>
            <a:off x="2667000" y="3111302"/>
            <a:ext cx="6858000" cy="450850"/>
          </a:xfrm>
          <a:prstGeom prst="roundRect">
            <a:avLst>
              <a:gd name="adj" fmla="val 19718"/>
            </a:avLst>
          </a:prstGeom>
          <a:solidFill>
            <a:srgbClr val="4F919B"/>
          </a:solidFill>
          <a:ln>
            <a:noFill/>
          </a:ln>
        </p:spPr>
        <p:txBody>
          <a:bodyPr rtlCol="0" anchor="ctr"/>
          <a:lstStyle/>
          <a:p>
            <a:pPr algn="ctr"/>
          </a:p>
        </p:txBody>
      </p:sp>
      <p:sp>
        <p:nvSpPr>
          <p:cNvPr id="14" name="Text 13"/>
          <p:cNvSpPr txBox="1"/>
          <p:nvPr/>
        </p:nvSpPr>
        <p:spPr>
          <a:xfrm>
            <a:off x="7688580" y="3197376"/>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F2EEE6"/>
                </a:solidFill>
                <a:latin typeface="Alexandria"/>
                <a:ea typeface="Alexandria"/>
                <a:cs typeface="Alexandria"/>
              </a:rPr>
              <a:t>الإجراءات</a:t>
            </a:r>
          </a:p>
        </p:txBody>
      </p:sp>
      <p:sp>
        <p:nvSpPr>
          <p:cNvPr id="15" name="Text 14"/>
          <p:cNvSpPr txBox="1"/>
          <p:nvPr/>
        </p:nvSpPr>
        <p:spPr>
          <a:xfrm>
            <a:off x="3131820" y="3206444"/>
            <a:ext cx="452628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F2EEE6"/>
                </a:solidFill>
                <a:latin typeface="IBM Plex Sans Arabic"/>
                <a:ea typeface="IBM Plex Sans Arabic"/>
                <a:cs typeface="IBM Plex Sans Arabic"/>
              </a:rPr>
              <a:t>كيف ومن ومتى: خطوات التنفيذ والمسؤوليات والنماذج</a:t>
            </a:r>
          </a:p>
        </p:txBody>
      </p:sp>
      <p:sp>
        <p:nvSpPr>
          <p:cNvPr id="16" name="Text 15"/>
          <p:cNvSpPr txBox="1"/>
          <p:nvPr/>
        </p:nvSpPr>
        <p:spPr>
          <a:xfrm>
            <a:off x="2766060" y="3227800"/>
            <a:ext cx="54864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F2EEE6"/>
                </a:solidFill>
                <a:latin typeface="IBM Plex Mono"/>
                <a:ea typeface="IBM Plex Mono"/>
                <a:cs typeface="IBM Plex Mono"/>
              </a:rPr>
              <a:t>‎1-3-1‎</a:t>
            </a:r>
          </a:p>
        </p:txBody>
      </p:sp>
      <p:sp>
        <p:nvSpPr>
          <p:cNvPr id="17" name="Box 16"/>
          <p:cNvSpPr/>
          <p:nvPr/>
        </p:nvSpPr>
        <p:spPr>
          <a:xfrm>
            <a:off x="1968500" y="3638352"/>
            <a:ext cx="8255000" cy="450850"/>
          </a:xfrm>
          <a:prstGeom prst="roundRect">
            <a:avLst>
              <a:gd name="adj" fmla="val 19718"/>
            </a:avLst>
          </a:prstGeom>
          <a:solidFill>
            <a:srgbClr val="77A8AF"/>
          </a:solidFill>
          <a:ln>
            <a:noFill/>
          </a:ln>
        </p:spPr>
        <p:txBody>
          <a:bodyPr rtlCol="0" anchor="ctr"/>
          <a:lstStyle/>
          <a:p>
            <a:pPr algn="ctr"/>
          </a:p>
        </p:txBody>
      </p:sp>
      <p:sp>
        <p:nvSpPr>
          <p:cNvPr id="18" name="Text 17"/>
          <p:cNvSpPr txBox="1"/>
          <p:nvPr/>
        </p:nvSpPr>
        <p:spPr>
          <a:xfrm>
            <a:off x="8387080" y="3724426"/>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0E1A2B"/>
                </a:solidFill>
                <a:latin typeface="Alexandria"/>
                <a:ea typeface="Alexandria"/>
                <a:cs typeface="Alexandria"/>
              </a:rPr>
              <a:t>المعايير التقنية</a:t>
            </a:r>
          </a:p>
        </p:txBody>
      </p:sp>
      <p:sp>
        <p:nvSpPr>
          <p:cNvPr id="19" name="Text 18"/>
          <p:cNvSpPr txBox="1"/>
          <p:nvPr/>
        </p:nvSpPr>
        <p:spPr>
          <a:xfrm>
            <a:off x="2321560" y="3733494"/>
            <a:ext cx="60350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0E1A2B"/>
                </a:solidFill>
                <a:latin typeface="IBM Plex Sans Arabic"/>
                <a:ea typeface="IBM Plex Sans Arabic"/>
                <a:cs typeface="IBM Plex Sans Arabic"/>
              </a:rPr>
              <a:t>الإعدادات الآمنة لكل تقنية: الجدار الناري وقواعد البيانات وأنظمة التشغيل</a:t>
            </a:r>
          </a:p>
        </p:txBody>
      </p:sp>
      <p:sp>
        <p:nvSpPr>
          <p:cNvPr id="20" name="Text 19"/>
          <p:cNvSpPr txBox="1"/>
          <p:nvPr/>
        </p:nvSpPr>
        <p:spPr>
          <a:xfrm>
            <a:off x="2067560" y="3754850"/>
            <a:ext cx="54864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0E1A2B"/>
                </a:solidFill>
                <a:latin typeface="IBM Plex Mono"/>
                <a:ea typeface="IBM Plex Mono"/>
                <a:cs typeface="IBM Plex Mono"/>
              </a:rPr>
              <a:t>‎1-3-3‎</a:t>
            </a:r>
          </a:p>
        </p:txBody>
      </p:sp>
      <p:sp>
        <p:nvSpPr>
          <p:cNvPr id="21" name="Box 20"/>
          <p:cNvSpPr/>
          <p:nvPr/>
        </p:nvSpPr>
        <p:spPr>
          <a:xfrm>
            <a:off x="1270000" y="4165402"/>
            <a:ext cx="9652000" cy="450850"/>
          </a:xfrm>
          <a:prstGeom prst="roundRect">
            <a:avLst>
              <a:gd name="adj" fmla="val 19718"/>
            </a:avLst>
          </a:prstGeom>
          <a:solidFill>
            <a:srgbClr val="A6C6CA"/>
          </a:solidFill>
          <a:ln>
            <a:noFill/>
          </a:ln>
        </p:spPr>
        <p:txBody>
          <a:bodyPr rtlCol="0" anchor="ctr"/>
          <a:lstStyle/>
          <a:p>
            <a:pPr algn="ctr"/>
          </a:p>
        </p:txBody>
      </p:sp>
      <p:sp>
        <p:nvSpPr>
          <p:cNvPr id="22" name="Text 21"/>
          <p:cNvSpPr txBox="1"/>
          <p:nvPr/>
        </p:nvSpPr>
        <p:spPr>
          <a:xfrm>
            <a:off x="9085580" y="4251476"/>
            <a:ext cx="164592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0E1A2B"/>
                </a:solidFill>
                <a:latin typeface="Alexandria"/>
                <a:ea typeface="Alexandria"/>
                <a:cs typeface="Alexandria"/>
              </a:rPr>
              <a:t>السجلات</a:t>
            </a:r>
          </a:p>
        </p:txBody>
      </p:sp>
      <p:sp>
        <p:nvSpPr>
          <p:cNvPr id="23" name="Text 22"/>
          <p:cNvSpPr txBox="1"/>
          <p:nvPr/>
        </p:nvSpPr>
        <p:spPr>
          <a:xfrm>
            <a:off x="1355173" y="4260544"/>
            <a:ext cx="769992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0E1A2B"/>
                </a:solidFill>
                <a:latin typeface="IBM Plex Sans Arabic"/>
                <a:ea typeface="IBM Plex Sans Arabic"/>
                <a:cs typeface="IBM Plex Sans Arabic"/>
              </a:rPr>
              <a:t>أثر التنفيذ: محاضر وتقارير وطلبات وسجلات أنظمة، وهي الأدلة التشغيلية</a:t>
            </a:r>
          </a:p>
        </p:txBody>
      </p:sp>
      <p:sp>
        <p:nvSpPr>
          <p:cNvPr id="24" name="Text 23"/>
          <p:cNvSpPr txBox="1"/>
          <p:nvPr/>
        </p:nvSpPr>
        <p:spPr>
          <a:xfrm>
            <a:off x="1369060" y="4281900"/>
            <a:ext cx="40407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1" i="0">
                <a:solidFill>
                  <a:srgbClr val="0E1A2B"/>
                </a:solidFill>
                <a:latin typeface="IBM Plex Mono"/>
                <a:ea typeface="IBM Plex Mono"/>
                <a:cs typeface="IBM Plex Sans Arabic"/>
              </a:rPr>
              <a:t>الأدلة</a:t>
            </a:r>
          </a:p>
        </p:txBody>
      </p:sp>
      <p:sp>
        <p:nvSpPr>
          <p:cNvPr id="25" name="Text 2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26" name="Box 2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7" name="Box 26"/>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28" name="Box 27"/>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29" name="Box 28"/>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0" name="Box 29"/>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Text 3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75105" y="812800"/>
            <a:ext cx="1804095"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تمرين 2 · ثنائي · 15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بأي ضابط يرتبط هذا الدليل؟</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دليل: حدّد رمز الضابط الذي يثبته، والطبقة (‎X-1‎ إلى ‎X-4‎) أو نوع الضابط. استخدم وثيقة الضوابط.</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5557421" y="2975370"/>
            <a:ext cx="264259"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ب</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سياسة النسخ الاحتياطي موقعة من صاحب الصلاحية</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10974467" y="2975370"/>
            <a:ext cx="148967"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أ</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محضر اجتماع لمراجعة تطبيق متطلبات إدارة الثغرات</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5589568" y="3686570"/>
            <a:ext cx="199965"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د</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إعدادات تُظهر التحقق متعدد العوامل على الشبكة الافتراضية الخاصة</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0B6F7C"/>
          </a:solidFill>
          <a:ln>
            <a:noFill/>
          </a:ln>
        </p:spPr>
        <p:txBody>
          <a:bodyPr rtlCol="0" anchor="ctr"/>
          <a:lstStyle/>
          <a:p>
            <a:pPr algn="ctr"/>
          </a:p>
        </p:txBody>
      </p:sp>
      <p:sp>
        <p:nvSpPr>
          <p:cNvPr id="23" name="Text 22"/>
          <p:cNvSpPr txBox="1"/>
          <p:nvPr/>
        </p:nvSpPr>
        <p:spPr>
          <a:xfrm>
            <a:off x="10938550" y="36865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ج</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تقرير اختبار استعادة نسخة احتياطية لنظام الموارد البشرية</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5591254" y="4397770"/>
            <a:ext cx="19669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و</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بريد تعميم سياسة الاستخدام المقبول على الموظفين</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10915650" y="4397770"/>
            <a:ext cx="266700"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هـ</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تذاكر معالجة تنبيهات نظام إدارة الأحداث خلال الشهر</a:t>
            </a:r>
          </a:p>
        </p:txBody>
      </p:sp>
      <p:sp>
        <p:nvSpPr>
          <p:cNvPr id="33" name="Box 32"/>
          <p:cNvSpPr/>
          <p:nvPr/>
        </p:nvSpPr>
        <p:spPr>
          <a:xfrm>
            <a:off x="815975" y="4891286"/>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34" name="Box 33"/>
          <p:cNvSpPr/>
          <p:nvPr/>
        </p:nvSpPr>
        <p:spPr>
          <a:xfrm>
            <a:off x="5530850" y="5102027"/>
            <a:ext cx="317500" cy="317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5579150" y="5189536"/>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ح</a:t>
            </a:r>
          </a:p>
        </p:txBody>
      </p:sp>
      <p:sp>
        <p:nvSpPr>
          <p:cNvPr id="36" name="Text 35"/>
          <p:cNvSpPr txBox="1"/>
          <p:nvPr/>
        </p:nvSpPr>
        <p:spPr>
          <a:xfrm>
            <a:off x="838200" y="5111401"/>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تقرير فحص الثغرات الدوري لخوادم الإنتاج</a:t>
            </a:r>
          </a:p>
        </p:txBody>
      </p:sp>
      <p:sp>
        <p:nvSpPr>
          <p:cNvPr id="37" name="Box 36"/>
          <p:cNvSpPr/>
          <p:nvPr/>
        </p:nvSpPr>
        <p:spPr>
          <a:xfrm>
            <a:off x="6175375" y="4891286"/>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38" name="Box 37"/>
          <p:cNvSpPr/>
          <p:nvPr/>
        </p:nvSpPr>
        <p:spPr>
          <a:xfrm>
            <a:off x="10890250" y="5102027"/>
            <a:ext cx="317500" cy="317500"/>
          </a:xfrm>
          <a:prstGeom prst="roundRect">
            <a:avLst>
              <a:gd name="adj" fmla="val 50000"/>
            </a:avLst>
          </a:prstGeom>
          <a:solidFill>
            <a:srgbClr val="0B6F7C"/>
          </a:solidFill>
          <a:ln>
            <a:noFill/>
          </a:ln>
        </p:spPr>
        <p:txBody>
          <a:bodyPr rtlCol="0" anchor="ctr"/>
          <a:lstStyle/>
          <a:p>
            <a:pPr algn="ctr"/>
          </a:p>
        </p:txBody>
      </p:sp>
      <p:sp>
        <p:nvSpPr>
          <p:cNvPr id="39" name="Text 38"/>
          <p:cNvSpPr txBox="1"/>
          <p:nvPr/>
        </p:nvSpPr>
        <p:spPr>
          <a:xfrm>
            <a:off x="10971391" y="5189536"/>
            <a:ext cx="155218"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ز</a:t>
            </a:r>
          </a:p>
        </p:txBody>
      </p:sp>
      <p:sp>
        <p:nvSpPr>
          <p:cNvPr id="40" name="Text 39"/>
          <p:cNvSpPr txBox="1"/>
          <p:nvPr/>
        </p:nvSpPr>
        <p:spPr>
          <a:xfrm>
            <a:off x="6211062" y="4991743"/>
            <a:ext cx="4552188"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عقد مركز عمليات مُدار لخدمات الأمن السيبراني ينص على أن تشغيله بالكامل داخل المملكة</a:t>
            </a:r>
          </a:p>
        </p:txBody>
      </p:sp>
      <p:sp>
        <p:nvSpPr>
          <p:cNvPr id="41" name="Text 4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42" name="Box 4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3" name="Box 42"/>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44" name="Box 43"/>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Box 4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Box 4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Box 4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Text 5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حل التمرين 2</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كل دليل وضابطه</a:t>
            </a:r>
          </a:p>
        </p:txBody>
      </p:sp>
      <p:graphicFrame>
        <p:nvGraphicFramePr>
          <p:cNvPr id="5" name="Table 4"/>
          <p:cNvGraphicFramePr>
            <a:graphicFrameLocks noGrp="1"/>
          </p:cNvGraphicFramePr>
          <p:nvPr/>
        </p:nvGraphicFramePr>
        <p:xfrm>
          <a:off x="815975" y="1855986"/>
          <a:ext cx="10560050" cy="3004839"/>
        </p:xfrm>
        <a:graphic>
          <a:graphicData uri="http://schemas.openxmlformats.org/drawingml/2006/table">
            <a:tbl>
              <a:tblPr firstRow="0" bandRow="0" lastRow="0" firstCol="0" lastCol="0" bandCol="0">
                <a:tableStyleId>{2D5ABB26-0587-4C30-8999-92F81FD0307C}</a:tableStyleId>
              </a:tblPr>
              <a:tblGrid>
                <a:gridCol w="3590290"/>
                <a:gridCol w="1689735"/>
                <a:gridCol w="528002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الطبقة أو النوع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الدليل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‎X-4‎ مراجعة دورية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2-10-4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 · محضر مراجعة إدارة الثغرات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‎X-1‎ توثيق واعتماد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2-9-1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 · سياسة النسخ الاحتياطي المعتمدة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‎X-3‎ حد أدنى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2-9-3-3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 · اختبار استعادة النسخ</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‎X-3‎ حد أدنى (جزئي)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2-2-3-2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د · التحقق متعدد العوامل للدخول عن بعد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‎X-3‎ حد أدنى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2-12-3-4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هـ · المراقبة المستمرة للسجلات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سياسة الاستخدام المقبول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و · تعميم سياسة الاستخدام المقبول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متطلب عقود الأطراف الخارجية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4-1-3-2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ز · مركز أمن سيبراني مُدار داخل المملكة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‎X-3‎ حد أدنى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2-10-3-1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 · الفحص الدوري للثغرات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02 · أساسيات ‎ECC-2:2024‎</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565400" y="6313190"/>
            <a:ext cx="279400" cy="63500"/>
          </a:xfrm>
          <a:prstGeom prst="roundRect">
            <a:avLst>
              <a:gd name="adj" fmla="val 50000"/>
            </a:avLst>
          </a:prstGeom>
          <a:solidFill>
            <a:srgbClr val="0B6F7C"/>
          </a:solidFill>
          <a:ln>
            <a:noFill/>
          </a:ln>
        </p:spPr>
        <p:txBody>
          <a:bodyPr rtlCol="0" anchor="ctr"/>
          <a:lstStyle/>
          <a:p>
            <a:pPr algn="ctr"/>
          </a:p>
        </p:txBody>
      </p:sp>
      <p:sp>
        <p:nvSpPr>
          <p:cNvPr id="9" name="Box 8"/>
          <p:cNvSpPr/>
          <p:nvPr/>
        </p:nvSpPr>
        <p:spPr>
          <a:xfrm>
            <a:off x="2387600" y="6313190"/>
            <a:ext cx="139700" cy="63500"/>
          </a:xfrm>
          <a:prstGeom prst="roundRect">
            <a:avLst>
              <a:gd name="adj" fmla="val 50000"/>
            </a:avLst>
          </a:prstGeom>
          <a:solidFill>
            <a:srgbClr val="DDD7CA"/>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8233668" y="285750"/>
            <a:ext cx="1396901"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03 · برنامج التطبيق</a:t>
            </a:r>
          </a:p>
        </p:txBody>
      </p:sp>
      <p:sp>
        <p:nvSpPr>
          <p:cNvPr id="7" name="Text box 6"/>
          <p:cNvSpPr/>
          <p:nvPr/>
        </p:nvSpPr>
        <p:spPr>
          <a:xfrm>
            <a:off x="7783413" y="282575"/>
            <a:ext cx="383580"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7327007" y="282575"/>
            <a:ext cx="38655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6869212"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419056"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5961261"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503763"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53401" y="899795"/>
            <a:ext cx="2425799"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03</a:t>
            </a:r>
          </a:p>
        </p:txBody>
      </p:sp>
      <p:sp>
        <p:nvSpPr>
          <p:cNvPr id="14" name="Text 13"/>
          <p:cNvSpPr txBox="1"/>
          <p:nvPr/>
        </p:nvSpPr>
        <p:spPr>
          <a:xfrm>
            <a:off x="124976" y="1000629"/>
            <a:ext cx="9285625"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03</a:t>
            </a:r>
          </a:p>
        </p:txBody>
      </p:sp>
      <p:sp>
        <p:nvSpPr>
          <p:cNvPr id="15" name="Text 14"/>
          <p:cNvSpPr txBox="1"/>
          <p:nvPr/>
        </p:nvSpPr>
        <p:spPr>
          <a:xfrm>
            <a:off x="124976" y="1342898"/>
            <a:ext cx="9285625"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برنامج التطبيق</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كيف تحوّل 108 ضوابط إلى برنامج له مراحل وأولويات ومالكون وأدلة.</a:t>
            </a:r>
          </a:p>
        </p:txBody>
      </p:sp>
      <p:sp>
        <p:nvSpPr>
          <p:cNvPr id="17" name="Rule 16"/>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19" name="Text 18"/>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الاعتماديات</a:t>
            </a:r>
          </a:p>
        </p:txBody>
      </p:sp>
      <p:sp>
        <p:nvSpPr>
          <p:cNvPr id="20" name="Text 19"/>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35</a:t>
            </a:r>
          </a:p>
        </p:txBody>
      </p:sp>
      <p:sp>
        <p:nvSpPr>
          <p:cNvPr id="21" name="Rule 20"/>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23" name="Text 22"/>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المراحل الخمس</a:t>
            </a:r>
          </a:p>
        </p:txBody>
      </p:sp>
      <p:sp>
        <p:nvSpPr>
          <p:cNvPr id="24" name="Text 23"/>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34</a:t>
            </a:r>
          </a:p>
        </p:txBody>
      </p:sp>
      <p:sp>
        <p:nvSpPr>
          <p:cNvPr id="25" name="Rule 24"/>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27" name="Text 26"/>
          <p:cNvSpPr txBox="1"/>
          <p:nvPr/>
        </p:nvSpPr>
        <p:spPr>
          <a:xfrm>
            <a:off x="13066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الأدوار والمسؤوليات</a:t>
            </a:r>
          </a:p>
        </p:txBody>
      </p:sp>
      <p:sp>
        <p:nvSpPr>
          <p:cNvPr id="28" name="Text 27"/>
          <p:cNvSpPr txBox="1"/>
          <p:nvPr/>
        </p:nvSpPr>
        <p:spPr>
          <a:xfrm>
            <a:off x="8128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37</a:t>
            </a:r>
          </a:p>
        </p:txBody>
      </p:sp>
      <p:sp>
        <p:nvSpPr>
          <p:cNvPr id="29" name="Rule 28"/>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31" name="Text 30"/>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موجات التنفيذ</a:t>
            </a:r>
          </a:p>
        </p:txBody>
      </p:sp>
      <p:sp>
        <p:nvSpPr>
          <p:cNvPr id="32" name="Text 31"/>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36</a:t>
            </a:r>
          </a:p>
        </p:txBody>
      </p:sp>
      <p:sp>
        <p:nvSpPr>
          <p:cNvPr id="33" name="Rule 32"/>
          <p:cNvSpPr/>
          <p:nvPr/>
        </p:nvSpPr>
        <p:spPr>
          <a:xfrm>
            <a:off x="812800" y="5718870"/>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06</a:t>
            </a:r>
          </a:p>
        </p:txBody>
      </p:sp>
      <p:sp>
        <p:nvSpPr>
          <p:cNvPr id="35" name="Text 34"/>
          <p:cNvSpPr txBox="1"/>
          <p:nvPr/>
        </p:nvSpPr>
        <p:spPr>
          <a:xfrm>
            <a:off x="13066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تمرين ترتيب المبادرات</a:t>
            </a:r>
          </a:p>
        </p:txBody>
      </p:sp>
      <p:sp>
        <p:nvSpPr>
          <p:cNvPr id="36" name="Text 35"/>
          <p:cNvSpPr txBox="1"/>
          <p:nvPr/>
        </p:nvSpPr>
        <p:spPr>
          <a:xfrm>
            <a:off x="8128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40</a:t>
            </a:r>
          </a:p>
        </p:txBody>
      </p:sp>
      <p:sp>
        <p:nvSpPr>
          <p:cNvPr id="37" name="Rule 36"/>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9" name="Text 38"/>
          <p:cNvSpPr txBox="1"/>
          <p:nvPr/>
        </p:nvSpPr>
        <p:spPr>
          <a:xfrm>
            <a:off x="67422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سجل الأدلة</a:t>
            </a:r>
          </a:p>
        </p:txBody>
      </p:sp>
      <p:sp>
        <p:nvSpPr>
          <p:cNvPr id="40" name="Text 39"/>
          <p:cNvSpPr txBox="1"/>
          <p:nvPr/>
        </p:nvSpPr>
        <p:spPr>
          <a:xfrm>
            <a:off x="62484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خمس مراحل لبرنامج التطبيق</a:t>
            </a:r>
          </a:p>
        </p:txBody>
      </p:sp>
      <p:graphicFrame>
        <p:nvGraphicFramePr>
          <p:cNvPr id="5" name="Table 4"/>
          <p:cNvGraphicFramePr>
            <a:graphicFrameLocks noGrp="1"/>
          </p:cNvGraphicFramePr>
          <p:nvPr/>
        </p:nvGraphicFramePr>
        <p:xfrm>
          <a:off x="815975" y="1855986"/>
          <a:ext cx="10560050" cy="2085972"/>
        </p:xfrm>
        <a:graphic>
          <a:graphicData uri="http://schemas.openxmlformats.org/drawingml/2006/table">
            <a:tbl>
              <a:tblPr firstRow="0" bandRow="0" lastRow="0" firstCol="0" lastCol="0" bandCol="0">
                <a:tableStyleId>{2D5ABB26-0587-4C30-8999-92F81FD0307C}</a:tableStyleId>
              </a:tblPr>
              <a:tblGrid>
                <a:gridCol w="2745740"/>
                <a:gridCol w="5490845"/>
                <a:gridCol w="2323465"/>
              </a:tblGrid>
              <a:tr h="347662">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المخرج</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أهم الأنشطة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المرحلة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ميثاق البرنامج المعتمد</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دعم صاحب الصلاحية، والإدارة المستقلة واللجنة الإشرافية، والأدوار، ونطاق البرنامج</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1 · التأسيس</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سجل الفجوات وأولوياتها</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تقييم فجوات لكل ضابط، وحصر أولي للأصول، وتحديد ما لا ينطبق بمبرر</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2 · تقييم الوضع الحالي</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حزمة وثائق معتمدة ومعممة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الاستراتيجية، والسياسات والإجراءات، والمعايير التقنية، ومنهجية المخاطر</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3 · التصميم والتوثيق</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ضوابط مفعّلة وأدلة مسجلة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مشاريع تقنية وتشغيلية حسب الأولوية، وتعديل العقود، والتدريب والتوعية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4 · التنفيذ</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تقارير دورية للجنة الإشرافية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مراجعات دورية، ومؤشرات، ومراجعة وتدقيق مستقل، وتقييم ذاتي، وتحديث الوثائق</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5 · التشغيل والاستدامة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الاعتماديات: ما يجب أن يسبق ماذا</a:t>
            </a:r>
          </a:p>
        </p:txBody>
      </p:sp>
      <p:graphicFrame>
        <p:nvGraphicFramePr>
          <p:cNvPr id="5" name="Table 4"/>
          <p:cNvGraphicFramePr>
            <a:graphicFrameLocks noGrp="1"/>
          </p:cNvGraphicFramePr>
          <p:nvPr/>
        </p:nvGraphicFramePr>
        <p:xfrm>
          <a:off x="815975" y="1855986"/>
          <a:ext cx="10560050" cy="2085972"/>
        </p:xfrm>
        <a:graphic>
          <a:graphicData uri="http://schemas.openxmlformats.org/drawingml/2006/table">
            <a:tbl>
              <a:tblPr firstRow="0" bandRow="0" lastRow="0" firstCol="0" lastCol="0" bandCol="0">
                <a:tableStyleId>{2D5ABB26-0587-4C30-8999-92F81FD0307C}</a:tableStyleId>
              </a:tblPr>
              <a:tblGrid>
                <a:gridCol w="7180580"/>
                <a:gridCol w="3379470"/>
              </a:tblGrid>
              <a:tr h="347662">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لأنه شرط لهذه الضوابط</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812"/>
                        </a:lnSpc>
                        <a:spcBef>
                          <a:spcPts val="0"/>
                        </a:spcBef>
                        <a:spcAft>
                          <a:spcPts val="0"/>
                        </a:spcAft>
                      </a:pPr>
                      <a:r>
                        <a:rPr sz="1250" b="1" i="0">
                          <a:solidFill>
                            <a:srgbClr val="F2EEE6"/>
                          </a:solidFill>
                          <a:latin typeface="IBM Plex Sans Arabic"/>
                          <a:ea typeface="IBM Plex Sans Arabic"/>
                          <a:cs typeface="IBM Plex Sans Arabic"/>
                        </a:rPr>
                        <a:t>ابدأ بهذا أولاً</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حماية البيانات حسب التصنيف ‎2-7‎ · التشفير ‎2-8‎ · نطاق النسخ ‎2-9‎ · سجلات الأصول الحساسة ‎2-12‎</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‎2-1‎ حصر الأصول وتصنيفها</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تقييمات المشاريع ‎1-5-3‎ · مخاطر الموردين قبل التعاقد ‎4-1-3-1‎ · معالجة الثغرات حسب المخاطر ‎2-10-3-3‎</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‎1-5‎ منهجية إدارة المخاطر</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التحقق متعدد العوامل لها ‎2-2-3-2‎ · إدارة الصلاحيات المميزة ‎2-2-3-4‎ · سجلاتها ‎2-12-3-2‎</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‎2-2‎ حصر الحسابات المميزة</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كل ما سواها: لا اعتماد ولا تنفيذ ولا مراجعة بلا مالك محدد</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‎1-2‎ و‎1-4‎ الإدارة والأدوار</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47662">
                <a:tc>
                  <a:txBody>
                    <a:bodyPr wrap="square"/>
                    <a:lstStyle/>
                    <a:p>
                      <a:pPr algn="r" rtl="1">
                        <a:lnSpc>
                          <a:spcPts val="1812"/>
                        </a:lnSpc>
                        <a:spcBef>
                          <a:spcPts val="0"/>
                        </a:spcBef>
                        <a:spcAft>
                          <a:spcPts val="0"/>
                        </a:spcAft>
                      </a:pPr>
                      <a:r>
                        <a:rPr sz="1250" b="0" i="0">
                          <a:solidFill>
                            <a:srgbClr val="132033"/>
                          </a:solidFill>
                          <a:latin typeface="IBM Plex Sans Arabic"/>
                          <a:ea typeface="IBM Plex Sans Arabic"/>
                          <a:cs typeface="IBM Plex Sans Arabic"/>
                        </a:rPr>
                        <a:t>خطط التصعيد ‎2-13-3-1‎ · الإبلاغ للهيئة ‎2-13-3-3‎ · خطط الاستمرارية ‎3-1-3-2‎</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812"/>
                        </a:lnSpc>
                        <a:spcBef>
                          <a:spcPts val="0"/>
                        </a:spcBef>
                        <a:spcAft>
                          <a:spcPts val="0"/>
                        </a:spcAft>
                      </a:pPr>
                      <a:r>
                        <a:rPr sz="1250" b="1" i="0">
                          <a:solidFill>
                            <a:srgbClr val="132033"/>
                          </a:solidFill>
                          <a:latin typeface="IBM Plex Sans Arabic"/>
                          <a:ea typeface="IBM Plex Sans Arabic"/>
                          <a:cs typeface="IBM Plex Sans Arabic"/>
                        </a:rPr>
                        <a:t>‎2-13-3-2‎ تصنيف الحوادث</a:t>
                      </a:r>
                    </a:p>
                  </a:txBody>
                  <a:tcPr marT="66913" marR="95250" marB="44212"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6" name="Box 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7" name="Box 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8" name="Icon Lightbulb 7" descr="icon022.png"/>
          <p:cNvPicPr>
            <a:picLocks noChangeAspect="1"/>
          </p:cNvPicPr>
          <p:nvPr/>
        </p:nvPicPr>
        <p:blipFill>
          <a:blip r:embed="rId2"/>
          <a:stretch>
            <a:fillRect/>
          </a:stretch>
        </p:blipFill>
        <p:spPr>
          <a:xfrm>
            <a:off x="10864850" y="5329932"/>
            <a:ext cx="215900" cy="215900"/>
          </a:xfrm>
          <a:prstGeom prst="rect">
            <a:avLst/>
          </a:prstGeom>
        </p:spPr>
      </p:pic>
      <p:sp>
        <p:nvSpPr>
          <p:cNvPr id="9" name="Text 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نصيحة عملية</a:t>
            </a:r>
          </a:p>
        </p:txBody>
      </p:sp>
      <p:sp>
        <p:nvSpPr>
          <p:cNvPr id="10" name="Text 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استثناء: المكاسب السريعة التي لا تعتمد على شيء، مثل التحقق متعدد العوامل للدخول عن بعد وسجلات DMARC، تبدأ فوراً.</a:t>
            </a:r>
          </a:p>
        </p:txBody>
      </p:sp>
      <p:sp>
        <p:nvSpPr>
          <p:cNvPr id="11" name="Text 1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12" name="Box 1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3" name="Box 1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4" name="Box 13"/>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15" name="Box 1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Box 1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7" name="Box 1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8" name="Box 1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9" name="Box 1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20" name="Box 1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21" name="Text 2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7210770" y="827278"/>
            <a:ext cx="220141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مثال توضيحي لجهة متوسطة الحجم</a:t>
            </a:r>
          </a:p>
        </p:txBody>
      </p:sp>
      <p:sp>
        <p:nvSpPr>
          <p:cNvPr id="5" name="Text 4"/>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خارطة طريق مقترحة: ثلاث موجات</a:t>
            </a:r>
          </a:p>
        </p:txBody>
      </p:sp>
      <p:sp>
        <p:nvSpPr>
          <p:cNvPr id="6" name="Box 5"/>
          <p:cNvSpPr/>
          <p:nvPr/>
        </p:nvSpPr>
        <p:spPr>
          <a:xfrm>
            <a:off x="7975600" y="1878211"/>
            <a:ext cx="3403600" cy="2703512"/>
          </a:xfrm>
          <a:prstGeom prst="roundRect">
            <a:avLst>
              <a:gd name="adj" fmla="val 4227"/>
            </a:avLst>
          </a:prstGeom>
          <a:solidFill>
            <a:srgbClr val="FCFBF8"/>
          </a:solidFill>
          <a:ln>
            <a:noFill/>
          </a:ln>
        </p:spPr>
        <p:txBody>
          <a:bodyPr rtlCol="0" anchor="ctr"/>
          <a:lstStyle/>
          <a:p>
            <a:pPr algn="ctr"/>
          </a:p>
        </p:txBody>
      </p:sp>
      <p:sp>
        <p:nvSpPr>
          <p:cNvPr id="7" name="Rule 6"/>
          <p:cNvSpPr/>
          <p:nvPr/>
        </p:nvSpPr>
        <p:spPr>
          <a:xfrm>
            <a:off x="7975600" y="1878211"/>
            <a:ext cx="3403600" cy="50800"/>
          </a:xfrm>
          <a:prstGeom prst="rect">
            <a:avLst/>
          </a:prstGeom>
          <a:solidFill>
            <a:srgbClr val="0B6F7C"/>
          </a:solidFill>
          <a:ln>
            <a:noFill/>
          </a:ln>
        </p:spPr>
        <p:txBody>
          <a:bodyPr rtlCol="0" anchor="ctr"/>
          <a:lstStyle/>
          <a:p>
            <a:pPr algn="ctr"/>
          </a:p>
        </p:txBody>
      </p:sp>
      <p:sp>
        <p:nvSpPr>
          <p:cNvPr id="8" name="Rule 7"/>
          <p:cNvSpPr/>
          <p:nvPr/>
        </p:nvSpPr>
        <p:spPr>
          <a:xfrm>
            <a:off x="11372850" y="1878211"/>
            <a:ext cx="6350" cy="2703512"/>
          </a:xfrm>
          <a:prstGeom prst="rect">
            <a:avLst/>
          </a:prstGeom>
          <a:solidFill>
            <a:srgbClr val="DDD7CA"/>
          </a:solidFill>
          <a:ln>
            <a:noFill/>
          </a:ln>
        </p:spPr>
        <p:txBody>
          <a:bodyPr rtlCol="0" anchor="ctr"/>
          <a:lstStyle/>
          <a:p>
            <a:pPr algn="ctr"/>
          </a:p>
        </p:txBody>
      </p:sp>
      <p:sp>
        <p:nvSpPr>
          <p:cNvPr id="9" name="Rule 8"/>
          <p:cNvSpPr/>
          <p:nvPr/>
        </p:nvSpPr>
        <p:spPr>
          <a:xfrm>
            <a:off x="7975600" y="4575373"/>
            <a:ext cx="3403600" cy="6350"/>
          </a:xfrm>
          <a:prstGeom prst="rect">
            <a:avLst/>
          </a:prstGeom>
          <a:solidFill>
            <a:srgbClr val="DDD7CA"/>
          </a:solidFill>
          <a:ln>
            <a:noFill/>
          </a:ln>
        </p:spPr>
        <p:txBody>
          <a:bodyPr rtlCol="0" anchor="ctr"/>
          <a:lstStyle/>
          <a:p>
            <a:pPr algn="ctr"/>
          </a:p>
        </p:txBody>
      </p:sp>
      <p:sp>
        <p:nvSpPr>
          <p:cNvPr id="10" name="Rule 9"/>
          <p:cNvSpPr/>
          <p:nvPr/>
        </p:nvSpPr>
        <p:spPr>
          <a:xfrm>
            <a:off x="7975600" y="1878211"/>
            <a:ext cx="6350" cy="2703512"/>
          </a:xfrm>
          <a:prstGeom prst="rect">
            <a:avLst/>
          </a:prstGeom>
          <a:solidFill>
            <a:srgbClr val="DDD7CA"/>
          </a:solidFill>
          <a:ln>
            <a:noFill/>
          </a:ln>
        </p:spPr>
        <p:txBody>
          <a:bodyPr rtlCol="0" anchor="ctr"/>
          <a:lstStyle/>
          <a:p>
            <a:pPr algn="ctr"/>
          </a:p>
        </p:txBody>
      </p:sp>
      <p:sp>
        <p:nvSpPr>
          <p:cNvPr id="11" name="Text 10"/>
          <p:cNvSpPr txBox="1"/>
          <p:nvPr/>
        </p:nvSpPr>
        <p:spPr>
          <a:xfrm>
            <a:off x="10558304" y="2050149"/>
            <a:ext cx="6494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الموجة 1</a:t>
            </a:r>
          </a:p>
        </p:txBody>
      </p:sp>
      <p:sp>
        <p:nvSpPr>
          <p:cNvPr id="12" name="Text box 11"/>
          <p:cNvSpPr/>
          <p:nvPr/>
        </p:nvSpPr>
        <p:spPr>
          <a:xfrm>
            <a:off x="9222581" y="2068711"/>
            <a:ext cx="1350962" cy="223441"/>
          </a:xfrm>
          <a:prstGeom prst="roundRect">
            <a:avLst>
              <a:gd name="adj" fmla="val 50000"/>
            </a:avLst>
          </a:prstGeom>
          <a:solidFill>
            <a:srgbClr val="DCEEEF"/>
          </a:solidFill>
          <a:ln>
            <a:noFill/>
          </a:ln>
        </p:spPr>
        <p:txBody>
          <a:bodyPr rtlCol="0" anchor="ctr" wrap="square" tIns="0" rIns="56178" bIns="32004" lIns="0" anchorCtr="0">
            <a:noAutofit/>
          </a:bodyPr>
          <a:lstStyle/>
          <a:p>
            <a:pPr algn="r" rtl="1">
              <a:lnSpc>
                <a:spcPts val="1560"/>
              </a:lnSpc>
              <a:spcBef>
                <a:spcPts val="0"/>
              </a:spcBef>
              <a:spcAft>
                <a:spcPts val="0"/>
              </a:spcAft>
            </a:pPr>
            <a:r>
              <a:rPr sz="1200" b="0" i="0">
                <a:solidFill>
                  <a:srgbClr val="0B6F7C"/>
                </a:solidFill>
                <a:latin typeface="IBM Plex Sans Arabic"/>
                <a:ea typeface="IBM Plex Sans Arabic"/>
                <a:cs typeface="IBM Plex Sans Arabic"/>
              </a:rPr>
              <a:t>‎0–3‎ أشهر · افتراضية</a:t>
            </a:r>
          </a:p>
        </p:txBody>
      </p:sp>
      <p:sp>
        <p:nvSpPr>
          <p:cNvPr id="13" name="Text 12"/>
          <p:cNvSpPr txBox="1"/>
          <p:nvPr/>
        </p:nvSpPr>
        <p:spPr>
          <a:xfrm>
            <a:off x="8001000" y="2321076"/>
            <a:ext cx="320675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132033"/>
                </a:solidFill>
                <a:latin typeface="Alexandria"/>
                <a:ea typeface="Alexandria"/>
                <a:cs typeface="Alexandria"/>
              </a:rPr>
              <a:t>التأسيس والمكاسب السريعة</a:t>
            </a:r>
          </a:p>
        </p:txBody>
      </p:sp>
      <p:sp>
        <p:nvSpPr>
          <p:cNvPr id="14" name="Rule 13"/>
          <p:cNvSpPr/>
          <p:nvPr/>
        </p:nvSpPr>
        <p:spPr>
          <a:xfrm>
            <a:off x="8147050" y="2628702"/>
            <a:ext cx="3060700" cy="6350"/>
          </a:xfrm>
          <a:prstGeom prst="rect">
            <a:avLst/>
          </a:prstGeom>
          <a:solidFill>
            <a:srgbClr val="DDD7CA"/>
          </a:solidFill>
          <a:ln>
            <a:noFill/>
          </a:ln>
        </p:spPr>
        <p:txBody>
          <a:bodyPr rtlCol="0" anchor="ctr"/>
          <a:lstStyle/>
          <a:p>
            <a:pPr algn="ctr"/>
          </a:p>
        </p:txBody>
      </p:sp>
      <p:sp>
        <p:nvSpPr>
          <p:cNvPr id="15" name="Box 14"/>
          <p:cNvSpPr/>
          <p:nvPr/>
        </p:nvSpPr>
        <p:spPr>
          <a:xfrm>
            <a:off x="11144250" y="2754412"/>
            <a:ext cx="63500" cy="63500"/>
          </a:xfrm>
          <a:prstGeom prst="roundRect">
            <a:avLst>
              <a:gd name="adj" fmla="val 50000"/>
            </a:avLst>
          </a:prstGeom>
          <a:solidFill>
            <a:srgbClr val="0B6F7C"/>
          </a:solidFill>
          <a:ln>
            <a:noFill/>
          </a:ln>
        </p:spPr>
        <p:txBody>
          <a:bodyPr rtlCol="0" anchor="ctr"/>
          <a:lstStyle/>
          <a:p>
            <a:pPr algn="ctr"/>
          </a:p>
        </p:txBody>
      </p:sp>
      <p:sp>
        <p:nvSpPr>
          <p:cNvPr id="16" name="Text 15"/>
          <p:cNvSpPr txBox="1"/>
          <p:nvPr/>
        </p:nvSpPr>
        <p:spPr>
          <a:xfrm>
            <a:off x="8147050" y="265588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الإدارة واللجنة والأدوار · ‎1-2‎ و‎1-4‎</a:t>
            </a:r>
          </a:p>
        </p:txBody>
      </p:sp>
      <p:sp>
        <p:nvSpPr>
          <p:cNvPr id="17" name="Rule 16"/>
          <p:cNvSpPr/>
          <p:nvPr/>
        </p:nvSpPr>
        <p:spPr>
          <a:xfrm>
            <a:off x="8147050" y="2937272"/>
            <a:ext cx="3060700" cy="6350"/>
          </a:xfrm>
          <a:prstGeom prst="rect">
            <a:avLst/>
          </a:prstGeom>
          <a:solidFill>
            <a:srgbClr val="DDD7CA"/>
          </a:solidFill>
          <a:ln>
            <a:noFill/>
          </a:ln>
        </p:spPr>
        <p:txBody>
          <a:bodyPr rtlCol="0" anchor="ctr"/>
          <a:lstStyle/>
          <a:p>
            <a:pPr algn="ctr"/>
          </a:p>
        </p:txBody>
      </p:sp>
      <p:sp>
        <p:nvSpPr>
          <p:cNvPr id="18" name="Box 17"/>
          <p:cNvSpPr/>
          <p:nvPr/>
        </p:nvSpPr>
        <p:spPr>
          <a:xfrm>
            <a:off x="11144250" y="3062982"/>
            <a:ext cx="63500" cy="63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8147050" y="296445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الاستراتيجية والسياسات · ‎1-1‎ و‎1-3‎</a:t>
            </a:r>
          </a:p>
        </p:txBody>
      </p:sp>
      <p:sp>
        <p:nvSpPr>
          <p:cNvPr id="20" name="Rule 19"/>
          <p:cNvSpPr/>
          <p:nvPr/>
        </p:nvSpPr>
        <p:spPr>
          <a:xfrm>
            <a:off x="8147050" y="3245842"/>
            <a:ext cx="3060700" cy="6350"/>
          </a:xfrm>
          <a:prstGeom prst="rect">
            <a:avLst/>
          </a:prstGeom>
          <a:solidFill>
            <a:srgbClr val="DDD7CA"/>
          </a:solidFill>
          <a:ln>
            <a:noFill/>
          </a:ln>
        </p:spPr>
        <p:txBody>
          <a:bodyPr rtlCol="0" anchor="ctr"/>
          <a:lstStyle/>
          <a:p>
            <a:pPr algn="ctr"/>
          </a:p>
        </p:txBody>
      </p:sp>
      <p:sp>
        <p:nvSpPr>
          <p:cNvPr id="21" name="Box 20"/>
          <p:cNvSpPr/>
          <p:nvPr/>
        </p:nvSpPr>
        <p:spPr>
          <a:xfrm>
            <a:off x="11144250" y="3371552"/>
            <a:ext cx="63500" cy="63500"/>
          </a:xfrm>
          <a:prstGeom prst="roundRect">
            <a:avLst>
              <a:gd name="adj" fmla="val 50000"/>
            </a:avLst>
          </a:prstGeom>
          <a:solidFill>
            <a:srgbClr val="0B6F7C"/>
          </a:solidFill>
          <a:ln>
            <a:noFill/>
          </a:ln>
        </p:spPr>
        <p:txBody>
          <a:bodyPr rtlCol="0" anchor="ctr"/>
          <a:lstStyle/>
          <a:p>
            <a:pPr algn="ctr"/>
          </a:p>
        </p:txBody>
      </p:sp>
      <p:sp>
        <p:nvSpPr>
          <p:cNvPr id="22" name="Text 21"/>
          <p:cNvSpPr txBox="1"/>
          <p:nvPr/>
        </p:nvSpPr>
        <p:spPr>
          <a:xfrm>
            <a:off x="8147050" y="327302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حصر أولي للأصول · ‎2-1‎</a:t>
            </a:r>
          </a:p>
        </p:txBody>
      </p:sp>
      <p:sp>
        <p:nvSpPr>
          <p:cNvPr id="23" name="Rule 22"/>
          <p:cNvSpPr/>
          <p:nvPr/>
        </p:nvSpPr>
        <p:spPr>
          <a:xfrm>
            <a:off x="8147050" y="3554412"/>
            <a:ext cx="3060700" cy="6350"/>
          </a:xfrm>
          <a:prstGeom prst="rect">
            <a:avLst/>
          </a:prstGeom>
          <a:solidFill>
            <a:srgbClr val="DDD7CA"/>
          </a:solidFill>
          <a:ln>
            <a:noFill/>
          </a:ln>
        </p:spPr>
        <p:txBody>
          <a:bodyPr rtlCol="0" anchor="ctr"/>
          <a:lstStyle/>
          <a:p>
            <a:pPr algn="ctr"/>
          </a:p>
        </p:txBody>
      </p:sp>
      <p:sp>
        <p:nvSpPr>
          <p:cNvPr id="24" name="Box 23"/>
          <p:cNvSpPr/>
          <p:nvPr/>
        </p:nvSpPr>
        <p:spPr>
          <a:xfrm>
            <a:off x="11144250" y="3680123"/>
            <a:ext cx="63500" cy="63500"/>
          </a:xfrm>
          <a:prstGeom prst="roundRect">
            <a:avLst>
              <a:gd name="adj" fmla="val 50000"/>
            </a:avLst>
          </a:prstGeom>
          <a:solidFill>
            <a:srgbClr val="0B6F7C"/>
          </a:solidFill>
          <a:ln>
            <a:noFill/>
          </a:ln>
        </p:spPr>
        <p:txBody>
          <a:bodyPr rtlCol="0" anchor="ctr"/>
          <a:lstStyle/>
          <a:p>
            <a:pPr algn="ctr"/>
          </a:p>
        </p:txBody>
      </p:sp>
      <p:sp>
        <p:nvSpPr>
          <p:cNvPr id="25" name="Text 24"/>
          <p:cNvSpPr txBox="1"/>
          <p:nvPr/>
        </p:nvSpPr>
        <p:spPr>
          <a:xfrm>
            <a:off x="8147050" y="358159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التحقق متعدد العناصر · ‎2-2-3-2‎</a:t>
            </a:r>
          </a:p>
        </p:txBody>
      </p:sp>
      <p:sp>
        <p:nvSpPr>
          <p:cNvPr id="26" name="Rule 25"/>
          <p:cNvSpPr/>
          <p:nvPr/>
        </p:nvSpPr>
        <p:spPr>
          <a:xfrm>
            <a:off x="8147050" y="3862983"/>
            <a:ext cx="3060700" cy="6350"/>
          </a:xfrm>
          <a:prstGeom prst="rect">
            <a:avLst/>
          </a:prstGeom>
          <a:solidFill>
            <a:srgbClr val="DDD7CA"/>
          </a:solidFill>
          <a:ln>
            <a:noFill/>
          </a:ln>
        </p:spPr>
        <p:txBody>
          <a:bodyPr rtlCol="0" anchor="ctr"/>
          <a:lstStyle/>
          <a:p>
            <a:pPr algn="ctr"/>
          </a:p>
        </p:txBody>
      </p:sp>
      <p:sp>
        <p:nvSpPr>
          <p:cNvPr id="27" name="Box 26"/>
          <p:cNvSpPr/>
          <p:nvPr/>
        </p:nvSpPr>
        <p:spPr>
          <a:xfrm>
            <a:off x="11144250" y="3988693"/>
            <a:ext cx="63500" cy="63500"/>
          </a:xfrm>
          <a:prstGeom prst="roundRect">
            <a:avLst>
              <a:gd name="adj" fmla="val 50000"/>
            </a:avLst>
          </a:prstGeom>
          <a:solidFill>
            <a:srgbClr val="0B6F7C"/>
          </a:solidFill>
          <a:ln>
            <a:noFill/>
          </a:ln>
        </p:spPr>
        <p:txBody>
          <a:bodyPr rtlCol="0" anchor="ctr"/>
          <a:lstStyle/>
          <a:p>
            <a:pPr algn="ctr"/>
          </a:p>
        </p:txBody>
      </p:sp>
      <p:sp>
        <p:nvSpPr>
          <p:cNvPr id="28" name="Text 27"/>
          <p:cNvSpPr txBox="1"/>
          <p:nvPr/>
        </p:nvSpPr>
        <p:spPr>
          <a:xfrm>
            <a:off x="8147050" y="389016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SPF وDKIM وDMARC · ‎2-4-3-5‎</a:t>
            </a:r>
          </a:p>
        </p:txBody>
      </p:sp>
      <p:sp>
        <p:nvSpPr>
          <p:cNvPr id="29" name="Rule 28"/>
          <p:cNvSpPr/>
          <p:nvPr/>
        </p:nvSpPr>
        <p:spPr>
          <a:xfrm>
            <a:off x="8147050" y="4171553"/>
            <a:ext cx="3060700" cy="6350"/>
          </a:xfrm>
          <a:prstGeom prst="rect">
            <a:avLst/>
          </a:prstGeom>
          <a:solidFill>
            <a:srgbClr val="DDD7CA"/>
          </a:solidFill>
          <a:ln>
            <a:noFill/>
          </a:ln>
        </p:spPr>
        <p:txBody>
          <a:bodyPr rtlCol="0" anchor="ctr"/>
          <a:lstStyle/>
          <a:p>
            <a:pPr algn="ctr"/>
          </a:p>
        </p:txBody>
      </p:sp>
      <p:sp>
        <p:nvSpPr>
          <p:cNvPr id="30" name="Box 29"/>
          <p:cNvSpPr/>
          <p:nvPr/>
        </p:nvSpPr>
        <p:spPr>
          <a:xfrm>
            <a:off x="11144250" y="4297263"/>
            <a:ext cx="63500" cy="63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8147050" y="419873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احتفاظ السجلات 12 شهراً · ‎2-12-3-5‎</a:t>
            </a:r>
          </a:p>
        </p:txBody>
      </p:sp>
      <p:sp>
        <p:nvSpPr>
          <p:cNvPr id="32" name="Box 31"/>
          <p:cNvSpPr/>
          <p:nvPr/>
        </p:nvSpPr>
        <p:spPr>
          <a:xfrm>
            <a:off x="4394200" y="1878211"/>
            <a:ext cx="3403600" cy="2703512"/>
          </a:xfrm>
          <a:prstGeom prst="roundRect">
            <a:avLst>
              <a:gd name="adj" fmla="val 4227"/>
            </a:avLst>
          </a:prstGeom>
          <a:solidFill>
            <a:srgbClr val="FCFBF8"/>
          </a:solidFill>
          <a:ln>
            <a:noFill/>
          </a:ln>
        </p:spPr>
        <p:txBody>
          <a:bodyPr rtlCol="0" anchor="ctr"/>
          <a:lstStyle/>
          <a:p>
            <a:pPr algn="ctr"/>
          </a:p>
        </p:txBody>
      </p:sp>
      <p:sp>
        <p:nvSpPr>
          <p:cNvPr id="33" name="Rule 32"/>
          <p:cNvSpPr/>
          <p:nvPr/>
        </p:nvSpPr>
        <p:spPr>
          <a:xfrm>
            <a:off x="4394200" y="1878211"/>
            <a:ext cx="3403600" cy="50800"/>
          </a:xfrm>
          <a:prstGeom prst="rect">
            <a:avLst/>
          </a:prstGeom>
          <a:solidFill>
            <a:srgbClr val="2C7F8B"/>
          </a:solidFill>
          <a:ln>
            <a:noFill/>
          </a:ln>
        </p:spPr>
        <p:txBody>
          <a:bodyPr rtlCol="0" anchor="ctr"/>
          <a:lstStyle/>
          <a:p>
            <a:pPr algn="ctr"/>
          </a:p>
        </p:txBody>
      </p:sp>
      <p:sp>
        <p:nvSpPr>
          <p:cNvPr id="34" name="Rule 33"/>
          <p:cNvSpPr/>
          <p:nvPr/>
        </p:nvSpPr>
        <p:spPr>
          <a:xfrm>
            <a:off x="7791450" y="1878211"/>
            <a:ext cx="6350" cy="2703512"/>
          </a:xfrm>
          <a:prstGeom prst="rect">
            <a:avLst/>
          </a:prstGeom>
          <a:solidFill>
            <a:srgbClr val="DDD7CA"/>
          </a:solidFill>
          <a:ln>
            <a:noFill/>
          </a:ln>
        </p:spPr>
        <p:txBody>
          <a:bodyPr rtlCol="0" anchor="ctr"/>
          <a:lstStyle/>
          <a:p>
            <a:pPr algn="ctr"/>
          </a:p>
        </p:txBody>
      </p:sp>
      <p:sp>
        <p:nvSpPr>
          <p:cNvPr id="35" name="Rule 34"/>
          <p:cNvSpPr/>
          <p:nvPr/>
        </p:nvSpPr>
        <p:spPr>
          <a:xfrm>
            <a:off x="4394200" y="4575373"/>
            <a:ext cx="3403600" cy="6350"/>
          </a:xfrm>
          <a:prstGeom prst="rect">
            <a:avLst/>
          </a:prstGeom>
          <a:solidFill>
            <a:srgbClr val="DDD7CA"/>
          </a:solidFill>
          <a:ln>
            <a:noFill/>
          </a:ln>
        </p:spPr>
        <p:txBody>
          <a:bodyPr rtlCol="0" anchor="ctr"/>
          <a:lstStyle/>
          <a:p>
            <a:pPr algn="ctr"/>
          </a:p>
        </p:txBody>
      </p:sp>
      <p:sp>
        <p:nvSpPr>
          <p:cNvPr id="36" name="Rule 35"/>
          <p:cNvSpPr/>
          <p:nvPr/>
        </p:nvSpPr>
        <p:spPr>
          <a:xfrm>
            <a:off x="4394200" y="1878211"/>
            <a:ext cx="6350" cy="2703512"/>
          </a:xfrm>
          <a:prstGeom prst="rect">
            <a:avLst/>
          </a:prstGeom>
          <a:solidFill>
            <a:srgbClr val="DDD7CA"/>
          </a:solidFill>
          <a:ln>
            <a:noFill/>
          </a:ln>
        </p:spPr>
        <p:txBody>
          <a:bodyPr rtlCol="0" anchor="ctr"/>
          <a:lstStyle/>
          <a:p>
            <a:pPr algn="ctr"/>
          </a:p>
        </p:txBody>
      </p:sp>
      <p:sp>
        <p:nvSpPr>
          <p:cNvPr id="37" name="Text 36"/>
          <p:cNvSpPr txBox="1"/>
          <p:nvPr/>
        </p:nvSpPr>
        <p:spPr>
          <a:xfrm>
            <a:off x="6976904" y="2050149"/>
            <a:ext cx="6494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الموجة 2</a:t>
            </a:r>
          </a:p>
        </p:txBody>
      </p:sp>
      <p:sp>
        <p:nvSpPr>
          <p:cNvPr id="38" name="Text box 37"/>
          <p:cNvSpPr/>
          <p:nvPr/>
        </p:nvSpPr>
        <p:spPr>
          <a:xfrm>
            <a:off x="5641181" y="2068711"/>
            <a:ext cx="1350962" cy="223441"/>
          </a:xfrm>
          <a:prstGeom prst="roundRect">
            <a:avLst>
              <a:gd name="adj" fmla="val 50000"/>
            </a:avLst>
          </a:prstGeom>
          <a:solidFill>
            <a:srgbClr val="DCEEEF"/>
          </a:solidFill>
          <a:ln>
            <a:noFill/>
          </a:ln>
        </p:spPr>
        <p:txBody>
          <a:bodyPr rtlCol="0" anchor="ctr" wrap="square" tIns="0" rIns="56178" bIns="32004" lIns="0" anchorCtr="0">
            <a:noAutofit/>
          </a:bodyPr>
          <a:lstStyle/>
          <a:p>
            <a:pPr algn="r" rtl="1">
              <a:lnSpc>
                <a:spcPts val="1560"/>
              </a:lnSpc>
              <a:spcBef>
                <a:spcPts val="0"/>
              </a:spcBef>
              <a:spcAft>
                <a:spcPts val="0"/>
              </a:spcAft>
            </a:pPr>
            <a:r>
              <a:rPr sz="1200" b="0" i="0">
                <a:solidFill>
                  <a:srgbClr val="0B6F7C"/>
                </a:solidFill>
                <a:latin typeface="IBM Plex Sans Arabic"/>
                <a:ea typeface="IBM Plex Sans Arabic"/>
                <a:cs typeface="IBM Plex Sans Arabic"/>
              </a:rPr>
              <a:t>‎3–9‎ أشهر · افتراضية</a:t>
            </a:r>
          </a:p>
        </p:txBody>
      </p:sp>
      <p:sp>
        <p:nvSpPr>
          <p:cNvPr id="39" name="Text 38"/>
          <p:cNvSpPr txBox="1"/>
          <p:nvPr/>
        </p:nvSpPr>
        <p:spPr>
          <a:xfrm>
            <a:off x="4419600" y="2321076"/>
            <a:ext cx="320675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132033"/>
                </a:solidFill>
                <a:latin typeface="Alexandria"/>
                <a:ea typeface="Alexandria"/>
                <a:cs typeface="Alexandria"/>
              </a:rPr>
              <a:t>البنية الأساسية للحماية</a:t>
            </a:r>
          </a:p>
        </p:txBody>
      </p:sp>
      <p:sp>
        <p:nvSpPr>
          <p:cNvPr id="40" name="Rule 39"/>
          <p:cNvSpPr/>
          <p:nvPr/>
        </p:nvSpPr>
        <p:spPr>
          <a:xfrm>
            <a:off x="4565650" y="2628702"/>
            <a:ext cx="3060700" cy="6350"/>
          </a:xfrm>
          <a:prstGeom prst="rect">
            <a:avLst/>
          </a:prstGeom>
          <a:solidFill>
            <a:srgbClr val="DDD7CA"/>
          </a:solidFill>
          <a:ln>
            <a:noFill/>
          </a:ln>
        </p:spPr>
        <p:txBody>
          <a:bodyPr rtlCol="0" anchor="ctr"/>
          <a:lstStyle/>
          <a:p>
            <a:pPr algn="ctr"/>
          </a:p>
        </p:txBody>
      </p:sp>
      <p:sp>
        <p:nvSpPr>
          <p:cNvPr id="41" name="Box 40"/>
          <p:cNvSpPr/>
          <p:nvPr/>
        </p:nvSpPr>
        <p:spPr>
          <a:xfrm>
            <a:off x="7562850" y="2754412"/>
            <a:ext cx="63500" cy="63500"/>
          </a:xfrm>
          <a:prstGeom prst="roundRect">
            <a:avLst>
              <a:gd name="adj" fmla="val 50000"/>
            </a:avLst>
          </a:prstGeom>
          <a:solidFill>
            <a:srgbClr val="0B6F7C"/>
          </a:solidFill>
          <a:ln>
            <a:noFill/>
          </a:ln>
        </p:spPr>
        <p:txBody>
          <a:bodyPr rtlCol="0" anchor="ctr"/>
          <a:lstStyle/>
          <a:p>
            <a:pPr algn="ctr"/>
          </a:p>
        </p:txBody>
      </p:sp>
      <p:sp>
        <p:nvSpPr>
          <p:cNvPr id="42" name="Text 41"/>
          <p:cNvSpPr txBox="1"/>
          <p:nvPr/>
        </p:nvSpPr>
        <p:spPr>
          <a:xfrm>
            <a:off x="4565650" y="265588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إدارة الصلاحيات المميزة · ‎2-2-3-4‎</a:t>
            </a:r>
          </a:p>
        </p:txBody>
      </p:sp>
      <p:sp>
        <p:nvSpPr>
          <p:cNvPr id="43" name="Rule 42"/>
          <p:cNvSpPr/>
          <p:nvPr/>
        </p:nvSpPr>
        <p:spPr>
          <a:xfrm>
            <a:off x="4565650" y="2937272"/>
            <a:ext cx="3060700" cy="6350"/>
          </a:xfrm>
          <a:prstGeom prst="rect">
            <a:avLst/>
          </a:prstGeom>
          <a:solidFill>
            <a:srgbClr val="DDD7CA"/>
          </a:solidFill>
          <a:ln>
            <a:noFill/>
          </a:ln>
        </p:spPr>
        <p:txBody>
          <a:bodyPr rtlCol="0" anchor="ctr"/>
          <a:lstStyle/>
          <a:p>
            <a:pPr algn="ctr"/>
          </a:p>
        </p:txBody>
      </p:sp>
      <p:sp>
        <p:nvSpPr>
          <p:cNvPr id="44" name="Box 43"/>
          <p:cNvSpPr/>
          <p:nvPr/>
        </p:nvSpPr>
        <p:spPr>
          <a:xfrm>
            <a:off x="7562850" y="3062982"/>
            <a:ext cx="63500" cy="63500"/>
          </a:xfrm>
          <a:prstGeom prst="roundRect">
            <a:avLst>
              <a:gd name="adj" fmla="val 50000"/>
            </a:avLst>
          </a:prstGeom>
          <a:solidFill>
            <a:srgbClr val="0B6F7C"/>
          </a:solidFill>
          <a:ln>
            <a:noFill/>
          </a:ln>
        </p:spPr>
        <p:txBody>
          <a:bodyPr rtlCol="0" anchor="ctr"/>
          <a:lstStyle/>
          <a:p>
            <a:pPr algn="ctr"/>
          </a:p>
        </p:txBody>
      </p:sp>
      <p:sp>
        <p:nvSpPr>
          <p:cNvPr id="45" name="Text 44"/>
          <p:cNvSpPr txBox="1"/>
          <p:nvPr/>
        </p:nvSpPr>
        <p:spPr>
          <a:xfrm>
            <a:off x="4565650" y="296445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الثغرات والتحديثات · ‎2-10‎ و‎2-3-3-3‎</a:t>
            </a:r>
          </a:p>
        </p:txBody>
      </p:sp>
      <p:sp>
        <p:nvSpPr>
          <p:cNvPr id="46" name="Rule 45"/>
          <p:cNvSpPr/>
          <p:nvPr/>
        </p:nvSpPr>
        <p:spPr>
          <a:xfrm>
            <a:off x="4565650" y="3245842"/>
            <a:ext cx="3060700" cy="6350"/>
          </a:xfrm>
          <a:prstGeom prst="rect">
            <a:avLst/>
          </a:prstGeom>
          <a:solidFill>
            <a:srgbClr val="DDD7CA"/>
          </a:solidFill>
          <a:ln>
            <a:noFill/>
          </a:ln>
        </p:spPr>
        <p:txBody>
          <a:bodyPr rtlCol="0" anchor="ctr"/>
          <a:lstStyle/>
          <a:p>
            <a:pPr algn="ctr"/>
          </a:p>
        </p:txBody>
      </p:sp>
      <p:sp>
        <p:nvSpPr>
          <p:cNvPr id="47" name="Box 46"/>
          <p:cNvSpPr/>
          <p:nvPr/>
        </p:nvSpPr>
        <p:spPr>
          <a:xfrm>
            <a:off x="7562850" y="3371552"/>
            <a:ext cx="63500" cy="63500"/>
          </a:xfrm>
          <a:prstGeom prst="roundRect">
            <a:avLst>
              <a:gd name="adj" fmla="val 50000"/>
            </a:avLst>
          </a:prstGeom>
          <a:solidFill>
            <a:srgbClr val="0B6F7C"/>
          </a:solidFill>
          <a:ln>
            <a:noFill/>
          </a:ln>
        </p:spPr>
        <p:txBody>
          <a:bodyPr rtlCol="0" anchor="ctr"/>
          <a:lstStyle/>
          <a:p>
            <a:pPr algn="ctr"/>
          </a:p>
        </p:txBody>
      </p:sp>
      <p:sp>
        <p:nvSpPr>
          <p:cNvPr id="48" name="Text 47"/>
          <p:cNvSpPr txBox="1"/>
          <p:nvPr/>
        </p:nvSpPr>
        <p:spPr>
          <a:xfrm>
            <a:off x="4565650" y="327302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تقسيم الشبكة وعزلها · ‎2-5-3‎</a:t>
            </a:r>
          </a:p>
        </p:txBody>
      </p:sp>
      <p:sp>
        <p:nvSpPr>
          <p:cNvPr id="49" name="Rule 48"/>
          <p:cNvSpPr/>
          <p:nvPr/>
        </p:nvSpPr>
        <p:spPr>
          <a:xfrm>
            <a:off x="4565650" y="3554412"/>
            <a:ext cx="3060700" cy="6350"/>
          </a:xfrm>
          <a:prstGeom prst="rect">
            <a:avLst/>
          </a:prstGeom>
          <a:solidFill>
            <a:srgbClr val="DDD7CA"/>
          </a:solidFill>
          <a:ln>
            <a:noFill/>
          </a:ln>
        </p:spPr>
        <p:txBody>
          <a:bodyPr rtlCol="0" anchor="ctr"/>
          <a:lstStyle/>
          <a:p>
            <a:pPr algn="ctr"/>
          </a:p>
        </p:txBody>
      </p:sp>
      <p:sp>
        <p:nvSpPr>
          <p:cNvPr id="50" name="Box 49"/>
          <p:cNvSpPr/>
          <p:nvPr/>
        </p:nvSpPr>
        <p:spPr>
          <a:xfrm>
            <a:off x="7562850" y="3680123"/>
            <a:ext cx="63500" cy="63500"/>
          </a:xfrm>
          <a:prstGeom prst="roundRect">
            <a:avLst>
              <a:gd name="adj" fmla="val 50000"/>
            </a:avLst>
          </a:prstGeom>
          <a:solidFill>
            <a:srgbClr val="0B6F7C"/>
          </a:solidFill>
          <a:ln>
            <a:noFill/>
          </a:ln>
        </p:spPr>
        <p:txBody>
          <a:bodyPr rtlCol="0" anchor="ctr"/>
          <a:lstStyle/>
          <a:p>
            <a:pPr algn="ctr"/>
          </a:p>
        </p:txBody>
      </p:sp>
      <p:sp>
        <p:nvSpPr>
          <p:cNvPr id="51" name="Text 50"/>
          <p:cNvSpPr txBox="1"/>
          <p:nvPr/>
        </p:nvSpPr>
        <p:spPr>
          <a:xfrm>
            <a:off x="4565650" y="358159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المراقبة وإدارة الأحداث · ‎2-12‎</a:t>
            </a:r>
          </a:p>
        </p:txBody>
      </p:sp>
      <p:sp>
        <p:nvSpPr>
          <p:cNvPr id="52" name="Rule 51"/>
          <p:cNvSpPr/>
          <p:nvPr/>
        </p:nvSpPr>
        <p:spPr>
          <a:xfrm>
            <a:off x="4565650" y="3862983"/>
            <a:ext cx="3060700" cy="6350"/>
          </a:xfrm>
          <a:prstGeom prst="rect">
            <a:avLst/>
          </a:prstGeom>
          <a:solidFill>
            <a:srgbClr val="DDD7CA"/>
          </a:solidFill>
          <a:ln>
            <a:noFill/>
          </a:ln>
        </p:spPr>
        <p:txBody>
          <a:bodyPr rtlCol="0" anchor="ctr"/>
          <a:lstStyle/>
          <a:p>
            <a:pPr algn="ctr"/>
          </a:p>
        </p:txBody>
      </p:sp>
      <p:sp>
        <p:nvSpPr>
          <p:cNvPr id="53" name="Box 52"/>
          <p:cNvSpPr/>
          <p:nvPr/>
        </p:nvSpPr>
        <p:spPr>
          <a:xfrm>
            <a:off x="7562850" y="3988693"/>
            <a:ext cx="63500" cy="63500"/>
          </a:xfrm>
          <a:prstGeom prst="roundRect">
            <a:avLst>
              <a:gd name="adj" fmla="val 50000"/>
            </a:avLst>
          </a:prstGeom>
          <a:solidFill>
            <a:srgbClr val="0B6F7C"/>
          </a:solidFill>
          <a:ln>
            <a:noFill/>
          </a:ln>
        </p:spPr>
        <p:txBody>
          <a:bodyPr rtlCol="0" anchor="ctr"/>
          <a:lstStyle/>
          <a:p>
            <a:pPr algn="ctr"/>
          </a:p>
        </p:txBody>
      </p:sp>
      <p:sp>
        <p:nvSpPr>
          <p:cNvPr id="54" name="Text 53"/>
          <p:cNvSpPr txBox="1"/>
          <p:nvPr/>
        </p:nvSpPr>
        <p:spPr>
          <a:xfrm>
            <a:off x="4565650" y="389016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النسخ واختبار الاستعادة · ‎2-9‎</a:t>
            </a:r>
          </a:p>
        </p:txBody>
      </p:sp>
      <p:sp>
        <p:nvSpPr>
          <p:cNvPr id="55" name="Rule 54"/>
          <p:cNvSpPr/>
          <p:nvPr/>
        </p:nvSpPr>
        <p:spPr>
          <a:xfrm>
            <a:off x="4565650" y="4171553"/>
            <a:ext cx="3060700" cy="6350"/>
          </a:xfrm>
          <a:prstGeom prst="rect">
            <a:avLst/>
          </a:prstGeom>
          <a:solidFill>
            <a:srgbClr val="DDD7CA"/>
          </a:solidFill>
          <a:ln>
            <a:noFill/>
          </a:ln>
        </p:spPr>
        <p:txBody>
          <a:bodyPr rtlCol="0" anchor="ctr"/>
          <a:lstStyle/>
          <a:p>
            <a:pPr algn="ctr"/>
          </a:p>
        </p:txBody>
      </p:sp>
      <p:sp>
        <p:nvSpPr>
          <p:cNvPr id="56" name="Box 55"/>
          <p:cNvSpPr/>
          <p:nvPr/>
        </p:nvSpPr>
        <p:spPr>
          <a:xfrm>
            <a:off x="7562850" y="4297263"/>
            <a:ext cx="63500" cy="63500"/>
          </a:xfrm>
          <a:prstGeom prst="roundRect">
            <a:avLst>
              <a:gd name="adj" fmla="val 50000"/>
            </a:avLst>
          </a:prstGeom>
          <a:solidFill>
            <a:srgbClr val="0B6F7C"/>
          </a:solidFill>
          <a:ln>
            <a:noFill/>
          </a:ln>
        </p:spPr>
        <p:txBody>
          <a:bodyPr rtlCol="0" anchor="ctr"/>
          <a:lstStyle/>
          <a:p>
            <a:pPr algn="ctr"/>
          </a:p>
        </p:txBody>
      </p:sp>
      <p:sp>
        <p:nvSpPr>
          <p:cNvPr id="57" name="Text 56"/>
          <p:cNvSpPr txBox="1"/>
          <p:nvPr/>
        </p:nvSpPr>
        <p:spPr>
          <a:xfrm>
            <a:off x="4565650" y="419873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التوعية والتدريب · ‎1-10‎</a:t>
            </a:r>
          </a:p>
        </p:txBody>
      </p:sp>
      <p:sp>
        <p:nvSpPr>
          <p:cNvPr id="58" name="Box 57"/>
          <p:cNvSpPr/>
          <p:nvPr/>
        </p:nvSpPr>
        <p:spPr>
          <a:xfrm>
            <a:off x="812800" y="1878211"/>
            <a:ext cx="3403600" cy="2703512"/>
          </a:xfrm>
          <a:prstGeom prst="roundRect">
            <a:avLst>
              <a:gd name="adj" fmla="val 4227"/>
            </a:avLst>
          </a:prstGeom>
          <a:solidFill>
            <a:srgbClr val="FCFBF8"/>
          </a:solidFill>
          <a:ln>
            <a:noFill/>
          </a:ln>
        </p:spPr>
        <p:txBody>
          <a:bodyPr rtlCol="0" anchor="ctr"/>
          <a:lstStyle/>
          <a:p>
            <a:pPr algn="ctr"/>
          </a:p>
        </p:txBody>
      </p:sp>
      <p:sp>
        <p:nvSpPr>
          <p:cNvPr id="59" name="Rule 58"/>
          <p:cNvSpPr/>
          <p:nvPr/>
        </p:nvSpPr>
        <p:spPr>
          <a:xfrm>
            <a:off x="812800" y="1878211"/>
            <a:ext cx="3403600" cy="50800"/>
          </a:xfrm>
          <a:prstGeom prst="rect">
            <a:avLst/>
          </a:prstGeom>
          <a:solidFill>
            <a:srgbClr val="4F919B"/>
          </a:solidFill>
          <a:ln>
            <a:noFill/>
          </a:ln>
        </p:spPr>
        <p:txBody>
          <a:bodyPr rtlCol="0" anchor="ctr"/>
          <a:lstStyle/>
          <a:p>
            <a:pPr algn="ctr"/>
          </a:p>
        </p:txBody>
      </p:sp>
      <p:sp>
        <p:nvSpPr>
          <p:cNvPr id="60" name="Rule 59"/>
          <p:cNvSpPr/>
          <p:nvPr/>
        </p:nvSpPr>
        <p:spPr>
          <a:xfrm>
            <a:off x="4210050" y="1878211"/>
            <a:ext cx="6350" cy="2703512"/>
          </a:xfrm>
          <a:prstGeom prst="rect">
            <a:avLst/>
          </a:prstGeom>
          <a:solidFill>
            <a:srgbClr val="DDD7CA"/>
          </a:solidFill>
          <a:ln>
            <a:noFill/>
          </a:ln>
        </p:spPr>
        <p:txBody>
          <a:bodyPr rtlCol="0" anchor="ctr"/>
          <a:lstStyle/>
          <a:p>
            <a:pPr algn="ctr"/>
          </a:p>
        </p:txBody>
      </p:sp>
      <p:sp>
        <p:nvSpPr>
          <p:cNvPr id="61" name="Rule 60"/>
          <p:cNvSpPr/>
          <p:nvPr/>
        </p:nvSpPr>
        <p:spPr>
          <a:xfrm>
            <a:off x="812800" y="4575373"/>
            <a:ext cx="3403600" cy="6350"/>
          </a:xfrm>
          <a:prstGeom prst="rect">
            <a:avLst/>
          </a:prstGeom>
          <a:solidFill>
            <a:srgbClr val="DDD7CA"/>
          </a:solidFill>
          <a:ln>
            <a:noFill/>
          </a:ln>
        </p:spPr>
        <p:txBody>
          <a:bodyPr rtlCol="0" anchor="ctr"/>
          <a:lstStyle/>
          <a:p>
            <a:pPr algn="ctr"/>
          </a:p>
        </p:txBody>
      </p:sp>
      <p:sp>
        <p:nvSpPr>
          <p:cNvPr id="62" name="Rule 61"/>
          <p:cNvSpPr/>
          <p:nvPr/>
        </p:nvSpPr>
        <p:spPr>
          <a:xfrm>
            <a:off x="812800" y="1878211"/>
            <a:ext cx="6350" cy="2703512"/>
          </a:xfrm>
          <a:prstGeom prst="rect">
            <a:avLst/>
          </a:prstGeom>
          <a:solidFill>
            <a:srgbClr val="DDD7CA"/>
          </a:solidFill>
          <a:ln>
            <a:noFill/>
          </a:ln>
        </p:spPr>
        <p:txBody>
          <a:bodyPr rtlCol="0" anchor="ctr"/>
          <a:lstStyle/>
          <a:p>
            <a:pPr algn="ctr"/>
          </a:p>
        </p:txBody>
      </p:sp>
      <p:sp>
        <p:nvSpPr>
          <p:cNvPr id="63" name="Text 62"/>
          <p:cNvSpPr txBox="1"/>
          <p:nvPr/>
        </p:nvSpPr>
        <p:spPr>
          <a:xfrm>
            <a:off x="3395504" y="2050149"/>
            <a:ext cx="6494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الموجة 3</a:t>
            </a:r>
          </a:p>
        </p:txBody>
      </p:sp>
      <p:sp>
        <p:nvSpPr>
          <p:cNvPr id="64" name="Text box 63"/>
          <p:cNvSpPr/>
          <p:nvPr/>
        </p:nvSpPr>
        <p:spPr>
          <a:xfrm>
            <a:off x="1968401" y="2068711"/>
            <a:ext cx="1442343" cy="223441"/>
          </a:xfrm>
          <a:prstGeom prst="roundRect">
            <a:avLst>
              <a:gd name="adj" fmla="val 50000"/>
            </a:avLst>
          </a:prstGeom>
          <a:solidFill>
            <a:srgbClr val="DCEEEF"/>
          </a:solidFill>
          <a:ln>
            <a:noFill/>
          </a:ln>
        </p:spPr>
        <p:txBody>
          <a:bodyPr rtlCol="0" anchor="ctr" wrap="square" tIns="0" rIns="56178" bIns="32004" lIns="0" anchorCtr="0">
            <a:noAutofit/>
          </a:bodyPr>
          <a:lstStyle/>
          <a:p>
            <a:pPr algn="r" rtl="1">
              <a:lnSpc>
                <a:spcPts val="1560"/>
              </a:lnSpc>
              <a:spcBef>
                <a:spcPts val="0"/>
              </a:spcBef>
              <a:spcAft>
                <a:spcPts val="0"/>
              </a:spcAft>
            </a:pPr>
            <a:r>
              <a:rPr sz="1200" b="0" i="0">
                <a:solidFill>
                  <a:srgbClr val="0B6F7C"/>
                </a:solidFill>
                <a:latin typeface="IBM Plex Sans Arabic"/>
                <a:ea typeface="IBM Plex Sans Arabic"/>
                <a:cs typeface="IBM Plex Sans Arabic"/>
              </a:rPr>
              <a:t>‎9–18‎ شهراً · افتراضية</a:t>
            </a:r>
          </a:p>
        </p:txBody>
      </p:sp>
      <p:sp>
        <p:nvSpPr>
          <p:cNvPr id="65" name="Text 64"/>
          <p:cNvSpPr txBox="1"/>
          <p:nvPr/>
        </p:nvSpPr>
        <p:spPr>
          <a:xfrm>
            <a:off x="838200" y="2321076"/>
            <a:ext cx="3206750"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132033"/>
                </a:solidFill>
                <a:latin typeface="Alexandria"/>
                <a:ea typeface="Alexandria"/>
                <a:cs typeface="Alexandria"/>
              </a:rPr>
              <a:t>النضج والاستدامة</a:t>
            </a:r>
          </a:p>
        </p:txBody>
      </p:sp>
      <p:sp>
        <p:nvSpPr>
          <p:cNvPr id="66" name="Rule 65"/>
          <p:cNvSpPr/>
          <p:nvPr/>
        </p:nvSpPr>
        <p:spPr>
          <a:xfrm>
            <a:off x="984250" y="2628702"/>
            <a:ext cx="3060700" cy="6350"/>
          </a:xfrm>
          <a:prstGeom prst="rect">
            <a:avLst/>
          </a:prstGeom>
          <a:solidFill>
            <a:srgbClr val="DDD7CA"/>
          </a:solidFill>
          <a:ln>
            <a:noFill/>
          </a:ln>
        </p:spPr>
        <p:txBody>
          <a:bodyPr rtlCol="0" anchor="ctr"/>
          <a:lstStyle/>
          <a:p>
            <a:pPr algn="ctr"/>
          </a:p>
        </p:txBody>
      </p:sp>
      <p:sp>
        <p:nvSpPr>
          <p:cNvPr id="67" name="Box 66"/>
          <p:cNvSpPr/>
          <p:nvPr/>
        </p:nvSpPr>
        <p:spPr>
          <a:xfrm>
            <a:off x="3981450" y="2754412"/>
            <a:ext cx="63500" cy="63500"/>
          </a:xfrm>
          <a:prstGeom prst="roundRect">
            <a:avLst>
              <a:gd name="adj" fmla="val 50000"/>
            </a:avLst>
          </a:prstGeom>
          <a:solidFill>
            <a:srgbClr val="0B6F7C"/>
          </a:solidFill>
          <a:ln>
            <a:noFill/>
          </a:ln>
        </p:spPr>
        <p:txBody>
          <a:bodyPr rtlCol="0" anchor="ctr"/>
          <a:lstStyle/>
          <a:p>
            <a:pPr algn="ctr"/>
          </a:p>
        </p:txBody>
      </p:sp>
      <p:sp>
        <p:nvSpPr>
          <p:cNvPr id="68" name="Text 67"/>
          <p:cNvSpPr txBox="1"/>
          <p:nvPr/>
        </p:nvSpPr>
        <p:spPr>
          <a:xfrm>
            <a:off x="984250" y="265588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اختبار الاختراق الدوري · ‎2-11‎</a:t>
            </a:r>
          </a:p>
        </p:txBody>
      </p:sp>
      <p:sp>
        <p:nvSpPr>
          <p:cNvPr id="69" name="Rule 68"/>
          <p:cNvSpPr/>
          <p:nvPr/>
        </p:nvSpPr>
        <p:spPr>
          <a:xfrm>
            <a:off x="984250" y="2937272"/>
            <a:ext cx="3060700" cy="6350"/>
          </a:xfrm>
          <a:prstGeom prst="rect">
            <a:avLst/>
          </a:prstGeom>
          <a:solidFill>
            <a:srgbClr val="DDD7CA"/>
          </a:solidFill>
          <a:ln>
            <a:noFill/>
          </a:ln>
        </p:spPr>
        <p:txBody>
          <a:bodyPr rtlCol="0" anchor="ctr"/>
          <a:lstStyle/>
          <a:p>
            <a:pPr algn="ctr"/>
          </a:p>
        </p:txBody>
      </p:sp>
      <p:sp>
        <p:nvSpPr>
          <p:cNvPr id="70" name="Box 69"/>
          <p:cNvSpPr/>
          <p:nvPr/>
        </p:nvSpPr>
        <p:spPr>
          <a:xfrm>
            <a:off x="3981450" y="3062982"/>
            <a:ext cx="63500" cy="63500"/>
          </a:xfrm>
          <a:prstGeom prst="roundRect">
            <a:avLst>
              <a:gd name="adj" fmla="val 50000"/>
            </a:avLst>
          </a:prstGeom>
          <a:solidFill>
            <a:srgbClr val="0B6F7C"/>
          </a:solidFill>
          <a:ln>
            <a:noFill/>
          </a:ln>
        </p:spPr>
        <p:txBody>
          <a:bodyPr rtlCol="0" anchor="ctr"/>
          <a:lstStyle/>
          <a:p>
            <a:pPr algn="ctr"/>
          </a:p>
        </p:txBody>
      </p:sp>
      <p:sp>
        <p:nvSpPr>
          <p:cNvPr id="71" name="Text 70"/>
          <p:cNvSpPr txBox="1"/>
          <p:nvPr/>
        </p:nvSpPr>
        <p:spPr>
          <a:xfrm>
            <a:off x="984250" y="296445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الاستمرارية والتعافي · ‎3-1‎</a:t>
            </a:r>
          </a:p>
        </p:txBody>
      </p:sp>
      <p:sp>
        <p:nvSpPr>
          <p:cNvPr id="72" name="Rule 71"/>
          <p:cNvSpPr/>
          <p:nvPr/>
        </p:nvSpPr>
        <p:spPr>
          <a:xfrm>
            <a:off x="984250" y="3245842"/>
            <a:ext cx="3060700" cy="6350"/>
          </a:xfrm>
          <a:prstGeom prst="rect">
            <a:avLst/>
          </a:prstGeom>
          <a:solidFill>
            <a:srgbClr val="DDD7CA"/>
          </a:solidFill>
          <a:ln>
            <a:noFill/>
          </a:ln>
        </p:spPr>
        <p:txBody>
          <a:bodyPr rtlCol="0" anchor="ctr"/>
          <a:lstStyle/>
          <a:p>
            <a:pPr algn="ctr"/>
          </a:p>
        </p:txBody>
      </p:sp>
      <p:sp>
        <p:nvSpPr>
          <p:cNvPr id="73" name="Box 72"/>
          <p:cNvSpPr/>
          <p:nvPr/>
        </p:nvSpPr>
        <p:spPr>
          <a:xfrm>
            <a:off x="3981450" y="3371552"/>
            <a:ext cx="63500" cy="63500"/>
          </a:xfrm>
          <a:prstGeom prst="roundRect">
            <a:avLst>
              <a:gd name="adj" fmla="val 50000"/>
            </a:avLst>
          </a:prstGeom>
          <a:solidFill>
            <a:srgbClr val="0B6F7C"/>
          </a:solidFill>
          <a:ln>
            <a:noFill/>
          </a:ln>
        </p:spPr>
        <p:txBody>
          <a:bodyPr rtlCol="0" anchor="ctr"/>
          <a:lstStyle/>
          <a:p>
            <a:pPr algn="ctr"/>
          </a:p>
        </p:txBody>
      </p:sp>
      <p:sp>
        <p:nvSpPr>
          <p:cNvPr id="74" name="Text 73"/>
          <p:cNvSpPr txBox="1"/>
          <p:nvPr/>
        </p:nvSpPr>
        <p:spPr>
          <a:xfrm>
            <a:off x="984250" y="327302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الأطراف والسحابة · ‎4-1‎ و‎4-2‎</a:t>
            </a:r>
          </a:p>
        </p:txBody>
      </p:sp>
      <p:sp>
        <p:nvSpPr>
          <p:cNvPr id="75" name="Rule 74"/>
          <p:cNvSpPr/>
          <p:nvPr/>
        </p:nvSpPr>
        <p:spPr>
          <a:xfrm>
            <a:off x="984250" y="3554412"/>
            <a:ext cx="3060700" cy="6350"/>
          </a:xfrm>
          <a:prstGeom prst="rect">
            <a:avLst/>
          </a:prstGeom>
          <a:solidFill>
            <a:srgbClr val="DDD7CA"/>
          </a:solidFill>
          <a:ln>
            <a:noFill/>
          </a:ln>
        </p:spPr>
        <p:txBody>
          <a:bodyPr rtlCol="0" anchor="ctr"/>
          <a:lstStyle/>
          <a:p>
            <a:pPr algn="ctr"/>
          </a:p>
        </p:txBody>
      </p:sp>
      <p:sp>
        <p:nvSpPr>
          <p:cNvPr id="76" name="Box 75"/>
          <p:cNvSpPr/>
          <p:nvPr/>
        </p:nvSpPr>
        <p:spPr>
          <a:xfrm>
            <a:off x="3981450" y="3680123"/>
            <a:ext cx="63500" cy="63500"/>
          </a:xfrm>
          <a:prstGeom prst="roundRect">
            <a:avLst>
              <a:gd name="adj" fmla="val 50000"/>
            </a:avLst>
          </a:prstGeom>
          <a:solidFill>
            <a:srgbClr val="0B6F7C"/>
          </a:solidFill>
          <a:ln>
            <a:noFill/>
          </a:ln>
        </p:spPr>
        <p:txBody>
          <a:bodyPr rtlCol="0" anchor="ctr"/>
          <a:lstStyle/>
          <a:p>
            <a:pPr algn="ctr"/>
          </a:p>
        </p:txBody>
      </p:sp>
      <p:sp>
        <p:nvSpPr>
          <p:cNvPr id="77" name="Text 76"/>
          <p:cNvSpPr txBox="1"/>
          <p:nvPr/>
        </p:nvSpPr>
        <p:spPr>
          <a:xfrm>
            <a:off x="984250" y="3581590"/>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حماية البيانات والتشفير · ‎2-7‎ و‎2-8‎</a:t>
            </a:r>
          </a:p>
        </p:txBody>
      </p:sp>
      <p:sp>
        <p:nvSpPr>
          <p:cNvPr id="78" name="Rule 77"/>
          <p:cNvSpPr/>
          <p:nvPr/>
        </p:nvSpPr>
        <p:spPr>
          <a:xfrm>
            <a:off x="984250" y="3862983"/>
            <a:ext cx="3060700" cy="6350"/>
          </a:xfrm>
          <a:prstGeom prst="rect">
            <a:avLst/>
          </a:prstGeom>
          <a:solidFill>
            <a:srgbClr val="DDD7CA"/>
          </a:solidFill>
          <a:ln>
            <a:noFill/>
          </a:ln>
        </p:spPr>
        <p:txBody>
          <a:bodyPr rtlCol="0" anchor="ctr"/>
          <a:lstStyle/>
          <a:p>
            <a:pPr algn="ctr"/>
          </a:p>
        </p:txBody>
      </p:sp>
      <p:sp>
        <p:nvSpPr>
          <p:cNvPr id="79" name="Box 78"/>
          <p:cNvSpPr/>
          <p:nvPr/>
        </p:nvSpPr>
        <p:spPr>
          <a:xfrm>
            <a:off x="3981450" y="3988693"/>
            <a:ext cx="63500" cy="63500"/>
          </a:xfrm>
          <a:prstGeom prst="roundRect">
            <a:avLst>
              <a:gd name="adj" fmla="val 50000"/>
            </a:avLst>
          </a:prstGeom>
          <a:solidFill>
            <a:srgbClr val="0B6F7C"/>
          </a:solidFill>
          <a:ln>
            <a:noFill/>
          </a:ln>
        </p:spPr>
        <p:txBody>
          <a:bodyPr rtlCol="0" anchor="ctr"/>
          <a:lstStyle/>
          <a:p>
            <a:pPr algn="ctr"/>
          </a:p>
        </p:txBody>
      </p:sp>
      <p:sp>
        <p:nvSpPr>
          <p:cNvPr id="80" name="Text 79"/>
          <p:cNvSpPr txBox="1"/>
          <p:nvPr/>
        </p:nvSpPr>
        <p:spPr>
          <a:xfrm>
            <a:off x="984250" y="389016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المراجعة المستقلة · ‎1-8-2‎</a:t>
            </a:r>
          </a:p>
        </p:txBody>
      </p:sp>
      <p:sp>
        <p:nvSpPr>
          <p:cNvPr id="81" name="Rule 80"/>
          <p:cNvSpPr/>
          <p:nvPr/>
        </p:nvSpPr>
        <p:spPr>
          <a:xfrm>
            <a:off x="984250" y="4171553"/>
            <a:ext cx="3060700" cy="6350"/>
          </a:xfrm>
          <a:prstGeom prst="rect">
            <a:avLst/>
          </a:prstGeom>
          <a:solidFill>
            <a:srgbClr val="DDD7CA"/>
          </a:solidFill>
          <a:ln>
            <a:noFill/>
          </a:ln>
        </p:spPr>
        <p:txBody>
          <a:bodyPr rtlCol="0" anchor="ctr"/>
          <a:lstStyle/>
          <a:p>
            <a:pPr algn="ctr"/>
          </a:p>
        </p:txBody>
      </p:sp>
      <p:sp>
        <p:nvSpPr>
          <p:cNvPr id="82" name="Box 81"/>
          <p:cNvSpPr/>
          <p:nvPr/>
        </p:nvSpPr>
        <p:spPr>
          <a:xfrm>
            <a:off x="3981450" y="4297263"/>
            <a:ext cx="63500" cy="63500"/>
          </a:xfrm>
          <a:prstGeom prst="roundRect">
            <a:avLst>
              <a:gd name="adj" fmla="val 50000"/>
            </a:avLst>
          </a:prstGeom>
          <a:solidFill>
            <a:srgbClr val="0B6F7C"/>
          </a:solidFill>
          <a:ln>
            <a:noFill/>
          </a:ln>
        </p:spPr>
        <p:txBody>
          <a:bodyPr rtlCol="0" anchor="ctr"/>
          <a:lstStyle/>
          <a:p>
            <a:pPr algn="ctr"/>
          </a:p>
        </p:txBody>
      </p:sp>
      <p:sp>
        <p:nvSpPr>
          <p:cNvPr id="83" name="Text 82"/>
          <p:cNvSpPr txBox="1"/>
          <p:nvPr/>
        </p:nvSpPr>
        <p:spPr>
          <a:xfrm>
            <a:off x="984250" y="4198731"/>
            <a:ext cx="29083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أول دورة مراجعات دورية · ‎X-4‎</a:t>
            </a:r>
          </a:p>
        </p:txBody>
      </p:sp>
      <p:sp>
        <p:nvSpPr>
          <p:cNvPr id="84" name="Box 83"/>
          <p:cNvSpPr/>
          <p:nvPr/>
        </p:nvSpPr>
        <p:spPr>
          <a:xfrm>
            <a:off x="812800" y="5222280"/>
            <a:ext cx="10566400" cy="619720"/>
          </a:xfrm>
          <a:prstGeom prst="roundRect">
            <a:avLst>
              <a:gd name="adj" fmla="val 16394"/>
            </a:avLst>
          </a:prstGeom>
          <a:solidFill>
            <a:srgbClr val="ECE8DF"/>
          </a:solidFill>
          <a:ln>
            <a:noFill/>
          </a:ln>
        </p:spPr>
        <p:txBody>
          <a:bodyPr rtlCol="0" anchor="ctr"/>
          <a:lstStyle/>
          <a:p>
            <a:pPr algn="ctr"/>
          </a:p>
        </p:txBody>
      </p:sp>
      <p:sp>
        <p:nvSpPr>
          <p:cNvPr id="85" name="Box 84"/>
          <p:cNvSpPr/>
          <p:nvPr/>
        </p:nvSpPr>
        <p:spPr>
          <a:xfrm>
            <a:off x="10934700" y="5448300"/>
            <a:ext cx="304800" cy="304800"/>
          </a:xfrm>
          <a:prstGeom prst="roundRect">
            <a:avLst>
              <a:gd name="adj" fmla="val 33333"/>
            </a:avLst>
          </a:prstGeom>
          <a:solidFill>
            <a:srgbClr val="F6E6DC"/>
          </a:solidFill>
          <a:ln>
            <a:noFill/>
          </a:ln>
        </p:spPr>
        <p:txBody>
          <a:bodyPr rtlCol="0" anchor="ctr"/>
          <a:lstStyle/>
          <a:p>
            <a:pPr algn="ctr"/>
          </a:p>
        </p:txBody>
      </p:sp>
      <p:pic>
        <p:nvPicPr>
          <p:cNvPr id="86" name="Icon Warning 85" descr="icon025.png"/>
          <p:cNvPicPr>
            <a:picLocks noChangeAspect="1"/>
          </p:cNvPicPr>
          <p:nvPr/>
        </p:nvPicPr>
        <p:blipFill>
          <a:blip r:embed="rId2"/>
          <a:stretch>
            <a:fillRect/>
          </a:stretch>
        </p:blipFill>
        <p:spPr>
          <a:xfrm>
            <a:off x="11004550" y="5518150"/>
            <a:ext cx="165100" cy="165100"/>
          </a:xfrm>
          <a:prstGeom prst="rect">
            <a:avLst/>
          </a:prstGeom>
        </p:spPr>
      </p:pic>
      <p:sp>
        <p:nvSpPr>
          <p:cNvPr id="87" name="Text 86"/>
          <p:cNvSpPr txBox="1"/>
          <p:nvPr/>
        </p:nvSpPr>
        <p:spPr>
          <a:xfrm>
            <a:off x="838200" y="5283748"/>
            <a:ext cx="99822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تنبيه: </a:t>
            </a:r>
            <a:r>
              <a:rPr sz="1200" b="0" i="0">
                <a:solidFill>
                  <a:srgbClr val="132033"/>
                </a:solidFill>
                <a:latin typeface="IBM Plex Sans Arabic"/>
                <a:ea typeface="IBM Plex Sans Arabic"/>
                <a:cs typeface="IBM Plex Sans Arabic"/>
              </a:rPr>
              <a:t>المدد افتراضية للتخطيط، وليست مهلة امتثال تمنحها الهيئة. الترتيب يتغير حسب المخاطر والاعتماديات والتعليمات المنطبقة، والخطر المرتفع قد يستدعي معالجة عاجلة وضوابط مؤقتة.</a:t>
            </a:r>
          </a:p>
        </p:txBody>
      </p:sp>
      <p:sp>
        <p:nvSpPr>
          <p:cNvPr id="88" name="Text 8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89" name="Box 8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0" name="Box 8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1" name="Box 90"/>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92" name="Box 91"/>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93" name="Box 9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94" name="Box 9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95" name="Box 9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96" name="Box 9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97" name="Box 9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98" name="Text 9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من يفعل ماذا في التطبيق</a:t>
            </a:r>
          </a:p>
        </p:txBody>
      </p:sp>
      <p:graphicFrame>
        <p:nvGraphicFramePr>
          <p:cNvPr id="5" name="Table 4"/>
          <p:cNvGraphicFramePr>
            <a:graphicFrameLocks noGrp="1"/>
          </p:cNvGraphicFramePr>
          <p:nvPr/>
        </p:nvGraphicFramePr>
        <p:xfrm>
          <a:off x="815975" y="1855986"/>
          <a:ext cx="10560050" cy="3004839"/>
        </p:xfrm>
        <a:graphic>
          <a:graphicData uri="http://schemas.openxmlformats.org/drawingml/2006/table">
            <a:tbl>
              <a:tblPr firstRow="0" bandRow="0" lastRow="0" firstCol="0" lastCol="0" bandCol="0">
                <a:tableStyleId>{2D5ABB26-0587-4C30-8999-92F81FD0307C}</a:tableStyleId>
              </a:tblPr>
              <a:tblGrid>
                <a:gridCol w="2112010"/>
                <a:gridCol w="5913755"/>
                <a:gridCol w="253428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ضوابط مرتبطة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المسؤولية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الدور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‎1-1-1‎ · ‎1-3-1‎ · ‎1-4-1‎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يعتمد الاستراتيجية والسياسات والهيكل والأدوار، ويدعم البرنامج</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صاحب الصلاحية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‎1-2-3‎ · ‎1-8-3‎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تضمن الالتزام وتدعمه وتتابعه، وتتلقى نتائج المراجعة والتدقيق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اللجنة الإشرافية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‎1-3‎ · ‎1-5‎ · ‎1-8-1‎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توثق المتطلبات، وتتأكد من تطبيقها، وتراجعها دورياً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الأمن السيبراني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أغلب ‎2-x‎</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تنفذ الضوابط التقنية وتشغّلها وتوفر أدلتها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تقنية المعلومات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‎1-9‎</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متطلبات ما قبل التوظيف وأثناءه وعند انتهائه</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الموارد البشرية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‎4-1‎ · ‎4-2‎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بنود الأمن السيبراني في العقود والاتفاقيات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المشتريات والقانونية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‎1-8-2‎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مراجعة وتدقيق مستقل عن إدارة الأمن السيبراني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جهة مستقلة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‎2-1-5‎ · ‎2-2-3-5‎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تصنيف أصولهم، واعتماد الصلاحيات عليها ومراجعتها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ملاك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سجل الأدلة: نظّمه من اليوم الأول</a:t>
            </a:r>
          </a:p>
        </p:txBody>
      </p:sp>
      <p:sp>
        <p:nvSpPr>
          <p:cNvPr id="5" name="Text 4"/>
          <p:cNvSpPr txBox="1"/>
          <p:nvPr/>
        </p:nvSpPr>
        <p:spPr>
          <a:xfrm>
            <a:off x="0" y="1854589"/>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حقول السجل المقترحة</a:t>
            </a:r>
          </a:p>
        </p:txBody>
      </p:sp>
      <p:sp>
        <p:nvSpPr>
          <p:cNvPr id="6" name="Text box 5"/>
          <p:cNvSpPr/>
          <p:nvPr/>
        </p:nvSpPr>
        <p:spPr>
          <a:xfrm>
            <a:off x="10520859" y="2183606"/>
            <a:ext cx="85516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رقم الدليل</a:t>
            </a:r>
          </a:p>
        </p:txBody>
      </p:sp>
      <p:sp>
        <p:nvSpPr>
          <p:cNvPr id="7" name="Text box 6"/>
          <p:cNvSpPr/>
          <p:nvPr/>
        </p:nvSpPr>
        <p:spPr>
          <a:xfrm>
            <a:off x="9560520" y="2183606"/>
            <a:ext cx="86508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رمز الضابط</a:t>
            </a:r>
          </a:p>
        </p:txBody>
      </p:sp>
      <p:sp>
        <p:nvSpPr>
          <p:cNvPr id="8" name="Text box 7"/>
          <p:cNvSpPr/>
          <p:nvPr/>
        </p:nvSpPr>
        <p:spPr>
          <a:xfrm>
            <a:off x="8783836" y="2183606"/>
            <a:ext cx="681434"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الوصف</a:t>
            </a:r>
          </a:p>
        </p:txBody>
      </p:sp>
      <p:sp>
        <p:nvSpPr>
          <p:cNvPr id="9" name="Text box 8"/>
          <p:cNvSpPr/>
          <p:nvPr/>
        </p:nvSpPr>
        <p:spPr>
          <a:xfrm>
            <a:off x="8146355" y="2183606"/>
            <a:ext cx="54223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النوع</a:t>
            </a:r>
          </a:p>
        </p:txBody>
      </p:sp>
      <p:sp>
        <p:nvSpPr>
          <p:cNvPr id="10" name="Text box 9"/>
          <p:cNvSpPr/>
          <p:nvPr/>
        </p:nvSpPr>
        <p:spPr>
          <a:xfrm>
            <a:off x="7413526" y="2183606"/>
            <a:ext cx="63758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المالك</a:t>
            </a:r>
          </a:p>
        </p:txBody>
      </p:sp>
      <p:sp>
        <p:nvSpPr>
          <p:cNvPr id="11" name="Text box 10"/>
          <p:cNvSpPr/>
          <p:nvPr/>
        </p:nvSpPr>
        <p:spPr>
          <a:xfrm>
            <a:off x="6373713" y="2183606"/>
            <a:ext cx="94456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تاريخ الإنشاء</a:t>
            </a:r>
          </a:p>
        </p:txBody>
      </p:sp>
      <p:sp>
        <p:nvSpPr>
          <p:cNvPr id="12" name="Text box 11"/>
          <p:cNvSpPr/>
          <p:nvPr/>
        </p:nvSpPr>
        <p:spPr>
          <a:xfrm>
            <a:off x="5203031" y="2183606"/>
            <a:ext cx="107543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موعد التحديث</a:t>
            </a:r>
          </a:p>
        </p:txBody>
      </p:sp>
      <p:sp>
        <p:nvSpPr>
          <p:cNvPr id="13" name="Text box 12"/>
          <p:cNvSpPr/>
          <p:nvPr/>
        </p:nvSpPr>
        <p:spPr>
          <a:xfrm>
            <a:off x="4467920" y="2183606"/>
            <a:ext cx="63986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الموقع</a:t>
            </a:r>
          </a:p>
        </p:txBody>
      </p:sp>
      <p:sp>
        <p:nvSpPr>
          <p:cNvPr id="14" name="Text box 13"/>
          <p:cNvSpPr/>
          <p:nvPr/>
        </p:nvSpPr>
        <p:spPr>
          <a:xfrm>
            <a:off x="3781425" y="2183606"/>
            <a:ext cx="591245"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الحالة</a:t>
            </a:r>
          </a:p>
        </p:txBody>
      </p:sp>
      <p:pic>
        <p:nvPicPr>
          <p:cNvPr id="15" name="Icon CheckCircle 14" descr="icon026.png"/>
          <p:cNvPicPr>
            <a:picLocks noChangeAspect="1"/>
          </p:cNvPicPr>
          <p:nvPr/>
        </p:nvPicPr>
        <p:blipFill>
          <a:blip r:embed="rId2"/>
          <a:stretch>
            <a:fillRect/>
          </a:stretch>
        </p:blipFill>
        <p:spPr>
          <a:xfrm>
            <a:off x="11125200" y="2762052"/>
            <a:ext cx="228600" cy="228600"/>
          </a:xfrm>
          <a:prstGeom prst="rect">
            <a:avLst/>
          </a:prstGeom>
        </p:spPr>
      </p:pic>
      <p:sp>
        <p:nvSpPr>
          <p:cNvPr id="16" name="Text 15"/>
          <p:cNvSpPr txBox="1"/>
          <p:nvPr/>
        </p:nvSpPr>
        <p:spPr>
          <a:xfrm>
            <a:off x="0" y="2706934"/>
            <a:ext cx="109855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دليل واحد قد يخدم عدة ضوابط: اربطه بها ولا تكرره</a:t>
            </a:r>
          </a:p>
        </p:txBody>
      </p:sp>
      <p:pic>
        <p:nvPicPr>
          <p:cNvPr id="17" name="Icon CheckCircle 16" descr="icon026.png"/>
          <p:cNvPicPr>
            <a:picLocks noChangeAspect="1"/>
          </p:cNvPicPr>
          <p:nvPr/>
        </p:nvPicPr>
        <p:blipFill>
          <a:blip r:embed="rId2"/>
          <a:stretch>
            <a:fillRect/>
          </a:stretch>
        </p:blipFill>
        <p:spPr>
          <a:xfrm>
            <a:off x="11125200" y="3143052"/>
            <a:ext cx="228600" cy="228600"/>
          </a:xfrm>
          <a:prstGeom prst="rect">
            <a:avLst/>
          </a:prstGeom>
        </p:spPr>
      </p:pic>
      <p:sp>
        <p:nvSpPr>
          <p:cNvPr id="18" name="Text 17"/>
          <p:cNvSpPr txBox="1"/>
          <p:nvPr/>
        </p:nvSpPr>
        <p:spPr>
          <a:xfrm>
            <a:off x="0" y="3087934"/>
            <a:ext cx="109855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لكل دليل تشغيلي موعد تحديث، وإلا تقادم</a:t>
            </a:r>
          </a:p>
        </p:txBody>
      </p:sp>
      <p:pic>
        <p:nvPicPr>
          <p:cNvPr id="19" name="Icon CheckCircle 18" descr="icon026.png"/>
          <p:cNvPicPr>
            <a:picLocks noChangeAspect="1"/>
          </p:cNvPicPr>
          <p:nvPr/>
        </p:nvPicPr>
        <p:blipFill>
          <a:blip r:embed="rId2"/>
          <a:stretch>
            <a:fillRect/>
          </a:stretch>
        </p:blipFill>
        <p:spPr>
          <a:xfrm>
            <a:off x="11125200" y="3524052"/>
            <a:ext cx="228600" cy="228600"/>
          </a:xfrm>
          <a:prstGeom prst="rect">
            <a:avLst/>
          </a:prstGeom>
        </p:spPr>
      </p:pic>
      <p:sp>
        <p:nvSpPr>
          <p:cNvPr id="20" name="Text 19"/>
          <p:cNvSpPr txBox="1"/>
          <p:nvPr/>
        </p:nvSpPr>
        <p:spPr>
          <a:xfrm>
            <a:off x="0" y="3468934"/>
            <a:ext cx="109855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المستودع مقيد الصلاحيات، فالإعدادات نفسها معلومات حساسة</a:t>
            </a:r>
          </a:p>
        </p:txBody>
      </p:sp>
      <p:pic>
        <p:nvPicPr>
          <p:cNvPr id="21" name="Icon CheckCircle 20" descr="icon026.png"/>
          <p:cNvPicPr>
            <a:picLocks noChangeAspect="1"/>
          </p:cNvPicPr>
          <p:nvPr/>
        </p:nvPicPr>
        <p:blipFill>
          <a:blip r:embed="rId2"/>
          <a:stretch>
            <a:fillRect/>
          </a:stretch>
        </p:blipFill>
        <p:spPr>
          <a:xfrm>
            <a:off x="11125200" y="3905052"/>
            <a:ext cx="228600" cy="228600"/>
          </a:xfrm>
          <a:prstGeom prst="rect">
            <a:avLst/>
          </a:prstGeom>
        </p:spPr>
      </p:pic>
      <p:sp>
        <p:nvSpPr>
          <p:cNvPr id="22" name="Text 21"/>
          <p:cNvSpPr txBox="1"/>
          <p:nvPr/>
        </p:nvSpPr>
        <p:spPr>
          <a:xfrm>
            <a:off x="0" y="3849934"/>
            <a:ext cx="109855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احتفظ بالإصدارات السابقة لإثبات الاستمرارية</a:t>
            </a:r>
          </a:p>
        </p:txBody>
      </p:sp>
      <p:sp>
        <p:nvSpPr>
          <p:cNvPr id="23" name="Box 22"/>
          <p:cNvSpPr/>
          <p:nvPr/>
        </p:nvSpPr>
        <p:spPr>
          <a:xfrm>
            <a:off x="812800" y="4958159"/>
            <a:ext cx="10566400" cy="883841"/>
          </a:xfrm>
          <a:prstGeom prst="roundRect">
            <a:avLst>
              <a:gd name="adj" fmla="val 14369"/>
            </a:avLst>
          </a:prstGeom>
          <a:solidFill>
            <a:srgbClr val="0E1A2B"/>
          </a:solidFill>
          <a:ln>
            <a:noFill/>
          </a:ln>
        </p:spPr>
        <p:txBody>
          <a:bodyPr rtlCol="0" anchor="ctr"/>
          <a:lstStyle/>
          <a:p>
            <a:pPr algn="ctr"/>
          </a:p>
        </p:txBody>
      </p:sp>
      <p:sp>
        <p:nvSpPr>
          <p:cNvPr id="24" name="Text 23"/>
          <p:cNvSpPr txBox="1"/>
          <p:nvPr/>
        </p:nvSpPr>
        <p:spPr>
          <a:xfrm>
            <a:off x="838200" y="5099637"/>
            <a:ext cx="103251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مثال تسمية الملف: الرمز أولاً، ثم رقم الدليل، ثم الوصف، ثم التاريخ</a:t>
            </a:r>
          </a:p>
        </p:txBody>
      </p:sp>
      <p:sp>
        <p:nvSpPr>
          <p:cNvPr id="25" name="Text 24"/>
          <p:cNvSpPr txBox="1"/>
          <p:nvPr/>
        </p:nvSpPr>
        <p:spPr>
          <a:xfrm>
            <a:off x="1028700" y="5399572"/>
            <a:ext cx="10325100" cy="264120"/>
          </a:xfrm>
          <a:prstGeom prst="rect">
            <a:avLst/>
          </a:prstGeom>
          <a:noFill/>
        </p:spPr>
        <p:txBody>
          <a:bodyPr wrap="square" tIns="0" rIns="0" bIns="0" lIns="0" anchor="t" rtlCol="0" anchorCtr="0">
            <a:noAutofit/>
          </a:bodyPr>
          <a:lstStyle/>
          <a:p>
            <a:pPr algn="l">
              <a:lnSpc>
                <a:spcPts val="2080"/>
              </a:lnSpc>
              <a:spcBef>
                <a:spcPts val="0"/>
              </a:spcBef>
              <a:spcAft>
                <a:spcPts val="0"/>
              </a:spcAft>
            </a:pPr>
            <a:r>
              <a:rPr sz="1600" b="1" i="0">
                <a:solidFill>
                  <a:srgbClr val="F2EEE6"/>
                </a:solidFill>
                <a:latin typeface="IBM Plex Mono"/>
                <a:ea typeface="IBM Plex Mono"/>
                <a:cs typeface="IBM Plex Mono"/>
              </a:rPr>
              <a:t>ECC-2-2-3-2_EV01_MFA-VPN-config_2026-09.pdf</a:t>
            </a:r>
          </a:p>
        </p:txBody>
      </p:sp>
      <p:sp>
        <p:nvSpPr>
          <p:cNvPr id="26" name="Text 2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27" name="Box 2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8" name="Box 2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9" name="Box 28"/>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30" name="Box 2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31" name="Box 3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2" name="Box 3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33" name="Box 3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34" name="Box 3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35" name="Box 3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36" name="Text 3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526488" y="812800"/>
            <a:ext cx="185271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03 · برنامج التطبيق</a:t>
            </a:r>
          </a:p>
        </p:txBody>
      </p:sp>
      <p:sp>
        <p:nvSpPr>
          <p:cNvPr id="4" name="Text 3"/>
          <p:cNvSpPr txBox="1"/>
          <p:nvPr/>
        </p:nvSpPr>
        <p:spPr>
          <a:xfrm>
            <a:off x="7962793" y="827278"/>
            <a:ext cx="144939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مثال دليل · سجل الأدلة</a:t>
            </a:r>
          </a:p>
        </p:txBody>
      </p:sp>
      <p:sp>
        <p:nvSpPr>
          <p:cNvPr id="5" name="Text 4"/>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سجل الأدلة عملياً</a:t>
            </a:r>
          </a:p>
        </p:txBody>
      </p:sp>
      <p:sp>
        <p:nvSpPr>
          <p:cNvPr id="6" name="Text box 5"/>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7" name="Text 6"/>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8" name="Text box 7"/>
          <p:cNvSpPr/>
          <p:nvPr/>
        </p:nvSpPr>
        <p:spPr>
          <a:xfrm>
            <a:off x="8389144" y="1852811"/>
            <a:ext cx="635000" cy="274241"/>
          </a:xfrm>
          <a:prstGeom prst="roundRect">
            <a:avLst>
              <a:gd name="adj" fmla="val 27785"/>
            </a:avLst>
          </a:prstGeom>
          <a:solidFill>
            <a:srgbClr val="DCEEEF"/>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0B6F7C"/>
                </a:solidFill>
                <a:latin typeface="IBM Plex Mono"/>
                <a:ea typeface="IBM Plex Mono"/>
                <a:cs typeface="IBM Plex Mono"/>
              </a:rPr>
              <a:t>1-8-1</a:t>
            </a:r>
          </a:p>
        </p:txBody>
      </p:sp>
      <p:sp>
        <p:nvSpPr>
          <p:cNvPr id="9" name="Text box 8"/>
          <p:cNvSpPr/>
          <p:nvPr/>
        </p:nvSpPr>
        <p:spPr>
          <a:xfrm>
            <a:off x="7400627" y="1852811"/>
            <a:ext cx="925016" cy="274241"/>
          </a:xfrm>
          <a:prstGeom prst="roundRect">
            <a:avLst>
              <a:gd name="adj" fmla="val 27785"/>
            </a:avLst>
          </a:prstGeom>
          <a:solidFill>
            <a:srgbClr val="DCEEEF"/>
          </a:solidFill>
          <a:ln>
            <a:noFill/>
          </a:ln>
        </p:spPr>
        <p:txBody>
          <a:bodyPr rtlCol="0" anchor="ctr" wrap="square" tIns="5876" rIns="66582" bIns="25688" lIns="0" anchorCtr="0">
            <a:noAutofit/>
          </a:bodyPr>
          <a:lstStyle/>
          <a:p>
            <a:pPr algn="r" rtl="1">
              <a:lnSpc>
                <a:spcPts val="1560"/>
              </a:lnSpc>
              <a:spcBef>
                <a:spcPts val="0"/>
              </a:spcBef>
              <a:spcAft>
                <a:spcPts val="0"/>
              </a:spcAft>
            </a:pPr>
            <a:r>
              <a:rPr sz="1200" b="1" i="0">
                <a:solidFill>
                  <a:srgbClr val="0B6F7C"/>
                </a:solidFill>
                <a:latin typeface="IBM Plex Mono"/>
                <a:ea typeface="IBM Plex Mono"/>
                <a:cs typeface="IBM Plex Sans Arabic"/>
              </a:rPr>
              <a:t>كل الضوابط</a:t>
            </a:r>
          </a:p>
        </p:txBody>
      </p:sp>
      <p:sp>
        <p:nvSpPr>
          <p:cNvPr id="10" name="Text 9"/>
          <p:cNvSpPr txBox="1"/>
          <p:nvPr/>
        </p:nvSpPr>
        <p:spPr>
          <a:xfrm>
            <a:off x="6715760" y="2192330"/>
            <a:ext cx="46634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ما الذي تراه</a:t>
            </a:r>
          </a:p>
        </p:txBody>
      </p:sp>
      <p:sp>
        <p:nvSpPr>
          <p:cNvPr id="11" name="Box 10"/>
          <p:cNvSpPr/>
          <p:nvPr/>
        </p:nvSpPr>
        <p:spPr>
          <a:xfrm>
            <a:off x="11125200" y="2518172"/>
            <a:ext cx="254000" cy="254000"/>
          </a:xfrm>
          <a:prstGeom prst="roundRect">
            <a:avLst>
              <a:gd name="adj" fmla="val 50000"/>
            </a:avLst>
          </a:prstGeom>
          <a:solidFill>
            <a:srgbClr val="0B6F7C"/>
          </a:solidFill>
          <a:ln>
            <a:noFill/>
          </a:ln>
        </p:spPr>
        <p:txBody>
          <a:bodyPr rtlCol="0" anchor="ctr"/>
          <a:lstStyle/>
          <a:p>
            <a:pPr algn="ctr"/>
          </a:p>
        </p:txBody>
      </p:sp>
      <p:sp>
        <p:nvSpPr>
          <p:cNvPr id="12" name="Text 11"/>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3" name="Text 12"/>
          <p:cNvSpPr txBox="1"/>
          <p:nvPr/>
        </p:nvSpPr>
        <p:spPr>
          <a:xfrm>
            <a:off x="6744208" y="2490740"/>
            <a:ext cx="427939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لكل ضابط صف: الدليل، ومالكه، وتاريخه، وحالته.</a:t>
            </a:r>
          </a:p>
        </p:txBody>
      </p:sp>
      <p:sp>
        <p:nvSpPr>
          <p:cNvPr id="14" name="Box 13"/>
          <p:cNvSpPr/>
          <p:nvPr/>
        </p:nvSpPr>
        <p:spPr>
          <a:xfrm>
            <a:off x="11125200" y="2835672"/>
            <a:ext cx="254000" cy="2540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6" name="Text 15"/>
          <p:cNvSpPr txBox="1"/>
          <p:nvPr/>
        </p:nvSpPr>
        <p:spPr>
          <a:xfrm>
            <a:off x="6744208" y="2808240"/>
            <a:ext cx="427939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التاريخ يكشف الدليل القديم قبل المقيّم.</a:t>
            </a:r>
          </a:p>
        </p:txBody>
      </p:sp>
      <p:sp>
        <p:nvSpPr>
          <p:cNvPr id="17" name="Box 16"/>
          <p:cNvSpPr/>
          <p:nvPr/>
        </p:nvSpPr>
        <p:spPr>
          <a:xfrm>
            <a:off x="11125200" y="3153172"/>
            <a:ext cx="254000" cy="254000"/>
          </a:xfrm>
          <a:prstGeom prst="roundRect">
            <a:avLst>
              <a:gd name="adj" fmla="val 50000"/>
            </a:avLst>
          </a:prstGeom>
          <a:solidFill>
            <a:srgbClr val="0B6F7C"/>
          </a:solidFill>
          <a:ln>
            <a:noFill/>
          </a:ln>
        </p:spPr>
        <p:txBody>
          <a:bodyPr rtlCol="0" anchor="ctr"/>
          <a:lstStyle/>
          <a:p>
            <a:pPr algn="ctr"/>
          </a:p>
        </p:txBody>
      </p:sp>
      <p:sp>
        <p:nvSpPr>
          <p:cNvPr id="18" name="Text 17"/>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19" name="Text 18"/>
          <p:cNvSpPr txBox="1"/>
          <p:nvPr/>
        </p:nvSpPr>
        <p:spPr>
          <a:xfrm>
            <a:off x="6744208" y="3125740"/>
            <a:ext cx="427939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الحالة تحول السجل إلى قائمة عمل واضحة.</a:t>
            </a:r>
          </a:p>
        </p:txBody>
      </p:sp>
      <p:sp>
        <p:nvSpPr>
          <p:cNvPr id="20" name="Rule 19"/>
          <p:cNvSpPr/>
          <p:nvPr/>
        </p:nvSpPr>
        <p:spPr>
          <a:xfrm>
            <a:off x="7061200" y="3496072"/>
            <a:ext cx="4318000" cy="6350"/>
          </a:xfrm>
          <a:prstGeom prst="rect">
            <a:avLst/>
          </a:prstGeom>
          <a:solidFill>
            <a:srgbClr val="DDD7CA"/>
          </a:solidFill>
          <a:ln>
            <a:noFill/>
          </a:ln>
        </p:spPr>
        <p:txBody>
          <a:bodyPr rtlCol="0" anchor="ctr"/>
          <a:lstStyle/>
          <a:p>
            <a:pPr algn="ctr"/>
          </a:p>
        </p:txBody>
      </p:sp>
      <p:sp>
        <p:nvSpPr>
          <p:cNvPr id="21" name="Text 20"/>
          <p:cNvSpPr txBox="1"/>
          <p:nvPr/>
        </p:nvSpPr>
        <p:spPr>
          <a:xfrm>
            <a:off x="7061200" y="3567700"/>
            <a:ext cx="4318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ما الذي يبحث عنه المقيّم</a:t>
            </a:r>
          </a:p>
        </p:txBody>
      </p:sp>
      <p:pic>
        <p:nvPicPr>
          <p:cNvPr id="22" name="Icon CheckCircle 21" descr="icon027.png"/>
          <p:cNvPicPr>
            <a:picLocks noChangeAspect="1"/>
          </p:cNvPicPr>
          <p:nvPr/>
        </p:nvPicPr>
        <p:blipFill>
          <a:blip r:embed="rId2"/>
          <a:stretch>
            <a:fillRect/>
          </a:stretch>
        </p:blipFill>
        <p:spPr>
          <a:xfrm>
            <a:off x="11150600" y="3880842"/>
            <a:ext cx="203200" cy="203200"/>
          </a:xfrm>
          <a:prstGeom prst="rect">
            <a:avLst/>
          </a:prstGeom>
        </p:spPr>
      </p:pic>
      <p:sp>
        <p:nvSpPr>
          <p:cNvPr id="23" name="Text 22"/>
          <p:cNvSpPr txBox="1"/>
          <p:nvPr/>
        </p:nvSpPr>
        <p:spPr>
          <a:xfrm>
            <a:off x="7061200" y="3828010"/>
            <a:ext cx="3975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الدليل في السجل موجود فعلاً ويمكن فتحه.</a:t>
            </a:r>
          </a:p>
        </p:txBody>
      </p:sp>
      <p:pic>
        <p:nvPicPr>
          <p:cNvPr id="24" name="Icon CheckCircle 23" descr="icon027.png"/>
          <p:cNvPicPr>
            <a:picLocks noChangeAspect="1"/>
          </p:cNvPicPr>
          <p:nvPr/>
        </p:nvPicPr>
        <p:blipFill>
          <a:blip r:embed="rId2"/>
          <a:stretch>
            <a:fillRect/>
          </a:stretch>
        </p:blipFill>
        <p:spPr>
          <a:xfrm>
            <a:off x="11150600" y="4185642"/>
            <a:ext cx="203200" cy="203200"/>
          </a:xfrm>
          <a:prstGeom prst="rect">
            <a:avLst/>
          </a:prstGeom>
        </p:spPr>
      </p:pic>
      <p:sp>
        <p:nvSpPr>
          <p:cNvPr id="25" name="Text 24"/>
          <p:cNvSpPr txBox="1"/>
          <p:nvPr/>
        </p:nvSpPr>
        <p:spPr>
          <a:xfrm>
            <a:off x="7061200" y="4132810"/>
            <a:ext cx="3975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التاريخ ضمن فترة التقييم.</a:t>
            </a:r>
          </a:p>
        </p:txBody>
      </p:sp>
      <p:pic>
        <p:nvPicPr>
          <p:cNvPr id="26" name="Icon CheckCircle 25" descr="icon027.png"/>
          <p:cNvPicPr>
            <a:picLocks noChangeAspect="1"/>
          </p:cNvPicPr>
          <p:nvPr/>
        </p:nvPicPr>
        <p:blipFill>
          <a:blip r:embed="rId2"/>
          <a:stretch>
            <a:fillRect/>
          </a:stretch>
        </p:blipFill>
        <p:spPr>
          <a:xfrm>
            <a:off x="11150600" y="4490442"/>
            <a:ext cx="203200" cy="203200"/>
          </a:xfrm>
          <a:prstGeom prst="rect">
            <a:avLst/>
          </a:prstGeom>
        </p:spPr>
      </p:pic>
      <p:sp>
        <p:nvSpPr>
          <p:cNvPr id="27" name="Text 26"/>
          <p:cNvSpPr txBox="1"/>
          <p:nvPr/>
        </p:nvSpPr>
        <p:spPr>
          <a:xfrm>
            <a:off x="7061200" y="4437610"/>
            <a:ext cx="3975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الدليل يغطي المجتمع المعني، أو عينة مبررة من قائمة مكتملة.</a:t>
            </a:r>
          </a:p>
        </p:txBody>
      </p:sp>
      <p:sp>
        <p:nvSpPr>
          <p:cNvPr id="28" name="Box 27"/>
          <p:cNvSpPr/>
          <p:nvPr/>
        </p:nvSpPr>
        <p:spPr>
          <a:xfrm>
            <a:off x="7061200" y="5222280"/>
            <a:ext cx="4318000" cy="619720"/>
          </a:xfrm>
          <a:prstGeom prst="roundRect">
            <a:avLst>
              <a:gd name="adj" fmla="val 14345"/>
            </a:avLst>
          </a:prstGeom>
          <a:solidFill>
            <a:srgbClr val="ECE8DF"/>
          </a:solidFill>
          <a:ln>
            <a:noFill/>
          </a:ln>
        </p:spPr>
        <p:txBody>
          <a:bodyPr rtlCol="0" anchor="ctr"/>
          <a:lstStyle/>
          <a:p>
            <a:pPr algn="ctr"/>
          </a:p>
        </p:txBody>
      </p:sp>
      <p:pic>
        <p:nvPicPr>
          <p:cNvPr id="29" name="Icon Warning 28" descr="icon028.png"/>
          <p:cNvPicPr>
            <a:picLocks noChangeAspect="1"/>
          </p:cNvPicPr>
          <p:nvPr/>
        </p:nvPicPr>
        <p:blipFill>
          <a:blip r:embed="rId3"/>
          <a:stretch>
            <a:fillRect/>
          </a:stretch>
        </p:blipFill>
        <p:spPr>
          <a:xfrm>
            <a:off x="11074400" y="5311180"/>
            <a:ext cx="190500" cy="190500"/>
          </a:xfrm>
          <a:prstGeom prst="rect">
            <a:avLst/>
          </a:prstGeom>
        </p:spPr>
      </p:pic>
      <p:sp>
        <p:nvSpPr>
          <p:cNvPr id="30" name="Text 29"/>
          <p:cNvSpPr txBox="1"/>
          <p:nvPr/>
        </p:nvSpPr>
        <p:spPr>
          <a:xfrm>
            <a:off x="7086600" y="5283748"/>
            <a:ext cx="3898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السجل يشير إلى الأدلة ولا يغني عنها، وحالة «معتمد» لا تعني أن الضابط مطبق.</a:t>
            </a:r>
          </a:p>
        </p:txBody>
      </p:sp>
      <p:sp>
        <p:nvSpPr>
          <p:cNvPr id="31" name="Box 30"/>
          <p:cNvSpPr/>
          <p:nvPr/>
        </p:nvSpPr>
        <p:spPr>
          <a:xfrm>
            <a:off x="815975" y="1855986"/>
            <a:ext cx="5937250" cy="3557091"/>
          </a:xfrm>
          <a:prstGeom prst="roundRect">
            <a:avLst>
              <a:gd name="adj" fmla="val 2851"/>
            </a:avLst>
          </a:prstGeom>
          <a:solidFill>
            <a:srgbClr val="FBFAF7"/>
          </a:solidFill>
          <a:ln w="6350">
            <a:solidFill>
              <a:srgbClr val="DDD7CA"/>
            </a:solidFill>
          </a:ln>
        </p:spPr>
        <p:txBody>
          <a:bodyPr rtlCol="0" anchor="ctr"/>
          <a:lstStyle/>
          <a:p>
            <a:pPr algn="ctr"/>
          </a:p>
        </p:txBody>
      </p:sp>
      <p:sp>
        <p:nvSpPr>
          <p:cNvPr id="32" name="Box 31"/>
          <p:cNvSpPr/>
          <p:nvPr/>
        </p:nvSpPr>
        <p:spPr>
          <a:xfrm>
            <a:off x="819150" y="1859161"/>
            <a:ext cx="59309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33" name="Box 32"/>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34" name="Box 33"/>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35" name="Box 34"/>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36" name="Text 35"/>
          <p:cNvSpPr txBox="1"/>
          <p:nvPr/>
        </p:nvSpPr>
        <p:spPr>
          <a:xfrm>
            <a:off x="4880582" y="1919359"/>
            <a:ext cx="174246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سجل الأدلة · ‎ECC-2:2024‎</a:t>
            </a:r>
          </a:p>
        </p:txBody>
      </p:sp>
      <p:graphicFrame>
        <p:nvGraphicFramePr>
          <p:cNvPr id="37" name="Table 36"/>
          <p:cNvGraphicFramePr>
            <a:graphicFrameLocks noGrp="1"/>
          </p:cNvGraphicFramePr>
          <p:nvPr/>
        </p:nvGraphicFramePr>
        <p:xfrm>
          <a:off x="962025" y="2339777"/>
          <a:ext cx="5645150" cy="2939951"/>
        </p:xfrm>
        <a:graphic>
          <a:graphicData uri="http://schemas.openxmlformats.org/drawingml/2006/table">
            <a:tbl>
              <a:tblPr firstRow="0" bandRow="0" lastRow="0" firstCol="0" lastCol="0" bandCol="0">
                <a:tableStyleId>{2D5ABB26-0587-4C30-8999-92F81FD0307C}</a:tableStyleId>
              </a:tblPr>
              <a:tblGrid>
                <a:gridCol w="1072515"/>
                <a:gridCol w="1129030"/>
                <a:gridCol w="959485"/>
                <a:gridCol w="1524000"/>
                <a:gridCol w="96012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التاريخ</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المالك</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الدليل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524272">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معتمد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2026-02-10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الحوكمة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محضر اعتماد حزمة السياسات</a:t>
                      </a:r>
                    </a:p>
                  </a:txBody>
                  <a:tcPr marT="64237" marR="91440" marB="42443" marL="51203"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524272">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فجوة · 22 من 37</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2026-09-30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الهويات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مطابقة الحسابات المميزة بالإلزام</a:t>
                      </a:r>
                    </a:p>
                  </a:txBody>
                  <a:tcPr marT="64237" marR="91440" marB="42443" marL="51203"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2-2-3-2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524272">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ناقص · 4 من 9 حرجة</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2026-09-21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البنية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محاضر اختبار الاستعادة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2-9-3-3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524272">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سليم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2026-08-14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العمليات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إعداد الاحتفاظ بالسجلات</a:t>
                      </a:r>
                    </a:p>
                  </a:txBody>
                  <a:tcPr marT="64237" marR="91440" marB="42443" marL="51203"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2-12-3-5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524272">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متأخر · يحتاج تحديث</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2025-11-03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المشتريات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عينة عقود بملحق الأمن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4-1-2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38" name="Text 37"/>
          <p:cNvSpPr txBox="1"/>
          <p:nvPr/>
        </p:nvSpPr>
        <p:spPr>
          <a:xfrm>
            <a:off x="337312" y="5481530"/>
            <a:ext cx="641908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39" name="Text 3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40" name="Box 3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1" name="Box 4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2" name="Box 41"/>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43" name="Box 42"/>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4" name="Box 43"/>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5" name="Box 4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Box 4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Box 4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Text 4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226352" y="812800"/>
            <a:ext cx="215284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تمرين 3 · مجموعات · 20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رتّب المبادرات الثماني في ثلاث موجات</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جهة حكومية تبدأ تطبيق ECC من الصفر. ضع كل مبادرة في موجة، واذكر ما تعتمد عليه.</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5557421" y="2975370"/>
            <a:ext cx="264259"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ب</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تشكيل اللجنة الإشرافية للأمن السيبراني</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10974467" y="2975370"/>
            <a:ext cx="148967"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أ</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شراء نظام لتشفير البيانات المخزنة</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5589568" y="3686570"/>
            <a:ext cx="199965"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د</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تفعيل التحقق متعدد العوامل للدخول عن بعد</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0B6F7C"/>
          </a:solidFill>
          <a:ln>
            <a:noFill/>
          </a:ln>
        </p:spPr>
        <p:txBody>
          <a:bodyPr rtlCol="0" anchor="ctr"/>
          <a:lstStyle/>
          <a:p>
            <a:pPr algn="ctr"/>
          </a:p>
        </p:txBody>
      </p:sp>
      <p:sp>
        <p:nvSpPr>
          <p:cNvPr id="23" name="Text 22"/>
          <p:cNvSpPr txBox="1"/>
          <p:nvPr/>
        </p:nvSpPr>
        <p:spPr>
          <a:xfrm>
            <a:off x="10938550" y="36865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ج</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حصر الأصول المعلوماتية والتقنية وتصنيفها</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5591254" y="4397770"/>
            <a:ext cx="19669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و</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اعتماد منهجية إدارة مخاطر الأمن السيبراني</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10915650" y="4397770"/>
            <a:ext cx="266700"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هـ</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التعاقد مع مركز عمليات أمنية مُدار</a:t>
            </a:r>
          </a:p>
        </p:txBody>
      </p:sp>
      <p:sp>
        <p:nvSpPr>
          <p:cNvPr id="33" name="Box 32"/>
          <p:cNvSpPr/>
          <p:nvPr/>
        </p:nvSpPr>
        <p:spPr>
          <a:xfrm>
            <a:off x="8159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4" name="Box 33"/>
          <p:cNvSpPr/>
          <p:nvPr/>
        </p:nvSpPr>
        <p:spPr>
          <a:xfrm>
            <a:off x="5530850" y="5021461"/>
            <a:ext cx="317500" cy="317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5579150" y="5108970"/>
            <a:ext cx="220801"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ح</a:t>
            </a:r>
          </a:p>
        </p:txBody>
      </p:sp>
      <p:sp>
        <p:nvSpPr>
          <p:cNvPr id="36" name="Text 35"/>
          <p:cNvSpPr txBox="1"/>
          <p:nvPr/>
        </p:nvSpPr>
        <p:spPr>
          <a:xfrm>
            <a:off x="8382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أول مراجعة مستقلة لتطبيق الضوابط</a:t>
            </a:r>
          </a:p>
        </p:txBody>
      </p:sp>
      <p:sp>
        <p:nvSpPr>
          <p:cNvPr id="37" name="Box 36"/>
          <p:cNvSpPr/>
          <p:nvPr/>
        </p:nvSpPr>
        <p:spPr>
          <a:xfrm>
            <a:off x="61753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8" name="Box 37"/>
          <p:cNvSpPr/>
          <p:nvPr/>
        </p:nvSpPr>
        <p:spPr>
          <a:xfrm>
            <a:off x="10890250" y="5021461"/>
            <a:ext cx="317500" cy="317500"/>
          </a:xfrm>
          <a:prstGeom prst="roundRect">
            <a:avLst>
              <a:gd name="adj" fmla="val 50000"/>
            </a:avLst>
          </a:prstGeom>
          <a:solidFill>
            <a:srgbClr val="0B6F7C"/>
          </a:solidFill>
          <a:ln>
            <a:noFill/>
          </a:ln>
        </p:spPr>
        <p:txBody>
          <a:bodyPr rtlCol="0" anchor="ctr"/>
          <a:lstStyle/>
          <a:p>
            <a:pPr algn="ctr"/>
          </a:p>
        </p:txBody>
      </p:sp>
      <p:sp>
        <p:nvSpPr>
          <p:cNvPr id="39" name="Text 38"/>
          <p:cNvSpPr txBox="1"/>
          <p:nvPr/>
        </p:nvSpPr>
        <p:spPr>
          <a:xfrm>
            <a:off x="10971391" y="5108970"/>
            <a:ext cx="155218" cy="165100"/>
          </a:xfrm>
          <a:prstGeom prst="rect">
            <a:avLst/>
          </a:prstGeom>
          <a:noFill/>
        </p:spPr>
        <p:txBody>
          <a:bodyPr wrap="square" tIns="0" rIns="0" bIns="0" lIns="0" anchor="t" rtlCol="0" anchorCtr="0">
            <a:noAutofit/>
          </a:bodyPr>
          <a:lstStyle/>
          <a:p>
            <a:pPr algn="ctr" rtl="1">
              <a:lnSpc>
                <a:spcPts val="1300"/>
              </a:lnSpc>
              <a:spcBef>
                <a:spcPts val="0"/>
              </a:spcBef>
              <a:spcAft>
                <a:spcPts val="0"/>
              </a:spcAft>
            </a:pPr>
            <a:r>
              <a:rPr sz="1300" b="1" i="0">
                <a:solidFill>
                  <a:srgbClr val="F2EEE6"/>
                </a:solidFill>
                <a:latin typeface="Alexandria"/>
                <a:ea typeface="Alexandria"/>
                <a:cs typeface="Alexandria"/>
              </a:rPr>
              <a:t>ز</a:t>
            </a:r>
          </a:p>
        </p:txBody>
      </p:sp>
      <p:sp>
        <p:nvSpPr>
          <p:cNvPr id="40" name="Text 39"/>
          <p:cNvSpPr txBox="1"/>
          <p:nvPr/>
        </p:nvSpPr>
        <p:spPr>
          <a:xfrm>
            <a:off x="61976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تشغيل نظام إدارة الأحداث (SIEM)</a:t>
            </a:r>
          </a:p>
        </p:txBody>
      </p:sp>
      <p:sp>
        <p:nvSpPr>
          <p:cNvPr id="41" name="Text 4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42" name="Box 4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3" name="Box 4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45" name="Box 44"/>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46" name="Box 4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Box 4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Text 5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حل التمرين 3</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ترتيب مقترح ومبرراته</a:t>
            </a:r>
          </a:p>
        </p:txBody>
      </p:sp>
      <p:graphicFrame>
        <p:nvGraphicFramePr>
          <p:cNvPr id="5" name="Table 4"/>
          <p:cNvGraphicFramePr>
            <a:graphicFrameLocks noGrp="1"/>
          </p:cNvGraphicFramePr>
          <p:nvPr/>
        </p:nvGraphicFramePr>
        <p:xfrm>
          <a:off x="815975" y="1855986"/>
          <a:ext cx="10560050" cy="3004839"/>
        </p:xfrm>
        <a:graphic>
          <a:graphicData uri="http://schemas.openxmlformats.org/drawingml/2006/table">
            <a:tbl>
              <a:tblPr firstRow="0" bandRow="0" lastRow="0" firstCol="0" lastCol="0" bandCol="0">
                <a:tableStyleId>{2D5ABB26-0587-4C30-8999-92F81FD0307C}</a:tableStyleId>
              </a:tblPr>
              <a:tblGrid>
                <a:gridCol w="5491480"/>
                <a:gridCol w="1478280"/>
                <a:gridCol w="359029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تعتمد على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الموجة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المبادرة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قرار صاحب الصلاحية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 · اللجنة الإشرافية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لا شيء؛ مكسب سريع يخفض خطراً حقيقياً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د · التحقق متعدد العوامل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الأدوار وملاك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 · حصر الأصول وتصنيفها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الإدارة واللجنة لاعتمادها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و · منهجية المخاطر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معرفة الأصول الحساسة (ج) لتحديد ما يُراقب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ز · نظام إدارة الأحداث</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مخاطر قبل التعاقد (و)، ومركز داخل المملكة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هـ · مركز عمليات مُدار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التصنيف (ج) والمعايير الوطنية للتشفير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 أو 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 · نظام التشفير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وجود ضوابط مطبقة تُراجع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 · المراجعة المستقلة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03 · برنامج التطبيق</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387600" y="6313190"/>
            <a:ext cx="279400" cy="63500"/>
          </a:xfrm>
          <a:prstGeom prst="roundRect">
            <a:avLst>
              <a:gd name="adj" fmla="val 50000"/>
            </a:avLst>
          </a:prstGeom>
          <a:solidFill>
            <a:srgbClr val="0B6F7C"/>
          </a:solidFill>
          <a:ln>
            <a:noFill/>
          </a:ln>
        </p:spPr>
        <p:txBody>
          <a:bodyPr rtlCol="0" anchor="ctr"/>
          <a:lstStyle/>
          <a:p>
            <a:pPr algn="ctr"/>
          </a:p>
        </p:txBody>
      </p:sp>
      <p:sp>
        <p:nvSpPr>
          <p:cNvPr id="10" name="Box 9"/>
          <p:cNvSpPr/>
          <p:nvPr/>
        </p:nvSpPr>
        <p:spPr>
          <a:xfrm>
            <a:off x="2209800" y="6313190"/>
            <a:ext cx="139700" cy="63500"/>
          </a:xfrm>
          <a:prstGeom prst="roundRect">
            <a:avLst>
              <a:gd name="adj" fmla="val 50000"/>
            </a:avLst>
          </a:prstGeom>
          <a:solidFill>
            <a:srgbClr val="DDD7C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F29A68"/>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162528" y="285750"/>
            <a:ext cx="1028105" cy="264120"/>
          </a:xfrm>
          <a:prstGeom prst="roundRect">
            <a:avLst>
              <a:gd name="adj" fmla="val 50000"/>
            </a:avLst>
          </a:prstGeom>
          <a:solidFill>
            <a:srgbClr val="F29A68"/>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04 · الحوكمة</a:t>
            </a:r>
          </a:p>
        </p:txBody>
      </p:sp>
      <p:sp>
        <p:nvSpPr>
          <p:cNvPr id="8" name="Text box 7"/>
          <p:cNvSpPr/>
          <p:nvPr/>
        </p:nvSpPr>
        <p:spPr>
          <a:xfrm>
            <a:off x="7709297" y="282575"/>
            <a:ext cx="386556"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251502"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801346"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6343551"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886053"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50920" y="899795"/>
            <a:ext cx="242828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F29A68"/>
                </a:solidFill>
                <a:latin typeface="Alexandria"/>
                <a:ea typeface="Alexandria"/>
                <a:cs typeface="Alexandria"/>
              </a:rPr>
              <a:t>04</a:t>
            </a:r>
          </a:p>
        </p:txBody>
      </p:sp>
      <p:sp>
        <p:nvSpPr>
          <p:cNvPr id="14" name="Text 13"/>
          <p:cNvSpPr txBox="1"/>
          <p:nvPr/>
        </p:nvSpPr>
        <p:spPr>
          <a:xfrm>
            <a:off x="125174" y="1000629"/>
            <a:ext cx="92829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F29A68"/>
                </a:solidFill>
                <a:latin typeface="IBM Plex Sans Arabic"/>
                <a:ea typeface="IBM Plex Sans Arabic"/>
                <a:cs typeface="IBM Plex Sans Arabic"/>
              </a:rPr>
              <a:t>الوحدة 04 · المكون الأساسي 1</a:t>
            </a:r>
          </a:p>
        </p:txBody>
      </p:sp>
      <p:sp>
        <p:nvSpPr>
          <p:cNvPr id="15" name="Text 14"/>
          <p:cNvSpPr txBox="1"/>
          <p:nvPr/>
        </p:nvSpPr>
        <p:spPr>
          <a:xfrm>
            <a:off x="125174" y="1342898"/>
            <a:ext cx="9282946"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حوكمة الأمن السيبراني</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من يقرر، ومن ينفذ، ومن يراجع: الاستراتيجية والإدارة والسياسات والأدوار والمخاطر والموظفون والتوعية.</a:t>
            </a:r>
          </a:p>
        </p:txBody>
      </p:sp>
      <p:sp>
        <p:nvSpPr>
          <p:cNvPr id="17" name="Rule 16"/>
          <p:cNvSpPr/>
          <p:nvPr/>
        </p:nvSpPr>
        <p:spPr>
          <a:xfrm>
            <a:off x="812800" y="400714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091666"/>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1-2</a:t>
            </a:r>
          </a:p>
        </p:txBody>
      </p:sp>
      <p:sp>
        <p:nvSpPr>
          <p:cNvPr id="19" name="Text 18"/>
          <p:cNvSpPr txBox="1"/>
          <p:nvPr/>
        </p:nvSpPr>
        <p:spPr>
          <a:xfrm>
            <a:off x="1306663" y="4076807"/>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إدارة الأمن السيبراني</a:t>
            </a:r>
          </a:p>
        </p:txBody>
      </p:sp>
      <p:sp>
        <p:nvSpPr>
          <p:cNvPr id="20" name="Text 19"/>
          <p:cNvSpPr txBox="1"/>
          <p:nvPr/>
        </p:nvSpPr>
        <p:spPr>
          <a:xfrm>
            <a:off x="812800" y="409147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45</a:t>
            </a:r>
          </a:p>
        </p:txBody>
      </p:sp>
      <p:sp>
        <p:nvSpPr>
          <p:cNvPr id="21" name="Rule 20"/>
          <p:cNvSpPr/>
          <p:nvPr/>
        </p:nvSpPr>
        <p:spPr>
          <a:xfrm>
            <a:off x="6248400" y="400714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091666"/>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1-1</a:t>
            </a:r>
          </a:p>
        </p:txBody>
      </p:sp>
      <p:sp>
        <p:nvSpPr>
          <p:cNvPr id="23" name="Text 22"/>
          <p:cNvSpPr txBox="1"/>
          <p:nvPr/>
        </p:nvSpPr>
        <p:spPr>
          <a:xfrm>
            <a:off x="6742263" y="4076807"/>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الاستراتيجية</a:t>
            </a:r>
          </a:p>
        </p:txBody>
      </p:sp>
      <p:sp>
        <p:nvSpPr>
          <p:cNvPr id="24" name="Text 23"/>
          <p:cNvSpPr txBox="1"/>
          <p:nvPr/>
        </p:nvSpPr>
        <p:spPr>
          <a:xfrm>
            <a:off x="6248400" y="409147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43</a:t>
            </a:r>
          </a:p>
        </p:txBody>
      </p:sp>
      <p:sp>
        <p:nvSpPr>
          <p:cNvPr id="25" name="Rule 24"/>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1-4</a:t>
            </a:r>
          </a:p>
        </p:txBody>
      </p:sp>
      <p:sp>
        <p:nvSpPr>
          <p:cNvPr id="27" name="Text 26"/>
          <p:cNvSpPr txBox="1"/>
          <p:nvPr/>
        </p:nvSpPr>
        <p:spPr>
          <a:xfrm>
            <a:off x="13066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الأدوار والمسؤوليات</a:t>
            </a:r>
          </a:p>
        </p:txBody>
      </p:sp>
      <p:sp>
        <p:nvSpPr>
          <p:cNvPr id="28" name="Text 27"/>
          <p:cNvSpPr txBox="1"/>
          <p:nvPr/>
        </p:nvSpPr>
        <p:spPr>
          <a:xfrm>
            <a:off x="8128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51</a:t>
            </a:r>
          </a:p>
        </p:txBody>
      </p:sp>
      <p:sp>
        <p:nvSpPr>
          <p:cNvPr id="29" name="Rule 28"/>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1-3</a:t>
            </a:r>
          </a:p>
        </p:txBody>
      </p:sp>
      <p:sp>
        <p:nvSpPr>
          <p:cNvPr id="31" name="Text 30"/>
          <p:cNvSpPr txBox="1"/>
          <p:nvPr/>
        </p:nvSpPr>
        <p:spPr>
          <a:xfrm>
            <a:off x="67422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السياسات والإجراءات</a:t>
            </a:r>
          </a:p>
        </p:txBody>
      </p:sp>
      <p:sp>
        <p:nvSpPr>
          <p:cNvPr id="32" name="Text 31"/>
          <p:cNvSpPr txBox="1"/>
          <p:nvPr/>
        </p:nvSpPr>
        <p:spPr>
          <a:xfrm>
            <a:off x="62484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48</a:t>
            </a:r>
          </a:p>
        </p:txBody>
      </p:sp>
      <p:sp>
        <p:nvSpPr>
          <p:cNvPr id="33" name="Rule 32"/>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1-6</a:t>
            </a:r>
          </a:p>
        </p:txBody>
      </p:sp>
      <p:sp>
        <p:nvSpPr>
          <p:cNvPr id="35" name="Text 34"/>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الأمن في المشاريع</a:t>
            </a:r>
          </a:p>
        </p:txBody>
      </p:sp>
      <p:sp>
        <p:nvSpPr>
          <p:cNvPr id="36" name="Text 35"/>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57</a:t>
            </a:r>
          </a:p>
        </p:txBody>
      </p:sp>
      <p:sp>
        <p:nvSpPr>
          <p:cNvPr id="37" name="Rule 36"/>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1-5</a:t>
            </a:r>
          </a:p>
        </p:txBody>
      </p:sp>
      <p:sp>
        <p:nvSpPr>
          <p:cNvPr id="39" name="Text 38"/>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إدارة المخاطر</a:t>
            </a:r>
          </a:p>
        </p:txBody>
      </p:sp>
      <p:sp>
        <p:nvSpPr>
          <p:cNvPr id="40" name="Text 39"/>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53</a:t>
            </a:r>
          </a:p>
        </p:txBody>
      </p:sp>
      <p:sp>
        <p:nvSpPr>
          <p:cNvPr id="41" name="Rule 40"/>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1-8</a:t>
            </a:r>
          </a:p>
        </p:txBody>
      </p:sp>
      <p:sp>
        <p:nvSpPr>
          <p:cNvPr id="43" name="Text 42"/>
          <p:cNvSpPr txBox="1"/>
          <p:nvPr/>
        </p:nvSpPr>
        <p:spPr>
          <a:xfrm>
            <a:off x="13066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المراجعة والتدقيق</a:t>
            </a:r>
          </a:p>
        </p:txBody>
      </p:sp>
      <p:sp>
        <p:nvSpPr>
          <p:cNvPr id="44" name="Text 43"/>
          <p:cNvSpPr txBox="1"/>
          <p:nvPr/>
        </p:nvSpPr>
        <p:spPr>
          <a:xfrm>
            <a:off x="8128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63</a:t>
            </a:r>
          </a:p>
        </p:txBody>
      </p:sp>
      <p:sp>
        <p:nvSpPr>
          <p:cNvPr id="45" name="Rule 44"/>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46" name="Text 45"/>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1-7</a:t>
            </a:r>
          </a:p>
        </p:txBody>
      </p:sp>
      <p:sp>
        <p:nvSpPr>
          <p:cNvPr id="47" name="Text 46"/>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الالتزام بالتشريعات</a:t>
            </a:r>
          </a:p>
        </p:txBody>
      </p:sp>
      <p:sp>
        <p:nvSpPr>
          <p:cNvPr id="48" name="Text 47"/>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61</a:t>
            </a:r>
          </a:p>
        </p:txBody>
      </p:sp>
      <p:sp>
        <p:nvSpPr>
          <p:cNvPr id="49" name="Rule 48"/>
          <p:cNvSpPr/>
          <p:nvPr/>
        </p:nvSpPr>
        <p:spPr>
          <a:xfrm>
            <a:off x="812800" y="5718870"/>
            <a:ext cx="5130800" cy="6350"/>
          </a:xfrm>
          <a:prstGeom prst="rect">
            <a:avLst/>
          </a:prstGeom>
          <a:solidFill>
            <a:srgbClr val="F2EEE6">
              <a:alpha val="16000"/>
            </a:srgbClr>
          </a:solidFill>
          <a:ln>
            <a:noFill/>
          </a:ln>
        </p:spPr>
        <p:txBody>
          <a:bodyPr rtlCol="0" anchor="ctr"/>
          <a:lstStyle/>
          <a:p>
            <a:pPr algn="ctr"/>
          </a:p>
        </p:txBody>
      </p:sp>
      <p:sp>
        <p:nvSpPr>
          <p:cNvPr id="50" name="Text 49"/>
          <p:cNvSpPr txBox="1"/>
          <p:nvPr/>
        </p:nvSpPr>
        <p:spPr>
          <a:xfrm>
            <a:off x="51460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1-10</a:t>
            </a:r>
          </a:p>
        </p:txBody>
      </p:sp>
      <p:sp>
        <p:nvSpPr>
          <p:cNvPr id="51" name="Text 50"/>
          <p:cNvSpPr txBox="1"/>
          <p:nvPr/>
        </p:nvSpPr>
        <p:spPr>
          <a:xfrm>
            <a:off x="13066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التوعية والتدريب</a:t>
            </a:r>
          </a:p>
        </p:txBody>
      </p:sp>
      <p:sp>
        <p:nvSpPr>
          <p:cNvPr id="52" name="Text 51"/>
          <p:cNvSpPr txBox="1"/>
          <p:nvPr/>
        </p:nvSpPr>
        <p:spPr>
          <a:xfrm>
            <a:off x="8128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70</a:t>
            </a:r>
          </a:p>
        </p:txBody>
      </p:sp>
      <p:sp>
        <p:nvSpPr>
          <p:cNvPr id="53" name="Rule 52"/>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54" name="Text 53"/>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F29A68"/>
                </a:solidFill>
                <a:latin typeface="IBM Plex Mono"/>
                <a:ea typeface="IBM Plex Mono"/>
                <a:cs typeface="IBM Plex Mono"/>
              </a:rPr>
              <a:t>1-9</a:t>
            </a:r>
          </a:p>
        </p:txBody>
      </p:sp>
      <p:sp>
        <p:nvSpPr>
          <p:cNvPr id="55" name="Text 54"/>
          <p:cNvSpPr txBox="1"/>
          <p:nvPr/>
        </p:nvSpPr>
        <p:spPr>
          <a:xfrm>
            <a:off x="6742263" y="578852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الموارد البشرية</a:t>
            </a:r>
          </a:p>
        </p:txBody>
      </p:sp>
      <p:sp>
        <p:nvSpPr>
          <p:cNvPr id="56" name="Text 55"/>
          <p:cNvSpPr txBox="1"/>
          <p:nvPr/>
        </p:nvSpPr>
        <p:spPr>
          <a:xfrm>
            <a:off x="6248400" y="5803198"/>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65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1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‎1-1‎ استراتيجية الأمن السيبراني</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أن تسهم خطط الجهة وأهدافها ومبادراتها ومشاريعها في الالتزام بالمتطلبات التشريعية والتنظيمية ذات العلاقة.</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9.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مبادرات متفرقة بلا أولويات ولا ميزانية واضحة، ولا تعرف الإدارة هل يتقدم الأمن السيبراني أم يتراجع.</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30.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خطة سفر: الوجهة، والطريق، والميزانية، ومحطات التوقف. بلا خطة تتحرك الفرق في اتجاهات مختلفة.</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31.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خطة عليا لعدة سنوات تحدد إلى أين تريد الجهة أن تصل في الأمن السيبراني، وما المبادرات والميزانية التي توصلها، وكيف تقيس التقدم.</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صاحب الصلاحية</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رئيس الجهة أو من يفوضه، وهو من يعتمد</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خطة العمل</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المبادرات بمالك وموعد وميزانية</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المؤشر</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رقم يقيس التقدم نحو الهدف</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77251" y="812800"/>
            <a:ext cx="210194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 · استراتيجية الأمن السيبراني</a:t>
            </a:r>
          </a:p>
        </p:txBody>
      </p:sp>
      <p:sp>
        <p:nvSpPr>
          <p:cNvPr id="4" name="Text 3"/>
          <p:cNvSpPr txBox="1"/>
          <p:nvPr/>
        </p:nvSpPr>
        <p:spPr>
          <a:xfrm>
            <a:off x="789079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استراتيجية الأمن السيبراني: الضوابط الثلاثة</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الاستراتيجية بتوقيع الاعتماد وتاريخه، وجدول مواءمة الأهداف مع المتطلبات</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صُغ رؤية وأهدافاً لثلاث سنوات من نتائج تقييم الفجوات والمخاطر، واربط كل هدف بمتطلب نظامي</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الاستراتيجية وتوثيقها واعتمادها بدعم صاحب الصلاحية، ومواءمتها مع المتطلبات</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3" name="Box 32"/>
          <p:cNvSpPr/>
          <p:nvPr/>
        </p:nvSpPr>
        <p:spPr>
          <a:xfrm>
            <a:off x="812800" y="3047702"/>
            <a:ext cx="3051969" cy="651470"/>
          </a:xfrm>
          <a:prstGeom prst="rect">
            <a:avLst/>
          </a:prstGeom>
          <a:solidFill>
            <a:srgbClr val="F6E6DC"/>
          </a:solidFill>
          <a:ln>
            <a:noFill/>
          </a:ln>
        </p:spPr>
        <p:txBody>
          <a:bodyPr rtlCol="0" anchor="ctr"/>
          <a:lstStyle/>
          <a:p>
            <a:pPr algn="ctr"/>
          </a:p>
        </p:txBody>
      </p:sp>
      <p:sp>
        <p:nvSpPr>
          <p:cNvPr id="34" name="Rule 33"/>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خطة العمل المعتمدة، وتقارير المتابعة، ومحاضر اللجنة الإشرافية</a:t>
            </a:r>
          </a:p>
        </p:txBody>
      </p:sp>
      <p:sp>
        <p:nvSpPr>
          <p:cNvPr id="36" name="Rule 35"/>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حوّل كل هدف إلى مبادرات بمالك وميزانية وموعد ومؤشر، وتابعها في اللجنة</a:t>
            </a:r>
          </a:p>
        </p:txBody>
      </p:sp>
      <p:sp>
        <p:nvSpPr>
          <p:cNvPr id="38" name="Rule 37"/>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تنفيذ خطة عمل لتطبيق الاستراتيجية</a:t>
            </a:r>
          </a:p>
        </p:txBody>
      </p:sp>
      <p:sp>
        <p:nvSpPr>
          <p:cNvPr id="40" name="Rule 39"/>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1-1-2</a:t>
            </a:r>
          </a:p>
        </p:txBody>
      </p:sp>
      <p:sp>
        <p:nvSpPr>
          <p:cNvPr id="42" name="Text 41"/>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3" name="Box 42"/>
          <p:cNvSpPr/>
          <p:nvPr/>
        </p:nvSpPr>
        <p:spPr>
          <a:xfrm>
            <a:off x="812800" y="3699173"/>
            <a:ext cx="3051969" cy="835521"/>
          </a:xfrm>
          <a:prstGeom prst="rect">
            <a:avLst/>
          </a:prstGeom>
          <a:solidFill>
            <a:srgbClr val="F6E6DC"/>
          </a:solidFill>
          <a:ln>
            <a:noFill/>
          </a:ln>
        </p:spPr>
        <p:txBody>
          <a:bodyPr rtlCol="0" anchor="ctr"/>
          <a:lstStyle/>
          <a:p>
            <a:pPr algn="ctr"/>
          </a:p>
        </p:txBody>
      </p:sp>
      <p:sp>
        <p:nvSpPr>
          <p:cNvPr id="44" name="Rule 43"/>
          <p:cNvSpPr/>
          <p:nvPr/>
        </p:nvSpPr>
        <p:spPr>
          <a:xfrm>
            <a:off x="812800" y="4528344"/>
            <a:ext cx="3051969" cy="6350"/>
          </a:xfrm>
          <a:prstGeom prst="rect">
            <a:avLst/>
          </a:prstGeom>
          <a:solidFill>
            <a:srgbClr val="DDD7CA"/>
          </a:solidFill>
          <a:ln>
            <a:noFill/>
          </a:ln>
        </p:spPr>
        <p:txBody>
          <a:bodyPr rtlCol="0" anchor="ctr"/>
          <a:lstStyle/>
          <a:p>
            <a:pPr algn="ctr"/>
          </a:p>
        </p:txBody>
      </p:sp>
      <p:sp>
        <p:nvSpPr>
          <p:cNvPr id="45" name="Text 44"/>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محضر مراجعة مؤرخ، وسجل تغييرات الوثيقة</a:t>
            </a:r>
          </a:p>
        </p:txBody>
      </p:sp>
      <p:sp>
        <p:nvSpPr>
          <p:cNvPr id="46" name="Rule 45"/>
          <p:cNvSpPr/>
          <p:nvPr/>
        </p:nvSpPr>
        <p:spPr>
          <a:xfrm>
            <a:off x="3864769" y="4528344"/>
            <a:ext cx="3509863" cy="6350"/>
          </a:xfrm>
          <a:prstGeom prst="rect">
            <a:avLst/>
          </a:prstGeom>
          <a:solidFill>
            <a:srgbClr val="DDD7CA"/>
          </a:solidFill>
          <a:ln>
            <a:noFill/>
          </a:ln>
        </p:spPr>
        <p:txBody>
          <a:bodyPr rtlCol="0" anchor="ctr"/>
          <a:lstStyle/>
          <a:p>
            <a:pPr algn="ctr"/>
          </a:p>
        </p:txBody>
      </p:sp>
      <p:sp>
        <p:nvSpPr>
          <p:cNvPr id="47" name="Text 46"/>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حدّد موعد المراجعة في الوثيقة نفسها، وأضف محفزاً عند صدور تنظيم جديد</a:t>
            </a:r>
          </a:p>
        </p:txBody>
      </p:sp>
      <p:sp>
        <p:nvSpPr>
          <p:cNvPr id="48" name="Rule 47"/>
          <p:cNvSpPr/>
          <p:nvPr/>
        </p:nvSpPr>
        <p:spPr>
          <a:xfrm>
            <a:off x="7374632" y="4528344"/>
            <a:ext cx="3052068" cy="6350"/>
          </a:xfrm>
          <a:prstGeom prst="rect">
            <a:avLst/>
          </a:prstGeom>
          <a:solidFill>
            <a:srgbClr val="DDD7CA"/>
          </a:solidFill>
          <a:ln>
            <a:noFill/>
          </a:ln>
        </p:spPr>
        <p:txBody>
          <a:bodyPr rtlCol="0" anchor="ctr"/>
          <a:lstStyle/>
          <a:p>
            <a:pPr algn="ctr"/>
          </a:p>
        </p:txBody>
      </p:sp>
      <p:sp>
        <p:nvSpPr>
          <p:cNvPr id="49" name="Text 48"/>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الاستراتيجية على فترات مخطط لها أو عند تغير المتطلبات</a:t>
            </a:r>
          </a:p>
        </p:txBody>
      </p:sp>
      <p:sp>
        <p:nvSpPr>
          <p:cNvPr id="50" name="Rule 49"/>
          <p:cNvSpPr/>
          <p:nvPr/>
        </p:nvSpPr>
        <p:spPr>
          <a:xfrm>
            <a:off x="10426700" y="4528344"/>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1-1-3</a:t>
            </a:r>
          </a:p>
        </p:txBody>
      </p:sp>
      <p:sp>
        <p:nvSpPr>
          <p:cNvPr id="52" name="Text 51"/>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3" name="Box 52"/>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4" name="Box 53"/>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55" name="Icon Warning 54" descr="icon032.png"/>
          <p:cNvPicPr>
            <a:picLocks noChangeAspect="1"/>
          </p:cNvPicPr>
          <p:nvPr/>
        </p:nvPicPr>
        <p:blipFill>
          <a:blip r:embed="rId3"/>
          <a:stretch>
            <a:fillRect/>
          </a:stretch>
        </p:blipFill>
        <p:spPr>
          <a:xfrm>
            <a:off x="10864850" y="5329932"/>
            <a:ext cx="215900" cy="215900"/>
          </a:xfrm>
          <a:prstGeom prst="rect">
            <a:avLst/>
          </a:prstGeom>
        </p:spPr>
      </p:pic>
      <p:sp>
        <p:nvSpPr>
          <p:cNvPr id="56" name="Text 55"/>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خطأ شائع</a:t>
            </a:r>
          </a:p>
        </p:txBody>
      </p:sp>
      <p:sp>
        <p:nvSpPr>
          <p:cNvPr id="57" name="Text 56"/>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استراتيجية عامة منقولة بلا أهداف خاصة بالجهة ولا ميزانية ولا مؤشرات، تُعتمد ثم لا تُنفذ؛ فتسقط في ‎1-1-2‎.</a:t>
            </a:r>
          </a:p>
        </p:txBody>
      </p:sp>
      <p:sp>
        <p:nvSpPr>
          <p:cNvPr id="58" name="Text 5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9" name="Box 5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63" name="Box 6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4" name="Box 6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5" name="Box 6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Box 6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Text 6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2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‎1-2‎ إدارة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التزام صاحب الصلاحية ودعمه لتطبيق برامج الأمن السيبراني وإدارتها في الجهة.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تقنية المعلومات تراقب نفسها، فتتأخر المعالجات حين تتعارض مع أولويات التشغيل، ولا يصل صوت الأمن إلى الإدارة العليا.</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3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المراجع الداخلي في الشركة: لا يتبع الإدارة التي يراجع عليها، حتى يقول الحقيقة دون حرج.</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3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إدارة متخصصة للأمن السيبراني، مستقلة عن تقنية المعلومات، يشغلها سعوديون متفرغون ومؤهلون، ومعها لجنة إشرافية تتابع العمل.</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الاستقلال</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ألا تتبع الإدارة إدارة تقنية المعلومات</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اللجنة الإشرافية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لجنة عليا تدعم البرنامج وتتابعه</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التوطين</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وظائف بسعوديين متفرغين ومؤهلين</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616480" y="812800"/>
            <a:ext cx="1762720"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‎1-2‎ · إدارة الأمن السيبراني</a:t>
            </a:r>
          </a:p>
        </p:txBody>
      </p:sp>
      <p:sp>
        <p:nvSpPr>
          <p:cNvPr id="4" name="Text 3"/>
          <p:cNvSpPr txBox="1"/>
          <p:nvPr/>
        </p:nvSpPr>
        <p:spPr>
          <a:xfrm>
            <a:off x="8230021"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إدارة الأمن السيبراني: ثلاثة متطلبات وطنية</a:t>
            </a:r>
          </a:p>
        </p:txBody>
      </p:sp>
      <p:sp>
        <p:nvSpPr>
          <p:cNvPr id="20" name="Rule 19"/>
          <p:cNvSpPr/>
          <p:nvPr/>
        </p:nvSpPr>
        <p:spPr>
          <a:xfrm>
            <a:off x="812800" y="2193131"/>
            <a:ext cx="2746772"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A6461A"/>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A6461A"/>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القرار الإداري، والهيكل التنظيمي المعتمد يُظهر الاستقلال وخط الارتباط</a:t>
            </a:r>
          </a:p>
        </p:txBody>
      </p:sp>
      <p:sp>
        <p:nvSpPr>
          <p:cNvPr id="31" name="Rule 30"/>
          <p:cNvSpPr/>
          <p:nvPr/>
        </p:nvSpPr>
        <p:spPr>
          <a:xfrm>
            <a:off x="3559572" y="304135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قرار بإنشاء الإدارة وتحديد ارتباطها، ويوصى بارتباطها برئيس الجهة أو من يفوضه دون تعارض مصالح</a:t>
            </a:r>
          </a:p>
        </p:txBody>
      </p:sp>
      <p:sp>
        <p:nvSpPr>
          <p:cNvPr id="33" name="Rule 32"/>
          <p:cNvSpPr/>
          <p:nvPr/>
        </p:nvSpPr>
        <p:spPr>
          <a:xfrm>
            <a:off x="6764238" y="304135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للأمن السيبراني مستقلة عن تقنية المعلومات والاتصالات (الأمر السامي 37140)</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1-2-1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متطلب وطني</a:t>
            </a:r>
          </a:p>
        </p:txBody>
      </p:sp>
      <p:sp>
        <p:nvSpPr>
          <p:cNvPr id="38" name="Box 37"/>
          <p:cNvSpPr/>
          <p:nvPr/>
        </p:nvSpPr>
        <p:spPr>
          <a:xfrm>
            <a:off x="812800" y="3047702"/>
            <a:ext cx="2746772" cy="835521"/>
          </a:xfrm>
          <a:prstGeom prst="rect">
            <a:avLst/>
          </a:prstGeom>
          <a:solidFill>
            <a:srgbClr val="F6E6DC"/>
          </a:solidFill>
          <a:ln>
            <a:noFill/>
          </a:ln>
        </p:spPr>
        <p:txBody>
          <a:bodyPr rtlCol="0" anchor="ctr"/>
          <a:lstStyle/>
          <a:p>
            <a:pPr algn="ctr"/>
          </a:p>
        </p:txBody>
      </p:sp>
      <p:sp>
        <p:nvSpPr>
          <p:cNvPr id="39" name="Rule 38"/>
          <p:cNvSpPr/>
          <p:nvPr/>
        </p:nvSpPr>
        <p:spPr>
          <a:xfrm>
            <a:off x="812800" y="3876873"/>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312187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الوظائف وشاغليها: الجنسية والتفرغ والمؤهلات، وخطة سد الشواغر</a:t>
            </a:r>
          </a:p>
        </p:txBody>
      </p:sp>
      <p:sp>
        <p:nvSpPr>
          <p:cNvPr id="41" name="Rule 40"/>
          <p:cNvSpPr/>
          <p:nvPr/>
        </p:nvSpPr>
        <p:spPr>
          <a:xfrm>
            <a:off x="3559572" y="3876873"/>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312187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حصر كل وظائف الأمن السيبراني، وخطة توطين وتأهيل لكل وظيفة لا تحقق الشرط</a:t>
            </a:r>
          </a:p>
        </p:txBody>
      </p:sp>
      <p:sp>
        <p:nvSpPr>
          <p:cNvPr id="43" name="Rule 42"/>
          <p:cNvSpPr/>
          <p:nvPr/>
        </p:nvSpPr>
        <p:spPr>
          <a:xfrm>
            <a:off x="6764238" y="3876873"/>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121870"/>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شغل جميع وظائف الأمن السيبراني بمواطنين متفرغين وذوي كفاءة في مجال الأمن السيبراني</a:t>
            </a:r>
          </a:p>
        </p:txBody>
      </p:sp>
      <p:sp>
        <p:nvSpPr>
          <p:cNvPr id="45" name="Rule 44"/>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1-2-2</a:t>
            </a:r>
          </a:p>
        </p:txBody>
      </p:sp>
      <p:sp>
        <p:nvSpPr>
          <p:cNvPr id="47" name="Text 46"/>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متطلب وطني</a:t>
            </a:r>
          </a:p>
        </p:txBody>
      </p:sp>
      <p:sp>
        <p:nvSpPr>
          <p:cNvPr id="48" name="Box 47"/>
          <p:cNvSpPr/>
          <p:nvPr/>
        </p:nvSpPr>
        <p:spPr>
          <a:xfrm>
            <a:off x="812800" y="3883223"/>
            <a:ext cx="2746772" cy="872430"/>
          </a:xfrm>
          <a:prstGeom prst="rect">
            <a:avLst/>
          </a:prstGeom>
          <a:solidFill>
            <a:srgbClr val="F6E6DC"/>
          </a:solidFill>
          <a:ln>
            <a:noFill/>
          </a:ln>
        </p:spPr>
        <p:txBody>
          <a:bodyPr rtlCol="0" anchor="ctr"/>
          <a:lstStyle/>
          <a:p>
            <a:pPr algn="ctr"/>
          </a:p>
        </p:txBody>
      </p:sp>
      <p:sp>
        <p:nvSpPr>
          <p:cNvPr id="49" name="Rule 48"/>
          <p:cNvSpPr/>
          <p:nvPr/>
        </p:nvSpPr>
        <p:spPr>
          <a:xfrm>
            <a:off x="812800" y="4749304"/>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3957391"/>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قرار التشكيل، والميثاق المعتمد، ومحاضر الاجتماعات وقراراتها</a:t>
            </a:r>
          </a:p>
        </p:txBody>
      </p:sp>
      <p:sp>
        <p:nvSpPr>
          <p:cNvPr id="51" name="Rule 50"/>
          <p:cNvSpPr/>
          <p:nvPr/>
        </p:nvSpPr>
        <p:spPr>
          <a:xfrm>
            <a:off x="3559572" y="4749304"/>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957391"/>
            <a:ext cx="3039186"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قرار تشكيل، وميثاق يحدد الأعضاء والصلاحيات والنصاب ودورية الاجتماع؛ ويوصى بارتباطها برئيس الجهة</a:t>
            </a:r>
          </a:p>
        </p:txBody>
      </p:sp>
      <p:sp>
        <p:nvSpPr>
          <p:cNvPr id="53" name="Rule 52"/>
          <p:cNvSpPr/>
          <p:nvPr/>
        </p:nvSpPr>
        <p:spPr>
          <a:xfrm>
            <a:off x="6764238" y="4749304"/>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957391"/>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لجنة إشرافية بأعضاء ومسؤوليات وإطار حوكمة معتمد، ورئيس إدارة الأمن السيبراني عضو فيها</a:t>
            </a:r>
          </a:p>
        </p:txBody>
      </p:sp>
      <p:sp>
        <p:nvSpPr>
          <p:cNvPr id="55" name="Rule 54"/>
          <p:cNvSpPr/>
          <p:nvPr/>
        </p:nvSpPr>
        <p:spPr>
          <a:xfrm>
            <a:off x="10426700" y="474930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9740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1-2-3</a:t>
            </a:r>
          </a:p>
        </p:txBody>
      </p:sp>
      <p:sp>
        <p:nvSpPr>
          <p:cNvPr id="57" name="Text 56"/>
          <p:cNvSpPr txBox="1"/>
          <p:nvPr/>
        </p:nvSpPr>
        <p:spPr>
          <a:xfrm>
            <a:off x="10462260" y="4179622"/>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حوكمة</a:t>
            </a:r>
          </a:p>
        </p:txBody>
      </p:sp>
      <p:sp>
        <p:nvSpPr>
          <p:cNvPr id="58" name="Box 57"/>
          <p:cNvSpPr/>
          <p:nvPr/>
        </p:nvSpPr>
        <p:spPr>
          <a:xfrm>
            <a:off x="812800" y="516205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375672"/>
            <a:ext cx="381000" cy="381000"/>
          </a:xfrm>
          <a:prstGeom prst="roundRect">
            <a:avLst>
              <a:gd name="adj" fmla="val 23333"/>
            </a:avLst>
          </a:prstGeom>
          <a:solidFill>
            <a:srgbClr val="22344D"/>
          </a:solidFill>
          <a:ln>
            <a:noFill/>
          </a:ln>
        </p:spPr>
        <p:txBody>
          <a:bodyPr rtlCol="0" anchor="ctr"/>
          <a:lstStyle/>
          <a:p>
            <a:pPr algn="ctr"/>
          </a:p>
        </p:txBody>
      </p:sp>
      <p:pic>
        <p:nvPicPr>
          <p:cNvPr id="60" name="Icon Warning 59" descr="icon032.png"/>
          <p:cNvPicPr>
            <a:picLocks noChangeAspect="1"/>
          </p:cNvPicPr>
          <p:nvPr/>
        </p:nvPicPr>
        <p:blipFill>
          <a:blip r:embed="rId3"/>
          <a:stretch>
            <a:fillRect/>
          </a:stretch>
        </p:blipFill>
        <p:spPr>
          <a:xfrm>
            <a:off x="10864850" y="5458222"/>
            <a:ext cx="215900" cy="215900"/>
          </a:xfrm>
          <a:prstGeom prst="rect">
            <a:avLst/>
          </a:prstGeom>
        </p:spPr>
      </p:pic>
      <p:sp>
        <p:nvSpPr>
          <p:cNvPr id="61" name="Text 60"/>
          <p:cNvSpPr txBox="1"/>
          <p:nvPr/>
        </p:nvSpPr>
        <p:spPr>
          <a:xfrm>
            <a:off x="838200" y="530353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خطأ شائع</a:t>
            </a:r>
          </a:p>
        </p:txBody>
      </p:sp>
      <p:sp>
        <p:nvSpPr>
          <p:cNvPr id="62" name="Text 61"/>
          <p:cNvSpPr txBox="1"/>
          <p:nvPr/>
        </p:nvSpPr>
        <p:spPr>
          <a:xfrm>
            <a:off x="838200" y="553615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إدارة «مستقلة» بالاسم، لكنها ترفع تقاريرها إلى مدير تقنية المعلومات، فلا تحقق ‎1-2-1‎.</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68" name="Box 6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616480" y="812800"/>
            <a:ext cx="1762720"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‎1-2‎ · إدارة الأمن السيبراني</a:t>
            </a:r>
          </a:p>
        </p:txBody>
      </p:sp>
      <p:sp>
        <p:nvSpPr>
          <p:cNvPr id="4" name="Text 3"/>
          <p:cNvSpPr txBox="1"/>
          <p:nvPr/>
        </p:nvSpPr>
        <p:spPr>
          <a:xfrm>
            <a:off x="8230021"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محضر اللجنة الإشرافية</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89144" y="1852811"/>
            <a:ext cx="63500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1-2-3</a:t>
            </a:r>
          </a:p>
        </p:txBody>
      </p:sp>
      <p:sp>
        <p:nvSpPr>
          <p:cNvPr id="23" name="Text box 22"/>
          <p:cNvSpPr/>
          <p:nvPr/>
        </p:nvSpPr>
        <p:spPr>
          <a:xfrm>
            <a:off x="7690644" y="1852811"/>
            <a:ext cx="63500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1-1-2</a:t>
            </a:r>
          </a:p>
        </p:txBody>
      </p:sp>
      <p:sp>
        <p:nvSpPr>
          <p:cNvPr id="24" name="Text box 23"/>
          <p:cNvSpPr/>
          <p:nvPr/>
        </p:nvSpPr>
        <p:spPr>
          <a:xfrm>
            <a:off x="6992144" y="1852811"/>
            <a:ext cx="63500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1-8-3</a:t>
            </a:r>
          </a:p>
        </p:txBody>
      </p:sp>
      <p:sp>
        <p:nvSpPr>
          <p:cNvPr id="25" name="Text 24"/>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6" name="Box 25"/>
          <p:cNvSpPr/>
          <p:nvPr/>
        </p:nvSpPr>
        <p:spPr>
          <a:xfrm>
            <a:off x="11125200" y="2518172"/>
            <a:ext cx="254000" cy="254000"/>
          </a:xfrm>
          <a:prstGeom prst="roundRect">
            <a:avLst>
              <a:gd name="adj" fmla="val 50000"/>
            </a:avLst>
          </a:prstGeom>
          <a:solidFill>
            <a:srgbClr val="A6461A"/>
          </a:solidFill>
          <a:ln>
            <a:noFill/>
          </a:ln>
        </p:spPr>
        <p:txBody>
          <a:bodyPr rtlCol="0" anchor="ctr"/>
          <a:lstStyle/>
          <a:p>
            <a:pPr algn="ctr"/>
          </a:p>
        </p:txBody>
      </p:sp>
      <p:sp>
        <p:nvSpPr>
          <p:cNvPr id="27" name="Text 26"/>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قرار مرقّم يمكن الرجوع إليه: اعتماد خارطة الطريق.</a:t>
            </a:r>
          </a:p>
        </p:txBody>
      </p:sp>
      <p:sp>
        <p:nvSpPr>
          <p:cNvPr id="29" name="Box 28"/>
          <p:cNvSpPr/>
          <p:nvPr/>
        </p:nvSpPr>
        <p:spPr>
          <a:xfrm>
            <a:off x="11125200" y="2835672"/>
            <a:ext cx="254000" cy="254000"/>
          </a:xfrm>
          <a:prstGeom prst="roundRect">
            <a:avLst>
              <a:gd name="adj" fmla="val 50000"/>
            </a:avLst>
          </a:prstGeom>
          <a:solidFill>
            <a:srgbClr val="A6461A"/>
          </a:solidFill>
          <a:ln>
            <a:noFill/>
          </a:ln>
        </p:spPr>
        <p:txBody>
          <a:bodyPr rtlCol="0" anchor="ctr"/>
          <a:lstStyle/>
          <a:p>
            <a:pPr algn="ctr"/>
          </a:p>
        </p:txBody>
      </p:sp>
      <p:sp>
        <p:nvSpPr>
          <p:cNvPr id="30" name="Text 29"/>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متابعة رقمية لمبادرة، لا عبارة عامة مثل «جارٍ العمل».</a:t>
            </a:r>
          </a:p>
        </p:txBody>
      </p:sp>
      <p:sp>
        <p:nvSpPr>
          <p:cNvPr id="32" name="Box 31"/>
          <p:cNvSpPr/>
          <p:nvPr/>
        </p:nvSpPr>
        <p:spPr>
          <a:xfrm>
            <a:off x="11125200" y="3153172"/>
            <a:ext cx="254000" cy="254000"/>
          </a:xfrm>
          <a:prstGeom prst="roundRect">
            <a:avLst>
              <a:gd name="adj" fmla="val 50000"/>
            </a:avLst>
          </a:prstGeom>
          <a:solidFill>
            <a:srgbClr val="A6461A"/>
          </a:solidFill>
          <a:ln>
            <a:noFill/>
          </a:ln>
        </p:spPr>
        <p:txBody>
          <a:bodyPr rtlCol="0" anchor="ctr"/>
          <a:lstStyle/>
          <a:p>
            <a:pPr algn="ctr"/>
          </a:p>
        </p:txBody>
      </p:sp>
      <p:sp>
        <p:nvSpPr>
          <p:cNvPr id="33" name="Text 32"/>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تكليف بمالك وموعد، وتوقيع رئيس اللجنة وأمينها.</a:t>
            </a:r>
          </a:p>
        </p:txBody>
      </p:sp>
      <p:sp>
        <p:nvSpPr>
          <p:cNvPr id="35" name="Rule 34"/>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7" name="Icon CheckCircle 36" descr="icon033.png"/>
          <p:cNvPicPr>
            <a:picLocks noChangeAspect="1"/>
          </p:cNvPicPr>
          <p:nvPr/>
        </p:nvPicPr>
        <p:blipFill>
          <a:blip r:embed="rId3"/>
          <a:stretch>
            <a:fillRect/>
          </a:stretch>
        </p:blipFill>
        <p:spPr>
          <a:xfrm>
            <a:off x="11150600" y="3880842"/>
            <a:ext cx="203200" cy="203200"/>
          </a:xfrm>
          <a:prstGeom prst="rect">
            <a:avLst/>
          </a:prstGeom>
        </p:spPr>
      </p:pic>
      <p:sp>
        <p:nvSpPr>
          <p:cNvPr id="38" name="Text 37"/>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رئيس إدارة الأمن السيبراني عضو حاضر، كما ينص ‎1-2-3‎.</a:t>
            </a:r>
          </a:p>
        </p:txBody>
      </p:sp>
      <p:pic>
        <p:nvPicPr>
          <p:cNvPr id="39" name="Icon CheckCircle 38" descr="icon033.png"/>
          <p:cNvPicPr>
            <a:picLocks noChangeAspect="1"/>
          </p:cNvPicPr>
          <p:nvPr/>
        </p:nvPicPr>
        <p:blipFill>
          <a:blip r:embed="rId3"/>
          <a:stretch>
            <a:fillRect/>
          </a:stretch>
        </p:blipFill>
        <p:spPr>
          <a:xfrm>
            <a:off x="11150600" y="4185642"/>
            <a:ext cx="203200" cy="203200"/>
          </a:xfrm>
          <a:prstGeom prst="rect">
            <a:avLst/>
          </a:prstGeom>
        </p:spPr>
      </p:pic>
      <p:sp>
        <p:nvSpPr>
          <p:cNvPr id="40" name="Text 39"/>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الاجتماعات تتكرر فعلاً، بمحاضر لأكثر من فترة.</a:t>
            </a:r>
          </a:p>
        </p:txBody>
      </p:sp>
      <p:pic>
        <p:nvPicPr>
          <p:cNvPr id="41" name="Icon CheckCircle 40" descr="icon033.png"/>
          <p:cNvPicPr>
            <a:picLocks noChangeAspect="1"/>
          </p:cNvPicPr>
          <p:nvPr/>
        </p:nvPicPr>
        <p:blipFill>
          <a:blip r:embed="rId3"/>
          <a:stretch>
            <a:fillRect/>
          </a:stretch>
        </p:blipFill>
        <p:spPr>
          <a:xfrm>
            <a:off x="11150600" y="4490442"/>
            <a:ext cx="203200" cy="203200"/>
          </a:xfrm>
          <a:prstGeom prst="rect">
            <a:avLst/>
          </a:prstGeom>
        </p:spPr>
      </p:pic>
      <p:sp>
        <p:nvSpPr>
          <p:cNvPr id="42" name="Text 41"/>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قرارات الاجتماع السابق تُتابع في اللاحق.</a:t>
            </a:r>
          </a:p>
        </p:txBody>
      </p:sp>
      <p:sp>
        <p:nvSpPr>
          <p:cNvPr id="43" name="Box 42"/>
          <p:cNvSpPr/>
          <p:nvPr/>
        </p:nvSpPr>
        <p:spPr>
          <a:xfrm>
            <a:off x="6680200" y="5626695"/>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715595"/>
            <a:ext cx="190500" cy="190500"/>
          </a:xfrm>
          <a:prstGeom prst="rect">
            <a:avLst/>
          </a:prstGeom>
        </p:spPr>
      </p:pic>
      <p:sp>
        <p:nvSpPr>
          <p:cNvPr id="45" name="Text 44"/>
          <p:cNvSpPr txBox="1"/>
          <p:nvPr/>
        </p:nvSpPr>
        <p:spPr>
          <a:xfrm>
            <a:off x="6705600" y="5688163"/>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محضر واحد يثبت انعقاد الاجتماع وقراراته، لا تنفيذها؛ التنفيذ تثبته المتابعة اللاحقة وأدلة المبادرات.</a:t>
            </a:r>
          </a:p>
        </p:txBody>
      </p:sp>
      <p:sp>
        <p:nvSpPr>
          <p:cNvPr id="46" name="Box 45"/>
          <p:cNvSpPr/>
          <p:nvPr/>
        </p:nvSpPr>
        <p:spPr>
          <a:xfrm>
            <a:off x="815975" y="1855986"/>
            <a:ext cx="5556250" cy="4085034"/>
          </a:xfrm>
          <a:prstGeom prst="roundRect">
            <a:avLst>
              <a:gd name="adj" fmla="val 1862"/>
            </a:avLst>
          </a:prstGeom>
          <a:solidFill>
            <a:srgbClr val="FBFAF7"/>
          </a:solidFill>
          <a:ln w="6350">
            <a:solidFill>
              <a:srgbClr val="DDD7CA"/>
            </a:solidFill>
          </a:ln>
        </p:spPr>
        <p:txBody>
          <a:bodyPr rtlCol="0" anchor="ctr"/>
          <a:lstStyle/>
          <a:p>
            <a:pPr algn="ctr"/>
          </a:p>
        </p:txBody>
      </p:sp>
      <p:sp>
        <p:nvSpPr>
          <p:cNvPr id="47" name="Text 46"/>
          <p:cNvSpPr txBox="1"/>
          <p:nvPr/>
        </p:nvSpPr>
        <p:spPr>
          <a:xfrm>
            <a:off x="881507" y="2016673"/>
            <a:ext cx="5271643"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محضر اجتماع اللجنة الإشرافية للأمن السيبراني · الاجتماع ‎3/2026‎</a:t>
            </a:r>
          </a:p>
        </p:txBody>
      </p:sp>
      <p:sp>
        <p:nvSpPr>
          <p:cNvPr id="48" name="Rule 47"/>
          <p:cNvSpPr/>
          <p:nvPr/>
        </p:nvSpPr>
        <p:spPr>
          <a:xfrm>
            <a:off x="1035050" y="2909391"/>
            <a:ext cx="5118100" cy="6350"/>
          </a:xfrm>
          <a:prstGeom prst="rect">
            <a:avLst/>
          </a:prstGeom>
          <a:solidFill>
            <a:srgbClr val="DDD7CA"/>
          </a:solidFill>
          <a:ln>
            <a:noFill/>
          </a:ln>
        </p:spPr>
        <p:txBody>
          <a:bodyPr rtlCol="0" anchor="ctr"/>
          <a:lstStyle/>
          <a:p>
            <a:pPr algn="ctr"/>
          </a:p>
        </p:txBody>
      </p:sp>
      <p:sp>
        <p:nvSpPr>
          <p:cNvPr id="49" name="Text 48"/>
          <p:cNvSpPr txBox="1"/>
          <p:nvPr/>
        </p:nvSpPr>
        <p:spPr>
          <a:xfrm>
            <a:off x="4982210" y="2645799"/>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التاريخ</a:t>
            </a:r>
          </a:p>
        </p:txBody>
      </p:sp>
      <p:sp>
        <p:nvSpPr>
          <p:cNvPr id="50" name="Text 49"/>
          <p:cNvSpPr txBox="1"/>
          <p:nvPr/>
        </p:nvSpPr>
        <p:spPr>
          <a:xfrm>
            <a:off x="1035050" y="2645799"/>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‎2026-10-05‎</a:t>
            </a:r>
          </a:p>
        </p:txBody>
      </p:sp>
      <p:sp>
        <p:nvSpPr>
          <p:cNvPr id="51" name="Rule 50"/>
          <p:cNvSpPr/>
          <p:nvPr/>
        </p:nvSpPr>
        <p:spPr>
          <a:xfrm>
            <a:off x="1035050" y="3479502"/>
            <a:ext cx="5118100" cy="6350"/>
          </a:xfrm>
          <a:prstGeom prst="rect">
            <a:avLst/>
          </a:prstGeom>
          <a:solidFill>
            <a:srgbClr val="DDD7CA"/>
          </a:solidFill>
          <a:ln>
            <a:noFill/>
          </a:ln>
        </p:spPr>
        <p:txBody>
          <a:bodyPr rtlCol="0" anchor="ctr"/>
          <a:lstStyle/>
          <a:p>
            <a:pPr algn="ctr"/>
          </a:p>
        </p:txBody>
      </p:sp>
      <p:sp>
        <p:nvSpPr>
          <p:cNvPr id="52" name="Text 51"/>
          <p:cNvSpPr txBox="1"/>
          <p:nvPr/>
        </p:nvSpPr>
        <p:spPr>
          <a:xfrm>
            <a:off x="4982210" y="3010229"/>
            <a:ext cx="117094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الحضور</a:t>
            </a:r>
          </a:p>
        </p:txBody>
      </p:sp>
      <p:sp>
        <p:nvSpPr>
          <p:cNvPr id="53" name="Text 52"/>
          <p:cNvSpPr txBox="1"/>
          <p:nvPr/>
        </p:nvSpPr>
        <p:spPr>
          <a:xfrm>
            <a:off x="1035050" y="3010229"/>
            <a:ext cx="39370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رئيس اللجنة، ورئيس إدارة الأمن السيبراني، ورئيس تقنية المعلومات، و4 أعضاء</a:t>
            </a:r>
          </a:p>
        </p:txBody>
      </p:sp>
      <p:sp>
        <p:nvSpPr>
          <p:cNvPr id="54" name="Rule 53"/>
          <p:cNvSpPr/>
          <p:nvPr/>
        </p:nvSpPr>
        <p:spPr>
          <a:xfrm>
            <a:off x="1035050" y="3843933"/>
            <a:ext cx="5118100" cy="6350"/>
          </a:xfrm>
          <a:prstGeom prst="rect">
            <a:avLst/>
          </a:prstGeom>
          <a:solidFill>
            <a:srgbClr val="DDD7CA"/>
          </a:solidFill>
          <a:ln>
            <a:noFill/>
          </a:ln>
        </p:spPr>
        <p:txBody>
          <a:bodyPr rtlCol="0" anchor="ctr"/>
          <a:lstStyle/>
          <a:p>
            <a:pPr algn="ctr"/>
          </a:p>
        </p:txBody>
      </p:sp>
      <p:sp>
        <p:nvSpPr>
          <p:cNvPr id="55" name="Text 54"/>
          <p:cNvSpPr txBox="1"/>
          <p:nvPr/>
        </p:nvSpPr>
        <p:spPr>
          <a:xfrm>
            <a:off x="4982210" y="358034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النصاب</a:t>
            </a:r>
          </a:p>
        </p:txBody>
      </p:sp>
      <p:sp>
        <p:nvSpPr>
          <p:cNvPr id="56" name="Text 55"/>
          <p:cNvSpPr txBox="1"/>
          <p:nvPr/>
        </p:nvSpPr>
        <p:spPr>
          <a:xfrm>
            <a:off x="1035050" y="3580340"/>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مكتمل وفق الميثاق</a:t>
            </a:r>
          </a:p>
        </p:txBody>
      </p:sp>
      <p:sp>
        <p:nvSpPr>
          <p:cNvPr id="57" name="Box 56"/>
          <p:cNvSpPr/>
          <p:nvPr/>
        </p:nvSpPr>
        <p:spPr>
          <a:xfrm>
            <a:off x="6102350" y="4007743"/>
            <a:ext cx="50800" cy="50800"/>
          </a:xfrm>
          <a:prstGeom prst="roundRect">
            <a:avLst>
              <a:gd name="adj" fmla="val 50000"/>
            </a:avLst>
          </a:prstGeom>
          <a:solidFill>
            <a:srgbClr val="465264"/>
          </a:solidFill>
          <a:ln>
            <a:noFill/>
          </a:ln>
        </p:spPr>
        <p:txBody>
          <a:bodyPr rtlCol="0" anchor="ctr"/>
          <a:lstStyle/>
          <a:p>
            <a:pPr algn="ctr"/>
          </a:p>
        </p:txBody>
      </p:sp>
      <p:sp>
        <p:nvSpPr>
          <p:cNvPr id="58" name="Text 57"/>
          <p:cNvSpPr txBox="1"/>
          <p:nvPr/>
        </p:nvSpPr>
        <p:spPr>
          <a:xfrm>
            <a:off x="838200" y="3902861"/>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القرار ‎3/1‎: اعتماد خارطة طريق تطبيق ‎ECC-2:2024‎</a:t>
            </a:r>
          </a:p>
        </p:txBody>
      </p:sp>
      <p:sp>
        <p:nvSpPr>
          <p:cNvPr id="59" name="Box 58"/>
          <p:cNvSpPr/>
          <p:nvPr/>
        </p:nvSpPr>
        <p:spPr>
          <a:xfrm>
            <a:off x="6102350" y="4378523"/>
            <a:ext cx="50800" cy="50800"/>
          </a:xfrm>
          <a:prstGeom prst="roundRect">
            <a:avLst>
              <a:gd name="adj" fmla="val 50000"/>
            </a:avLst>
          </a:prstGeom>
          <a:solidFill>
            <a:srgbClr val="465264"/>
          </a:solidFill>
          <a:ln>
            <a:noFill/>
          </a:ln>
        </p:spPr>
        <p:txBody>
          <a:bodyPr rtlCol="0" anchor="ctr"/>
          <a:lstStyle/>
          <a:p>
            <a:pPr algn="ctr"/>
          </a:p>
        </p:txBody>
      </p:sp>
      <p:sp>
        <p:nvSpPr>
          <p:cNvPr id="60" name="Text 59"/>
          <p:cNvSpPr txBox="1"/>
          <p:nvPr/>
        </p:nvSpPr>
        <p:spPr>
          <a:xfrm>
            <a:off x="885317" y="4166981"/>
            <a:ext cx="5140833"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متابعة: الحسابات المميزة المشمولة بإلزام التحقق متعدد العوامل 22 من 37 (59%) في ‎2026-09-30‎</a:t>
            </a:r>
          </a:p>
        </p:txBody>
      </p:sp>
      <p:sp>
        <p:nvSpPr>
          <p:cNvPr id="61" name="Box 60"/>
          <p:cNvSpPr/>
          <p:nvPr/>
        </p:nvSpPr>
        <p:spPr>
          <a:xfrm>
            <a:off x="6102350" y="4749304"/>
            <a:ext cx="50800" cy="50800"/>
          </a:xfrm>
          <a:prstGeom prst="roundRect">
            <a:avLst>
              <a:gd name="adj" fmla="val 50000"/>
            </a:avLst>
          </a:prstGeom>
          <a:solidFill>
            <a:srgbClr val="465264"/>
          </a:solidFill>
          <a:ln>
            <a:noFill/>
          </a:ln>
        </p:spPr>
        <p:txBody>
          <a:bodyPr rtlCol="0" anchor="ctr"/>
          <a:lstStyle/>
          <a:p>
            <a:pPr algn="ctr"/>
          </a:p>
        </p:txBody>
      </p:sp>
      <p:sp>
        <p:nvSpPr>
          <p:cNvPr id="62" name="Text 61"/>
          <p:cNvSpPr txBox="1"/>
          <p:nvPr/>
        </p:nvSpPr>
        <p:spPr>
          <a:xfrm>
            <a:off x="838200" y="4644422"/>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تكليف: تقنية المعلومات بإكمال الباقي قبل ‎2026-11-30‎</a:t>
            </a:r>
          </a:p>
        </p:txBody>
      </p:sp>
      <p:sp>
        <p:nvSpPr>
          <p:cNvPr id="63" name="Box 62"/>
          <p:cNvSpPr/>
          <p:nvPr/>
        </p:nvSpPr>
        <p:spPr>
          <a:xfrm>
            <a:off x="6102350" y="5013424"/>
            <a:ext cx="50800" cy="50800"/>
          </a:xfrm>
          <a:prstGeom prst="roundRect">
            <a:avLst>
              <a:gd name="adj" fmla="val 50000"/>
            </a:avLst>
          </a:prstGeom>
          <a:solidFill>
            <a:srgbClr val="465264"/>
          </a:solidFill>
          <a:ln>
            <a:noFill/>
          </a:ln>
        </p:spPr>
        <p:txBody>
          <a:bodyPr rtlCol="0" anchor="ctr"/>
          <a:lstStyle/>
          <a:p>
            <a:pPr algn="ctr"/>
          </a:p>
        </p:txBody>
      </p:sp>
      <p:sp>
        <p:nvSpPr>
          <p:cNvPr id="64" name="Text 63"/>
          <p:cNvSpPr txBox="1"/>
          <p:nvPr/>
        </p:nvSpPr>
        <p:spPr>
          <a:xfrm>
            <a:off x="838200" y="4908542"/>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عرض لوحة مؤشرات الربع الثالث 2026</a:t>
            </a:r>
          </a:p>
        </p:txBody>
      </p:sp>
      <p:sp>
        <p:nvSpPr>
          <p:cNvPr id="65" name="Rule 64"/>
          <p:cNvSpPr/>
          <p:nvPr/>
        </p:nvSpPr>
        <p:spPr>
          <a:xfrm>
            <a:off x="3708400" y="5259784"/>
            <a:ext cx="2444750" cy="12700"/>
          </a:xfrm>
          <a:prstGeom prst="rect">
            <a:avLst/>
          </a:prstGeom>
          <a:solidFill>
            <a:srgbClr val="132033"/>
          </a:solidFill>
          <a:ln>
            <a:noFill/>
          </a:ln>
        </p:spPr>
        <p:txBody>
          <a:bodyPr rtlCol="0" anchor="ctr"/>
          <a:lstStyle/>
          <a:p>
            <a:pPr algn="ctr"/>
          </a:p>
        </p:txBody>
      </p:sp>
      <p:sp>
        <p:nvSpPr>
          <p:cNvPr id="66" name="Text 65"/>
          <p:cNvSpPr txBox="1"/>
          <p:nvPr/>
        </p:nvSpPr>
        <p:spPr>
          <a:xfrm>
            <a:off x="3708400" y="5303472"/>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رئيس اللجنة</a:t>
            </a:r>
          </a:p>
        </p:txBody>
      </p:sp>
      <p:sp>
        <p:nvSpPr>
          <p:cNvPr id="67" name="Text 66"/>
          <p:cNvSpPr txBox="1"/>
          <p:nvPr/>
        </p:nvSpPr>
        <p:spPr>
          <a:xfrm>
            <a:off x="3708400" y="5534553"/>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68" name="Rule 67"/>
          <p:cNvSpPr/>
          <p:nvPr/>
        </p:nvSpPr>
        <p:spPr>
          <a:xfrm>
            <a:off x="1035050" y="5259784"/>
            <a:ext cx="2444750" cy="12700"/>
          </a:xfrm>
          <a:prstGeom prst="rect">
            <a:avLst/>
          </a:prstGeom>
          <a:solidFill>
            <a:srgbClr val="132033"/>
          </a:solidFill>
          <a:ln>
            <a:noFill/>
          </a:ln>
        </p:spPr>
        <p:txBody>
          <a:bodyPr rtlCol="0" anchor="ctr"/>
          <a:lstStyle/>
          <a:p>
            <a:pPr algn="ctr"/>
          </a:p>
        </p:txBody>
      </p:sp>
      <p:sp>
        <p:nvSpPr>
          <p:cNvPr id="69" name="Text 68"/>
          <p:cNvSpPr txBox="1"/>
          <p:nvPr/>
        </p:nvSpPr>
        <p:spPr>
          <a:xfrm>
            <a:off x="1035050" y="5303472"/>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أمين اللجنة</a:t>
            </a:r>
          </a:p>
        </p:txBody>
      </p:sp>
      <p:sp>
        <p:nvSpPr>
          <p:cNvPr id="70" name="Text 69"/>
          <p:cNvSpPr txBox="1"/>
          <p:nvPr/>
        </p:nvSpPr>
        <p:spPr>
          <a:xfrm>
            <a:off x="1035050" y="5534553"/>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71" name="Text 70"/>
          <p:cNvSpPr txBox="1"/>
          <p:nvPr/>
        </p:nvSpPr>
        <p:spPr>
          <a:xfrm>
            <a:off x="367792" y="6009473"/>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72" name="Text 7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73" name="Box 7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4" name="Box 7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5" name="Box 7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6" name="Box 7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7" name="Box 7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Box 7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9" name="Box 7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80" name="Box 7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81" name="Box 8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82" name="Text 8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3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‎1-3‎ سياسات وإجراءات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توثيق متطلبات الأمن السيبراني والتزام الجهة بها ونشرها.</a:t>
            </a:r>
          </a:p>
        </p:txBody>
      </p:sp>
      <p:sp>
        <p:nvSpPr>
          <p:cNvPr id="23" name="Box 22"/>
          <p:cNvSpPr/>
          <p:nvPr/>
        </p:nvSpPr>
        <p:spPr>
          <a:xfrm>
            <a:off x="8159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كل فريق يعمل باجتهاده، ولا يوجد مرجع يُحاسب عليه أحد، ولا يعرف المقيّم ما الذي التزمت به الجهة أصلاً.</a:t>
            </a:r>
          </a:p>
        </p:txBody>
      </p:sp>
      <p:sp>
        <p:nvSpPr>
          <p:cNvPr id="28" name="Box 27"/>
          <p:cNvSpPr/>
          <p:nvPr/>
        </p:nvSpPr>
        <p:spPr>
          <a:xfrm>
            <a:off x="43973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3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أنظمة المرور: القانون هو السياسة، وخطوات استخراج الرخصة هي الإجراء، والمواصفات الفنية للسيارة هي المعيار.</a:t>
            </a:r>
          </a:p>
        </p:txBody>
      </p:sp>
      <p:sp>
        <p:nvSpPr>
          <p:cNvPr id="33" name="Box 32"/>
          <p:cNvSpPr/>
          <p:nvPr/>
        </p:nvSpPr>
        <p:spPr>
          <a:xfrm>
            <a:off x="79787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3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957262"/>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كتابة ما تلتزم به الجهة في وثائق رسمية: سياسات تقول ماذا، وإجراءات تقول كيف، ومعايير تقنية تقول ما الإعداد الصحيح، يعتمدها صاحب الصلاحية وتُعمَّم.</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السياسة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ماذا نلتزم به ولماذا</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الإجراء</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خطوات التنفيذ ومن ينفذها</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المعيار التقني</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الإعدادات الآمنة لكل تقنية</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14098" y="812800"/>
            <a:ext cx="256510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‎1-3‎ · سياسات وإجراءات الأمن السيبراني</a:t>
            </a:r>
          </a:p>
        </p:txBody>
      </p:sp>
      <p:sp>
        <p:nvSpPr>
          <p:cNvPr id="4" name="Text 3"/>
          <p:cNvSpPr txBox="1"/>
          <p:nvPr/>
        </p:nvSpPr>
        <p:spPr>
          <a:xfrm>
            <a:off x="742763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السياسات والإجراءات: الكتابة والاعتماد والتطبيق والمراجعة</a:t>
            </a:r>
          </a:p>
        </p:txBody>
      </p:sp>
      <p:sp>
        <p:nvSpPr>
          <p:cNvPr id="20" name="Rule 19"/>
          <p:cNvSpPr/>
          <p:nvPr/>
        </p:nvSpPr>
        <p:spPr>
          <a:xfrm>
            <a:off x="812800" y="2193131"/>
            <a:ext cx="2746772"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A6461A"/>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A6461A"/>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الوثائق بتوقيع الاعتماد، وجدول تغطية الضوابط، ودليل التعميم</a:t>
            </a:r>
          </a:p>
        </p:txBody>
      </p:sp>
      <p:sp>
        <p:nvSpPr>
          <p:cNvPr id="31" name="Rule 30"/>
          <p:cNvSpPr/>
          <p:nvPr/>
        </p:nvSpPr>
        <p:spPr>
          <a:xfrm>
            <a:off x="3559572" y="304135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حزمة تغطي كل المكونات الفرعية بقالب ورقم إصدار موحد، ثم الاعتماد والنشر</a:t>
            </a:r>
          </a:p>
        </p:txBody>
      </p:sp>
      <p:sp>
        <p:nvSpPr>
          <p:cNvPr id="33" name="Rule 32"/>
          <p:cNvSpPr/>
          <p:nvPr/>
        </p:nvSpPr>
        <p:spPr>
          <a:xfrm>
            <a:off x="6764238" y="304135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توثيق السياسات والإجراءات واعتمادها من صاحب الصلاحية وتعميمها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1-3-1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2746772" cy="651470"/>
          </a:xfrm>
          <a:prstGeom prst="rect">
            <a:avLst/>
          </a:prstGeom>
          <a:solidFill>
            <a:srgbClr val="F6E6DC"/>
          </a:solidFill>
          <a:ln>
            <a:noFill/>
          </a:ln>
        </p:spPr>
        <p:txBody>
          <a:bodyPr rtlCol="0" anchor="ctr"/>
          <a:lstStyle/>
          <a:p>
            <a:pPr algn="ctr"/>
          </a:p>
        </p:txBody>
      </p:sp>
      <p:sp>
        <p:nvSpPr>
          <p:cNvPr id="39" name="Rule 38"/>
          <p:cNvSpPr/>
          <p:nvPr/>
        </p:nvSpPr>
        <p:spPr>
          <a:xfrm>
            <a:off x="812800" y="3692823"/>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312187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فحص الالتزام، وسجل الاستثناءات بموافقاتها</a:t>
            </a:r>
          </a:p>
        </p:txBody>
      </p:sp>
      <p:sp>
        <p:nvSpPr>
          <p:cNvPr id="41" name="Rule 40"/>
          <p:cNvSpPr/>
          <p:nvPr/>
        </p:nvSpPr>
        <p:spPr>
          <a:xfrm>
            <a:off x="3559572" y="3692823"/>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312187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فحوص التزام دورية، وإجراء معتمد للاستثناءات بمدة ومبرر</a:t>
            </a:r>
          </a:p>
        </p:txBody>
      </p:sp>
      <p:sp>
        <p:nvSpPr>
          <p:cNvPr id="43" name="Rule 42"/>
          <p:cNvSpPr/>
          <p:nvPr/>
        </p:nvSpPr>
        <p:spPr>
          <a:xfrm>
            <a:off x="6764238" y="3692823"/>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12187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تأكد إدارة الأمن السيبراني من تطبيقها</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1-3-2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2746772" cy="651470"/>
          </a:xfrm>
          <a:prstGeom prst="rect">
            <a:avLst/>
          </a:prstGeom>
          <a:solidFill>
            <a:srgbClr val="F6E6DC"/>
          </a:solidFill>
          <a:ln>
            <a:noFill/>
          </a:ln>
        </p:spPr>
        <p:txBody>
          <a:bodyPr rtlCol="0" anchor="ctr"/>
          <a:lstStyle/>
          <a:p>
            <a:pPr algn="ctr"/>
          </a:p>
        </p:txBody>
      </p:sp>
      <p:sp>
        <p:nvSpPr>
          <p:cNvPr id="49" name="Rule 48"/>
          <p:cNvSpPr/>
          <p:nvPr/>
        </p:nvSpPr>
        <p:spPr>
          <a:xfrm>
            <a:off x="812800" y="4344293"/>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3773341"/>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المعايير المعتمدة، ونتائج فحص مطابقة الإعدادات لها</a:t>
            </a:r>
          </a:p>
        </p:txBody>
      </p:sp>
      <p:sp>
        <p:nvSpPr>
          <p:cNvPr id="51" name="Rule 50"/>
          <p:cNvSpPr/>
          <p:nvPr/>
        </p:nvSpPr>
        <p:spPr>
          <a:xfrm>
            <a:off x="3559572" y="4344293"/>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77334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معيار تقوية لكل تقنية رئيسية، مبني على مرجع معروف مثل CIS Benchmarks</a:t>
            </a:r>
          </a:p>
        </p:txBody>
      </p:sp>
      <p:sp>
        <p:nvSpPr>
          <p:cNvPr id="53" name="Rule 52"/>
          <p:cNvSpPr/>
          <p:nvPr/>
        </p:nvSpPr>
        <p:spPr>
          <a:xfrm>
            <a:off x="6764238" y="4344293"/>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773341"/>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دعمها بمعايير تقنية أمنية، مثل معايير الجدار الناري وقواعد البيانات وأنظمة التشغيل</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1-3-3</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معايير تقنية</a:t>
            </a:r>
          </a:p>
        </p:txBody>
      </p:sp>
      <p:sp>
        <p:nvSpPr>
          <p:cNvPr id="58" name="Box 57"/>
          <p:cNvSpPr/>
          <p:nvPr/>
        </p:nvSpPr>
        <p:spPr>
          <a:xfrm>
            <a:off x="812800" y="4350643"/>
            <a:ext cx="2746772" cy="835521"/>
          </a:xfrm>
          <a:prstGeom prst="rect">
            <a:avLst/>
          </a:prstGeom>
          <a:solidFill>
            <a:srgbClr val="F6E6DC"/>
          </a:solidFill>
          <a:ln>
            <a:noFill/>
          </a:ln>
        </p:spPr>
        <p:txBody>
          <a:bodyPr rtlCol="0" anchor="ctr"/>
          <a:lstStyle/>
          <a:p>
            <a:pPr algn="ctr"/>
          </a:p>
        </p:txBody>
      </p:sp>
      <p:sp>
        <p:nvSpPr>
          <p:cNvPr id="59" name="Rule 58"/>
          <p:cNvSpPr/>
          <p:nvPr/>
        </p:nvSpPr>
        <p:spPr>
          <a:xfrm>
            <a:off x="812800" y="5179814"/>
            <a:ext cx="2746772" cy="6350"/>
          </a:xfrm>
          <a:prstGeom prst="rect">
            <a:avLst/>
          </a:prstGeom>
          <a:solidFill>
            <a:srgbClr val="DDD7CA"/>
          </a:solidFill>
          <a:ln>
            <a:noFill/>
          </a:ln>
        </p:spPr>
        <p:txBody>
          <a:bodyPr rtlCol="0" anchor="ctr"/>
          <a:lstStyle/>
          <a:p>
            <a:pPr algn="ctr"/>
          </a:p>
        </p:txBody>
      </p:sp>
      <p:sp>
        <p:nvSpPr>
          <p:cNvPr id="60" name="Text 59"/>
          <p:cNvSpPr txBox="1"/>
          <p:nvPr/>
        </p:nvSpPr>
        <p:spPr>
          <a:xfrm>
            <a:off x="865017" y="4424811"/>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الإصدارات والتغييرات، ومحضر المراجعة، والاعتماد الجديد</a:t>
            </a:r>
          </a:p>
        </p:txBody>
      </p:sp>
      <p:sp>
        <p:nvSpPr>
          <p:cNvPr id="61" name="Rule 60"/>
          <p:cNvSpPr/>
          <p:nvPr/>
        </p:nvSpPr>
        <p:spPr>
          <a:xfrm>
            <a:off x="3559572" y="5179814"/>
            <a:ext cx="3204666" cy="6350"/>
          </a:xfrm>
          <a:prstGeom prst="rect">
            <a:avLst/>
          </a:prstGeom>
          <a:solidFill>
            <a:srgbClr val="DDD7CA"/>
          </a:solidFill>
          <a:ln>
            <a:noFill/>
          </a:ln>
        </p:spPr>
        <p:txBody>
          <a:bodyPr rtlCol="0" anchor="ctr"/>
          <a:lstStyle/>
          <a:p>
            <a:pPr algn="ctr"/>
          </a:p>
        </p:txBody>
      </p:sp>
      <p:sp>
        <p:nvSpPr>
          <p:cNvPr id="62" name="Text 61"/>
          <p:cNvSpPr txBox="1"/>
          <p:nvPr/>
        </p:nvSpPr>
        <p:spPr>
          <a:xfrm>
            <a:off x="3598052" y="442481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موعد مراجعة لكل وثيقة، وسجل تغييرات، وإعادة اعتماد عند التعديل</a:t>
            </a:r>
          </a:p>
        </p:txBody>
      </p:sp>
      <p:sp>
        <p:nvSpPr>
          <p:cNvPr id="63" name="Rule 62"/>
          <p:cNvSpPr/>
          <p:nvPr/>
        </p:nvSpPr>
        <p:spPr>
          <a:xfrm>
            <a:off x="6764238" y="5179814"/>
            <a:ext cx="3662462" cy="6350"/>
          </a:xfrm>
          <a:prstGeom prst="rect">
            <a:avLst/>
          </a:prstGeom>
          <a:solidFill>
            <a:srgbClr val="DDD7CA"/>
          </a:solidFill>
          <a:ln>
            <a:noFill/>
          </a:ln>
        </p:spPr>
        <p:txBody>
          <a:bodyPr rtlCol="0" anchor="ctr"/>
          <a:lstStyle/>
          <a:p>
            <a:pPr algn="ctr"/>
          </a:p>
        </p:txBody>
      </p:sp>
      <p:sp>
        <p:nvSpPr>
          <p:cNvPr id="64" name="Text 63"/>
          <p:cNvSpPr txBox="1"/>
          <p:nvPr/>
        </p:nvSpPr>
        <p:spPr>
          <a:xfrm>
            <a:off x="6789638" y="4424811"/>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مراجعتها وتحديثها دورياً أو عند تغير المتطلبات، مع توثيق التغييرات واعتمادها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1-3-4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14098" y="812800"/>
            <a:ext cx="256510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‎1-3‎ · سياسات وإجراءات الأمن السيبراني</a:t>
            </a:r>
          </a:p>
        </p:txBody>
      </p:sp>
      <p:sp>
        <p:nvSpPr>
          <p:cNvPr id="4" name="Text 3"/>
          <p:cNvSpPr txBox="1"/>
          <p:nvPr/>
        </p:nvSpPr>
        <p:spPr>
          <a:xfrm>
            <a:off x="742763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صفحة اعتماد سياسة</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89144" y="1852811"/>
            <a:ext cx="63500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1-3-1</a:t>
            </a:r>
          </a:p>
        </p:txBody>
      </p:sp>
      <p:sp>
        <p:nvSpPr>
          <p:cNvPr id="23" name="Text box 22"/>
          <p:cNvSpPr/>
          <p:nvPr/>
        </p:nvSpPr>
        <p:spPr>
          <a:xfrm>
            <a:off x="7690644" y="1852811"/>
            <a:ext cx="63500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1-3-4</a:t>
            </a:r>
          </a:p>
        </p:txBody>
      </p:sp>
      <p:sp>
        <p:nvSpPr>
          <p:cNvPr id="24" name="Text box 23"/>
          <p:cNvSpPr/>
          <p:nvPr/>
        </p:nvSpPr>
        <p:spPr>
          <a:xfrm>
            <a:off x="6992144" y="1852811"/>
            <a:ext cx="63500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2-9-1</a:t>
            </a:r>
          </a:p>
        </p:txBody>
      </p:sp>
      <p:sp>
        <p:nvSpPr>
          <p:cNvPr id="25" name="Text 24"/>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6" name="Box 25"/>
          <p:cNvSpPr/>
          <p:nvPr/>
        </p:nvSpPr>
        <p:spPr>
          <a:xfrm>
            <a:off x="11125200" y="2518172"/>
            <a:ext cx="254000" cy="254000"/>
          </a:xfrm>
          <a:prstGeom prst="roundRect">
            <a:avLst>
              <a:gd name="adj" fmla="val 50000"/>
            </a:avLst>
          </a:prstGeom>
          <a:solidFill>
            <a:srgbClr val="A6461A"/>
          </a:solidFill>
          <a:ln>
            <a:noFill/>
          </a:ln>
        </p:spPr>
        <p:txBody>
          <a:bodyPr rtlCol="0" anchor="ctr"/>
          <a:lstStyle/>
          <a:p>
            <a:pPr algn="ctr"/>
          </a:p>
        </p:txBody>
      </p:sp>
      <p:sp>
        <p:nvSpPr>
          <p:cNvPr id="27" name="Text 26"/>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جدول ضبط الوثيقة: رمز، ومالك، ومعتمِد، وتواريخ.</a:t>
            </a:r>
          </a:p>
        </p:txBody>
      </p:sp>
      <p:sp>
        <p:nvSpPr>
          <p:cNvPr id="29" name="Box 28"/>
          <p:cNvSpPr/>
          <p:nvPr/>
        </p:nvSpPr>
        <p:spPr>
          <a:xfrm>
            <a:off x="11125200" y="2835672"/>
            <a:ext cx="254000" cy="254000"/>
          </a:xfrm>
          <a:prstGeom prst="roundRect">
            <a:avLst>
              <a:gd name="adj" fmla="val 50000"/>
            </a:avLst>
          </a:prstGeom>
          <a:solidFill>
            <a:srgbClr val="A6461A"/>
          </a:solidFill>
          <a:ln>
            <a:noFill/>
          </a:ln>
        </p:spPr>
        <p:txBody>
          <a:bodyPr rtlCol="0" anchor="ctr"/>
          <a:lstStyle/>
          <a:p>
            <a:pPr algn="ctr"/>
          </a:p>
        </p:txBody>
      </p:sp>
      <p:sp>
        <p:nvSpPr>
          <p:cNvPr id="30" name="Text 29"/>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ربط صريح بالضوابط التي تغطيها السياسة.</a:t>
            </a:r>
          </a:p>
        </p:txBody>
      </p:sp>
      <p:sp>
        <p:nvSpPr>
          <p:cNvPr id="32" name="Box 31"/>
          <p:cNvSpPr/>
          <p:nvPr/>
        </p:nvSpPr>
        <p:spPr>
          <a:xfrm>
            <a:off x="11125200" y="3153172"/>
            <a:ext cx="254000" cy="254000"/>
          </a:xfrm>
          <a:prstGeom prst="roundRect">
            <a:avLst>
              <a:gd name="adj" fmla="val 50000"/>
            </a:avLst>
          </a:prstGeom>
          <a:solidFill>
            <a:srgbClr val="A6461A"/>
          </a:solidFill>
          <a:ln>
            <a:noFill/>
          </a:ln>
        </p:spPr>
        <p:txBody>
          <a:bodyPr rtlCol="0" anchor="ctr"/>
          <a:lstStyle/>
          <a:p>
            <a:pPr algn="ctr"/>
          </a:p>
        </p:txBody>
      </p:sp>
      <p:sp>
        <p:nvSpPr>
          <p:cNvPr id="33" name="Text 32"/>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تغييرات وطريقة تعميم موثقة.</a:t>
            </a:r>
          </a:p>
        </p:txBody>
      </p:sp>
      <p:sp>
        <p:nvSpPr>
          <p:cNvPr id="35" name="Rule 34"/>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7" name="Icon CheckCircle 36" descr="icon033.png"/>
          <p:cNvPicPr>
            <a:picLocks noChangeAspect="1"/>
          </p:cNvPicPr>
          <p:nvPr/>
        </p:nvPicPr>
        <p:blipFill>
          <a:blip r:embed="rId3"/>
          <a:stretch>
            <a:fillRect/>
          </a:stretch>
        </p:blipFill>
        <p:spPr>
          <a:xfrm>
            <a:off x="11150600" y="3880842"/>
            <a:ext cx="203200" cy="203200"/>
          </a:xfrm>
          <a:prstGeom prst="rect">
            <a:avLst/>
          </a:prstGeom>
        </p:spPr>
      </p:pic>
      <p:sp>
        <p:nvSpPr>
          <p:cNvPr id="38" name="Text 37"/>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المعتمِد صاحب الصلاحية، لا مدير الأمن السيبراني وحده.</a:t>
            </a:r>
          </a:p>
        </p:txBody>
      </p:sp>
      <p:pic>
        <p:nvPicPr>
          <p:cNvPr id="39" name="Icon CheckCircle 38" descr="icon033.png"/>
          <p:cNvPicPr>
            <a:picLocks noChangeAspect="1"/>
          </p:cNvPicPr>
          <p:nvPr/>
        </p:nvPicPr>
        <p:blipFill>
          <a:blip r:embed="rId3"/>
          <a:stretch>
            <a:fillRect/>
          </a:stretch>
        </p:blipFill>
        <p:spPr>
          <a:xfrm>
            <a:off x="11150600" y="4185642"/>
            <a:ext cx="203200" cy="203200"/>
          </a:xfrm>
          <a:prstGeom prst="rect">
            <a:avLst/>
          </a:prstGeom>
        </p:spPr>
      </p:pic>
      <p:sp>
        <p:nvSpPr>
          <p:cNvPr id="40" name="Text 39"/>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موعد المراجعة لم يفت، وأن التغييرات موثقة ومعتمدة.</a:t>
            </a:r>
          </a:p>
        </p:txBody>
      </p:sp>
      <p:pic>
        <p:nvPicPr>
          <p:cNvPr id="41" name="Icon CheckCircle 40" descr="icon033.png"/>
          <p:cNvPicPr>
            <a:picLocks noChangeAspect="1"/>
          </p:cNvPicPr>
          <p:nvPr/>
        </p:nvPicPr>
        <p:blipFill>
          <a:blip r:embed="rId3"/>
          <a:stretch>
            <a:fillRect/>
          </a:stretch>
        </p:blipFill>
        <p:spPr>
          <a:xfrm>
            <a:off x="11150600" y="4490442"/>
            <a:ext cx="203200" cy="203200"/>
          </a:xfrm>
          <a:prstGeom prst="rect">
            <a:avLst/>
          </a:prstGeom>
        </p:spPr>
      </p:pic>
      <p:sp>
        <p:nvSpPr>
          <p:cNvPr id="42" name="Text 41"/>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دليل وصول السياسة إلى المعنيين، والإقرار أقوى من البريد.</a:t>
            </a:r>
          </a:p>
        </p:txBody>
      </p:sp>
      <p:sp>
        <p:nvSpPr>
          <p:cNvPr id="43" name="Box 42"/>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11180"/>
            <a:ext cx="190500" cy="190500"/>
          </a:xfrm>
          <a:prstGeom prst="rect">
            <a:avLst/>
          </a:prstGeom>
        </p:spPr>
      </p:pic>
      <p:sp>
        <p:nvSpPr>
          <p:cNvPr id="45" name="Text 44"/>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صفحة الاعتماد تثبت أن السياسة معتمدة ومعممة، ولا تثبت تطبيقها في الأنظمة (ضوابط التطبيق ‎X-2‎).</a:t>
            </a:r>
          </a:p>
        </p:txBody>
      </p:sp>
      <p:sp>
        <p:nvSpPr>
          <p:cNvPr id="46" name="Box 45"/>
          <p:cNvSpPr/>
          <p:nvPr/>
        </p:nvSpPr>
        <p:spPr>
          <a:xfrm>
            <a:off x="815975" y="1855986"/>
            <a:ext cx="5556250" cy="3376414"/>
          </a:xfrm>
          <a:prstGeom prst="roundRect">
            <a:avLst>
              <a:gd name="adj" fmla="val 2252"/>
            </a:avLst>
          </a:prstGeom>
          <a:solidFill>
            <a:srgbClr val="FBFAF7"/>
          </a:solidFill>
          <a:ln w="6350">
            <a:solidFill>
              <a:srgbClr val="DDD7CA"/>
            </a:solidFill>
          </a:ln>
        </p:spPr>
        <p:txBody>
          <a:bodyPr rtlCol="0" anchor="ctr"/>
          <a:lstStyle/>
          <a:p>
            <a:pPr algn="ctr"/>
          </a:p>
        </p:txBody>
      </p:sp>
      <p:sp>
        <p:nvSpPr>
          <p:cNvPr id="47" name="Text 46"/>
          <p:cNvSpPr txBox="1"/>
          <p:nvPr/>
        </p:nvSpPr>
        <p:spPr>
          <a:xfrm>
            <a:off x="1377839" y="2025206"/>
            <a:ext cx="4775311"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سياسة النسخ الاحتياطي · الإصدار 2.0</a:t>
            </a:r>
          </a:p>
        </p:txBody>
      </p:sp>
      <p:sp>
        <p:nvSpPr>
          <p:cNvPr id="48" name="Text box 47"/>
          <p:cNvSpPr/>
          <p:nvPr/>
        </p:nvSpPr>
        <p:spPr>
          <a:xfrm>
            <a:off x="1041400" y="2043311"/>
            <a:ext cx="582216" cy="261541"/>
          </a:xfrm>
          <a:prstGeom prst="roundRect">
            <a:avLst>
              <a:gd name="adj" fmla="val 23154"/>
            </a:avLst>
          </a:prstGeom>
          <a:noFill/>
          <a:ln w="12700">
            <a:solidFill>
              <a:srgbClr val="22704E"/>
            </a:solidFill>
          </a:ln>
        </p:spPr>
        <p:txBody>
          <a:bodyPr rtlCol="0" anchor="ctr" wrap="square" tIns="0" rIns="77513" bIns="32004" lIns="0" anchorCtr="0">
            <a:noAutofit/>
          </a:bodyPr>
          <a:lstStyle/>
          <a:p>
            <a:pPr algn="r" rtl="1">
              <a:lnSpc>
                <a:spcPts val="1560"/>
              </a:lnSpc>
              <a:spcBef>
                <a:spcPts val="0"/>
              </a:spcBef>
              <a:spcAft>
                <a:spcPts val="0"/>
              </a:spcAft>
            </a:pPr>
            <a:r>
              <a:rPr sz="1200" b="1" i="0">
                <a:solidFill>
                  <a:srgbClr val="22704E"/>
                </a:solidFill>
                <a:latin typeface="IBM Plex Sans Arabic"/>
                <a:ea typeface="IBM Plex Sans Arabic"/>
                <a:cs typeface="IBM Plex Sans Arabic"/>
              </a:rPr>
              <a:t>معتمد</a:t>
            </a:r>
          </a:p>
        </p:txBody>
      </p:sp>
      <p:sp>
        <p:nvSpPr>
          <p:cNvPr id="49" name="Rule 48"/>
          <p:cNvSpPr/>
          <p:nvPr/>
        </p:nvSpPr>
        <p:spPr>
          <a:xfrm>
            <a:off x="1035050" y="2669282"/>
            <a:ext cx="5118100" cy="6350"/>
          </a:xfrm>
          <a:prstGeom prst="rect">
            <a:avLst/>
          </a:prstGeom>
          <a:solidFill>
            <a:srgbClr val="DDD7CA"/>
          </a:solidFill>
          <a:ln>
            <a:noFill/>
          </a:ln>
        </p:spPr>
        <p:txBody>
          <a:bodyPr rtlCol="0" anchor="ctr"/>
          <a:lstStyle/>
          <a:p>
            <a:pPr algn="ctr"/>
          </a:p>
        </p:txBody>
      </p:sp>
      <p:sp>
        <p:nvSpPr>
          <p:cNvPr id="50" name="Text 49"/>
          <p:cNvSpPr txBox="1"/>
          <p:nvPr/>
        </p:nvSpPr>
        <p:spPr>
          <a:xfrm>
            <a:off x="4982210" y="240569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رمز الوثيقة</a:t>
            </a:r>
          </a:p>
        </p:txBody>
      </p:sp>
      <p:sp>
        <p:nvSpPr>
          <p:cNvPr id="51" name="Text 50"/>
          <p:cNvSpPr txBox="1"/>
          <p:nvPr/>
        </p:nvSpPr>
        <p:spPr>
          <a:xfrm>
            <a:off x="1035050" y="2405690"/>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‎POL-BKP-01‎</a:t>
            </a:r>
          </a:p>
        </p:txBody>
      </p:sp>
      <p:sp>
        <p:nvSpPr>
          <p:cNvPr id="52" name="Rule 51"/>
          <p:cNvSpPr/>
          <p:nvPr/>
        </p:nvSpPr>
        <p:spPr>
          <a:xfrm>
            <a:off x="1035050" y="3033712"/>
            <a:ext cx="5118100" cy="6350"/>
          </a:xfrm>
          <a:prstGeom prst="rect">
            <a:avLst/>
          </a:prstGeom>
          <a:solidFill>
            <a:srgbClr val="DDD7CA"/>
          </a:solidFill>
          <a:ln>
            <a:noFill/>
          </a:ln>
        </p:spPr>
        <p:txBody>
          <a:bodyPr rtlCol="0" anchor="ctr"/>
          <a:lstStyle/>
          <a:p>
            <a:pPr algn="ctr"/>
          </a:p>
        </p:txBody>
      </p:sp>
      <p:sp>
        <p:nvSpPr>
          <p:cNvPr id="53" name="Text 52"/>
          <p:cNvSpPr txBox="1"/>
          <p:nvPr/>
        </p:nvSpPr>
        <p:spPr>
          <a:xfrm>
            <a:off x="4982210" y="277012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المالك</a:t>
            </a:r>
          </a:p>
        </p:txBody>
      </p:sp>
      <p:sp>
        <p:nvSpPr>
          <p:cNvPr id="54" name="Text 53"/>
          <p:cNvSpPr txBox="1"/>
          <p:nvPr/>
        </p:nvSpPr>
        <p:spPr>
          <a:xfrm>
            <a:off x="1035050" y="2770120"/>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الأمن السيبراني</a:t>
            </a:r>
          </a:p>
        </p:txBody>
      </p:sp>
      <p:sp>
        <p:nvSpPr>
          <p:cNvPr id="55" name="Rule 54"/>
          <p:cNvSpPr/>
          <p:nvPr/>
        </p:nvSpPr>
        <p:spPr>
          <a:xfrm>
            <a:off x="1035050" y="3398143"/>
            <a:ext cx="5118100" cy="6350"/>
          </a:xfrm>
          <a:prstGeom prst="rect">
            <a:avLst/>
          </a:prstGeom>
          <a:solidFill>
            <a:srgbClr val="DDD7CA"/>
          </a:solidFill>
          <a:ln>
            <a:noFill/>
          </a:ln>
        </p:spPr>
        <p:txBody>
          <a:bodyPr rtlCol="0" anchor="ctr"/>
          <a:lstStyle/>
          <a:p>
            <a:pPr algn="ctr"/>
          </a:p>
        </p:txBody>
      </p:sp>
      <p:sp>
        <p:nvSpPr>
          <p:cNvPr id="56" name="Text 55"/>
          <p:cNvSpPr txBox="1"/>
          <p:nvPr/>
        </p:nvSpPr>
        <p:spPr>
          <a:xfrm>
            <a:off x="4982210" y="313455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المعتمِد</a:t>
            </a:r>
          </a:p>
        </p:txBody>
      </p:sp>
      <p:sp>
        <p:nvSpPr>
          <p:cNvPr id="57" name="Text 56"/>
          <p:cNvSpPr txBox="1"/>
          <p:nvPr/>
        </p:nvSpPr>
        <p:spPr>
          <a:xfrm>
            <a:off x="1035050" y="3134550"/>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صاحب الصلاحية: [الاسم والمنصب]</a:t>
            </a:r>
          </a:p>
        </p:txBody>
      </p:sp>
      <p:sp>
        <p:nvSpPr>
          <p:cNvPr id="58" name="Rule 57"/>
          <p:cNvSpPr/>
          <p:nvPr/>
        </p:nvSpPr>
        <p:spPr>
          <a:xfrm>
            <a:off x="1035050" y="3762573"/>
            <a:ext cx="5118100" cy="6350"/>
          </a:xfrm>
          <a:prstGeom prst="rect">
            <a:avLst/>
          </a:prstGeom>
          <a:solidFill>
            <a:srgbClr val="DDD7CA"/>
          </a:solidFill>
          <a:ln>
            <a:noFill/>
          </a:ln>
        </p:spPr>
        <p:txBody>
          <a:bodyPr rtlCol="0" anchor="ctr"/>
          <a:lstStyle/>
          <a:p>
            <a:pPr algn="ctr"/>
          </a:p>
        </p:txBody>
      </p:sp>
      <p:sp>
        <p:nvSpPr>
          <p:cNvPr id="59" name="Text 58"/>
          <p:cNvSpPr txBox="1"/>
          <p:nvPr/>
        </p:nvSpPr>
        <p:spPr>
          <a:xfrm>
            <a:off x="4982210" y="3498981"/>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تاريخ الاعتماد</a:t>
            </a:r>
          </a:p>
        </p:txBody>
      </p:sp>
      <p:sp>
        <p:nvSpPr>
          <p:cNvPr id="60" name="Text 59"/>
          <p:cNvSpPr txBox="1"/>
          <p:nvPr/>
        </p:nvSpPr>
        <p:spPr>
          <a:xfrm>
            <a:off x="1035050" y="3498981"/>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‎2026-06-10‎</a:t>
            </a:r>
          </a:p>
        </p:txBody>
      </p:sp>
      <p:sp>
        <p:nvSpPr>
          <p:cNvPr id="61" name="Rule 60"/>
          <p:cNvSpPr/>
          <p:nvPr/>
        </p:nvSpPr>
        <p:spPr>
          <a:xfrm>
            <a:off x="1035050" y="4127004"/>
            <a:ext cx="5118100" cy="6350"/>
          </a:xfrm>
          <a:prstGeom prst="rect">
            <a:avLst/>
          </a:prstGeom>
          <a:solidFill>
            <a:srgbClr val="DDD7CA"/>
          </a:solidFill>
          <a:ln>
            <a:noFill/>
          </a:ln>
        </p:spPr>
        <p:txBody>
          <a:bodyPr rtlCol="0" anchor="ctr"/>
          <a:lstStyle/>
          <a:p>
            <a:pPr algn="ctr"/>
          </a:p>
        </p:txBody>
      </p:sp>
      <p:sp>
        <p:nvSpPr>
          <p:cNvPr id="62" name="Text 61"/>
          <p:cNvSpPr txBox="1"/>
          <p:nvPr/>
        </p:nvSpPr>
        <p:spPr>
          <a:xfrm>
            <a:off x="4982210" y="3863411"/>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موعد المراجعة</a:t>
            </a:r>
          </a:p>
        </p:txBody>
      </p:sp>
      <p:sp>
        <p:nvSpPr>
          <p:cNvPr id="63" name="Text 62"/>
          <p:cNvSpPr txBox="1"/>
          <p:nvPr/>
        </p:nvSpPr>
        <p:spPr>
          <a:xfrm>
            <a:off x="1035050" y="3863411"/>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‎2027-06-10‎</a:t>
            </a:r>
          </a:p>
        </p:txBody>
      </p:sp>
      <p:sp>
        <p:nvSpPr>
          <p:cNvPr id="64" name="Rule 63"/>
          <p:cNvSpPr/>
          <p:nvPr/>
        </p:nvSpPr>
        <p:spPr>
          <a:xfrm>
            <a:off x="1035050" y="4491434"/>
            <a:ext cx="5118100" cy="6350"/>
          </a:xfrm>
          <a:prstGeom prst="rect">
            <a:avLst/>
          </a:prstGeom>
          <a:solidFill>
            <a:srgbClr val="DDD7CA"/>
          </a:solidFill>
          <a:ln>
            <a:noFill/>
          </a:ln>
        </p:spPr>
        <p:txBody>
          <a:bodyPr rtlCol="0" anchor="ctr"/>
          <a:lstStyle/>
          <a:p>
            <a:pPr algn="ctr"/>
          </a:p>
        </p:txBody>
      </p:sp>
      <p:sp>
        <p:nvSpPr>
          <p:cNvPr id="65" name="Text 64"/>
          <p:cNvSpPr txBox="1"/>
          <p:nvPr/>
        </p:nvSpPr>
        <p:spPr>
          <a:xfrm>
            <a:off x="4982210" y="4227842"/>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الضوابط المغطاة</a:t>
            </a:r>
          </a:p>
        </p:txBody>
      </p:sp>
      <p:sp>
        <p:nvSpPr>
          <p:cNvPr id="66" name="Text 65"/>
          <p:cNvSpPr txBox="1"/>
          <p:nvPr/>
        </p:nvSpPr>
        <p:spPr>
          <a:xfrm>
            <a:off x="1035050" y="4227842"/>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‎2-9-1‎ · ‎2-9-3‎ · ‎2-9-4‎</a:t>
            </a:r>
          </a:p>
        </p:txBody>
      </p:sp>
      <p:sp>
        <p:nvSpPr>
          <p:cNvPr id="67" name="Box 66"/>
          <p:cNvSpPr/>
          <p:nvPr/>
        </p:nvSpPr>
        <p:spPr>
          <a:xfrm>
            <a:off x="6102350" y="4655245"/>
            <a:ext cx="50800" cy="50800"/>
          </a:xfrm>
          <a:prstGeom prst="roundRect">
            <a:avLst>
              <a:gd name="adj" fmla="val 50000"/>
            </a:avLst>
          </a:prstGeom>
          <a:solidFill>
            <a:srgbClr val="465264"/>
          </a:solidFill>
          <a:ln>
            <a:noFill/>
          </a:ln>
        </p:spPr>
        <p:txBody>
          <a:bodyPr rtlCol="0" anchor="ctr"/>
          <a:lstStyle/>
          <a:p>
            <a:pPr algn="ctr"/>
          </a:p>
        </p:txBody>
      </p:sp>
      <p:sp>
        <p:nvSpPr>
          <p:cNvPr id="68" name="Text 67"/>
          <p:cNvSpPr txBox="1"/>
          <p:nvPr/>
        </p:nvSpPr>
        <p:spPr>
          <a:xfrm>
            <a:off x="838200" y="4550362"/>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سجل التغييرات: الإصدار 2.0 أضاف اختبار الاستعادة كل ربع سنة</a:t>
            </a:r>
          </a:p>
        </p:txBody>
      </p:sp>
      <p:sp>
        <p:nvSpPr>
          <p:cNvPr id="69" name="Box 68"/>
          <p:cNvSpPr/>
          <p:nvPr/>
        </p:nvSpPr>
        <p:spPr>
          <a:xfrm>
            <a:off x="6102350" y="4919365"/>
            <a:ext cx="50800" cy="50800"/>
          </a:xfrm>
          <a:prstGeom prst="roundRect">
            <a:avLst>
              <a:gd name="adj" fmla="val 50000"/>
            </a:avLst>
          </a:prstGeom>
          <a:solidFill>
            <a:srgbClr val="465264"/>
          </a:solidFill>
          <a:ln>
            <a:noFill/>
          </a:ln>
        </p:spPr>
        <p:txBody>
          <a:bodyPr rtlCol="0" anchor="ctr"/>
          <a:lstStyle/>
          <a:p>
            <a:pPr algn="ctr"/>
          </a:p>
        </p:txBody>
      </p:sp>
      <p:sp>
        <p:nvSpPr>
          <p:cNvPr id="70" name="Text 69"/>
          <p:cNvSpPr txBox="1"/>
          <p:nvPr/>
        </p:nvSpPr>
        <p:spPr>
          <a:xfrm>
            <a:off x="838200" y="4814483"/>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التعميم: بريد عام وإقرار اطلاع إلكتروني لفرق التقنية</a:t>
            </a:r>
          </a:p>
        </p:txBody>
      </p:sp>
      <p:sp>
        <p:nvSpPr>
          <p:cNvPr id="71" name="Text 70"/>
          <p:cNvSpPr txBox="1"/>
          <p:nvPr/>
        </p:nvSpPr>
        <p:spPr>
          <a:xfrm>
            <a:off x="367792" y="5300853"/>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72" name="Text 7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73" name="Box 7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4" name="Box 7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5" name="Box 7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6" name="Box 7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7" name="Box 7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Box 7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9" name="Box 7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80" name="Box 7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81" name="Box 8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82" name="Text 8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4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‎1-4‎ أدوار ومسؤوليات الأمن السيبراني</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تحديد أدوار ومسؤوليات واضحة لكل الأطراف المشاركة في تطبيق الضوابط.</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9.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مهام تسقط بين الإدارات لأن كلاً منها يظنها مسؤولية غيره، وشخص واحد يمنح الصلاحيات ويراجعها بنفسه.</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30.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فريق كرة قدم: لكل لاعب مركز ومهمة واضحة، وإلا ركض الجميع خلف الكرة وتُرك المرمى.</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31.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تحديد من يفعل ماذا في الأمن السيبراني بالاسم: من يعتمد، ومن ينفذ، ومن يراجع، دون تعارض في المصالح.</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مصفوفة المسؤوليات</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من ينفذ ويعتمد ويُستشار ويُبلَّغ</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تعارض المصالح</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أن يراجع الشخص عمله بنفسه</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التكليف</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قرار رسمي يسمي الشخص ودوره</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83948" y="812800"/>
            <a:ext cx="249525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‎1-4‎ · أدوار ومسؤوليات الأمن السيبراني</a:t>
            </a:r>
          </a:p>
        </p:txBody>
      </p:sp>
      <p:sp>
        <p:nvSpPr>
          <p:cNvPr id="4" name="Text 3"/>
          <p:cNvSpPr txBox="1"/>
          <p:nvPr/>
        </p:nvSpPr>
        <p:spPr>
          <a:xfrm>
            <a:off x="749748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الأدوار والمسؤوليات: الاعتماد والتكليف والمراجعة</a:t>
            </a:r>
          </a:p>
        </p:txBody>
      </p:sp>
      <p:sp>
        <p:nvSpPr>
          <p:cNvPr id="15" name="Rule 14"/>
          <p:cNvSpPr/>
          <p:nvPr/>
        </p:nvSpPr>
        <p:spPr>
          <a:xfrm>
            <a:off x="812800" y="2193131"/>
            <a:ext cx="2746772"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559572" y="2193131"/>
            <a:ext cx="3204666" cy="19050"/>
          </a:xfrm>
          <a:prstGeom prst="rect">
            <a:avLst/>
          </a:prstGeom>
          <a:solidFill>
            <a:srgbClr val="A6461A"/>
          </a:solidFill>
          <a:ln>
            <a:noFill/>
          </a:ln>
        </p:spPr>
        <p:txBody>
          <a:bodyPr rtlCol="0" anchor="ctr"/>
          <a:lstStyle/>
          <a:p>
            <a:pPr algn="ctr"/>
          </a:p>
        </p:txBody>
      </p:sp>
      <p:sp>
        <p:nvSpPr>
          <p:cNvPr id="18" name="Text 17"/>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6764238" y="2193131"/>
            <a:ext cx="3662462" cy="19050"/>
          </a:xfrm>
          <a:prstGeom prst="rect">
            <a:avLst/>
          </a:prstGeom>
          <a:solidFill>
            <a:srgbClr val="A6461A"/>
          </a:solidFill>
          <a:ln>
            <a:noFill/>
          </a:ln>
        </p:spPr>
        <p:txBody>
          <a:bodyPr rtlCol="0" anchor="ctr"/>
          <a:lstStyle/>
          <a:p>
            <a:pPr algn="ctr"/>
          </a:p>
        </p:txBody>
      </p:sp>
      <p:sp>
        <p:nvSpPr>
          <p:cNvPr id="20" name="Text 19"/>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2746772" cy="872430"/>
          </a:xfrm>
          <a:prstGeom prst="rect">
            <a:avLst/>
          </a:prstGeom>
          <a:solidFill>
            <a:srgbClr val="F6E6DC"/>
          </a:solidFill>
          <a:ln>
            <a:noFill/>
          </a:ln>
        </p:spPr>
        <p:txBody>
          <a:bodyPr rtlCol="0" anchor="ctr"/>
          <a:lstStyle/>
          <a:p>
            <a:pPr algn="ctr"/>
          </a:p>
        </p:txBody>
      </p:sp>
      <p:sp>
        <p:nvSpPr>
          <p:cNvPr id="24" name="Rule 23"/>
          <p:cNvSpPr/>
          <p:nvPr/>
        </p:nvSpPr>
        <p:spPr>
          <a:xfrm>
            <a:off x="812800" y="3078262"/>
            <a:ext cx="2746772" cy="6350"/>
          </a:xfrm>
          <a:prstGeom prst="rect">
            <a:avLst/>
          </a:prstGeom>
          <a:solidFill>
            <a:srgbClr val="DDD7CA"/>
          </a:solidFill>
          <a:ln>
            <a:noFill/>
          </a:ln>
        </p:spPr>
        <p:txBody>
          <a:bodyPr rtlCol="0" anchor="ctr"/>
          <a:lstStyle/>
          <a:p>
            <a:pPr algn="ctr"/>
          </a:p>
        </p:txBody>
      </p:sp>
      <p:sp>
        <p:nvSpPr>
          <p:cNvPr id="25" name="Text 24"/>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الوثيقة المعتمدة، والمصفوفة، وقرارات التكليف، والأوصاف الوظيفية</a:t>
            </a:r>
          </a:p>
        </p:txBody>
      </p:sp>
      <p:sp>
        <p:nvSpPr>
          <p:cNvPr id="26" name="Rule 25"/>
          <p:cNvSpPr/>
          <p:nvPr/>
        </p:nvSpPr>
        <p:spPr>
          <a:xfrm>
            <a:off x="3559572" y="3078262"/>
            <a:ext cx="3204666" cy="6350"/>
          </a:xfrm>
          <a:prstGeom prst="rect">
            <a:avLst/>
          </a:prstGeom>
          <a:solidFill>
            <a:srgbClr val="DDD7CA"/>
          </a:solidFill>
          <a:ln>
            <a:noFill/>
          </a:ln>
        </p:spPr>
        <p:txBody>
          <a:bodyPr rtlCol="0" anchor="ctr"/>
          <a:lstStyle/>
          <a:p>
            <a:pPr algn="ctr"/>
          </a:p>
        </p:txBody>
      </p:sp>
      <p:sp>
        <p:nvSpPr>
          <p:cNvPr id="27" name="Text 26"/>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وثيقة أدوار مع مصفوفة مسؤوليات لكل مكون فرعي، وتكليفات رسمية بالأسماء، وفحص لتعارض المصالح</a:t>
            </a:r>
          </a:p>
        </p:txBody>
      </p:sp>
      <p:sp>
        <p:nvSpPr>
          <p:cNvPr id="28" name="Rule 27"/>
          <p:cNvSpPr/>
          <p:nvPr/>
        </p:nvSpPr>
        <p:spPr>
          <a:xfrm>
            <a:off x="6764238" y="3078262"/>
            <a:ext cx="3662462" cy="6350"/>
          </a:xfrm>
          <a:prstGeom prst="rect">
            <a:avLst/>
          </a:prstGeom>
          <a:solidFill>
            <a:srgbClr val="DDD7CA"/>
          </a:solidFill>
          <a:ln>
            <a:noFill/>
          </a:ln>
        </p:spPr>
        <p:txBody>
          <a:bodyPr rtlCol="0" anchor="ctr"/>
          <a:lstStyle/>
          <a:p>
            <a:pPr algn="ctr"/>
          </a:p>
        </p:txBody>
      </p:sp>
      <p:sp>
        <p:nvSpPr>
          <p:cNvPr id="29" name="Text 28"/>
          <p:cNvSpPr txBox="1"/>
          <p:nvPr/>
        </p:nvSpPr>
        <p:spPr>
          <a:xfrm>
            <a:off x="6789638" y="2286349"/>
            <a:ext cx="3510062"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يحدد صاحب الصلاحية الهيكل التنظيمي للحوكمة والأدوار والمسؤوليات ويوثقها ويعتمدها، ويكلف الأشخاص ويقدم الدعم اللازم، دون تعارض مصالح</a:t>
            </a:r>
          </a:p>
        </p:txBody>
      </p:sp>
      <p:sp>
        <p:nvSpPr>
          <p:cNvPr id="30" name="Rule 29"/>
          <p:cNvSpPr/>
          <p:nvPr/>
        </p:nvSpPr>
        <p:spPr>
          <a:xfrm>
            <a:off x="10426700" y="307826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1-4-1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3" name="Box 32"/>
          <p:cNvSpPr/>
          <p:nvPr/>
        </p:nvSpPr>
        <p:spPr>
          <a:xfrm>
            <a:off x="812800" y="3084612"/>
            <a:ext cx="2746772" cy="835521"/>
          </a:xfrm>
          <a:prstGeom prst="rect">
            <a:avLst/>
          </a:prstGeom>
          <a:solidFill>
            <a:srgbClr val="F6E6DC"/>
          </a:solidFill>
          <a:ln>
            <a:noFill/>
          </a:ln>
        </p:spPr>
        <p:txBody>
          <a:bodyPr rtlCol="0" anchor="ctr"/>
          <a:lstStyle/>
          <a:p>
            <a:pPr algn="ctr"/>
          </a:p>
        </p:txBody>
      </p:sp>
      <p:sp>
        <p:nvSpPr>
          <p:cNvPr id="34" name="Rule 33"/>
          <p:cNvSpPr/>
          <p:nvPr/>
        </p:nvSpPr>
        <p:spPr>
          <a:xfrm>
            <a:off x="812800" y="3913783"/>
            <a:ext cx="2746772" cy="6350"/>
          </a:xfrm>
          <a:prstGeom prst="rect">
            <a:avLst/>
          </a:prstGeom>
          <a:solidFill>
            <a:srgbClr val="DDD7CA"/>
          </a:solidFill>
          <a:ln>
            <a:noFill/>
          </a:ln>
        </p:spPr>
        <p:txBody>
          <a:bodyPr rtlCol="0" anchor="ctr"/>
          <a:lstStyle/>
          <a:p>
            <a:pPr algn="ctr"/>
          </a:p>
        </p:txBody>
      </p:sp>
      <p:sp>
        <p:nvSpPr>
          <p:cNvPr id="35" name="Text 34"/>
          <p:cNvSpPr txBox="1"/>
          <p:nvPr/>
        </p:nvSpPr>
        <p:spPr>
          <a:xfrm>
            <a:off x="865017" y="315878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محضر المراجعة، والنسخة المحدثة، وتكليفات البدلاء</a:t>
            </a:r>
          </a:p>
        </p:txBody>
      </p:sp>
      <p:sp>
        <p:nvSpPr>
          <p:cNvPr id="36" name="Rule 35"/>
          <p:cNvSpPr/>
          <p:nvPr/>
        </p:nvSpPr>
        <p:spPr>
          <a:xfrm>
            <a:off x="3559572" y="3913783"/>
            <a:ext cx="3204666" cy="6350"/>
          </a:xfrm>
          <a:prstGeom prst="rect">
            <a:avLst/>
          </a:prstGeom>
          <a:solidFill>
            <a:srgbClr val="DDD7CA"/>
          </a:solidFill>
          <a:ln>
            <a:noFill/>
          </a:ln>
        </p:spPr>
        <p:txBody>
          <a:bodyPr rtlCol="0" anchor="ctr"/>
          <a:lstStyle/>
          <a:p>
            <a:pPr algn="ctr"/>
          </a:p>
        </p:txBody>
      </p:sp>
      <p:sp>
        <p:nvSpPr>
          <p:cNvPr id="37" name="Text 36"/>
          <p:cNvSpPr txBox="1"/>
          <p:nvPr/>
        </p:nvSpPr>
        <p:spPr>
          <a:xfrm>
            <a:off x="3598052" y="315878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عند كل تغيير تنظيمي وفي موعد مخطط، وتحديث التكليفات عند تغير الأشخاص</a:t>
            </a:r>
          </a:p>
        </p:txBody>
      </p:sp>
      <p:sp>
        <p:nvSpPr>
          <p:cNvPr id="38" name="Rule 37"/>
          <p:cNvSpPr/>
          <p:nvPr/>
        </p:nvSpPr>
        <p:spPr>
          <a:xfrm>
            <a:off x="6764238" y="3913783"/>
            <a:ext cx="3662462" cy="6350"/>
          </a:xfrm>
          <a:prstGeom prst="rect">
            <a:avLst/>
          </a:prstGeom>
          <a:solidFill>
            <a:srgbClr val="DDD7CA"/>
          </a:solidFill>
          <a:ln>
            <a:noFill/>
          </a:ln>
        </p:spPr>
        <p:txBody>
          <a:bodyPr rtlCol="0" anchor="ctr"/>
          <a:lstStyle/>
          <a:p>
            <a:pPr algn="ctr"/>
          </a:p>
        </p:txBody>
      </p:sp>
      <p:sp>
        <p:nvSpPr>
          <p:cNvPr id="39" name="Text 38"/>
          <p:cNvSpPr txBox="1"/>
          <p:nvPr/>
        </p:nvSpPr>
        <p:spPr>
          <a:xfrm>
            <a:off x="6789638" y="3158780"/>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الأدوار والمسؤوليات وتحديثها دورياً أو عند تغير المتطلبات</a:t>
            </a:r>
          </a:p>
        </p:txBody>
      </p:sp>
      <p:sp>
        <p:nvSpPr>
          <p:cNvPr id="40" name="Rule 39"/>
          <p:cNvSpPr/>
          <p:nvPr/>
        </p:nvSpPr>
        <p:spPr>
          <a:xfrm>
            <a:off x="10426700" y="391378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7548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1-4-2</a:t>
            </a:r>
          </a:p>
        </p:txBody>
      </p:sp>
      <p:sp>
        <p:nvSpPr>
          <p:cNvPr id="42" name="Text 41"/>
          <p:cNvSpPr txBox="1"/>
          <p:nvPr/>
        </p:nvSpPr>
        <p:spPr>
          <a:xfrm>
            <a:off x="10515600" y="338101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43" name="Text 42"/>
          <p:cNvSpPr txBox="1"/>
          <p:nvPr/>
        </p:nvSpPr>
        <p:spPr>
          <a:xfrm>
            <a:off x="0" y="477201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أطراف تغطيها الوثيقة عادة</a:t>
            </a:r>
          </a:p>
        </p:txBody>
      </p:sp>
      <p:sp>
        <p:nvSpPr>
          <p:cNvPr id="44" name="Text box 43"/>
          <p:cNvSpPr/>
          <p:nvPr/>
        </p:nvSpPr>
        <p:spPr>
          <a:xfrm>
            <a:off x="10162679" y="5101034"/>
            <a:ext cx="121334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صاحب الصلاحية</a:t>
            </a:r>
          </a:p>
        </p:txBody>
      </p:sp>
      <p:sp>
        <p:nvSpPr>
          <p:cNvPr id="45" name="Text box 44"/>
          <p:cNvSpPr/>
          <p:nvPr/>
        </p:nvSpPr>
        <p:spPr>
          <a:xfrm>
            <a:off x="8946852" y="5101034"/>
            <a:ext cx="112057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اللجنة الإشرافية</a:t>
            </a:r>
          </a:p>
        </p:txBody>
      </p:sp>
      <p:sp>
        <p:nvSpPr>
          <p:cNvPr id="46" name="Text box 45"/>
          <p:cNvSpPr/>
          <p:nvPr/>
        </p:nvSpPr>
        <p:spPr>
          <a:xfrm>
            <a:off x="7494687" y="5101034"/>
            <a:ext cx="135691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إدارة الأمن السيبراني</a:t>
            </a:r>
          </a:p>
        </p:txBody>
      </p:sp>
      <p:sp>
        <p:nvSpPr>
          <p:cNvPr id="47" name="Text box 46"/>
          <p:cNvSpPr/>
          <p:nvPr/>
        </p:nvSpPr>
        <p:spPr>
          <a:xfrm>
            <a:off x="6243241" y="5101034"/>
            <a:ext cx="115619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تقنية المعلومات</a:t>
            </a:r>
          </a:p>
        </p:txBody>
      </p:sp>
      <p:sp>
        <p:nvSpPr>
          <p:cNvPr id="48" name="Text box 47"/>
          <p:cNvSpPr/>
          <p:nvPr/>
        </p:nvSpPr>
        <p:spPr>
          <a:xfrm>
            <a:off x="5078512" y="5101034"/>
            <a:ext cx="106947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الموارد البشرية</a:t>
            </a:r>
          </a:p>
        </p:txBody>
      </p:sp>
      <p:sp>
        <p:nvSpPr>
          <p:cNvPr id="49" name="Text box 48"/>
          <p:cNvSpPr/>
          <p:nvPr/>
        </p:nvSpPr>
        <p:spPr>
          <a:xfrm>
            <a:off x="3578523" y="5101034"/>
            <a:ext cx="140473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القانونية والمشتريات</a:t>
            </a:r>
          </a:p>
        </p:txBody>
      </p:sp>
      <p:sp>
        <p:nvSpPr>
          <p:cNvPr id="50" name="Text box 49"/>
          <p:cNvSpPr/>
          <p:nvPr/>
        </p:nvSpPr>
        <p:spPr>
          <a:xfrm>
            <a:off x="2252662" y="5101034"/>
            <a:ext cx="123061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المراجعة الداخلية</a:t>
            </a:r>
          </a:p>
        </p:txBody>
      </p:sp>
      <p:sp>
        <p:nvSpPr>
          <p:cNvPr id="51" name="Text box 50"/>
          <p:cNvSpPr/>
          <p:nvPr/>
        </p:nvSpPr>
        <p:spPr>
          <a:xfrm>
            <a:off x="1175246" y="5101034"/>
            <a:ext cx="98216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ملاك الأصول</a:t>
            </a:r>
          </a:p>
        </p:txBody>
      </p:sp>
      <p:sp>
        <p:nvSpPr>
          <p:cNvPr id="52" name="Text box 51"/>
          <p:cNvSpPr/>
          <p:nvPr/>
        </p:nvSpPr>
        <p:spPr>
          <a:xfrm>
            <a:off x="10310316" y="5517555"/>
            <a:ext cx="106570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جميع العاملين</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8" name="Box 5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5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‎1-5‎ إدارة مخاطر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إدارة المخاطر السيبرانية بمنهجية لحماية الأصول المعلوماتية والتقنية للجهة.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تُصرف الميزانية على ما يخيف أكثر لا على ما يضر أكثر، وتُطلق خدمات وتوقَّع عقود دون معرفة مخاطرها.</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3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الفحص الطبي الدوري، وقبل أي عملية جراحية: نقيس ونقرر قبل أن نبدأ، لا بعد أن تقع المشكلة.</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3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طريقة منظمة لاكتشاف ما قد يضر الجهة، وتقدير احتماله وأثره، ثم تقرير ما نفعله تجاهه، وفي أوقات محددة منها قبل المشاريع والعقود الجديدة.</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سجل المخاطر</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قائمة المخاطر بتقييمها ومالكها ومعالجتها</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قبول المخاطر</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قرار معتمد بالتعايش مع خطر معروف</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خطة المعالجة</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إجراءات لخفض الخطر بموعد ومالك</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01249" y="812800"/>
            <a:ext cx="217795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‎1-5‎ · إدارة مخاطر الأمن السيبراني</a:t>
            </a:r>
          </a:p>
        </p:txBody>
      </p:sp>
      <p:sp>
        <p:nvSpPr>
          <p:cNvPr id="4" name="Text 3"/>
          <p:cNvSpPr txBox="1"/>
          <p:nvPr/>
        </p:nvSpPr>
        <p:spPr>
          <a:xfrm>
            <a:off x="781479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إدارة المخاطر: المنهجية والتطبيق والمراجعة</a:t>
            </a:r>
          </a:p>
        </p:txBody>
      </p:sp>
      <p:sp>
        <p:nvSpPr>
          <p:cNvPr id="20" name="Rule 19"/>
          <p:cNvSpPr/>
          <p:nvPr/>
        </p:nvSpPr>
        <p:spPr>
          <a:xfrm>
            <a:off x="812800" y="2193131"/>
            <a:ext cx="2746772"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A6461A"/>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A6461A"/>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872430"/>
          </a:xfrm>
          <a:prstGeom prst="rect">
            <a:avLst/>
          </a:prstGeom>
          <a:solidFill>
            <a:srgbClr val="F6E6DC"/>
          </a:solidFill>
          <a:ln>
            <a:noFill/>
          </a:ln>
        </p:spPr>
        <p:txBody>
          <a:bodyPr rtlCol="0" anchor="ctr"/>
          <a:lstStyle/>
          <a:p>
            <a:pPr algn="ctr"/>
          </a:p>
        </p:txBody>
      </p:sp>
      <p:sp>
        <p:nvSpPr>
          <p:cNvPr id="29" name="Rule 28"/>
          <p:cNvSpPr/>
          <p:nvPr/>
        </p:nvSpPr>
        <p:spPr>
          <a:xfrm>
            <a:off x="812800" y="307826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المنهجية المعتمدة، ومعايير الأثر والاحتمالية، ونموذج سجل المخاطر</a:t>
            </a:r>
          </a:p>
        </p:txBody>
      </p:sp>
      <p:sp>
        <p:nvSpPr>
          <p:cNvPr id="31" name="Rule 30"/>
          <p:cNvSpPr/>
          <p:nvPr/>
        </p:nvSpPr>
        <p:spPr>
          <a:xfrm>
            <a:off x="3559572" y="307826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منهجية متوافقة مع الإطار الوطني لإدارة المخاطر: معايير الأثر والاحتمالية، ومصفوفة، ومستوى مقبول، وأدوار</a:t>
            </a:r>
          </a:p>
        </p:txBody>
      </p:sp>
      <p:sp>
        <p:nvSpPr>
          <p:cNvPr id="33" name="Rule 32"/>
          <p:cNvSpPr/>
          <p:nvPr/>
        </p:nvSpPr>
        <p:spPr>
          <a:xfrm>
            <a:off x="6764238" y="307826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منهجية وإجراءات لإدارة المخاطر موثقة ومعتمدة، تراعي السرية والسلامة والتوافر</a:t>
            </a:r>
          </a:p>
        </p:txBody>
      </p:sp>
      <p:sp>
        <p:nvSpPr>
          <p:cNvPr id="35" name="Rule 34"/>
          <p:cNvSpPr/>
          <p:nvPr/>
        </p:nvSpPr>
        <p:spPr>
          <a:xfrm>
            <a:off x="10426700" y="307826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84612"/>
            <a:ext cx="2746772" cy="651470"/>
          </a:xfrm>
          <a:prstGeom prst="rect">
            <a:avLst/>
          </a:prstGeom>
          <a:solidFill>
            <a:srgbClr val="F6E6DC"/>
          </a:solidFill>
          <a:ln>
            <a:noFill/>
          </a:ln>
        </p:spPr>
        <p:txBody>
          <a:bodyPr rtlCol="0" anchor="ctr"/>
          <a:lstStyle/>
          <a:p>
            <a:pPr algn="ctr"/>
          </a:p>
        </p:txBody>
      </p:sp>
      <p:sp>
        <p:nvSpPr>
          <p:cNvPr id="39" name="Rule 38"/>
          <p:cNvSpPr/>
          <p:nvPr/>
        </p:nvSpPr>
        <p:spPr>
          <a:xfrm>
            <a:off x="812800" y="3729732"/>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315878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التقييم، وسجل المخاطر المحدث، وخطط المعالجة ومتابعتها</a:t>
            </a:r>
          </a:p>
        </p:txBody>
      </p:sp>
      <p:sp>
        <p:nvSpPr>
          <p:cNvPr id="41" name="Rule 40"/>
          <p:cNvSpPr/>
          <p:nvPr/>
        </p:nvSpPr>
        <p:spPr>
          <a:xfrm>
            <a:off x="3559572" y="3729732"/>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315878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تقييمات دورية للأصول والخدمات المهمة، وسجل مخاطر حي، وخطط معالجة بمالكين ومواعيد</a:t>
            </a:r>
          </a:p>
        </p:txBody>
      </p:sp>
      <p:sp>
        <p:nvSpPr>
          <p:cNvPr id="43" name="Rule 42"/>
          <p:cNvSpPr/>
          <p:nvPr/>
        </p:nvSpPr>
        <p:spPr>
          <a:xfrm>
            <a:off x="6764238" y="3729732"/>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15878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المنهجية والإجراءات</a:t>
            </a:r>
          </a:p>
        </p:txBody>
      </p:sp>
      <p:sp>
        <p:nvSpPr>
          <p:cNvPr id="45" name="Rule 44"/>
          <p:cNvSpPr/>
          <p:nvPr/>
        </p:nvSpPr>
        <p:spPr>
          <a:xfrm>
            <a:off x="10426700" y="372973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7548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1-5-2</a:t>
            </a:r>
          </a:p>
        </p:txBody>
      </p:sp>
      <p:sp>
        <p:nvSpPr>
          <p:cNvPr id="47" name="Text 46"/>
          <p:cNvSpPr txBox="1"/>
          <p:nvPr/>
        </p:nvSpPr>
        <p:spPr>
          <a:xfrm>
            <a:off x="10462260" y="338101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736082"/>
            <a:ext cx="2746772" cy="872430"/>
          </a:xfrm>
          <a:prstGeom prst="rect">
            <a:avLst/>
          </a:prstGeom>
          <a:solidFill>
            <a:srgbClr val="F6E6DC"/>
          </a:solidFill>
          <a:ln>
            <a:noFill/>
          </a:ln>
        </p:spPr>
        <p:txBody>
          <a:bodyPr rtlCol="0" anchor="ctr"/>
          <a:lstStyle/>
          <a:p>
            <a:pPr algn="ctr"/>
          </a:p>
        </p:txBody>
      </p:sp>
      <p:sp>
        <p:nvSpPr>
          <p:cNvPr id="49" name="Rule 48"/>
          <p:cNvSpPr/>
          <p:nvPr/>
        </p:nvSpPr>
        <p:spPr>
          <a:xfrm>
            <a:off x="812800" y="4602162"/>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381025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محضر المراجعة، وسجل التغييرات، والاعتماد الجديد</a:t>
            </a:r>
          </a:p>
        </p:txBody>
      </p:sp>
      <p:sp>
        <p:nvSpPr>
          <p:cNvPr id="51" name="Rule 50"/>
          <p:cNvSpPr/>
          <p:nvPr/>
        </p:nvSpPr>
        <p:spPr>
          <a:xfrm>
            <a:off x="3559572" y="4602162"/>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81025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بعد كل دورة تقييم، وعند صدور متطلبات أو معايير جديدة</a:t>
            </a:r>
          </a:p>
        </p:txBody>
      </p:sp>
      <p:sp>
        <p:nvSpPr>
          <p:cNvPr id="53" name="Rule 52"/>
          <p:cNvSpPr/>
          <p:nvPr/>
        </p:nvSpPr>
        <p:spPr>
          <a:xfrm>
            <a:off x="6764238" y="4602162"/>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810250"/>
            <a:ext cx="3510062"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المنهجية والإجراءات وتحديثها على فترات زمنية مخطط لها أو عند تغير المتطلبات التشريعية والتنظيمية والمعايير، مع توثيق التغييرات واعتمادها</a:t>
            </a:r>
          </a:p>
        </p:txBody>
      </p:sp>
      <p:sp>
        <p:nvSpPr>
          <p:cNvPr id="55" name="Rule 54"/>
          <p:cNvSpPr/>
          <p:nvPr/>
        </p:nvSpPr>
        <p:spPr>
          <a:xfrm>
            <a:off x="10426700" y="460216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82695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1-5-4</a:t>
            </a:r>
          </a:p>
        </p:txBody>
      </p:sp>
      <p:sp>
        <p:nvSpPr>
          <p:cNvPr id="57" name="Text 56"/>
          <p:cNvSpPr txBox="1"/>
          <p:nvPr/>
        </p:nvSpPr>
        <p:spPr>
          <a:xfrm>
            <a:off x="10515600" y="403248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8" name="Text 5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9" name="Box 5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63" name="Box 6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4" name="Box 6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5" name="Box 6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Box 6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Text 6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01249" y="812800"/>
            <a:ext cx="217795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‎1-5‎ · إدارة مخاطر الأمن السيبراني</a:t>
            </a:r>
          </a:p>
        </p:txBody>
      </p:sp>
      <p:sp>
        <p:nvSpPr>
          <p:cNvPr id="4" name="Text 3"/>
          <p:cNvSpPr txBox="1"/>
          <p:nvPr/>
        </p:nvSpPr>
        <p:spPr>
          <a:xfrm>
            <a:off x="781479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‎1-5-3‎: متى يجب تقييم المخاطر</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تقييمات لعينة مشاريع، مؤرخة قبل مرحلة التصميم</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بوابة إلزامية في منهجية المشاريع: لا تصميم قبل تقييم المخاطر</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في المراحل المبكرة لمشاريع التقنية</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1-5-3-1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حالات التقييم</a:t>
            </a:r>
          </a:p>
        </p:txBody>
      </p:sp>
      <p:sp>
        <p:nvSpPr>
          <p:cNvPr id="38" name="Box 37"/>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9" name="Rule 38"/>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طلبات تغيير جوهرية مرفق بها تقييم سابق للموافقة</a:t>
            </a:r>
          </a:p>
        </p:txBody>
      </p:sp>
      <p:sp>
        <p:nvSpPr>
          <p:cNvPr id="41" name="Rule 40"/>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حقل إلزامي في طلب التغيير، مع تعريف معتمد للتغيير الجوهري</a:t>
            </a:r>
          </a:p>
        </p:txBody>
      </p:sp>
      <p:sp>
        <p:nvSpPr>
          <p:cNvPr id="43" name="Rule 42"/>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قبل التغييرات الجوهرية في البنية التقنية</a:t>
            </a:r>
          </a:p>
        </p:txBody>
      </p:sp>
      <p:sp>
        <p:nvSpPr>
          <p:cNvPr id="45" name="Rule 44"/>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1-5-3-2</a:t>
            </a:r>
          </a:p>
        </p:txBody>
      </p:sp>
      <p:sp>
        <p:nvSpPr>
          <p:cNvPr id="47" name="Text 46"/>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حالات التقييم</a:t>
            </a:r>
          </a:p>
        </p:txBody>
      </p:sp>
      <p:sp>
        <p:nvSpPr>
          <p:cNvPr id="48" name="Box 47"/>
          <p:cNvSpPr/>
          <p:nvPr/>
        </p:nvSpPr>
        <p:spPr>
          <a:xfrm>
            <a:off x="812800" y="3883223"/>
            <a:ext cx="3051969" cy="835521"/>
          </a:xfrm>
          <a:prstGeom prst="rect">
            <a:avLst/>
          </a:prstGeom>
          <a:solidFill>
            <a:srgbClr val="F6E6DC"/>
          </a:solidFill>
          <a:ln>
            <a:noFill/>
          </a:ln>
        </p:spPr>
        <p:txBody>
          <a:bodyPr rtlCol="0" anchor="ctr"/>
          <a:lstStyle/>
          <a:p>
            <a:pPr algn="ctr"/>
          </a:p>
        </p:txBody>
      </p:sp>
      <p:sp>
        <p:nvSpPr>
          <p:cNvPr id="49" name="Rule 48"/>
          <p:cNvSpPr/>
          <p:nvPr/>
        </p:nvSpPr>
        <p:spPr>
          <a:xfrm>
            <a:off x="812800" y="4712395"/>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9573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تقييمات لعقود حديثة، مؤرخة قبل التوقيع</a:t>
            </a:r>
          </a:p>
        </p:txBody>
      </p:sp>
      <p:sp>
        <p:nvSpPr>
          <p:cNvPr id="51" name="Rule 50"/>
          <p:cNvSpPr/>
          <p:nvPr/>
        </p:nvSpPr>
        <p:spPr>
          <a:xfrm>
            <a:off x="3864769" y="4712395"/>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0169" y="395739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خطوة إلزامية في إجراء المشتريات قبل الطرح أو الترسية</a:t>
            </a:r>
          </a:p>
        </p:txBody>
      </p:sp>
      <p:sp>
        <p:nvSpPr>
          <p:cNvPr id="53" name="Rule 52"/>
          <p:cNvSpPr/>
          <p:nvPr/>
        </p:nvSpPr>
        <p:spPr>
          <a:xfrm>
            <a:off x="7374632" y="4712395"/>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95739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عند التخطيط للحصول على خدمات طرف خارجي</a:t>
            </a:r>
          </a:p>
        </p:txBody>
      </p:sp>
      <p:sp>
        <p:nvSpPr>
          <p:cNvPr id="55" name="Rule 54"/>
          <p:cNvSpPr/>
          <p:nvPr/>
        </p:nvSpPr>
        <p:spPr>
          <a:xfrm>
            <a:off x="10426700" y="4712395"/>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9740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1-5-3-3</a:t>
            </a:r>
          </a:p>
        </p:txBody>
      </p:sp>
      <p:sp>
        <p:nvSpPr>
          <p:cNvPr id="57" name="Text 56"/>
          <p:cNvSpPr txBox="1"/>
          <p:nvPr/>
        </p:nvSpPr>
        <p:spPr>
          <a:xfrm>
            <a:off x="10515600" y="41796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حالات التقييم</a:t>
            </a:r>
          </a:p>
        </p:txBody>
      </p:sp>
      <p:sp>
        <p:nvSpPr>
          <p:cNvPr id="58" name="Box 57"/>
          <p:cNvSpPr/>
          <p:nvPr/>
        </p:nvSpPr>
        <p:spPr>
          <a:xfrm>
            <a:off x="812800" y="4718745"/>
            <a:ext cx="3051969" cy="835521"/>
          </a:xfrm>
          <a:prstGeom prst="rect">
            <a:avLst/>
          </a:prstGeom>
          <a:solidFill>
            <a:srgbClr val="F6E6DC"/>
          </a:solidFill>
          <a:ln>
            <a:noFill/>
          </a:ln>
        </p:spPr>
        <p:txBody>
          <a:bodyPr rtlCol="0" anchor="ctr"/>
          <a:lstStyle/>
          <a:p>
            <a:pPr algn="ctr"/>
          </a:p>
        </p:txBody>
      </p:sp>
      <p:sp>
        <p:nvSpPr>
          <p:cNvPr id="59" name="Rule 58"/>
          <p:cNvSpPr/>
          <p:nvPr/>
        </p:nvSpPr>
        <p:spPr>
          <a:xfrm>
            <a:off x="812800" y="5547916"/>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792913"/>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معتمد وموافقة إطلاق لخدمة جديدة</a:t>
            </a:r>
          </a:p>
        </p:txBody>
      </p:sp>
      <p:sp>
        <p:nvSpPr>
          <p:cNvPr id="61" name="Rule 60"/>
          <p:cNvSpPr/>
          <p:nvPr/>
        </p:nvSpPr>
        <p:spPr>
          <a:xfrm>
            <a:off x="3864769" y="5547916"/>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792913"/>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تحقق إطلاق تشترط تقييم مخاطر معتمداً</a:t>
            </a:r>
          </a:p>
        </p:txBody>
      </p:sp>
      <p:sp>
        <p:nvSpPr>
          <p:cNvPr id="63" name="Rule 62"/>
          <p:cNvSpPr/>
          <p:nvPr/>
        </p:nvSpPr>
        <p:spPr>
          <a:xfrm>
            <a:off x="7374632" y="5547916"/>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792913"/>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عند التخطيط لخدمات أو منتجات تقنية جديدة وقبل إطلاقها</a:t>
            </a:r>
          </a:p>
        </p:txBody>
      </p:sp>
      <p:sp>
        <p:nvSpPr>
          <p:cNvPr id="65" name="Rule 64"/>
          <p:cNvSpPr/>
          <p:nvPr/>
        </p:nvSpPr>
        <p:spPr>
          <a:xfrm>
            <a:off x="10426700" y="5547916"/>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809613"/>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1-5-3-4</a:t>
            </a:r>
          </a:p>
        </p:txBody>
      </p:sp>
      <p:sp>
        <p:nvSpPr>
          <p:cNvPr id="67" name="Text 66"/>
          <p:cNvSpPr txBox="1"/>
          <p:nvPr/>
        </p:nvSpPr>
        <p:spPr>
          <a:xfrm>
            <a:off x="10515600" y="5015143"/>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حالات التقييم</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01249" y="812800"/>
            <a:ext cx="217795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‎1-5‎ · إدارة مخاطر الأمن السيبراني</a:t>
            </a:r>
          </a:p>
        </p:txBody>
      </p:sp>
      <p:sp>
        <p:nvSpPr>
          <p:cNvPr id="4" name="Text 3"/>
          <p:cNvSpPr txBox="1"/>
          <p:nvPr/>
        </p:nvSpPr>
        <p:spPr>
          <a:xfrm>
            <a:off x="781479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سجل مخاطر حي</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89144" y="1852811"/>
            <a:ext cx="63500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1-5-2</a:t>
            </a:r>
          </a:p>
        </p:txBody>
      </p:sp>
      <p:sp>
        <p:nvSpPr>
          <p:cNvPr id="23" name="Text box 22"/>
          <p:cNvSpPr/>
          <p:nvPr/>
        </p:nvSpPr>
        <p:spPr>
          <a:xfrm>
            <a:off x="7690644" y="1852811"/>
            <a:ext cx="63500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1-5-1</a:t>
            </a:r>
          </a:p>
        </p:txBody>
      </p:sp>
      <p:sp>
        <p:nvSpPr>
          <p:cNvPr id="24" name="Text 23"/>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5" name="Box 24"/>
          <p:cNvSpPr/>
          <p:nvPr/>
        </p:nvSpPr>
        <p:spPr>
          <a:xfrm>
            <a:off x="11125200" y="2518172"/>
            <a:ext cx="254000" cy="254000"/>
          </a:xfrm>
          <a:prstGeom prst="roundRect">
            <a:avLst>
              <a:gd name="adj" fmla="val 50000"/>
            </a:avLst>
          </a:prstGeom>
          <a:solidFill>
            <a:srgbClr val="A6461A"/>
          </a:solidFill>
          <a:ln>
            <a:noFill/>
          </a:ln>
        </p:spPr>
        <p:txBody>
          <a:bodyPr rtlCol="0" anchor="ctr"/>
          <a:lstStyle/>
          <a:p>
            <a:pPr algn="ctr"/>
          </a:p>
        </p:txBody>
      </p:sp>
      <p:sp>
        <p:nvSpPr>
          <p:cNvPr id="26" name="Text 25"/>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7" name="Text 26"/>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خطر مكتوب كجملة واضحة، بمستوى ومالك.</a:t>
            </a:r>
          </a:p>
        </p:txBody>
      </p:sp>
      <p:sp>
        <p:nvSpPr>
          <p:cNvPr id="28" name="Box 27"/>
          <p:cNvSpPr/>
          <p:nvPr/>
        </p:nvSpPr>
        <p:spPr>
          <a:xfrm>
            <a:off x="11125200" y="2835672"/>
            <a:ext cx="254000" cy="254000"/>
          </a:xfrm>
          <a:prstGeom prst="roundRect">
            <a:avLst>
              <a:gd name="adj" fmla="val 50000"/>
            </a:avLst>
          </a:prstGeom>
          <a:solidFill>
            <a:srgbClr val="A6461A"/>
          </a:solidFill>
          <a:ln>
            <a:noFill/>
          </a:ln>
        </p:spPr>
        <p:txBody>
          <a:bodyPr rtlCol="0" anchor="ctr"/>
          <a:lstStyle/>
          <a:p>
            <a:pPr algn="ctr"/>
          </a:p>
        </p:txBody>
      </p:sp>
      <p:sp>
        <p:nvSpPr>
          <p:cNvPr id="29" name="Text 28"/>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0" name="Text 29"/>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لكل خطر حالة: معالجة بموعد، أو قبول معتمد.</a:t>
            </a:r>
          </a:p>
        </p:txBody>
      </p:sp>
      <p:sp>
        <p:nvSpPr>
          <p:cNvPr id="31" name="Box 30"/>
          <p:cNvSpPr/>
          <p:nvPr/>
        </p:nvSpPr>
        <p:spPr>
          <a:xfrm>
            <a:off x="11125200" y="3153172"/>
            <a:ext cx="254000" cy="254000"/>
          </a:xfrm>
          <a:prstGeom prst="roundRect">
            <a:avLst>
              <a:gd name="adj" fmla="val 50000"/>
            </a:avLst>
          </a:prstGeom>
          <a:solidFill>
            <a:srgbClr val="A6461A"/>
          </a:solidFill>
          <a:ln>
            <a:noFill/>
          </a:ln>
        </p:spPr>
        <p:txBody>
          <a:bodyPr rtlCol="0" anchor="ctr"/>
          <a:lstStyle/>
          <a:p>
            <a:pPr algn="ctr"/>
          </a:p>
        </p:txBody>
      </p:sp>
      <p:sp>
        <p:nvSpPr>
          <p:cNvPr id="32" name="Text 31"/>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3" name="Text 32"/>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تاريخ تحديث حديث في عنوان السجل.</a:t>
            </a:r>
          </a:p>
        </p:txBody>
      </p:sp>
      <p:sp>
        <p:nvSpPr>
          <p:cNvPr id="34" name="Rule 33"/>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5" name="Text 34"/>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6" name="Icon CheckCircle 35" descr="icon033.png"/>
          <p:cNvPicPr>
            <a:picLocks noChangeAspect="1"/>
          </p:cNvPicPr>
          <p:nvPr/>
        </p:nvPicPr>
        <p:blipFill>
          <a:blip r:embed="rId3"/>
          <a:stretch>
            <a:fillRect/>
          </a:stretch>
        </p:blipFill>
        <p:spPr>
          <a:xfrm>
            <a:off x="11150600" y="3880842"/>
            <a:ext cx="203200" cy="203200"/>
          </a:xfrm>
          <a:prstGeom prst="rect">
            <a:avLst/>
          </a:prstGeom>
        </p:spPr>
      </p:pic>
      <p:sp>
        <p:nvSpPr>
          <p:cNvPr id="37" name="Text 36"/>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السجل يُحدَّث فعلاً، بتواريخ متغيرة عبر الزمن.</a:t>
            </a:r>
          </a:p>
        </p:txBody>
      </p:sp>
      <p:pic>
        <p:nvPicPr>
          <p:cNvPr id="38" name="Icon CheckCircle 37" descr="icon033.png"/>
          <p:cNvPicPr>
            <a:picLocks noChangeAspect="1"/>
          </p:cNvPicPr>
          <p:nvPr/>
        </p:nvPicPr>
        <p:blipFill>
          <a:blip r:embed="rId3"/>
          <a:stretch>
            <a:fillRect/>
          </a:stretch>
        </p:blipFill>
        <p:spPr>
          <a:xfrm>
            <a:off x="11150600" y="4185642"/>
            <a:ext cx="203200" cy="203200"/>
          </a:xfrm>
          <a:prstGeom prst="rect">
            <a:avLst/>
          </a:prstGeom>
        </p:spPr>
      </p:pic>
      <p:sp>
        <p:nvSpPr>
          <p:cNvPr id="39" name="Text 38"/>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قبول المخاطر معتمد ممن يملك الصلاحية بحسب المنهجية.</a:t>
            </a:r>
          </a:p>
        </p:txBody>
      </p:sp>
      <p:pic>
        <p:nvPicPr>
          <p:cNvPr id="40" name="Icon CheckCircle 39" descr="icon033.png"/>
          <p:cNvPicPr>
            <a:picLocks noChangeAspect="1"/>
          </p:cNvPicPr>
          <p:nvPr/>
        </p:nvPicPr>
        <p:blipFill>
          <a:blip r:embed="rId3"/>
          <a:stretch>
            <a:fillRect/>
          </a:stretch>
        </p:blipFill>
        <p:spPr>
          <a:xfrm>
            <a:off x="11150600" y="4490442"/>
            <a:ext cx="203200" cy="203200"/>
          </a:xfrm>
          <a:prstGeom prst="rect">
            <a:avLst/>
          </a:prstGeom>
        </p:spPr>
      </p:pic>
      <p:sp>
        <p:nvSpPr>
          <p:cNvPr id="41" name="Text 40"/>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المخاطر العالية لها خطط معالجة يظهر تقدمها.</a:t>
            </a:r>
          </a:p>
        </p:txBody>
      </p:sp>
      <p:sp>
        <p:nvSpPr>
          <p:cNvPr id="42" name="Box 41"/>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3" name="Icon Warning 42" descr="icon028.png"/>
          <p:cNvPicPr>
            <a:picLocks noChangeAspect="1"/>
          </p:cNvPicPr>
          <p:nvPr/>
        </p:nvPicPr>
        <p:blipFill>
          <a:blip r:embed="rId4"/>
          <a:stretch>
            <a:fillRect/>
          </a:stretch>
        </p:blipFill>
        <p:spPr>
          <a:xfrm>
            <a:off x="11074400" y="5311180"/>
            <a:ext cx="190500" cy="190500"/>
          </a:xfrm>
          <a:prstGeom prst="rect">
            <a:avLst/>
          </a:prstGeom>
        </p:spPr>
      </p:pic>
      <p:sp>
        <p:nvSpPr>
          <p:cNvPr id="44" name="Text 43"/>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السجل يثبت أن المخاطر موثقة ومتابعة، ولا يثبت اكتمالها؛ يُقارن بنطاق التقييم والمنهجية المعتمدة.</a:t>
            </a:r>
          </a:p>
        </p:txBody>
      </p:sp>
      <p:sp>
        <p:nvSpPr>
          <p:cNvPr id="45" name="Box 44"/>
          <p:cNvSpPr/>
          <p:nvPr/>
        </p:nvSpPr>
        <p:spPr>
          <a:xfrm>
            <a:off x="815975" y="1855986"/>
            <a:ext cx="5556250" cy="2827139"/>
          </a:xfrm>
          <a:prstGeom prst="roundRect">
            <a:avLst>
              <a:gd name="adj" fmla="val 3585"/>
            </a:avLst>
          </a:prstGeom>
          <a:solidFill>
            <a:srgbClr val="FBFAF7"/>
          </a:solidFill>
          <a:ln w="6350">
            <a:solidFill>
              <a:srgbClr val="DDD7CA"/>
            </a:solidFill>
          </a:ln>
        </p:spPr>
        <p:txBody>
          <a:bodyPr rtlCol="0" anchor="ctr"/>
          <a:lstStyle/>
          <a:p>
            <a:pPr algn="ctr"/>
          </a:p>
        </p:txBody>
      </p:sp>
      <p:sp>
        <p:nvSpPr>
          <p:cNvPr id="46" name="Box 45"/>
          <p:cNvSpPr/>
          <p:nvPr/>
        </p:nvSpPr>
        <p:spPr>
          <a:xfrm>
            <a:off x="819150" y="1859161"/>
            <a:ext cx="55499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7" name="Box 46"/>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8" name="Box 47"/>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9" name="Box 48"/>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50" name="Text 49"/>
          <p:cNvSpPr txBox="1"/>
          <p:nvPr/>
        </p:nvSpPr>
        <p:spPr>
          <a:xfrm>
            <a:off x="2786047" y="1919359"/>
            <a:ext cx="3456003"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سجل مخاطر الأمن السيبراني · آخر تحديث ‎2026-09-30‎</a:t>
            </a:r>
          </a:p>
        </p:txBody>
      </p:sp>
      <p:graphicFrame>
        <p:nvGraphicFramePr>
          <p:cNvPr id="51" name="Table 50"/>
          <p:cNvGraphicFramePr>
            <a:graphicFrameLocks noGrp="1"/>
          </p:cNvGraphicFramePr>
          <p:nvPr/>
        </p:nvGraphicFramePr>
        <p:xfrm>
          <a:off x="962025" y="2339777"/>
          <a:ext cx="5264150" cy="2209998"/>
        </p:xfrm>
        <a:graphic>
          <a:graphicData uri="http://schemas.openxmlformats.org/drawingml/2006/table">
            <a:tbl>
              <a:tblPr firstRow="0" bandRow="0" lastRow="0" firstCol="0" lastCol="0" bandCol="0">
                <a:tableStyleId>{2D5ABB26-0587-4C30-8999-92F81FD0307C}</a:tableStyleId>
              </a:tblPr>
              <a:tblGrid>
                <a:gridCol w="1539875"/>
                <a:gridCol w="1041400"/>
                <a:gridCol w="736600"/>
                <a:gridCol w="1946275"/>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المالك</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المستوى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الخطر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معالجة · ‎2026-11‎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البنية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عالٍ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حسابات مميزة بلا تحقق متعدد العوامل</a:t>
                      </a:r>
                    </a:p>
                  </a:txBody>
                  <a:tcPr marT="64237" marR="91440" marB="42443" marL="38535"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معالجة · ‎2027-01‎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 الأنظمة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عالٍ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نسخ احتياطية متصلة بالشبكة فقط</a:t>
                      </a:r>
                    </a:p>
                  </a:txBody>
                  <a:tcPr marT="64237" marR="91440" marB="42443" marL="38535"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معالجة · ‎2026-12‎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المشتريات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متوسط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مورد دعم فني بدخول عن بعد دائم</a:t>
                      </a:r>
                    </a:p>
                  </a:txBody>
                  <a:tcPr marT="64237" marR="91440" marB="42443" marL="38535"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قبول مؤقت معتمد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مالك التطبيق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متوسط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خادم قديم لا يدعمه المورد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52" name="Text 51"/>
          <p:cNvSpPr txBox="1"/>
          <p:nvPr/>
        </p:nvSpPr>
        <p:spPr>
          <a:xfrm>
            <a:off x="367792" y="4751578"/>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8" name="Box 5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6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‎1-6‎ الأمن السيبراني في إدارة المشاريع</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تضمين متطلبات الأمن السيبراني في منهجية المشاريع وإجراءاتها لحماية الأصول المعلوماتية والتقنية.</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9.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أنظمة تُطلق بثغرات معروفة وإعدادات افتراضية، ثم تُكتشف بعد أن تصبح في الإنتاج ويصعب إصلاحها.</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30.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اشتراطات الدفاع المدني في البناء: تُراعى في المخطط من البداية، فإضافتها بعد البناء أصعب وأغلى.</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31.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إدخال متطلبات الأمن في كل مشروع تقني وكل تغيير من بدايته، وفحصه قبل الإطلاق، وتطوير البرمجيات بطريقة آمنة.</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إدارة التغيير</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إجراء لاعتماد أي تعديل على الأنظمة</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بوابة الإطلاق</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فحص يجب اجتيازه قبل التشغيل</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التطوير الآمن</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برمجة بممارسات تمنع الثغرات</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92877" y="812800"/>
            <a:ext cx="2486323"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‎1-6‎ · الأمن السيبراني في إدارة المشاريع</a:t>
            </a:r>
          </a:p>
        </p:txBody>
      </p:sp>
      <p:sp>
        <p:nvSpPr>
          <p:cNvPr id="4" name="Text 3"/>
          <p:cNvSpPr txBox="1"/>
          <p:nvPr/>
        </p:nvSpPr>
        <p:spPr>
          <a:xfrm>
            <a:off x="7506418"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2459137"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025378"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069828" y="894060"/>
            <a:ext cx="127000" cy="127000"/>
          </a:xfrm>
          <a:prstGeom prst="rect">
            <a:avLst/>
          </a:prstGeom>
        </p:spPr>
      </p:pic>
      <p:sp>
        <p:nvSpPr>
          <p:cNvPr id="8" name="Text 7"/>
          <p:cNvSpPr txBox="1"/>
          <p:nvPr/>
        </p:nvSpPr>
        <p:spPr>
          <a:xfrm>
            <a:off x="2485172"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278162"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967012"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992412"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3</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الأمن في المشاريع وإدارة التغيير</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منهجية المشاريع وإجراء التغيير المحدثان، وعينة مشاريع بمتطلبات أمنية</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متطلبات أمنية في كل مرحلة من دورة المشروع، وممثل للأمن السيبراني في لجنة التغيير</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تضمين المتطلبات في منهجية المشاريع وإدارة التغيير، كجزء أساسي من متطلبات المشروع</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3" name="Box 32"/>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4" name="Rule 33"/>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فحص قبل الإطلاق، ودليل المعالجة أو قبول المخاطر</a:t>
            </a:r>
          </a:p>
        </p:txBody>
      </p:sp>
      <p:sp>
        <p:nvSpPr>
          <p:cNvPr id="36" name="Rule 35"/>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فحص ثغرات إلزامي قبل الإطلاق، وإغلاق الحرجة والعالية قبل التشغيل</a:t>
            </a:r>
          </a:p>
        </p:txBody>
      </p:sp>
      <p:sp>
        <p:nvSpPr>
          <p:cNvPr id="38" name="Rule 37"/>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تقييم الثغرات ومعالجتها في المشاريع والتغييرات</a:t>
            </a:r>
          </a:p>
        </p:txBody>
      </p:sp>
      <p:sp>
        <p:nvSpPr>
          <p:cNvPr id="40" name="Rule 39"/>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1-6-2-1</a:t>
            </a:r>
          </a:p>
        </p:txBody>
      </p:sp>
      <p:sp>
        <p:nvSpPr>
          <p:cNvPr id="42" name="Text 41"/>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بوابة الإطلاق</a:t>
            </a:r>
          </a:p>
        </p:txBody>
      </p:sp>
      <p:sp>
        <p:nvSpPr>
          <p:cNvPr id="43" name="Box 42"/>
          <p:cNvSpPr/>
          <p:nvPr/>
        </p:nvSpPr>
        <p:spPr>
          <a:xfrm>
            <a:off x="812800" y="3883223"/>
            <a:ext cx="3051969" cy="835521"/>
          </a:xfrm>
          <a:prstGeom prst="rect">
            <a:avLst/>
          </a:prstGeom>
          <a:solidFill>
            <a:srgbClr val="F6E6DC"/>
          </a:solidFill>
          <a:ln>
            <a:noFill/>
          </a:ln>
        </p:spPr>
        <p:txBody>
          <a:bodyPr rtlCol="0" anchor="ctr"/>
          <a:lstStyle/>
          <a:p>
            <a:pPr algn="ctr"/>
          </a:p>
        </p:txBody>
      </p:sp>
      <p:sp>
        <p:nvSpPr>
          <p:cNvPr id="44" name="Rule 43"/>
          <p:cNvSpPr/>
          <p:nvPr/>
        </p:nvSpPr>
        <p:spPr>
          <a:xfrm>
            <a:off x="812800" y="4712395"/>
            <a:ext cx="3051969" cy="6350"/>
          </a:xfrm>
          <a:prstGeom prst="rect">
            <a:avLst/>
          </a:prstGeom>
          <a:solidFill>
            <a:srgbClr val="DDD7CA"/>
          </a:solidFill>
          <a:ln>
            <a:noFill/>
          </a:ln>
        </p:spPr>
        <p:txBody>
          <a:bodyPr rtlCol="0" anchor="ctr"/>
          <a:lstStyle/>
          <a:p>
            <a:pPr algn="ctr"/>
          </a:p>
        </p:txBody>
      </p:sp>
      <p:sp>
        <p:nvSpPr>
          <p:cNvPr id="45" name="Text 44"/>
          <p:cNvSpPr txBox="1"/>
          <p:nvPr/>
        </p:nvSpPr>
        <p:spPr>
          <a:xfrm>
            <a:off x="838200" y="39573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قوائم تحقق موقعة لعينة من المشاريع والتغييرات</a:t>
            </a:r>
          </a:p>
        </p:txBody>
      </p:sp>
      <p:sp>
        <p:nvSpPr>
          <p:cNvPr id="46" name="Rule 45"/>
          <p:cNvSpPr/>
          <p:nvPr/>
        </p:nvSpPr>
        <p:spPr>
          <a:xfrm>
            <a:off x="3864769" y="4712395"/>
            <a:ext cx="3509863" cy="6350"/>
          </a:xfrm>
          <a:prstGeom prst="rect">
            <a:avLst/>
          </a:prstGeom>
          <a:solidFill>
            <a:srgbClr val="DDD7CA"/>
          </a:solidFill>
          <a:ln>
            <a:noFill/>
          </a:ln>
        </p:spPr>
        <p:txBody>
          <a:bodyPr rtlCol="0" anchor="ctr"/>
          <a:lstStyle/>
          <a:p>
            <a:pPr algn="ctr"/>
          </a:p>
        </p:txBody>
      </p:sp>
      <p:sp>
        <p:nvSpPr>
          <p:cNvPr id="47" name="Text 46"/>
          <p:cNvSpPr txBox="1"/>
          <p:nvPr/>
        </p:nvSpPr>
        <p:spPr>
          <a:xfrm>
            <a:off x="3890169" y="395739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تحقق إطلاق مقابل المعايير التقنية في ‎1-3-3‎</a:t>
            </a:r>
          </a:p>
        </p:txBody>
      </p:sp>
      <p:sp>
        <p:nvSpPr>
          <p:cNvPr id="48" name="Rule 47"/>
          <p:cNvSpPr/>
          <p:nvPr/>
        </p:nvSpPr>
        <p:spPr>
          <a:xfrm>
            <a:off x="7374632" y="4712395"/>
            <a:ext cx="3052068" cy="6350"/>
          </a:xfrm>
          <a:prstGeom prst="rect">
            <a:avLst/>
          </a:prstGeom>
          <a:solidFill>
            <a:srgbClr val="DDD7CA"/>
          </a:solidFill>
          <a:ln>
            <a:noFill/>
          </a:ln>
        </p:spPr>
        <p:txBody>
          <a:bodyPr rtlCol="0" anchor="ctr"/>
          <a:lstStyle/>
          <a:p>
            <a:pPr algn="ctr"/>
          </a:p>
        </p:txBody>
      </p:sp>
      <p:sp>
        <p:nvSpPr>
          <p:cNvPr id="49" name="Text 48"/>
          <p:cNvSpPr txBox="1"/>
          <p:nvPr/>
        </p:nvSpPr>
        <p:spPr>
          <a:xfrm>
            <a:off x="7417690" y="395739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الإعدادات والتقوية والتحديثات قبل الإطلاق</a:t>
            </a:r>
          </a:p>
        </p:txBody>
      </p:sp>
      <p:sp>
        <p:nvSpPr>
          <p:cNvPr id="50" name="Rule 49"/>
          <p:cNvSpPr/>
          <p:nvPr/>
        </p:nvSpPr>
        <p:spPr>
          <a:xfrm>
            <a:off x="10426700" y="4712395"/>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39740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1-6-2-2</a:t>
            </a:r>
          </a:p>
        </p:txBody>
      </p:sp>
      <p:sp>
        <p:nvSpPr>
          <p:cNvPr id="52" name="Text 51"/>
          <p:cNvSpPr txBox="1"/>
          <p:nvPr/>
        </p:nvSpPr>
        <p:spPr>
          <a:xfrm>
            <a:off x="10515600" y="41796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بوابة الإطلاق</a:t>
            </a:r>
          </a:p>
        </p:txBody>
      </p:sp>
      <p:sp>
        <p:nvSpPr>
          <p:cNvPr id="53" name="Box 52"/>
          <p:cNvSpPr/>
          <p:nvPr/>
        </p:nvSpPr>
        <p:spPr>
          <a:xfrm>
            <a:off x="812800" y="4718745"/>
            <a:ext cx="3051969" cy="835521"/>
          </a:xfrm>
          <a:prstGeom prst="rect">
            <a:avLst/>
          </a:prstGeom>
          <a:solidFill>
            <a:srgbClr val="F6E6DC"/>
          </a:solidFill>
          <a:ln>
            <a:noFill/>
          </a:ln>
        </p:spPr>
        <p:txBody>
          <a:bodyPr rtlCol="0" anchor="ctr"/>
          <a:lstStyle/>
          <a:p>
            <a:pPr algn="ctr"/>
          </a:p>
        </p:txBody>
      </p:sp>
      <p:sp>
        <p:nvSpPr>
          <p:cNvPr id="54" name="Rule 53"/>
          <p:cNvSpPr/>
          <p:nvPr/>
        </p:nvSpPr>
        <p:spPr>
          <a:xfrm>
            <a:off x="812800" y="5547916"/>
            <a:ext cx="3051969" cy="6350"/>
          </a:xfrm>
          <a:prstGeom prst="rect">
            <a:avLst/>
          </a:prstGeom>
          <a:solidFill>
            <a:srgbClr val="DDD7CA"/>
          </a:solidFill>
          <a:ln>
            <a:noFill/>
          </a:ln>
        </p:spPr>
        <p:txBody>
          <a:bodyPr rtlCol="0" anchor="ctr"/>
          <a:lstStyle/>
          <a:p>
            <a:pPr algn="ctr"/>
          </a:p>
        </p:txBody>
      </p:sp>
      <p:sp>
        <p:nvSpPr>
          <p:cNvPr id="55" name="Text 54"/>
          <p:cNvSpPr txBox="1"/>
          <p:nvPr/>
        </p:nvSpPr>
        <p:spPr>
          <a:xfrm>
            <a:off x="838200" y="4792913"/>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 العينة</a:t>
            </a:r>
          </a:p>
        </p:txBody>
      </p:sp>
      <p:sp>
        <p:nvSpPr>
          <p:cNvPr id="56" name="Rule 55"/>
          <p:cNvSpPr/>
          <p:nvPr/>
        </p:nvSpPr>
        <p:spPr>
          <a:xfrm>
            <a:off x="3864769" y="5547916"/>
            <a:ext cx="3509863" cy="6350"/>
          </a:xfrm>
          <a:prstGeom prst="rect">
            <a:avLst/>
          </a:prstGeom>
          <a:solidFill>
            <a:srgbClr val="DDD7CA"/>
          </a:solidFill>
          <a:ln>
            <a:noFill/>
          </a:ln>
        </p:spPr>
        <p:txBody>
          <a:bodyPr rtlCol="0" anchor="ctr"/>
          <a:lstStyle/>
          <a:p>
            <a:pPr algn="ctr"/>
          </a:p>
        </p:txBody>
      </p:sp>
      <p:sp>
        <p:nvSpPr>
          <p:cNvPr id="57" name="Text 56"/>
          <p:cNvSpPr txBox="1"/>
          <p:nvPr/>
        </p:nvSpPr>
        <p:spPr>
          <a:xfrm>
            <a:off x="3890169" y="4792913"/>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المنهجية مع عينة من المشاريع المنفذة</a:t>
            </a:r>
          </a:p>
        </p:txBody>
      </p:sp>
      <p:sp>
        <p:nvSpPr>
          <p:cNvPr id="58" name="Rule 57"/>
          <p:cNvSpPr/>
          <p:nvPr/>
        </p:nvSpPr>
        <p:spPr>
          <a:xfrm>
            <a:off x="7374632" y="5547916"/>
            <a:ext cx="3052068" cy="6350"/>
          </a:xfrm>
          <a:prstGeom prst="rect">
            <a:avLst/>
          </a:prstGeom>
          <a:solidFill>
            <a:srgbClr val="DDD7CA"/>
          </a:solidFill>
          <a:ln>
            <a:noFill/>
          </a:ln>
        </p:spPr>
        <p:txBody>
          <a:bodyPr rtlCol="0" anchor="ctr"/>
          <a:lstStyle/>
          <a:p>
            <a:pPr algn="ctr"/>
          </a:p>
        </p:txBody>
      </p:sp>
      <p:sp>
        <p:nvSpPr>
          <p:cNvPr id="59" name="Text 58"/>
          <p:cNvSpPr txBox="1"/>
          <p:nvPr/>
        </p:nvSpPr>
        <p:spPr>
          <a:xfrm>
            <a:off x="7400032" y="4792913"/>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متطلبات إدارة المشاريع دورياً</a:t>
            </a:r>
          </a:p>
        </p:txBody>
      </p:sp>
      <p:sp>
        <p:nvSpPr>
          <p:cNvPr id="60" name="Rule 59"/>
          <p:cNvSpPr/>
          <p:nvPr/>
        </p:nvSpPr>
        <p:spPr>
          <a:xfrm>
            <a:off x="10426700" y="5547916"/>
            <a:ext cx="952500" cy="6350"/>
          </a:xfrm>
          <a:prstGeom prst="rect">
            <a:avLst/>
          </a:prstGeom>
          <a:solidFill>
            <a:srgbClr val="DDD7CA"/>
          </a:solidFill>
          <a:ln>
            <a:noFill/>
          </a:ln>
        </p:spPr>
        <p:txBody>
          <a:bodyPr rtlCol="0" anchor="ctr"/>
          <a:lstStyle/>
          <a:p>
            <a:pPr algn="ctr"/>
          </a:p>
        </p:txBody>
      </p:sp>
      <p:sp>
        <p:nvSpPr>
          <p:cNvPr id="61" name="Text 60"/>
          <p:cNvSpPr txBox="1"/>
          <p:nvPr/>
        </p:nvSpPr>
        <p:spPr>
          <a:xfrm>
            <a:off x="10454640" y="4809613"/>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1-6-4</a:t>
            </a:r>
          </a:p>
        </p:txBody>
      </p:sp>
      <p:sp>
        <p:nvSpPr>
          <p:cNvPr id="62" name="Text 61"/>
          <p:cNvSpPr txBox="1"/>
          <p:nvPr/>
        </p:nvSpPr>
        <p:spPr>
          <a:xfrm>
            <a:off x="10515600" y="5015143"/>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68" name="Box 6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92877" y="812800"/>
            <a:ext cx="2486323"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‎1-6‎ · الأمن السيبراني في إدارة المشاريع</a:t>
            </a:r>
          </a:p>
        </p:txBody>
      </p:sp>
      <p:sp>
        <p:nvSpPr>
          <p:cNvPr id="4" name="Text 3"/>
          <p:cNvSpPr txBox="1"/>
          <p:nvPr/>
        </p:nvSpPr>
        <p:spPr>
          <a:xfrm>
            <a:off x="7506418"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2459137"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025378"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069828" y="894060"/>
            <a:ext cx="127000" cy="127000"/>
          </a:xfrm>
          <a:prstGeom prst="rect">
            <a:avLst/>
          </a:prstGeom>
        </p:spPr>
      </p:pic>
      <p:sp>
        <p:nvSpPr>
          <p:cNvPr id="8" name="Text 7"/>
          <p:cNvSpPr txBox="1"/>
          <p:nvPr/>
        </p:nvSpPr>
        <p:spPr>
          <a:xfrm>
            <a:off x="2485172"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278162"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967012"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992412"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3</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‎1-6-3‎: مشاريع تطوير البرمجيات (1)</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المعيار المعتمد، وسجلات مراجعة الشيفرة أو الفحص الساكن</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معيار تطوير آمن معتمد مثل إرشادات OWASP، وتدريب المطورين، ومراجعة الشيفرة</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استخدام معايير التطوير الآمن</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33" name="Box 32"/>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4" name="Rule 33"/>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المصادر المعتمدة، وتقارير فحص المكونات</a:t>
            </a:r>
          </a:p>
        </p:txBody>
      </p:sp>
      <p:sp>
        <p:nvSpPr>
          <p:cNvPr id="36" name="Rule 35"/>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مستودع داخلي معتمد للمكتبات، وفحص مكونات الطرف الثالث وتراخيصها</a:t>
            </a:r>
          </a:p>
        </p:txBody>
      </p:sp>
      <p:sp>
        <p:nvSpPr>
          <p:cNvPr id="38" name="Rule 37"/>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17690" y="312187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مصادر موثوقة ومرخصة لأدوات التطوير والمكتبات</a:t>
            </a:r>
          </a:p>
        </p:txBody>
      </p:sp>
      <p:sp>
        <p:nvSpPr>
          <p:cNvPr id="40" name="Rule 39"/>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1-6-3-2</a:t>
            </a:r>
          </a:p>
        </p:txBody>
      </p:sp>
      <p:sp>
        <p:nvSpPr>
          <p:cNvPr id="42" name="Text 41"/>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43" name="Box 42"/>
          <p:cNvSpPr/>
          <p:nvPr/>
        </p:nvSpPr>
        <p:spPr>
          <a:xfrm>
            <a:off x="812800" y="3883223"/>
            <a:ext cx="3051969" cy="835521"/>
          </a:xfrm>
          <a:prstGeom prst="rect">
            <a:avLst/>
          </a:prstGeom>
          <a:solidFill>
            <a:srgbClr val="F6E6DC"/>
          </a:solidFill>
          <a:ln>
            <a:noFill/>
          </a:ln>
        </p:spPr>
        <p:txBody>
          <a:bodyPr rtlCol="0" anchor="ctr"/>
          <a:lstStyle/>
          <a:p>
            <a:pPr algn="ctr"/>
          </a:p>
        </p:txBody>
      </p:sp>
      <p:sp>
        <p:nvSpPr>
          <p:cNvPr id="44" name="Rule 43"/>
          <p:cNvSpPr/>
          <p:nvPr/>
        </p:nvSpPr>
        <p:spPr>
          <a:xfrm>
            <a:off x="812800" y="4712395"/>
            <a:ext cx="3051969" cy="6350"/>
          </a:xfrm>
          <a:prstGeom prst="rect">
            <a:avLst/>
          </a:prstGeom>
          <a:solidFill>
            <a:srgbClr val="DDD7CA"/>
          </a:solidFill>
          <a:ln>
            <a:noFill/>
          </a:ln>
        </p:spPr>
        <p:txBody>
          <a:bodyPr rtlCol="0" anchor="ctr"/>
          <a:lstStyle/>
          <a:p>
            <a:pPr algn="ctr"/>
          </a:p>
        </p:txBody>
      </p:sp>
      <p:sp>
        <p:nvSpPr>
          <p:cNvPr id="45" name="Text 44"/>
          <p:cNvSpPr txBox="1"/>
          <p:nvPr/>
        </p:nvSpPr>
        <p:spPr>
          <a:xfrm>
            <a:off x="838200" y="395739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الاختبار ومعالجة نتائجه قبل الإطلاق</a:t>
            </a:r>
          </a:p>
        </p:txBody>
      </p:sp>
      <p:sp>
        <p:nvSpPr>
          <p:cNvPr id="46" name="Rule 45"/>
          <p:cNvSpPr/>
          <p:nvPr/>
        </p:nvSpPr>
        <p:spPr>
          <a:xfrm>
            <a:off x="3864769" y="4712395"/>
            <a:ext cx="3509863" cy="6350"/>
          </a:xfrm>
          <a:prstGeom prst="rect">
            <a:avLst/>
          </a:prstGeom>
          <a:solidFill>
            <a:srgbClr val="DDD7CA"/>
          </a:solidFill>
          <a:ln>
            <a:noFill/>
          </a:ln>
        </p:spPr>
        <p:txBody>
          <a:bodyPr rtlCol="0" anchor="ctr"/>
          <a:lstStyle/>
          <a:p>
            <a:pPr algn="ctr"/>
          </a:p>
        </p:txBody>
      </p:sp>
      <p:sp>
        <p:nvSpPr>
          <p:cNvPr id="47" name="Text 46"/>
          <p:cNvSpPr txBox="1"/>
          <p:nvPr/>
        </p:nvSpPr>
        <p:spPr>
          <a:xfrm>
            <a:off x="3894093" y="395739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اختبار أمني قبل الإطلاق: فحص ديناميكي أو اختبار اختراق للتطبيق</a:t>
            </a:r>
          </a:p>
        </p:txBody>
      </p:sp>
      <p:sp>
        <p:nvSpPr>
          <p:cNvPr id="48" name="Rule 47"/>
          <p:cNvSpPr/>
          <p:nvPr/>
        </p:nvSpPr>
        <p:spPr>
          <a:xfrm>
            <a:off x="7374632" y="4712395"/>
            <a:ext cx="3052068" cy="6350"/>
          </a:xfrm>
          <a:prstGeom prst="rect">
            <a:avLst/>
          </a:prstGeom>
          <a:solidFill>
            <a:srgbClr val="DDD7CA"/>
          </a:solidFill>
          <a:ln>
            <a:noFill/>
          </a:ln>
        </p:spPr>
        <p:txBody>
          <a:bodyPr rtlCol="0" anchor="ctr"/>
          <a:lstStyle/>
          <a:p>
            <a:pPr algn="ctr"/>
          </a:p>
        </p:txBody>
      </p:sp>
      <p:sp>
        <p:nvSpPr>
          <p:cNvPr id="49" name="Text 48"/>
          <p:cNvSpPr txBox="1"/>
          <p:nvPr/>
        </p:nvSpPr>
        <p:spPr>
          <a:xfrm>
            <a:off x="7417690" y="395739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اختبار مطابقة البرمجيات لمتطلبات الأمن السيبراني</a:t>
            </a:r>
          </a:p>
        </p:txBody>
      </p:sp>
      <p:sp>
        <p:nvSpPr>
          <p:cNvPr id="50" name="Rule 49"/>
          <p:cNvSpPr/>
          <p:nvPr/>
        </p:nvSpPr>
        <p:spPr>
          <a:xfrm>
            <a:off x="10426700" y="4712395"/>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397409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1-6-3-3</a:t>
            </a:r>
          </a:p>
        </p:txBody>
      </p:sp>
      <p:sp>
        <p:nvSpPr>
          <p:cNvPr id="52" name="Text 51"/>
          <p:cNvSpPr txBox="1"/>
          <p:nvPr/>
        </p:nvSpPr>
        <p:spPr>
          <a:xfrm>
            <a:off x="10515600" y="417962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8" name="Box 5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92877" y="812800"/>
            <a:ext cx="2486323"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‎1-6‎ · الأمن السيبراني في إدارة المشاريع</a:t>
            </a:r>
          </a:p>
        </p:txBody>
      </p:sp>
      <p:sp>
        <p:nvSpPr>
          <p:cNvPr id="4" name="Text 3"/>
          <p:cNvSpPr txBox="1"/>
          <p:nvPr/>
        </p:nvSpPr>
        <p:spPr>
          <a:xfrm>
            <a:off x="7506418"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2459137"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3025378"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069828" y="894060"/>
            <a:ext cx="127000" cy="127000"/>
          </a:xfrm>
          <a:prstGeom prst="rect">
            <a:avLst/>
          </a:prstGeom>
        </p:spPr>
      </p:pic>
      <p:sp>
        <p:nvSpPr>
          <p:cNvPr id="8" name="Text 7"/>
          <p:cNvSpPr txBox="1"/>
          <p:nvPr/>
        </p:nvSpPr>
        <p:spPr>
          <a:xfrm>
            <a:off x="2485172"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2278162"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967012"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992412"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3 من 3</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‎1-6-3‎: مشاريع تطوير البرمجيات (2)</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تصميم التكامل، وإعدادات المصادقة والتشفير للواجهات</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مصادقة بين الأنظمة، وتشفير قنوات التكامل، وبوابة للواجهات البرمجية</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التكامل الآمن بين التطبيقات</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1-6-3-4</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33" name="Box 32"/>
          <p:cNvSpPr/>
          <p:nvPr/>
        </p:nvSpPr>
        <p:spPr>
          <a:xfrm>
            <a:off x="812800" y="3047702"/>
            <a:ext cx="3051969" cy="835521"/>
          </a:xfrm>
          <a:prstGeom prst="rect">
            <a:avLst/>
          </a:prstGeom>
          <a:solidFill>
            <a:srgbClr val="F6E6DC"/>
          </a:solidFill>
          <a:ln>
            <a:noFill/>
          </a:ln>
        </p:spPr>
        <p:txBody>
          <a:bodyPr rtlCol="0" anchor="ctr"/>
          <a:lstStyle/>
          <a:p>
            <a:pPr algn="ctr"/>
          </a:p>
        </p:txBody>
      </p:sp>
      <p:sp>
        <p:nvSpPr>
          <p:cNvPr id="34" name="Rule 33"/>
          <p:cNvSpPr/>
          <p:nvPr/>
        </p:nvSpPr>
        <p:spPr>
          <a:xfrm>
            <a:off x="812800" y="387687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التحقق الموقعة لكل إصدار</a:t>
            </a:r>
          </a:p>
        </p:txBody>
      </p:sp>
      <p:sp>
        <p:nvSpPr>
          <p:cNvPr id="36" name="Rule 35"/>
          <p:cNvSpPr/>
          <p:nvPr/>
        </p:nvSpPr>
        <p:spPr>
          <a:xfrm>
            <a:off x="3864769" y="387687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0169" y="312187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تحقق إطلاق للتطبيق وبيئته مقابل المعايير التقنية</a:t>
            </a:r>
          </a:p>
        </p:txBody>
      </p:sp>
      <p:sp>
        <p:nvSpPr>
          <p:cNvPr id="38" name="Rule 37"/>
          <p:cNvSpPr/>
          <p:nvPr/>
        </p:nvSpPr>
        <p:spPr>
          <a:xfrm>
            <a:off x="7374632" y="387687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17690" y="312187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الإعدادات والتقوية والتحديثات قبل الإطلاق</a:t>
            </a:r>
          </a:p>
        </p:txBody>
      </p:sp>
      <p:sp>
        <p:nvSpPr>
          <p:cNvPr id="40" name="Rule 39"/>
          <p:cNvSpPr/>
          <p:nvPr/>
        </p:nvSpPr>
        <p:spPr>
          <a:xfrm>
            <a:off x="10426700" y="387687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1-6-3-5</a:t>
            </a:r>
          </a:p>
        </p:txBody>
      </p:sp>
      <p:sp>
        <p:nvSpPr>
          <p:cNvPr id="42" name="Text 41"/>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تطوير البرمجيات</a:t>
            </a:r>
          </a:p>
        </p:txBody>
      </p:sp>
      <p:sp>
        <p:nvSpPr>
          <p:cNvPr id="43" name="Box 42"/>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44" name="Box 43"/>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45" name="Icon Lightbulb 44" descr="icon034.png"/>
          <p:cNvPicPr>
            <a:picLocks noChangeAspect="1"/>
          </p:cNvPicPr>
          <p:nvPr/>
        </p:nvPicPr>
        <p:blipFill>
          <a:blip r:embed="rId3"/>
          <a:stretch>
            <a:fillRect/>
          </a:stretch>
        </p:blipFill>
        <p:spPr>
          <a:xfrm>
            <a:off x="10864850" y="5329932"/>
            <a:ext cx="215900" cy="215900"/>
          </a:xfrm>
          <a:prstGeom prst="rect">
            <a:avLst/>
          </a:prstGeom>
        </p:spPr>
      </p:pic>
      <p:sp>
        <p:nvSpPr>
          <p:cNvPr id="46" name="Text 45"/>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نصيحة عملية</a:t>
            </a:r>
          </a:p>
        </p:txBody>
      </p:sp>
      <p:sp>
        <p:nvSpPr>
          <p:cNvPr id="47" name="Text 46"/>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إن كان التطوير مسنداً لمورد، فانقل هذه المتطلبات إلى العقد، واطلب منه أدلة الالتزام: مراجعة الشيفرة وفحص المكونات والاختبار الأمني.</a:t>
            </a:r>
          </a:p>
        </p:txBody>
      </p:sp>
      <p:sp>
        <p:nvSpPr>
          <p:cNvPr id="48" name="Text 4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9" name="Box 4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3" name="Box 5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Text 5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7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‎1-7‎ الالتزام بالتشريعات والتنظيمات والمعايير</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التزام برنامج الأمن السيبراني بالمتطلبات التشريعية والتنظيمية ذات العلاقة.</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9.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مخالفة التزام دولي لم يعرف به أحد في الجهة، لأنه لم يُحصر ولم يُربط بالضوابط والسياسات.</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30.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شركة طيران تلتزم بأنظمة الطيران الدولية فوق أنظمة بلدها: عليها أن تعرف ما يخصها منها بالضبط.</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31.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إن كانت على الجهة اتفاقيات أو التزامات دولية معتمدة محلياً فيها متطلبات أمن سيبراني، فعليها أن تحددها وتلتزم بها.</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سجل الالتزامات</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الالتزامات ومتطلباتها ومالكوها</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ضابط شرطي</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ينطبق إن وُجد شرطه</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مذكرة عدم الوجود</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وثيقة تثبت البحث ونتيجته</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445798" y="812800"/>
            <a:ext cx="293340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‎1-7‎ · الالتزام بالتشريعات والتنظيمات والمعايير</a:t>
            </a:r>
          </a:p>
        </p:txBody>
      </p:sp>
      <p:sp>
        <p:nvSpPr>
          <p:cNvPr id="4" name="Text 3"/>
          <p:cNvSpPr txBox="1"/>
          <p:nvPr/>
        </p:nvSpPr>
        <p:spPr>
          <a:xfrm>
            <a:off x="705933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الالتزام بالتشريعات: ضابط واحد شرطي</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72430"/>
          </a:xfrm>
          <a:prstGeom prst="rect">
            <a:avLst/>
          </a:prstGeom>
          <a:solidFill>
            <a:srgbClr val="F6E6DC"/>
          </a:solidFill>
          <a:ln>
            <a:noFill/>
          </a:ln>
        </p:spPr>
        <p:txBody>
          <a:bodyPr rtlCol="0" anchor="ctr"/>
          <a:lstStyle/>
          <a:p>
            <a:pPr algn="ctr"/>
          </a:p>
        </p:txBody>
      </p:sp>
      <p:sp>
        <p:nvSpPr>
          <p:cNvPr id="24" name="Rule 23"/>
          <p:cNvSpPr/>
          <p:nvPr/>
        </p:nvSpPr>
        <p:spPr>
          <a:xfrm>
            <a:off x="812800" y="307826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الالتزامات المعتمد، وتقييم الالتزام بكل متطلب، أو مذكرة معتمدة بعدم وجودها</a:t>
            </a:r>
          </a:p>
        </p:txBody>
      </p:sp>
      <p:sp>
        <p:nvSpPr>
          <p:cNvPr id="26" name="Rule 25"/>
          <p:cNvSpPr/>
          <p:nvPr/>
        </p:nvSpPr>
        <p:spPr>
          <a:xfrm>
            <a:off x="3864769" y="307826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يحصر الاتفاقيات والالتزامات الدولية ومتطلباتها السيبرانية، ويربط كل متطلب بمالك وضوابط</a:t>
            </a:r>
          </a:p>
        </p:txBody>
      </p:sp>
      <p:sp>
        <p:nvSpPr>
          <p:cNvPr id="28" name="Rule 27"/>
          <p:cNvSpPr/>
          <p:nvPr/>
        </p:nvSpPr>
        <p:spPr>
          <a:xfrm>
            <a:off x="7374632" y="307826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17690" y="2286349"/>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إن وُجدت اتفاقيات أو التزامات دولية معتمدة محلياً فيها متطلبات سيبرانية، تحددها الجهة وتلتزم بها</a:t>
            </a:r>
          </a:p>
        </p:txBody>
      </p:sp>
      <p:sp>
        <p:nvSpPr>
          <p:cNvPr id="30" name="Rule 29"/>
          <p:cNvSpPr/>
          <p:nvPr/>
        </p:nvSpPr>
        <p:spPr>
          <a:xfrm>
            <a:off x="10426700" y="307826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1-7-1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ضابط شرطي</a:t>
            </a:r>
          </a:p>
        </p:txBody>
      </p:sp>
      <p:sp>
        <p:nvSpPr>
          <p:cNvPr id="33" name="Box 32"/>
          <p:cNvSpPr/>
          <p:nvPr/>
        </p:nvSpPr>
        <p:spPr>
          <a:xfrm>
            <a:off x="9004300" y="3287812"/>
            <a:ext cx="2374900" cy="1422301"/>
          </a:xfrm>
          <a:prstGeom prst="roundRect">
            <a:avLst>
              <a:gd name="adj" fmla="val 7143"/>
            </a:avLst>
          </a:prstGeom>
          <a:solidFill>
            <a:srgbClr val="FCFBF8"/>
          </a:solidFill>
          <a:ln>
            <a:noFill/>
          </a:ln>
        </p:spPr>
        <p:txBody>
          <a:bodyPr rtlCol="0" anchor="ctr"/>
          <a:lstStyle/>
          <a:p>
            <a:pPr algn="ctr"/>
          </a:p>
        </p:txBody>
      </p:sp>
      <p:sp>
        <p:nvSpPr>
          <p:cNvPr id="34" name="Rule 33"/>
          <p:cNvSpPr/>
          <p:nvPr/>
        </p:nvSpPr>
        <p:spPr>
          <a:xfrm>
            <a:off x="9004300" y="3287812"/>
            <a:ext cx="2374900" cy="38100"/>
          </a:xfrm>
          <a:prstGeom prst="rect">
            <a:avLst/>
          </a:prstGeom>
          <a:solidFill>
            <a:srgbClr val="A6461A"/>
          </a:solidFill>
          <a:ln>
            <a:noFill/>
          </a:ln>
        </p:spPr>
        <p:txBody>
          <a:bodyPr rtlCol="0" anchor="ctr"/>
          <a:lstStyle/>
          <a:p>
            <a:pPr algn="ctr"/>
          </a:p>
        </p:txBody>
      </p:sp>
      <p:sp>
        <p:nvSpPr>
          <p:cNvPr id="35" name="Rule 34"/>
          <p:cNvSpPr/>
          <p:nvPr/>
        </p:nvSpPr>
        <p:spPr>
          <a:xfrm>
            <a:off x="11372850" y="3287812"/>
            <a:ext cx="6350" cy="1422301"/>
          </a:xfrm>
          <a:prstGeom prst="rect">
            <a:avLst/>
          </a:prstGeom>
          <a:solidFill>
            <a:srgbClr val="DDD7CA"/>
          </a:solidFill>
          <a:ln>
            <a:noFill/>
          </a:ln>
        </p:spPr>
        <p:txBody>
          <a:bodyPr rtlCol="0" anchor="ctr"/>
          <a:lstStyle/>
          <a:p>
            <a:pPr algn="ctr"/>
          </a:p>
        </p:txBody>
      </p:sp>
      <p:sp>
        <p:nvSpPr>
          <p:cNvPr id="36" name="Rule 35"/>
          <p:cNvSpPr/>
          <p:nvPr/>
        </p:nvSpPr>
        <p:spPr>
          <a:xfrm>
            <a:off x="9004300" y="4703762"/>
            <a:ext cx="2374900" cy="6350"/>
          </a:xfrm>
          <a:prstGeom prst="rect">
            <a:avLst/>
          </a:prstGeom>
          <a:solidFill>
            <a:srgbClr val="DDD7CA"/>
          </a:solidFill>
          <a:ln>
            <a:noFill/>
          </a:ln>
        </p:spPr>
        <p:txBody>
          <a:bodyPr rtlCol="0" anchor="ctr"/>
          <a:lstStyle/>
          <a:p>
            <a:pPr algn="ctr"/>
          </a:p>
        </p:txBody>
      </p:sp>
      <p:sp>
        <p:nvSpPr>
          <p:cNvPr id="37" name="Rule 36"/>
          <p:cNvSpPr/>
          <p:nvPr/>
        </p:nvSpPr>
        <p:spPr>
          <a:xfrm>
            <a:off x="9004300" y="3287812"/>
            <a:ext cx="6350" cy="1422301"/>
          </a:xfrm>
          <a:prstGeom prst="rect">
            <a:avLst/>
          </a:prstGeom>
          <a:solidFill>
            <a:srgbClr val="DDD7CA"/>
          </a:solidFill>
          <a:ln>
            <a:noFill/>
          </a:ln>
        </p:spPr>
        <p:txBody>
          <a:bodyPr rtlCol="0" anchor="ctr"/>
          <a:lstStyle/>
          <a:p>
            <a:pPr algn="ctr"/>
          </a:p>
        </p:txBody>
      </p:sp>
      <p:sp>
        <p:nvSpPr>
          <p:cNvPr id="38" name="Text 37"/>
          <p:cNvSpPr txBox="1"/>
          <p:nvPr/>
        </p:nvSpPr>
        <p:spPr>
          <a:xfrm>
            <a:off x="9029700" y="3485411"/>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A6461A"/>
                </a:solidFill>
                <a:latin typeface="Alexandria"/>
                <a:ea typeface="Alexandria"/>
                <a:cs typeface="Alexandria"/>
              </a:rPr>
              <a:t>01</a:t>
            </a:r>
          </a:p>
        </p:txBody>
      </p:sp>
      <p:sp>
        <p:nvSpPr>
          <p:cNvPr id="39" name="Text 38"/>
          <p:cNvSpPr txBox="1"/>
          <p:nvPr/>
        </p:nvSpPr>
        <p:spPr>
          <a:xfrm>
            <a:off x="9029700" y="3761596"/>
            <a:ext cx="21780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اجمع</a:t>
            </a:r>
          </a:p>
        </p:txBody>
      </p:sp>
      <p:sp>
        <p:nvSpPr>
          <p:cNvPr id="40" name="Text 39"/>
          <p:cNvSpPr txBox="1"/>
          <p:nvPr/>
        </p:nvSpPr>
        <p:spPr>
          <a:xfrm>
            <a:off x="9114790" y="4069310"/>
            <a:ext cx="20929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الاتفاقيات والالتزامات من الشؤون القانونية</a:t>
            </a:r>
          </a:p>
        </p:txBody>
      </p:sp>
      <p:sp>
        <p:nvSpPr>
          <p:cNvPr id="41" name="Shape arrow-left 40"/>
          <p:cNvSpPr/>
          <p:nvPr/>
        </p:nvSpPr>
        <p:spPr>
          <a:xfrm>
            <a:off x="8724900" y="3935412"/>
            <a:ext cx="203200" cy="127000"/>
          </a:xfrm>
          <a:prstGeom prst="leftArrow">
            <a:avLst>
              <a:gd name="adj1" fmla="val 50000"/>
              <a:gd name="adj2" fmla="val 64000"/>
            </a:avLst>
          </a:prstGeom>
          <a:solidFill>
            <a:srgbClr val="A6461A"/>
          </a:solidFill>
          <a:ln>
            <a:noFill/>
          </a:ln>
        </p:spPr>
        <p:txBody>
          <a:bodyPr rtlCol="0" anchor="ctr"/>
          <a:lstStyle/>
          <a:p>
            <a:pPr algn="ctr"/>
          </a:p>
        </p:txBody>
      </p:sp>
      <p:sp>
        <p:nvSpPr>
          <p:cNvPr id="42" name="Box 41"/>
          <p:cNvSpPr/>
          <p:nvPr/>
        </p:nvSpPr>
        <p:spPr>
          <a:xfrm>
            <a:off x="6273800" y="3287812"/>
            <a:ext cx="2374900" cy="1422301"/>
          </a:xfrm>
          <a:prstGeom prst="roundRect">
            <a:avLst>
              <a:gd name="adj" fmla="val 7143"/>
            </a:avLst>
          </a:prstGeom>
          <a:solidFill>
            <a:srgbClr val="FCFBF8"/>
          </a:solidFill>
          <a:ln>
            <a:noFill/>
          </a:ln>
        </p:spPr>
        <p:txBody>
          <a:bodyPr rtlCol="0" anchor="ctr"/>
          <a:lstStyle/>
          <a:p>
            <a:pPr algn="ctr"/>
          </a:p>
        </p:txBody>
      </p:sp>
      <p:sp>
        <p:nvSpPr>
          <p:cNvPr id="43" name="Rule 42"/>
          <p:cNvSpPr/>
          <p:nvPr/>
        </p:nvSpPr>
        <p:spPr>
          <a:xfrm>
            <a:off x="6273800" y="3287812"/>
            <a:ext cx="2374900" cy="38100"/>
          </a:xfrm>
          <a:prstGeom prst="rect">
            <a:avLst/>
          </a:prstGeom>
          <a:solidFill>
            <a:srgbClr val="A6461A"/>
          </a:solidFill>
          <a:ln>
            <a:noFill/>
          </a:ln>
        </p:spPr>
        <p:txBody>
          <a:bodyPr rtlCol="0" anchor="ctr"/>
          <a:lstStyle/>
          <a:p>
            <a:pPr algn="ctr"/>
          </a:p>
        </p:txBody>
      </p:sp>
      <p:sp>
        <p:nvSpPr>
          <p:cNvPr id="44" name="Rule 43"/>
          <p:cNvSpPr/>
          <p:nvPr/>
        </p:nvSpPr>
        <p:spPr>
          <a:xfrm>
            <a:off x="8642350" y="3287812"/>
            <a:ext cx="6350" cy="1422301"/>
          </a:xfrm>
          <a:prstGeom prst="rect">
            <a:avLst/>
          </a:prstGeom>
          <a:solidFill>
            <a:srgbClr val="DDD7CA"/>
          </a:solidFill>
          <a:ln>
            <a:noFill/>
          </a:ln>
        </p:spPr>
        <p:txBody>
          <a:bodyPr rtlCol="0" anchor="ctr"/>
          <a:lstStyle/>
          <a:p>
            <a:pPr algn="ctr"/>
          </a:p>
        </p:txBody>
      </p:sp>
      <p:sp>
        <p:nvSpPr>
          <p:cNvPr id="45" name="Rule 44"/>
          <p:cNvSpPr/>
          <p:nvPr/>
        </p:nvSpPr>
        <p:spPr>
          <a:xfrm>
            <a:off x="6273800" y="4703762"/>
            <a:ext cx="2374900" cy="6350"/>
          </a:xfrm>
          <a:prstGeom prst="rect">
            <a:avLst/>
          </a:prstGeom>
          <a:solidFill>
            <a:srgbClr val="DDD7CA"/>
          </a:solidFill>
          <a:ln>
            <a:noFill/>
          </a:ln>
        </p:spPr>
        <p:txBody>
          <a:bodyPr rtlCol="0" anchor="ctr"/>
          <a:lstStyle/>
          <a:p>
            <a:pPr algn="ctr"/>
          </a:p>
        </p:txBody>
      </p:sp>
      <p:sp>
        <p:nvSpPr>
          <p:cNvPr id="46" name="Rule 45"/>
          <p:cNvSpPr/>
          <p:nvPr/>
        </p:nvSpPr>
        <p:spPr>
          <a:xfrm>
            <a:off x="6273800" y="3287812"/>
            <a:ext cx="6350" cy="1422301"/>
          </a:xfrm>
          <a:prstGeom prst="rect">
            <a:avLst/>
          </a:prstGeom>
          <a:solidFill>
            <a:srgbClr val="DDD7CA"/>
          </a:solidFill>
          <a:ln>
            <a:noFill/>
          </a:ln>
        </p:spPr>
        <p:txBody>
          <a:bodyPr rtlCol="0" anchor="ctr"/>
          <a:lstStyle/>
          <a:p>
            <a:pPr algn="ctr"/>
          </a:p>
        </p:txBody>
      </p:sp>
      <p:sp>
        <p:nvSpPr>
          <p:cNvPr id="47" name="Text 46"/>
          <p:cNvSpPr txBox="1"/>
          <p:nvPr/>
        </p:nvSpPr>
        <p:spPr>
          <a:xfrm>
            <a:off x="6299200" y="3485411"/>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A6461A"/>
                </a:solidFill>
                <a:latin typeface="Alexandria"/>
                <a:ea typeface="Alexandria"/>
                <a:cs typeface="Alexandria"/>
              </a:rPr>
              <a:t>02</a:t>
            </a:r>
          </a:p>
        </p:txBody>
      </p:sp>
      <p:sp>
        <p:nvSpPr>
          <p:cNvPr id="48" name="Text 47"/>
          <p:cNvSpPr txBox="1"/>
          <p:nvPr/>
        </p:nvSpPr>
        <p:spPr>
          <a:xfrm>
            <a:off x="6299200" y="3761596"/>
            <a:ext cx="21780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استخرج</a:t>
            </a:r>
          </a:p>
        </p:txBody>
      </p:sp>
      <p:sp>
        <p:nvSpPr>
          <p:cNvPr id="49" name="Text 48"/>
          <p:cNvSpPr txBox="1"/>
          <p:nvPr/>
        </p:nvSpPr>
        <p:spPr>
          <a:xfrm>
            <a:off x="6299200" y="4069310"/>
            <a:ext cx="21780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متطلبات الأمن السيبراني بنصها</a:t>
            </a:r>
          </a:p>
        </p:txBody>
      </p:sp>
      <p:sp>
        <p:nvSpPr>
          <p:cNvPr id="50" name="Shape arrow-left 49"/>
          <p:cNvSpPr/>
          <p:nvPr/>
        </p:nvSpPr>
        <p:spPr>
          <a:xfrm>
            <a:off x="5994400" y="3935412"/>
            <a:ext cx="203200" cy="127000"/>
          </a:xfrm>
          <a:prstGeom prst="leftArrow">
            <a:avLst>
              <a:gd name="adj1" fmla="val 50000"/>
              <a:gd name="adj2" fmla="val 64000"/>
            </a:avLst>
          </a:prstGeom>
          <a:solidFill>
            <a:srgbClr val="A6461A"/>
          </a:solidFill>
          <a:ln>
            <a:noFill/>
          </a:ln>
        </p:spPr>
        <p:txBody>
          <a:bodyPr rtlCol="0" anchor="ctr"/>
          <a:lstStyle/>
          <a:p>
            <a:pPr algn="ctr"/>
          </a:p>
        </p:txBody>
      </p:sp>
      <p:sp>
        <p:nvSpPr>
          <p:cNvPr id="51" name="Box 50"/>
          <p:cNvSpPr/>
          <p:nvPr/>
        </p:nvSpPr>
        <p:spPr>
          <a:xfrm>
            <a:off x="3543300" y="3287812"/>
            <a:ext cx="2374900" cy="1422301"/>
          </a:xfrm>
          <a:prstGeom prst="roundRect">
            <a:avLst>
              <a:gd name="adj" fmla="val 7143"/>
            </a:avLst>
          </a:prstGeom>
          <a:solidFill>
            <a:srgbClr val="FCFBF8"/>
          </a:solidFill>
          <a:ln>
            <a:noFill/>
          </a:ln>
        </p:spPr>
        <p:txBody>
          <a:bodyPr rtlCol="0" anchor="ctr"/>
          <a:lstStyle/>
          <a:p>
            <a:pPr algn="ctr"/>
          </a:p>
        </p:txBody>
      </p:sp>
      <p:sp>
        <p:nvSpPr>
          <p:cNvPr id="52" name="Rule 51"/>
          <p:cNvSpPr/>
          <p:nvPr/>
        </p:nvSpPr>
        <p:spPr>
          <a:xfrm>
            <a:off x="3543300" y="3287812"/>
            <a:ext cx="2374900" cy="38100"/>
          </a:xfrm>
          <a:prstGeom prst="rect">
            <a:avLst/>
          </a:prstGeom>
          <a:solidFill>
            <a:srgbClr val="A6461A"/>
          </a:solidFill>
          <a:ln>
            <a:noFill/>
          </a:ln>
        </p:spPr>
        <p:txBody>
          <a:bodyPr rtlCol="0" anchor="ctr"/>
          <a:lstStyle/>
          <a:p>
            <a:pPr algn="ctr"/>
          </a:p>
        </p:txBody>
      </p:sp>
      <p:sp>
        <p:nvSpPr>
          <p:cNvPr id="53" name="Rule 52"/>
          <p:cNvSpPr/>
          <p:nvPr/>
        </p:nvSpPr>
        <p:spPr>
          <a:xfrm>
            <a:off x="5911850" y="3287812"/>
            <a:ext cx="6350" cy="1422301"/>
          </a:xfrm>
          <a:prstGeom prst="rect">
            <a:avLst/>
          </a:prstGeom>
          <a:solidFill>
            <a:srgbClr val="DDD7CA"/>
          </a:solidFill>
          <a:ln>
            <a:noFill/>
          </a:ln>
        </p:spPr>
        <p:txBody>
          <a:bodyPr rtlCol="0" anchor="ctr"/>
          <a:lstStyle/>
          <a:p>
            <a:pPr algn="ctr"/>
          </a:p>
        </p:txBody>
      </p:sp>
      <p:sp>
        <p:nvSpPr>
          <p:cNvPr id="54" name="Rule 53"/>
          <p:cNvSpPr/>
          <p:nvPr/>
        </p:nvSpPr>
        <p:spPr>
          <a:xfrm>
            <a:off x="3543300" y="4703762"/>
            <a:ext cx="2374900" cy="6350"/>
          </a:xfrm>
          <a:prstGeom prst="rect">
            <a:avLst/>
          </a:prstGeom>
          <a:solidFill>
            <a:srgbClr val="DDD7CA"/>
          </a:solidFill>
          <a:ln>
            <a:noFill/>
          </a:ln>
        </p:spPr>
        <p:txBody>
          <a:bodyPr rtlCol="0" anchor="ctr"/>
          <a:lstStyle/>
          <a:p>
            <a:pPr algn="ctr"/>
          </a:p>
        </p:txBody>
      </p:sp>
      <p:sp>
        <p:nvSpPr>
          <p:cNvPr id="55" name="Rule 54"/>
          <p:cNvSpPr/>
          <p:nvPr/>
        </p:nvSpPr>
        <p:spPr>
          <a:xfrm>
            <a:off x="3543300" y="3287812"/>
            <a:ext cx="6350" cy="1422301"/>
          </a:xfrm>
          <a:prstGeom prst="rect">
            <a:avLst/>
          </a:prstGeom>
          <a:solidFill>
            <a:srgbClr val="DDD7CA"/>
          </a:solidFill>
          <a:ln>
            <a:noFill/>
          </a:ln>
        </p:spPr>
        <p:txBody>
          <a:bodyPr rtlCol="0" anchor="ctr"/>
          <a:lstStyle/>
          <a:p>
            <a:pPr algn="ctr"/>
          </a:p>
        </p:txBody>
      </p:sp>
      <p:sp>
        <p:nvSpPr>
          <p:cNvPr id="56" name="Text 55"/>
          <p:cNvSpPr txBox="1"/>
          <p:nvPr/>
        </p:nvSpPr>
        <p:spPr>
          <a:xfrm>
            <a:off x="3568700" y="3485411"/>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A6461A"/>
                </a:solidFill>
                <a:latin typeface="Alexandria"/>
                <a:ea typeface="Alexandria"/>
                <a:cs typeface="Alexandria"/>
              </a:rPr>
              <a:t>03</a:t>
            </a:r>
          </a:p>
        </p:txBody>
      </p:sp>
      <p:sp>
        <p:nvSpPr>
          <p:cNvPr id="57" name="Text 56"/>
          <p:cNvSpPr txBox="1"/>
          <p:nvPr/>
        </p:nvSpPr>
        <p:spPr>
          <a:xfrm>
            <a:off x="3568700" y="3761596"/>
            <a:ext cx="21780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اربط</a:t>
            </a:r>
          </a:p>
        </p:txBody>
      </p:sp>
      <p:sp>
        <p:nvSpPr>
          <p:cNvPr id="58" name="Text 57"/>
          <p:cNvSpPr txBox="1"/>
          <p:nvPr/>
        </p:nvSpPr>
        <p:spPr>
          <a:xfrm>
            <a:off x="3653790" y="4069310"/>
            <a:ext cx="20929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كل متطلب بالضوابط والسياسات الداخلية</a:t>
            </a:r>
          </a:p>
        </p:txBody>
      </p:sp>
      <p:sp>
        <p:nvSpPr>
          <p:cNvPr id="59" name="Shape arrow-left 58"/>
          <p:cNvSpPr/>
          <p:nvPr/>
        </p:nvSpPr>
        <p:spPr>
          <a:xfrm>
            <a:off x="3263900" y="3935412"/>
            <a:ext cx="203200" cy="127000"/>
          </a:xfrm>
          <a:prstGeom prst="leftArrow">
            <a:avLst>
              <a:gd name="adj1" fmla="val 50000"/>
              <a:gd name="adj2" fmla="val 64000"/>
            </a:avLst>
          </a:prstGeom>
          <a:solidFill>
            <a:srgbClr val="A6461A"/>
          </a:solidFill>
          <a:ln>
            <a:noFill/>
          </a:ln>
        </p:spPr>
        <p:txBody>
          <a:bodyPr rtlCol="0" anchor="ctr"/>
          <a:lstStyle/>
          <a:p>
            <a:pPr algn="ctr"/>
          </a:p>
        </p:txBody>
      </p:sp>
      <p:sp>
        <p:nvSpPr>
          <p:cNvPr id="60" name="Box 59"/>
          <p:cNvSpPr/>
          <p:nvPr/>
        </p:nvSpPr>
        <p:spPr>
          <a:xfrm>
            <a:off x="812800" y="3287812"/>
            <a:ext cx="2374900" cy="1422301"/>
          </a:xfrm>
          <a:prstGeom prst="roundRect">
            <a:avLst>
              <a:gd name="adj" fmla="val 7143"/>
            </a:avLst>
          </a:prstGeom>
          <a:solidFill>
            <a:srgbClr val="FCFBF8"/>
          </a:solidFill>
          <a:ln>
            <a:noFill/>
          </a:ln>
        </p:spPr>
        <p:txBody>
          <a:bodyPr rtlCol="0" anchor="ctr"/>
          <a:lstStyle/>
          <a:p>
            <a:pPr algn="ctr"/>
          </a:p>
        </p:txBody>
      </p:sp>
      <p:sp>
        <p:nvSpPr>
          <p:cNvPr id="61" name="Rule 60"/>
          <p:cNvSpPr/>
          <p:nvPr/>
        </p:nvSpPr>
        <p:spPr>
          <a:xfrm>
            <a:off x="812800" y="3287812"/>
            <a:ext cx="2374900" cy="38100"/>
          </a:xfrm>
          <a:prstGeom prst="rect">
            <a:avLst/>
          </a:prstGeom>
          <a:solidFill>
            <a:srgbClr val="A6461A"/>
          </a:solidFill>
          <a:ln>
            <a:noFill/>
          </a:ln>
        </p:spPr>
        <p:txBody>
          <a:bodyPr rtlCol="0" anchor="ctr"/>
          <a:lstStyle/>
          <a:p>
            <a:pPr algn="ctr"/>
          </a:p>
        </p:txBody>
      </p:sp>
      <p:sp>
        <p:nvSpPr>
          <p:cNvPr id="62" name="Rule 61"/>
          <p:cNvSpPr/>
          <p:nvPr/>
        </p:nvSpPr>
        <p:spPr>
          <a:xfrm>
            <a:off x="3181350" y="3287812"/>
            <a:ext cx="6350" cy="1422301"/>
          </a:xfrm>
          <a:prstGeom prst="rect">
            <a:avLst/>
          </a:prstGeom>
          <a:solidFill>
            <a:srgbClr val="DDD7CA"/>
          </a:solidFill>
          <a:ln>
            <a:noFill/>
          </a:ln>
        </p:spPr>
        <p:txBody>
          <a:bodyPr rtlCol="0" anchor="ctr"/>
          <a:lstStyle/>
          <a:p>
            <a:pPr algn="ctr"/>
          </a:p>
        </p:txBody>
      </p:sp>
      <p:sp>
        <p:nvSpPr>
          <p:cNvPr id="63" name="Rule 62"/>
          <p:cNvSpPr/>
          <p:nvPr/>
        </p:nvSpPr>
        <p:spPr>
          <a:xfrm>
            <a:off x="812800" y="4703762"/>
            <a:ext cx="2374900" cy="6350"/>
          </a:xfrm>
          <a:prstGeom prst="rect">
            <a:avLst/>
          </a:prstGeom>
          <a:solidFill>
            <a:srgbClr val="DDD7CA"/>
          </a:solidFill>
          <a:ln>
            <a:noFill/>
          </a:ln>
        </p:spPr>
        <p:txBody>
          <a:bodyPr rtlCol="0" anchor="ctr"/>
          <a:lstStyle/>
          <a:p>
            <a:pPr algn="ctr"/>
          </a:p>
        </p:txBody>
      </p:sp>
      <p:sp>
        <p:nvSpPr>
          <p:cNvPr id="64" name="Rule 63"/>
          <p:cNvSpPr/>
          <p:nvPr/>
        </p:nvSpPr>
        <p:spPr>
          <a:xfrm>
            <a:off x="812800" y="3287812"/>
            <a:ext cx="6350" cy="1422301"/>
          </a:xfrm>
          <a:prstGeom prst="rect">
            <a:avLst/>
          </a:prstGeom>
          <a:solidFill>
            <a:srgbClr val="DDD7CA"/>
          </a:solidFill>
          <a:ln>
            <a:noFill/>
          </a:ln>
        </p:spPr>
        <p:txBody>
          <a:bodyPr rtlCol="0" anchor="ctr"/>
          <a:lstStyle/>
          <a:p>
            <a:pPr algn="ctr"/>
          </a:p>
        </p:txBody>
      </p:sp>
      <p:sp>
        <p:nvSpPr>
          <p:cNvPr id="65" name="Text 64"/>
          <p:cNvSpPr txBox="1"/>
          <p:nvPr/>
        </p:nvSpPr>
        <p:spPr>
          <a:xfrm>
            <a:off x="838200" y="3485411"/>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A6461A"/>
                </a:solidFill>
                <a:latin typeface="Alexandria"/>
                <a:ea typeface="Alexandria"/>
                <a:cs typeface="Alexandria"/>
              </a:rPr>
              <a:t>04</a:t>
            </a:r>
          </a:p>
        </p:txBody>
      </p:sp>
      <p:sp>
        <p:nvSpPr>
          <p:cNvPr id="66" name="Text 65"/>
          <p:cNvSpPr txBox="1"/>
          <p:nvPr/>
        </p:nvSpPr>
        <p:spPr>
          <a:xfrm>
            <a:off x="838200" y="3761596"/>
            <a:ext cx="2178050"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حدّث</a:t>
            </a:r>
          </a:p>
        </p:txBody>
      </p:sp>
      <p:sp>
        <p:nvSpPr>
          <p:cNvPr id="67" name="Text 66"/>
          <p:cNvSpPr txBox="1"/>
          <p:nvPr/>
        </p:nvSpPr>
        <p:spPr>
          <a:xfrm>
            <a:off x="923290" y="4069310"/>
            <a:ext cx="20929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السجل عند كل اتفاقية أو التزام جديد</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8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‎1-8‎ المراجعة والتدقيق الدوري</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التأكد من أن الضوابط مطبقة وتعمل وفق سياسات الجهة والمتطلبات الوطنية والدولية المفروضة عليها نظاماً.</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0" name="Icon Warning 19" descr="icon029.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تظن الجهة أنها ممتثلة لأن أحداً لم يفحص، وتكتشف الفجوات لأول مرة في تقييم الهيئة.</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Home 24" descr="icon030.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اختبارات الطلاب: المعلم يقيّم طلابه، ولجنة خارجية تراجع التقييم لضمان الحياد.</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Lightbulb 29" descr="icon031.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فحص منتظم: هل الضوابط مطبقة فعلاً وتعمل؟ مرة من إدارة الأمن السيبراني نفسها، ومرة من جهة مستقلة عنها، وتُعرض النتائج على الإدارة العليا.</a:t>
            </a:r>
          </a:p>
        </p:txBody>
      </p:sp>
      <p:sp>
        <p:nvSpPr>
          <p:cNvPr id="33" name="Rule 32"/>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التقييم الذاتي</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مراجعة تجريها إدارة الأمن السيبراني</a:t>
            </a:r>
          </a:p>
        </p:txBody>
      </p:sp>
      <p:sp>
        <p:nvSpPr>
          <p:cNvPr id="36" name="Rule 35"/>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التدقيق المستقل</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من جهة لا تتبع الأمن السيبراني</a:t>
            </a:r>
          </a:p>
        </p:txBody>
      </p:sp>
      <p:sp>
        <p:nvSpPr>
          <p:cNvPr id="39" name="Rule 38"/>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الإجراء التصحيحي</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خطوة لإغلاق ملاحظة بمالك وموعد</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7" name="Box 46"/>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43318" y="812800"/>
            <a:ext cx="2135882"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‎1-8‎ · المراجعة والتدقيق الدوري</a:t>
            </a:r>
          </a:p>
        </p:txBody>
      </p:sp>
      <p:sp>
        <p:nvSpPr>
          <p:cNvPr id="4" name="Text 3"/>
          <p:cNvSpPr txBox="1"/>
          <p:nvPr/>
        </p:nvSpPr>
        <p:spPr>
          <a:xfrm>
            <a:off x="7856859"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1979414"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المراجعة والتدقيق: داخلي ومستقل وعرض للنتائج</a:t>
            </a:r>
          </a:p>
        </p:txBody>
      </p:sp>
      <p:sp>
        <p:nvSpPr>
          <p:cNvPr id="15" name="Rule 14"/>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16" name="Text 15"/>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17" name="Rule 16"/>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18" name="Text 17"/>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0" name="Text 19"/>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4" name="Rule 23"/>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25" name="Text 24"/>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خطة المراجعة، وتقارير التقييم الذاتي، ومتابعة الملاحظات</a:t>
            </a:r>
          </a:p>
        </p:txBody>
      </p:sp>
      <p:sp>
        <p:nvSpPr>
          <p:cNvPr id="26" name="Rule 25"/>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27" name="Text 26"/>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مراجعة تغطي كل المكونات الفرعية، بأداة الهيئة أو منهجية مكافئة</a:t>
            </a:r>
          </a:p>
        </p:txBody>
      </p:sp>
      <p:sp>
        <p:nvSpPr>
          <p:cNvPr id="28" name="Rule 27"/>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29" name="Text 28"/>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تراجع إدارة الأمن السيبراني تطبيق الضوابط دورياً</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1-8-1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داخلية</a:t>
            </a:r>
          </a:p>
        </p:txBody>
      </p:sp>
      <p:sp>
        <p:nvSpPr>
          <p:cNvPr id="33" name="Box 32"/>
          <p:cNvSpPr/>
          <p:nvPr/>
        </p:nvSpPr>
        <p:spPr>
          <a:xfrm>
            <a:off x="812800" y="3047702"/>
            <a:ext cx="3051969" cy="872430"/>
          </a:xfrm>
          <a:prstGeom prst="rect">
            <a:avLst/>
          </a:prstGeom>
          <a:solidFill>
            <a:srgbClr val="F6E6DC"/>
          </a:solidFill>
          <a:ln>
            <a:noFill/>
          </a:ln>
        </p:spPr>
        <p:txBody>
          <a:bodyPr rtlCol="0" anchor="ctr"/>
          <a:lstStyle/>
          <a:p>
            <a:pPr algn="ctr"/>
          </a:p>
        </p:txBody>
      </p:sp>
      <p:sp>
        <p:nvSpPr>
          <p:cNvPr id="34" name="Rule 33"/>
          <p:cNvSpPr/>
          <p:nvPr/>
        </p:nvSpPr>
        <p:spPr>
          <a:xfrm>
            <a:off x="812800" y="3913783"/>
            <a:ext cx="3051969" cy="6350"/>
          </a:xfrm>
          <a:prstGeom prst="rect">
            <a:avLst/>
          </a:prstGeom>
          <a:solidFill>
            <a:srgbClr val="DDD7CA"/>
          </a:solidFill>
          <a:ln>
            <a:noFill/>
          </a:ln>
        </p:spPr>
        <p:txBody>
          <a:bodyPr rtlCol="0" anchor="ctr"/>
          <a:lstStyle/>
          <a:p>
            <a:pPr algn="ctr"/>
          </a:p>
        </p:txBody>
      </p:sp>
      <p:sp>
        <p:nvSpPr>
          <p:cNvPr id="35" name="Text 34"/>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خطة التدقيق، والتقرير المستقل، وإقرار الاستقلالية</a:t>
            </a:r>
          </a:p>
        </p:txBody>
      </p:sp>
      <p:sp>
        <p:nvSpPr>
          <p:cNvPr id="36" name="Rule 35"/>
          <p:cNvSpPr/>
          <p:nvPr/>
        </p:nvSpPr>
        <p:spPr>
          <a:xfrm>
            <a:off x="3864769" y="3913783"/>
            <a:ext cx="3509863" cy="6350"/>
          </a:xfrm>
          <a:prstGeom prst="rect">
            <a:avLst/>
          </a:prstGeom>
          <a:solidFill>
            <a:srgbClr val="DDD7CA"/>
          </a:solidFill>
          <a:ln>
            <a:noFill/>
          </a:ln>
        </p:spPr>
        <p:txBody>
          <a:bodyPr rtlCol="0" anchor="ctr"/>
          <a:lstStyle/>
          <a:p>
            <a:pPr algn="ctr"/>
          </a:p>
        </p:txBody>
      </p:sp>
      <p:sp>
        <p:nvSpPr>
          <p:cNvPr id="37" name="Text 36"/>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إدراج الأمن السيبراني في خطة المراجعة الداخلية، أو التعاقد مع مراجع خارجي مؤهل</a:t>
            </a:r>
          </a:p>
        </p:txBody>
      </p:sp>
      <p:sp>
        <p:nvSpPr>
          <p:cNvPr id="38" name="Rule 37"/>
          <p:cNvSpPr/>
          <p:nvPr/>
        </p:nvSpPr>
        <p:spPr>
          <a:xfrm>
            <a:off x="7374632" y="3913783"/>
            <a:ext cx="3052068" cy="6350"/>
          </a:xfrm>
          <a:prstGeom prst="rect">
            <a:avLst/>
          </a:prstGeom>
          <a:solidFill>
            <a:srgbClr val="DDD7CA"/>
          </a:solidFill>
          <a:ln>
            <a:noFill/>
          </a:ln>
        </p:spPr>
        <p:txBody>
          <a:bodyPr rtlCol="0" anchor="ctr"/>
          <a:lstStyle/>
          <a:p>
            <a:pPr algn="ctr"/>
          </a:p>
        </p:txBody>
      </p:sp>
      <p:sp>
        <p:nvSpPr>
          <p:cNvPr id="39" name="Text 38"/>
          <p:cNvSpPr txBox="1"/>
          <p:nvPr/>
        </p:nvSpPr>
        <p:spPr>
          <a:xfrm>
            <a:off x="7417690" y="3121870"/>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وتدقيق من جهة غير إدارة الأمن السيبراني، باستقلالية ووفق معايير التدقيق المتعارف عليها</a:t>
            </a:r>
          </a:p>
        </p:txBody>
      </p:sp>
      <p:sp>
        <p:nvSpPr>
          <p:cNvPr id="40" name="Rule 39"/>
          <p:cNvSpPr/>
          <p:nvPr/>
        </p:nvSpPr>
        <p:spPr>
          <a:xfrm>
            <a:off x="10426700" y="391378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1-8-2</a:t>
            </a:r>
          </a:p>
        </p:txBody>
      </p:sp>
      <p:sp>
        <p:nvSpPr>
          <p:cNvPr id="42" name="Text 41"/>
          <p:cNvSpPr txBox="1"/>
          <p:nvPr/>
        </p:nvSpPr>
        <p:spPr>
          <a:xfrm>
            <a:off x="10515600" y="3344100"/>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تدقيق مستقل</a:t>
            </a:r>
          </a:p>
        </p:txBody>
      </p:sp>
      <p:sp>
        <p:nvSpPr>
          <p:cNvPr id="43" name="Box 42"/>
          <p:cNvSpPr/>
          <p:nvPr/>
        </p:nvSpPr>
        <p:spPr>
          <a:xfrm>
            <a:off x="812800" y="3920133"/>
            <a:ext cx="3051969" cy="872430"/>
          </a:xfrm>
          <a:prstGeom prst="rect">
            <a:avLst/>
          </a:prstGeom>
          <a:solidFill>
            <a:srgbClr val="F6E6DC"/>
          </a:solidFill>
          <a:ln>
            <a:noFill/>
          </a:ln>
        </p:spPr>
        <p:txBody>
          <a:bodyPr rtlCol="0" anchor="ctr"/>
          <a:lstStyle/>
          <a:p>
            <a:pPr algn="ctr"/>
          </a:p>
        </p:txBody>
      </p:sp>
      <p:sp>
        <p:nvSpPr>
          <p:cNvPr id="44" name="Rule 43"/>
          <p:cNvSpPr/>
          <p:nvPr/>
        </p:nvSpPr>
        <p:spPr>
          <a:xfrm>
            <a:off x="812800" y="4786213"/>
            <a:ext cx="3051969" cy="6350"/>
          </a:xfrm>
          <a:prstGeom prst="rect">
            <a:avLst/>
          </a:prstGeom>
          <a:solidFill>
            <a:srgbClr val="DDD7CA"/>
          </a:solidFill>
          <a:ln>
            <a:noFill/>
          </a:ln>
        </p:spPr>
        <p:txBody>
          <a:bodyPr rtlCol="0" anchor="ctr"/>
          <a:lstStyle/>
          <a:p>
            <a:pPr algn="ctr"/>
          </a:p>
        </p:txBody>
      </p:sp>
      <p:sp>
        <p:nvSpPr>
          <p:cNvPr id="45" name="Text 44"/>
          <p:cNvSpPr txBox="1"/>
          <p:nvPr/>
        </p:nvSpPr>
        <p:spPr>
          <a:xfrm>
            <a:off x="855861" y="399430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التقارير المعروضة، ومحاضر اللجنة، وخطط المعالجة ومتابعتها</a:t>
            </a:r>
          </a:p>
        </p:txBody>
      </p:sp>
      <p:sp>
        <p:nvSpPr>
          <p:cNvPr id="46" name="Rule 45"/>
          <p:cNvSpPr/>
          <p:nvPr/>
        </p:nvSpPr>
        <p:spPr>
          <a:xfrm>
            <a:off x="3864769" y="4786213"/>
            <a:ext cx="3509863" cy="6350"/>
          </a:xfrm>
          <a:prstGeom prst="rect">
            <a:avLst/>
          </a:prstGeom>
          <a:solidFill>
            <a:srgbClr val="DDD7CA"/>
          </a:solidFill>
          <a:ln>
            <a:noFill/>
          </a:ln>
        </p:spPr>
        <p:txBody>
          <a:bodyPr rtlCol="0" anchor="ctr"/>
          <a:lstStyle/>
          <a:p>
            <a:pPr algn="ctr"/>
          </a:p>
        </p:txBody>
      </p:sp>
      <p:sp>
        <p:nvSpPr>
          <p:cNvPr id="47" name="Text 46"/>
          <p:cNvSpPr txBox="1"/>
          <p:nvPr/>
        </p:nvSpPr>
        <p:spPr>
          <a:xfrm>
            <a:off x="3894093" y="399430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تقرير بقالب ثابت يشمل العناصر المطلوبة، وبند دائم في جدول أعمال اللجنة</a:t>
            </a:r>
          </a:p>
        </p:txBody>
      </p:sp>
      <p:sp>
        <p:nvSpPr>
          <p:cNvPr id="48" name="Rule 47"/>
          <p:cNvSpPr/>
          <p:nvPr/>
        </p:nvSpPr>
        <p:spPr>
          <a:xfrm>
            <a:off x="7374632" y="4786213"/>
            <a:ext cx="3052068" cy="6350"/>
          </a:xfrm>
          <a:prstGeom prst="rect">
            <a:avLst/>
          </a:prstGeom>
          <a:solidFill>
            <a:srgbClr val="DDD7CA"/>
          </a:solidFill>
          <a:ln>
            <a:noFill/>
          </a:ln>
        </p:spPr>
        <p:txBody>
          <a:bodyPr rtlCol="0" anchor="ctr"/>
          <a:lstStyle/>
          <a:p>
            <a:pPr algn="ctr"/>
          </a:p>
        </p:txBody>
      </p:sp>
      <p:sp>
        <p:nvSpPr>
          <p:cNvPr id="49" name="Text 48"/>
          <p:cNvSpPr txBox="1"/>
          <p:nvPr/>
        </p:nvSpPr>
        <p:spPr>
          <a:xfrm>
            <a:off x="7417690" y="3994301"/>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توثيق النتائج وعرضها على اللجنة وصاحب الصلاحية: النطاق والملاحظات والتوصيات والمعالجة</a:t>
            </a:r>
          </a:p>
        </p:txBody>
      </p:sp>
      <p:sp>
        <p:nvSpPr>
          <p:cNvPr id="50" name="Rule 49"/>
          <p:cNvSpPr/>
          <p:nvPr/>
        </p:nvSpPr>
        <p:spPr>
          <a:xfrm>
            <a:off x="10426700" y="4786213"/>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401100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1-8-3</a:t>
            </a:r>
          </a:p>
        </p:txBody>
      </p:sp>
      <p:sp>
        <p:nvSpPr>
          <p:cNvPr id="52" name="Text 51"/>
          <p:cNvSpPr txBox="1"/>
          <p:nvPr/>
        </p:nvSpPr>
        <p:spPr>
          <a:xfrm>
            <a:off x="10462260" y="421653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عرض النتائج</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8" name="Box 5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426773" y="812800"/>
            <a:ext cx="1952427"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9 من 10</a:t>
            </a:r>
          </a:p>
        </p:txBody>
      </p:sp>
      <p:sp>
        <p:nvSpPr>
          <p:cNvPr id="4" name="Text 3"/>
          <p:cNvSpPr txBox="1"/>
          <p:nvPr/>
        </p:nvSpPr>
        <p:spPr>
          <a:xfrm>
            <a:off x="8040314"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‎1-9‎ الأمن السيبراني في الموارد البشرية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إدارة مخاطر العاملين، موظفين ومتعاقدين، قبل العمل وأثناءه وعند انتهائه.</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موظف غادر قبل شهر وما زال بريده وحسابه في الشبكة الافتراضية يعملان، وهذه من أكثر الملاحظات تكراراً.</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3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مفاتيح المكتب: تُسلَّم للموظف بعد التحقق منه، ويتعلم الحفاظ عليها، وتُستعاد يوم مغادرته.</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3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الجهة من مخاطر الموظفين والمتعاقدين في ثلاث مراحل: قبل التعيين، وأثناء العمل، وعند انتهاء العلاقة، وأهمها إلغاء الصلاحيات فوراً.</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عدم الإفصاح</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سرية المعلومات أثناء العمل وبعده</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المسح الأمني</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تحقق قبل تعيين الوظائف الحساسة</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إخلاء الطرف</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إجراء الانتهاء ومنه إلغاء الصلاحيات</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60929" y="812800"/>
            <a:ext cx="251827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‎1-9‎ · الأمن السيبراني في الموارد البشرية</a:t>
            </a:r>
          </a:p>
        </p:txBody>
      </p:sp>
      <p:sp>
        <p:nvSpPr>
          <p:cNvPr id="4" name="Text 3"/>
          <p:cNvSpPr txBox="1"/>
          <p:nvPr/>
        </p:nvSpPr>
        <p:spPr>
          <a:xfrm>
            <a:off x="747447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الموارد البشرية: المتطلبات العامة وعند الانتهاء</a:t>
            </a:r>
          </a:p>
        </p:txBody>
      </p:sp>
      <p:sp>
        <p:nvSpPr>
          <p:cNvPr id="20" name="Rule 19"/>
          <p:cNvSpPr/>
          <p:nvPr/>
        </p:nvSpPr>
        <p:spPr>
          <a:xfrm>
            <a:off x="812800" y="2193131"/>
            <a:ext cx="3051969"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A6461A"/>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A6461A"/>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أمن الموارد البشرية بالتنسيق مع إدارة الموارد البشرية، تغطي المراحل الثلاث</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للمراحل الثلاث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29841"/>
          </a:xfrm>
          <a:prstGeom prst="rect">
            <a:avLst/>
          </a:prstGeom>
          <a:solidFill>
            <a:srgbClr val="F6E6DC"/>
          </a:solidFill>
          <a:ln>
            <a:noFill/>
          </a:ln>
        </p:spPr>
        <p:txBody>
          <a:bodyPr rtlCol="0" anchor="ctr"/>
          <a:lstStyle/>
          <a:p>
            <a:pPr algn="ctr"/>
          </a:p>
        </p:txBody>
      </p:sp>
      <p:sp>
        <p:nvSpPr>
          <p:cNvPr id="39" name="Rule 38"/>
          <p:cNvSpPr/>
          <p:nvPr/>
        </p:nvSpPr>
        <p:spPr>
          <a:xfrm>
            <a:off x="812800" y="367119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ملفات عاملين تثبت تطبيق كل مرحلة</a:t>
            </a:r>
          </a:p>
        </p:txBody>
      </p:sp>
      <p:sp>
        <p:nvSpPr>
          <p:cNvPr id="41" name="Rule 40"/>
          <p:cNvSpPr/>
          <p:nvPr/>
        </p:nvSpPr>
        <p:spPr>
          <a:xfrm>
            <a:off x="3864769" y="367119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0169" y="3121870"/>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دمج المتطلبات في إجراءات التعيين والتهيئة وإنهاء الخدمة</a:t>
            </a:r>
          </a:p>
        </p:txBody>
      </p:sp>
      <p:sp>
        <p:nvSpPr>
          <p:cNvPr id="43" name="Rule 42"/>
          <p:cNvSpPr/>
          <p:nvPr/>
        </p:nvSpPr>
        <p:spPr>
          <a:xfrm>
            <a:off x="7374632" y="367119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7119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77543"/>
            <a:ext cx="3051969" cy="872430"/>
          </a:xfrm>
          <a:prstGeom prst="rect">
            <a:avLst/>
          </a:prstGeom>
          <a:solidFill>
            <a:srgbClr val="F6E6DC"/>
          </a:solidFill>
          <a:ln>
            <a:noFill/>
          </a:ln>
        </p:spPr>
        <p:txBody>
          <a:bodyPr rtlCol="0" anchor="ctr"/>
          <a:lstStyle/>
          <a:p>
            <a:pPr algn="ctr"/>
          </a:p>
        </p:txBody>
      </p:sp>
      <p:sp>
        <p:nvSpPr>
          <p:cNvPr id="49" name="Rule 48"/>
          <p:cNvSpPr/>
          <p:nvPr/>
        </p:nvSpPr>
        <p:spPr>
          <a:xfrm>
            <a:off x="812800" y="454362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5171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مطابقة الفترة كاملة: وقت الانتهاء مقابل وقت التعطيل في كل نظام، مع الاستثناءات ومعالجتها</a:t>
            </a:r>
          </a:p>
        </p:txBody>
      </p:sp>
      <p:sp>
        <p:nvSpPr>
          <p:cNvPr id="51" name="Rule 50"/>
          <p:cNvSpPr/>
          <p:nvPr/>
        </p:nvSpPr>
        <p:spPr>
          <a:xfrm>
            <a:off x="3864769" y="454362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51711"/>
            <a:ext cx="3353539"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إشعار آلي من الموارد البشرية بوقت الانتهاء يشمل المتعاقدين، وتعطيل كل الحسابات في كل الأنظمة المعنية وفق إجراء يحدد معنى «مباشرة»</a:t>
            </a:r>
          </a:p>
        </p:txBody>
      </p:sp>
      <p:sp>
        <p:nvSpPr>
          <p:cNvPr id="53" name="Rule 52"/>
          <p:cNvSpPr/>
          <p:nvPr/>
        </p:nvSpPr>
        <p:spPr>
          <a:xfrm>
            <a:off x="7374632" y="454362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5171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صلاحيات العامل وإلغاؤها مباشرة بعد انتهاء العلاقة الوظيفية أو إنهائها</a:t>
            </a:r>
          </a:p>
        </p:txBody>
      </p:sp>
      <p:sp>
        <p:nvSpPr>
          <p:cNvPr id="55" name="Rule 54"/>
          <p:cNvSpPr/>
          <p:nvPr/>
        </p:nvSpPr>
        <p:spPr>
          <a:xfrm>
            <a:off x="10426700" y="454362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684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1-9-5</a:t>
            </a:r>
          </a:p>
        </p:txBody>
      </p:sp>
      <p:sp>
        <p:nvSpPr>
          <p:cNvPr id="57" name="Text 56"/>
          <p:cNvSpPr txBox="1"/>
          <p:nvPr/>
        </p:nvSpPr>
        <p:spPr>
          <a:xfrm>
            <a:off x="10462260" y="397394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عند الانتهاء</a:t>
            </a:r>
          </a:p>
        </p:txBody>
      </p:sp>
      <p:sp>
        <p:nvSpPr>
          <p:cNvPr id="58" name="Box 57"/>
          <p:cNvSpPr/>
          <p:nvPr/>
        </p:nvSpPr>
        <p:spPr>
          <a:xfrm>
            <a:off x="812800" y="4549973"/>
            <a:ext cx="3051969" cy="835521"/>
          </a:xfrm>
          <a:prstGeom prst="rect">
            <a:avLst/>
          </a:prstGeom>
          <a:solidFill>
            <a:srgbClr val="F6E6DC"/>
          </a:solidFill>
          <a:ln>
            <a:noFill/>
          </a:ln>
        </p:spPr>
        <p:txBody>
          <a:bodyPr rtlCol="0" anchor="ctr"/>
          <a:lstStyle/>
          <a:p>
            <a:pPr algn="ctr"/>
          </a:p>
        </p:txBody>
      </p:sp>
      <p:sp>
        <p:nvSpPr>
          <p:cNvPr id="59" name="Rule 58"/>
          <p:cNvSpPr/>
          <p:nvPr/>
        </p:nvSpPr>
        <p:spPr>
          <a:xfrm>
            <a:off x="812800" y="5379145"/>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241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محضر المراجعة ونتائج العينة</a:t>
            </a:r>
          </a:p>
        </p:txBody>
      </p:sp>
      <p:sp>
        <p:nvSpPr>
          <p:cNvPr id="61" name="Rule 60"/>
          <p:cNvSpPr/>
          <p:nvPr/>
        </p:nvSpPr>
        <p:spPr>
          <a:xfrm>
            <a:off x="3864769" y="5379145"/>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62414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السياسة مع عينة من التطبيق</a:t>
            </a:r>
          </a:p>
        </p:txBody>
      </p:sp>
      <p:sp>
        <p:nvSpPr>
          <p:cNvPr id="63" name="Rule 62"/>
          <p:cNvSpPr/>
          <p:nvPr/>
        </p:nvSpPr>
        <p:spPr>
          <a:xfrm>
            <a:off x="7374632" y="5379145"/>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6241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65" name="Rule 64"/>
          <p:cNvSpPr/>
          <p:nvPr/>
        </p:nvSpPr>
        <p:spPr>
          <a:xfrm>
            <a:off x="10426700" y="5379145"/>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4084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1-9-6</a:t>
            </a:r>
          </a:p>
        </p:txBody>
      </p:sp>
      <p:sp>
        <p:nvSpPr>
          <p:cNvPr id="67" name="Text 66"/>
          <p:cNvSpPr txBox="1"/>
          <p:nvPr/>
        </p:nvSpPr>
        <p:spPr>
          <a:xfrm>
            <a:off x="10515600" y="484637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60929" y="812800"/>
            <a:ext cx="251827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‎1-9‎ · الأمن السيبراني في الموارد البشرية</a:t>
            </a:r>
          </a:p>
        </p:txBody>
      </p:sp>
      <p:sp>
        <p:nvSpPr>
          <p:cNvPr id="4" name="Text 3"/>
          <p:cNvSpPr txBox="1"/>
          <p:nvPr/>
        </p:nvSpPr>
        <p:spPr>
          <a:xfrm>
            <a:off x="747447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قبل التعيين وأثناء العمل</a:t>
            </a:r>
          </a:p>
        </p:txBody>
      </p:sp>
      <p:sp>
        <p:nvSpPr>
          <p:cNvPr id="20" name="Rule 19"/>
          <p:cNvSpPr/>
          <p:nvPr/>
        </p:nvSpPr>
        <p:spPr>
          <a:xfrm>
            <a:off x="812800" y="2193131"/>
            <a:ext cx="2594173"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4417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406973" y="2193131"/>
            <a:ext cx="2899470" cy="19050"/>
          </a:xfrm>
          <a:prstGeom prst="rect">
            <a:avLst/>
          </a:prstGeom>
          <a:solidFill>
            <a:srgbClr val="A6461A"/>
          </a:solidFill>
          <a:ln>
            <a:noFill/>
          </a:ln>
        </p:spPr>
        <p:txBody>
          <a:bodyPr rtlCol="0" anchor="ctr"/>
          <a:lstStyle/>
          <a:p>
            <a:pPr algn="ctr"/>
          </a:p>
        </p:txBody>
      </p:sp>
      <p:sp>
        <p:nvSpPr>
          <p:cNvPr id="23" name="Text 22"/>
          <p:cNvSpPr txBox="1"/>
          <p:nvPr/>
        </p:nvSpPr>
        <p:spPr>
          <a:xfrm>
            <a:off x="3432373" y="1892689"/>
            <a:ext cx="274707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306443" y="2193131"/>
            <a:ext cx="4120257" cy="19050"/>
          </a:xfrm>
          <a:prstGeom prst="rect">
            <a:avLst/>
          </a:prstGeom>
          <a:solidFill>
            <a:srgbClr val="A6461A"/>
          </a:solidFill>
          <a:ln>
            <a:noFill/>
          </a:ln>
        </p:spPr>
        <p:txBody>
          <a:bodyPr rtlCol="0" anchor="ctr"/>
          <a:lstStyle/>
          <a:p>
            <a:pPr algn="ctr"/>
          </a:p>
        </p:txBody>
      </p:sp>
      <p:sp>
        <p:nvSpPr>
          <p:cNvPr id="25" name="Text 24"/>
          <p:cNvSpPr txBox="1"/>
          <p:nvPr/>
        </p:nvSpPr>
        <p:spPr>
          <a:xfrm>
            <a:off x="6331843" y="1892689"/>
            <a:ext cx="396785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594173" cy="651470"/>
          </a:xfrm>
          <a:prstGeom prst="rect">
            <a:avLst/>
          </a:prstGeom>
          <a:solidFill>
            <a:srgbClr val="F6E6DC"/>
          </a:solidFill>
          <a:ln>
            <a:noFill/>
          </a:ln>
        </p:spPr>
        <p:txBody>
          <a:bodyPr rtlCol="0" anchor="ctr"/>
          <a:lstStyle/>
          <a:p>
            <a:pPr algn="ctr"/>
          </a:p>
        </p:txBody>
      </p:sp>
      <p:sp>
        <p:nvSpPr>
          <p:cNvPr id="29" name="Rule 28"/>
          <p:cNvSpPr/>
          <p:nvPr/>
        </p:nvSpPr>
        <p:spPr>
          <a:xfrm>
            <a:off x="812800" y="2857302"/>
            <a:ext cx="2594173"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44177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نموذج العقد المعتمد، وعينة عقود موقعة</a:t>
            </a:r>
          </a:p>
        </p:txBody>
      </p:sp>
      <p:sp>
        <p:nvSpPr>
          <p:cNvPr id="31" name="Rule 30"/>
          <p:cNvSpPr/>
          <p:nvPr/>
        </p:nvSpPr>
        <p:spPr>
          <a:xfrm>
            <a:off x="3406973" y="2857302"/>
            <a:ext cx="2899470" cy="6350"/>
          </a:xfrm>
          <a:prstGeom prst="rect">
            <a:avLst/>
          </a:prstGeom>
          <a:solidFill>
            <a:srgbClr val="DDD7CA"/>
          </a:solidFill>
          <a:ln>
            <a:noFill/>
          </a:ln>
        </p:spPr>
        <p:txBody>
          <a:bodyPr rtlCol="0" anchor="ctr"/>
          <a:lstStyle/>
          <a:p>
            <a:pPr algn="ctr"/>
          </a:p>
        </p:txBody>
      </p:sp>
      <p:sp>
        <p:nvSpPr>
          <p:cNvPr id="32" name="Text 31"/>
          <p:cNvSpPr txBox="1"/>
          <p:nvPr/>
        </p:nvSpPr>
        <p:spPr>
          <a:xfrm>
            <a:off x="3454609" y="2286349"/>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تعديل نماذج العقود مع الشؤون القانونية، وملحق للعقود القائمة</a:t>
            </a:r>
          </a:p>
        </p:txBody>
      </p:sp>
      <p:sp>
        <p:nvSpPr>
          <p:cNvPr id="33" name="Rule 32"/>
          <p:cNvSpPr/>
          <p:nvPr/>
        </p:nvSpPr>
        <p:spPr>
          <a:xfrm>
            <a:off x="6306443" y="2857302"/>
            <a:ext cx="4120257" cy="6350"/>
          </a:xfrm>
          <a:prstGeom prst="rect">
            <a:avLst/>
          </a:prstGeom>
          <a:solidFill>
            <a:srgbClr val="DDD7CA"/>
          </a:solidFill>
          <a:ln>
            <a:noFill/>
          </a:ln>
        </p:spPr>
        <p:txBody>
          <a:bodyPr rtlCol="0" anchor="ctr"/>
          <a:lstStyle/>
          <a:p>
            <a:pPr algn="ctr"/>
          </a:p>
        </p:txBody>
      </p:sp>
      <p:sp>
        <p:nvSpPr>
          <p:cNvPr id="34" name="Text 33"/>
          <p:cNvSpPr txBox="1"/>
          <p:nvPr/>
        </p:nvSpPr>
        <p:spPr>
          <a:xfrm>
            <a:off x="6331843" y="2286349"/>
            <a:ext cx="3967857"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بنود مسؤوليات الأمن السيبراني وعدم الإفصاح في العقود، أثناء العمل وبعده</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1-9-3-1</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قبل التعيين</a:t>
            </a:r>
          </a:p>
        </p:txBody>
      </p:sp>
      <p:sp>
        <p:nvSpPr>
          <p:cNvPr id="38" name="Box 37"/>
          <p:cNvSpPr/>
          <p:nvPr/>
        </p:nvSpPr>
        <p:spPr>
          <a:xfrm>
            <a:off x="812800" y="2863652"/>
            <a:ext cx="2594173" cy="651470"/>
          </a:xfrm>
          <a:prstGeom prst="rect">
            <a:avLst/>
          </a:prstGeom>
          <a:solidFill>
            <a:srgbClr val="F6E6DC"/>
          </a:solidFill>
          <a:ln>
            <a:noFill/>
          </a:ln>
        </p:spPr>
        <p:txBody>
          <a:bodyPr rtlCol="0" anchor="ctr"/>
          <a:lstStyle/>
          <a:p>
            <a:pPr algn="ctr"/>
          </a:p>
        </p:txBody>
      </p:sp>
      <p:sp>
        <p:nvSpPr>
          <p:cNvPr id="39" name="Rule 38"/>
          <p:cNvSpPr/>
          <p:nvPr/>
        </p:nvSpPr>
        <p:spPr>
          <a:xfrm>
            <a:off x="812800" y="3508772"/>
            <a:ext cx="2594173" cy="6350"/>
          </a:xfrm>
          <a:prstGeom prst="rect">
            <a:avLst/>
          </a:prstGeom>
          <a:solidFill>
            <a:srgbClr val="DDD7CA"/>
          </a:solidFill>
          <a:ln>
            <a:noFill/>
          </a:ln>
        </p:spPr>
        <p:txBody>
          <a:bodyPr rtlCol="0" anchor="ctr"/>
          <a:lstStyle/>
          <a:p>
            <a:pPr algn="ctr"/>
          </a:p>
        </p:txBody>
      </p:sp>
      <p:sp>
        <p:nvSpPr>
          <p:cNvPr id="40" name="Text 39"/>
          <p:cNvSpPr txBox="1"/>
          <p:nvPr/>
        </p:nvSpPr>
        <p:spPr>
          <a:xfrm>
            <a:off x="869595" y="2937820"/>
            <a:ext cx="241037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الوظائف المشمولة، ونتائج التحقق لعينة منها</a:t>
            </a:r>
          </a:p>
        </p:txBody>
      </p:sp>
      <p:sp>
        <p:nvSpPr>
          <p:cNvPr id="41" name="Rule 40"/>
          <p:cNvSpPr/>
          <p:nvPr/>
        </p:nvSpPr>
        <p:spPr>
          <a:xfrm>
            <a:off x="3406973" y="3508772"/>
            <a:ext cx="2899470" cy="6350"/>
          </a:xfrm>
          <a:prstGeom prst="rect">
            <a:avLst/>
          </a:prstGeom>
          <a:solidFill>
            <a:srgbClr val="DDD7CA"/>
          </a:solidFill>
          <a:ln>
            <a:noFill/>
          </a:ln>
        </p:spPr>
        <p:txBody>
          <a:bodyPr rtlCol="0" anchor="ctr"/>
          <a:lstStyle/>
          <a:p>
            <a:pPr algn="ctr"/>
          </a:p>
        </p:txBody>
      </p:sp>
      <p:sp>
        <p:nvSpPr>
          <p:cNvPr id="42" name="Text 41"/>
          <p:cNvSpPr txBox="1"/>
          <p:nvPr/>
        </p:nvSpPr>
        <p:spPr>
          <a:xfrm>
            <a:off x="3454609" y="2937820"/>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تحديد هذه الوظائف بالاسم، وتحقق قبل التعيين وفق الأنظمة المعمول بها</a:t>
            </a:r>
          </a:p>
        </p:txBody>
      </p:sp>
      <p:sp>
        <p:nvSpPr>
          <p:cNvPr id="43" name="Rule 42"/>
          <p:cNvSpPr/>
          <p:nvPr/>
        </p:nvSpPr>
        <p:spPr>
          <a:xfrm>
            <a:off x="6306443" y="3508772"/>
            <a:ext cx="4120257" cy="6350"/>
          </a:xfrm>
          <a:prstGeom prst="rect">
            <a:avLst/>
          </a:prstGeom>
          <a:solidFill>
            <a:srgbClr val="DDD7CA"/>
          </a:solidFill>
          <a:ln>
            <a:noFill/>
          </a:ln>
        </p:spPr>
        <p:txBody>
          <a:bodyPr rtlCol="0" anchor="ctr"/>
          <a:lstStyle/>
          <a:p>
            <a:pPr algn="ctr"/>
          </a:p>
        </p:txBody>
      </p:sp>
      <p:sp>
        <p:nvSpPr>
          <p:cNvPr id="44" name="Text 43"/>
          <p:cNvSpPr txBox="1"/>
          <p:nvPr/>
        </p:nvSpPr>
        <p:spPr>
          <a:xfrm>
            <a:off x="6331843" y="2937820"/>
            <a:ext cx="3967857"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المسح الأمني أو التحقق لوظائف الأمن السيبراني والوظائف التقنية ذات الصلاحيات الهامة والحساسة</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1-9-3-2</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قبل التعيين</a:t>
            </a:r>
          </a:p>
        </p:txBody>
      </p:sp>
      <p:sp>
        <p:nvSpPr>
          <p:cNvPr id="48" name="Box 47"/>
          <p:cNvSpPr/>
          <p:nvPr/>
        </p:nvSpPr>
        <p:spPr>
          <a:xfrm>
            <a:off x="812800" y="3515122"/>
            <a:ext cx="2594173" cy="651470"/>
          </a:xfrm>
          <a:prstGeom prst="rect">
            <a:avLst/>
          </a:prstGeom>
          <a:solidFill>
            <a:srgbClr val="F6E6DC"/>
          </a:solidFill>
          <a:ln>
            <a:noFill/>
          </a:ln>
        </p:spPr>
        <p:txBody>
          <a:bodyPr rtlCol="0" anchor="ctr"/>
          <a:lstStyle/>
          <a:p>
            <a:pPr algn="ctr"/>
          </a:p>
        </p:txBody>
      </p:sp>
      <p:sp>
        <p:nvSpPr>
          <p:cNvPr id="49" name="Rule 48"/>
          <p:cNvSpPr/>
          <p:nvPr/>
        </p:nvSpPr>
        <p:spPr>
          <a:xfrm>
            <a:off x="812800" y="4160242"/>
            <a:ext cx="2594173" cy="6350"/>
          </a:xfrm>
          <a:prstGeom prst="rect">
            <a:avLst/>
          </a:prstGeom>
          <a:solidFill>
            <a:srgbClr val="DDD7CA"/>
          </a:solidFill>
          <a:ln>
            <a:noFill/>
          </a:ln>
        </p:spPr>
        <p:txBody>
          <a:bodyPr rtlCol="0" anchor="ctr"/>
          <a:lstStyle/>
          <a:p>
            <a:pPr algn="ctr"/>
          </a:p>
        </p:txBody>
      </p:sp>
      <p:sp>
        <p:nvSpPr>
          <p:cNvPr id="50" name="Text 49"/>
          <p:cNvSpPr txBox="1"/>
          <p:nvPr/>
        </p:nvSpPr>
        <p:spPr>
          <a:xfrm>
            <a:off x="869595" y="3589290"/>
            <a:ext cx="241037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إكمال التوعية للموظفين الجدد والحاليين</a:t>
            </a:r>
          </a:p>
        </p:txBody>
      </p:sp>
      <p:sp>
        <p:nvSpPr>
          <p:cNvPr id="51" name="Rule 50"/>
          <p:cNvSpPr/>
          <p:nvPr/>
        </p:nvSpPr>
        <p:spPr>
          <a:xfrm>
            <a:off x="3406973" y="4160242"/>
            <a:ext cx="2899470" cy="6350"/>
          </a:xfrm>
          <a:prstGeom prst="rect">
            <a:avLst/>
          </a:prstGeom>
          <a:solidFill>
            <a:srgbClr val="DDD7CA"/>
          </a:solidFill>
          <a:ln>
            <a:noFill/>
          </a:ln>
        </p:spPr>
        <p:txBody>
          <a:bodyPr rtlCol="0" anchor="ctr"/>
          <a:lstStyle/>
          <a:p>
            <a:pPr algn="ctr"/>
          </a:p>
        </p:txBody>
      </p:sp>
      <p:sp>
        <p:nvSpPr>
          <p:cNvPr id="52" name="Text 51"/>
          <p:cNvSpPr txBox="1"/>
          <p:nvPr/>
        </p:nvSpPr>
        <p:spPr>
          <a:xfrm>
            <a:off x="3454609" y="3589290"/>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وحدة توعية إلزامية ضمن التهيئة، وتوعية مستمرة عبر برنامج ‎1-10‎</a:t>
            </a:r>
          </a:p>
        </p:txBody>
      </p:sp>
      <p:sp>
        <p:nvSpPr>
          <p:cNvPr id="53" name="Rule 52"/>
          <p:cNvSpPr/>
          <p:nvPr/>
        </p:nvSpPr>
        <p:spPr>
          <a:xfrm>
            <a:off x="6306443" y="4160242"/>
            <a:ext cx="4120257" cy="6350"/>
          </a:xfrm>
          <a:prstGeom prst="rect">
            <a:avLst/>
          </a:prstGeom>
          <a:solidFill>
            <a:srgbClr val="DDD7CA"/>
          </a:solidFill>
          <a:ln>
            <a:noFill/>
          </a:ln>
        </p:spPr>
        <p:txBody>
          <a:bodyPr rtlCol="0" anchor="ctr"/>
          <a:lstStyle/>
          <a:p>
            <a:pPr algn="ctr"/>
          </a:p>
        </p:txBody>
      </p:sp>
      <p:sp>
        <p:nvSpPr>
          <p:cNvPr id="54" name="Text 53"/>
          <p:cNvSpPr txBox="1"/>
          <p:nvPr/>
        </p:nvSpPr>
        <p:spPr>
          <a:xfrm>
            <a:off x="6331843" y="3589290"/>
            <a:ext cx="396785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التوعية عند بداية العمل وخلاله</a:t>
            </a:r>
          </a:p>
        </p:txBody>
      </p:sp>
      <p:sp>
        <p:nvSpPr>
          <p:cNvPr id="55" name="Rule 54"/>
          <p:cNvSpPr/>
          <p:nvPr/>
        </p:nvSpPr>
        <p:spPr>
          <a:xfrm>
            <a:off x="10426700" y="416024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1-9-4-1</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أثناء العمل</a:t>
            </a:r>
          </a:p>
        </p:txBody>
      </p:sp>
      <p:sp>
        <p:nvSpPr>
          <p:cNvPr id="58" name="Box 57"/>
          <p:cNvSpPr/>
          <p:nvPr/>
        </p:nvSpPr>
        <p:spPr>
          <a:xfrm>
            <a:off x="812800" y="4166592"/>
            <a:ext cx="2594173" cy="651470"/>
          </a:xfrm>
          <a:prstGeom prst="rect">
            <a:avLst/>
          </a:prstGeom>
          <a:solidFill>
            <a:srgbClr val="F6E6DC"/>
          </a:solidFill>
          <a:ln>
            <a:noFill/>
          </a:ln>
        </p:spPr>
        <p:txBody>
          <a:bodyPr rtlCol="0" anchor="ctr"/>
          <a:lstStyle/>
          <a:p>
            <a:pPr algn="ctr"/>
          </a:p>
        </p:txBody>
      </p:sp>
      <p:sp>
        <p:nvSpPr>
          <p:cNvPr id="59" name="Rule 58"/>
          <p:cNvSpPr/>
          <p:nvPr/>
        </p:nvSpPr>
        <p:spPr>
          <a:xfrm>
            <a:off x="812800" y="4811712"/>
            <a:ext cx="2594173" cy="6350"/>
          </a:xfrm>
          <a:prstGeom prst="rect">
            <a:avLst/>
          </a:prstGeom>
          <a:solidFill>
            <a:srgbClr val="DDD7CA"/>
          </a:solidFill>
          <a:ln>
            <a:noFill/>
          </a:ln>
        </p:spPr>
        <p:txBody>
          <a:bodyPr rtlCol="0" anchor="ctr"/>
          <a:lstStyle/>
          <a:p>
            <a:pPr algn="ctr"/>
          </a:p>
        </p:txBody>
      </p:sp>
      <p:sp>
        <p:nvSpPr>
          <p:cNvPr id="60" name="Text 59"/>
          <p:cNvSpPr txBox="1"/>
          <p:nvPr/>
        </p:nvSpPr>
        <p:spPr>
          <a:xfrm>
            <a:off x="869595" y="4240760"/>
            <a:ext cx="241037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إقرارات موقعة، وسجل المخالفات ومعالجتها</a:t>
            </a:r>
          </a:p>
        </p:txBody>
      </p:sp>
      <p:sp>
        <p:nvSpPr>
          <p:cNvPr id="61" name="Rule 60"/>
          <p:cNvSpPr/>
          <p:nvPr/>
        </p:nvSpPr>
        <p:spPr>
          <a:xfrm>
            <a:off x="3406973" y="4811712"/>
            <a:ext cx="2899470" cy="6350"/>
          </a:xfrm>
          <a:prstGeom prst="rect">
            <a:avLst/>
          </a:prstGeom>
          <a:solidFill>
            <a:srgbClr val="DDD7CA"/>
          </a:solidFill>
          <a:ln>
            <a:noFill/>
          </a:ln>
        </p:spPr>
        <p:txBody>
          <a:bodyPr rtlCol="0" anchor="ctr"/>
          <a:lstStyle/>
          <a:p>
            <a:pPr algn="ctr"/>
          </a:p>
        </p:txBody>
      </p:sp>
      <p:sp>
        <p:nvSpPr>
          <p:cNvPr id="62" name="Text 61"/>
          <p:cNvSpPr txBox="1"/>
          <p:nvPr/>
        </p:nvSpPr>
        <p:spPr>
          <a:xfrm>
            <a:off x="3454609" y="4240760"/>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إقرار دوري بالاطلاع على السياسات، وربط المخالفات بالإجراءات التأديبية</a:t>
            </a:r>
          </a:p>
        </p:txBody>
      </p:sp>
      <p:sp>
        <p:nvSpPr>
          <p:cNvPr id="63" name="Rule 62"/>
          <p:cNvSpPr/>
          <p:nvPr/>
        </p:nvSpPr>
        <p:spPr>
          <a:xfrm>
            <a:off x="6306443" y="4811712"/>
            <a:ext cx="4120257" cy="6350"/>
          </a:xfrm>
          <a:prstGeom prst="rect">
            <a:avLst/>
          </a:prstGeom>
          <a:solidFill>
            <a:srgbClr val="DDD7CA"/>
          </a:solidFill>
          <a:ln>
            <a:noFill/>
          </a:ln>
        </p:spPr>
        <p:txBody>
          <a:bodyPr rtlCol="0" anchor="ctr"/>
          <a:lstStyle/>
          <a:p>
            <a:pPr algn="ctr"/>
          </a:p>
        </p:txBody>
      </p:sp>
      <p:sp>
        <p:nvSpPr>
          <p:cNvPr id="64" name="Text 63"/>
          <p:cNvSpPr txBox="1"/>
          <p:nvPr/>
        </p:nvSpPr>
        <p:spPr>
          <a:xfrm>
            <a:off x="6331843" y="4240760"/>
            <a:ext cx="396785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 والالتزام بها وفق السياسات والإجراءات</a:t>
            </a:r>
          </a:p>
        </p:txBody>
      </p:sp>
      <p:sp>
        <p:nvSpPr>
          <p:cNvPr id="65" name="Rule 64"/>
          <p:cNvSpPr/>
          <p:nvPr/>
        </p:nvSpPr>
        <p:spPr>
          <a:xfrm>
            <a:off x="10426700" y="4811712"/>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25746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1-9-4-2</a:t>
            </a:r>
          </a:p>
        </p:txBody>
      </p:sp>
      <p:sp>
        <p:nvSpPr>
          <p:cNvPr id="67" name="Text 66"/>
          <p:cNvSpPr txBox="1"/>
          <p:nvPr/>
        </p:nvSpPr>
        <p:spPr>
          <a:xfrm>
            <a:off x="10462260" y="44629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أثناء العمل</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60929" y="812800"/>
            <a:ext cx="251827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‎1-9‎ · الأمن السيبراني في الموارد البشرية</a:t>
            </a:r>
          </a:p>
        </p:txBody>
      </p:sp>
      <p:sp>
        <p:nvSpPr>
          <p:cNvPr id="4" name="Text 3"/>
          <p:cNvSpPr txBox="1"/>
          <p:nvPr/>
        </p:nvSpPr>
        <p:spPr>
          <a:xfrm>
            <a:off x="747447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مطابقة انتهاء العلاقة بتعطيل الحسابات</a:t>
            </a:r>
          </a:p>
        </p:txBody>
      </p:sp>
      <p:sp>
        <p:nvSpPr>
          <p:cNvPr id="20" name="Text box 19"/>
          <p:cNvSpPr/>
          <p:nvPr/>
        </p:nvSpPr>
        <p:spPr>
          <a:xfrm>
            <a:off x="10037862" y="17766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7987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89144" y="1776611"/>
            <a:ext cx="63500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1-9-5</a:t>
            </a:r>
          </a:p>
        </p:txBody>
      </p:sp>
      <p:sp>
        <p:nvSpPr>
          <p:cNvPr id="23" name="Text box 22"/>
          <p:cNvSpPr/>
          <p:nvPr/>
        </p:nvSpPr>
        <p:spPr>
          <a:xfrm>
            <a:off x="7507684" y="1776611"/>
            <a:ext cx="817959"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2-2-3-5</a:t>
            </a:r>
          </a:p>
        </p:txBody>
      </p:sp>
      <p:sp>
        <p:nvSpPr>
          <p:cNvPr id="24" name="Box 23"/>
          <p:cNvSpPr/>
          <p:nvPr/>
        </p:nvSpPr>
        <p:spPr>
          <a:xfrm>
            <a:off x="815975" y="2181027"/>
            <a:ext cx="10560050" cy="2734370"/>
          </a:xfrm>
          <a:prstGeom prst="roundRect">
            <a:avLst>
              <a:gd name="adj" fmla="val 3707"/>
            </a:avLst>
          </a:prstGeom>
          <a:solidFill>
            <a:srgbClr val="FBFAF7"/>
          </a:solidFill>
          <a:ln w="6350">
            <a:solidFill>
              <a:srgbClr val="DDD7CA"/>
            </a:solidFill>
          </a:ln>
        </p:spPr>
        <p:txBody>
          <a:bodyPr rtlCol="0" anchor="ctr"/>
          <a:lstStyle/>
          <a:p>
            <a:pPr algn="ctr"/>
          </a:p>
        </p:txBody>
      </p:sp>
      <p:sp>
        <p:nvSpPr>
          <p:cNvPr id="25" name="Box 24"/>
          <p:cNvSpPr/>
          <p:nvPr/>
        </p:nvSpPr>
        <p:spPr>
          <a:xfrm>
            <a:off x="819150" y="2184202"/>
            <a:ext cx="105537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26" name="Box 25"/>
          <p:cNvSpPr/>
          <p:nvPr/>
        </p:nvSpPr>
        <p:spPr>
          <a:xfrm>
            <a:off x="946150" y="2314972"/>
            <a:ext cx="88900" cy="88900"/>
          </a:xfrm>
          <a:prstGeom prst="roundRect">
            <a:avLst>
              <a:gd name="adj" fmla="val 50000"/>
            </a:avLst>
          </a:prstGeom>
          <a:solidFill>
            <a:srgbClr val="E46A5A"/>
          </a:solidFill>
          <a:ln>
            <a:noFill/>
          </a:ln>
        </p:spPr>
        <p:txBody>
          <a:bodyPr rtlCol="0" anchor="ctr"/>
          <a:lstStyle/>
          <a:p>
            <a:pPr algn="ctr"/>
          </a:p>
        </p:txBody>
      </p:sp>
      <p:sp>
        <p:nvSpPr>
          <p:cNvPr id="27" name="Box 26"/>
          <p:cNvSpPr/>
          <p:nvPr/>
        </p:nvSpPr>
        <p:spPr>
          <a:xfrm>
            <a:off x="1098550" y="2314972"/>
            <a:ext cx="88900" cy="88900"/>
          </a:xfrm>
          <a:prstGeom prst="roundRect">
            <a:avLst>
              <a:gd name="adj" fmla="val 50000"/>
            </a:avLst>
          </a:prstGeom>
          <a:solidFill>
            <a:srgbClr val="E8B44A"/>
          </a:solidFill>
          <a:ln>
            <a:noFill/>
          </a:ln>
        </p:spPr>
        <p:txBody>
          <a:bodyPr rtlCol="0" anchor="ctr"/>
          <a:lstStyle/>
          <a:p>
            <a:pPr algn="ctr"/>
          </a:p>
        </p:txBody>
      </p:sp>
      <p:sp>
        <p:nvSpPr>
          <p:cNvPr id="28" name="Box 27"/>
          <p:cNvSpPr/>
          <p:nvPr/>
        </p:nvSpPr>
        <p:spPr>
          <a:xfrm>
            <a:off x="1250950" y="2314972"/>
            <a:ext cx="88900" cy="88900"/>
          </a:xfrm>
          <a:prstGeom prst="roundRect">
            <a:avLst>
              <a:gd name="adj" fmla="val 50000"/>
            </a:avLst>
          </a:prstGeom>
          <a:solidFill>
            <a:srgbClr val="5DB27A"/>
          </a:solidFill>
          <a:ln>
            <a:noFill/>
          </a:ln>
        </p:spPr>
        <p:txBody>
          <a:bodyPr rtlCol="0" anchor="ctr"/>
          <a:lstStyle/>
          <a:p>
            <a:pPr algn="ctr"/>
          </a:p>
        </p:txBody>
      </p:sp>
      <p:sp>
        <p:nvSpPr>
          <p:cNvPr id="29" name="Text 28"/>
          <p:cNvSpPr txBox="1"/>
          <p:nvPr/>
        </p:nvSpPr>
        <p:spPr>
          <a:xfrm>
            <a:off x="4279729" y="2244400"/>
            <a:ext cx="6966121"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مطابقة انتهاء العلاقة بتعطيل الحسابات في كل الأنظمة المعنية · الربع الثالث 2026 · استُخرج ‎2026-09-30‎ ‎17:00‎</a:t>
            </a:r>
          </a:p>
        </p:txBody>
      </p:sp>
      <p:graphicFrame>
        <p:nvGraphicFramePr>
          <p:cNvPr id="30" name="Table 29"/>
          <p:cNvGraphicFramePr>
            <a:graphicFrameLocks noGrp="1"/>
          </p:cNvGraphicFramePr>
          <p:nvPr/>
        </p:nvGraphicFramePr>
        <p:xfrm>
          <a:off x="962025" y="2664817"/>
          <a:ext cx="10267950" cy="2117227"/>
        </p:xfrm>
        <a:graphic>
          <a:graphicData uri="http://schemas.openxmlformats.org/drawingml/2006/table">
            <a:tbl>
              <a:tblPr firstRow="0" bandRow="0" lastRow="0" firstCol="0" lastCol="0" bandCol="0">
                <a:tableStyleId>{2D5ABB26-0587-4C30-8999-92F81FD0307C}</a:tableStyleId>
              </a:tblPr>
              <a:tblGrid>
                <a:gridCol w="1231900"/>
                <a:gridCol w="1848485"/>
                <a:gridCol w="1745615"/>
                <a:gridCol w="2258695"/>
                <a:gridCol w="1847850"/>
                <a:gridCol w="1335405"/>
              </a:tblGrid>
              <a:tr h="524272">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الحكم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التأخير حتى آخر تعطيل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نظام ERP (حساب مستقل)</a:t>
                      </a:r>
                    </a:p>
                  </a:txBody>
                  <a:tcPr marT="64237" marR="91440" marB="42443" marL="44563"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الدليل النشط والبريد والشبكة الافتراضية</a:t>
                      </a:r>
                    </a:p>
                  </a:txBody>
                  <a:tcPr marT="64237" marR="91440" marB="42443" marL="29159"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انتهاء العلاقة (الموارد البشرية)</a:t>
                      </a:r>
                    </a:p>
                  </a:txBody>
                  <a:tcPr marT="64237" marR="91440" marB="42443" marL="41482"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الشخص</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في الموعد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 دقيقة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2026-07-30 15:20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2026-07-30 15:04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2026-07-30 15:00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موظف 1041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متأخر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19 ساعة و10 دقائق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2026-08-18 09:40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2026-08-18 09:10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2026-08-17 14:30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موظف 1077</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نشط بعد الانتهاء</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40 يوماً حتى تاريخ التقرير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Mono"/>
                          <a:ea typeface="IBM Plex Mono"/>
                          <a:cs typeface="IBM Plex Sans Arabic"/>
                        </a:rPr>
                        <a:t>لم يُعطَّل</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Mono"/>
                          <a:ea typeface="IBM Plex Mono"/>
                          <a:cs typeface="IBM Plex Sans Arabic"/>
                        </a:rPr>
                        <a:t>لم يُعطَّل</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2026-08-21 17:00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متعاقد 2210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متأخر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6 أيام و22 ساعة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2026-09-12 10:00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2026-09-05 12:25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2026-09-05 12:00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متعاقد 2234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في الموعد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15 دقيقة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2026-09-18 15:15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2026-09-18 15:06</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2026-09-18 15:00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موظف 1102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31" name="Rule 30"/>
          <p:cNvSpPr/>
          <p:nvPr/>
        </p:nvSpPr>
        <p:spPr>
          <a:xfrm>
            <a:off x="812800" y="5292130"/>
            <a:ext cx="10566400" cy="6350"/>
          </a:xfrm>
          <a:prstGeom prst="rect">
            <a:avLst/>
          </a:prstGeom>
          <a:solidFill>
            <a:srgbClr val="DDD7CA"/>
          </a:solidFill>
          <a:ln>
            <a:noFill/>
          </a:ln>
        </p:spPr>
        <p:txBody>
          <a:bodyPr rtlCol="0" anchor="ctr"/>
          <a:lstStyle/>
          <a:p>
            <a:pPr algn="ctr"/>
          </a:p>
        </p:txBody>
      </p:sp>
      <p:sp>
        <p:nvSpPr>
          <p:cNvPr id="32" name="Box 31"/>
          <p:cNvSpPr/>
          <p:nvPr/>
        </p:nvSpPr>
        <p:spPr>
          <a:xfrm>
            <a:off x="11125200" y="5400080"/>
            <a:ext cx="254000" cy="254000"/>
          </a:xfrm>
          <a:prstGeom prst="roundRect">
            <a:avLst>
              <a:gd name="adj" fmla="val 50000"/>
            </a:avLst>
          </a:prstGeom>
          <a:solidFill>
            <a:srgbClr val="A6461A"/>
          </a:solidFill>
          <a:ln>
            <a:noFill/>
          </a:ln>
        </p:spPr>
        <p:txBody>
          <a:bodyPr rtlCol="0" anchor="ctr"/>
          <a:lstStyle/>
          <a:p>
            <a:pPr algn="ctr"/>
          </a:p>
        </p:txBody>
      </p:sp>
      <p:sp>
        <p:nvSpPr>
          <p:cNvPr id="33" name="Text 32"/>
          <p:cNvSpPr txBox="1"/>
          <p:nvPr/>
        </p:nvSpPr>
        <p:spPr>
          <a:xfrm>
            <a:off x="11169233" y="5455839"/>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34" name="Text 33"/>
          <p:cNvSpPr txBox="1"/>
          <p:nvPr/>
        </p:nvSpPr>
        <p:spPr>
          <a:xfrm>
            <a:off x="7883779" y="5372648"/>
            <a:ext cx="315252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من انتهت علاقته في الربع الثالث، موظفين ومتعاقدين، بتاريخ ووقت الانتهاء.</a:t>
            </a:r>
          </a:p>
        </p:txBody>
      </p:sp>
      <p:sp>
        <p:nvSpPr>
          <p:cNvPr id="35" name="Box 34"/>
          <p:cNvSpPr/>
          <p:nvPr/>
        </p:nvSpPr>
        <p:spPr>
          <a:xfrm>
            <a:off x="7543800" y="5400080"/>
            <a:ext cx="254000" cy="254000"/>
          </a:xfrm>
          <a:prstGeom prst="roundRect">
            <a:avLst>
              <a:gd name="adj" fmla="val 50000"/>
            </a:avLst>
          </a:prstGeom>
          <a:solidFill>
            <a:srgbClr val="A6461A"/>
          </a:solidFill>
          <a:ln>
            <a:noFill/>
          </a:ln>
        </p:spPr>
        <p:txBody>
          <a:bodyPr rtlCol="0" anchor="ctr"/>
          <a:lstStyle/>
          <a:p>
            <a:pPr algn="ctr"/>
          </a:p>
        </p:txBody>
      </p:sp>
      <p:sp>
        <p:nvSpPr>
          <p:cNvPr id="36" name="Text 35"/>
          <p:cNvSpPr txBox="1"/>
          <p:nvPr/>
        </p:nvSpPr>
        <p:spPr>
          <a:xfrm>
            <a:off x="7571264" y="5455839"/>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7" name="Text 36"/>
          <p:cNvSpPr txBox="1"/>
          <p:nvPr/>
        </p:nvSpPr>
        <p:spPr>
          <a:xfrm>
            <a:off x="4302379" y="5372648"/>
            <a:ext cx="315252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وقت التعطيل في كل نظام معني، والتأخير يُحسب حتى آخر نظام عُطّل.</a:t>
            </a:r>
          </a:p>
        </p:txBody>
      </p:sp>
      <p:sp>
        <p:nvSpPr>
          <p:cNvPr id="38" name="Box 37"/>
          <p:cNvSpPr/>
          <p:nvPr/>
        </p:nvSpPr>
        <p:spPr>
          <a:xfrm>
            <a:off x="3962400" y="5400080"/>
            <a:ext cx="254000" cy="254000"/>
          </a:xfrm>
          <a:prstGeom prst="roundRect">
            <a:avLst>
              <a:gd name="adj" fmla="val 50000"/>
            </a:avLst>
          </a:prstGeom>
          <a:solidFill>
            <a:srgbClr val="A6461A"/>
          </a:solidFill>
          <a:ln>
            <a:noFill/>
          </a:ln>
        </p:spPr>
        <p:txBody>
          <a:bodyPr rtlCol="0" anchor="ctr"/>
          <a:lstStyle/>
          <a:p>
            <a:pPr algn="ctr"/>
          </a:p>
        </p:txBody>
      </p:sp>
      <p:sp>
        <p:nvSpPr>
          <p:cNvPr id="39" name="Text 38"/>
          <p:cNvSpPr txBox="1"/>
          <p:nvPr/>
        </p:nvSpPr>
        <p:spPr>
          <a:xfrm>
            <a:off x="3990062" y="5455839"/>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40" name="Text 39"/>
          <p:cNvSpPr txBox="1"/>
          <p:nvPr/>
        </p:nvSpPr>
        <p:spPr>
          <a:xfrm>
            <a:off x="812800" y="5372648"/>
            <a:ext cx="30607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افتراض تدريبي: إجراء الجهة يعرّف «الإلغاء المباشر» بساعة واحدة كحد أقصى.</a:t>
            </a:r>
          </a:p>
        </p:txBody>
      </p:sp>
      <p:sp>
        <p:nvSpPr>
          <p:cNvPr id="41" name="Text 4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2" name="Box 4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3" name="Box 4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46" name="Box 45"/>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Box 4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Text 5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8860929" y="812800"/>
            <a:ext cx="2518271"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‎1-9‎ · الأمن السيبراني في الموارد البشرية</a:t>
            </a:r>
          </a:p>
        </p:txBody>
      </p:sp>
      <p:sp>
        <p:nvSpPr>
          <p:cNvPr id="4" name="Text 3"/>
          <p:cNvSpPr txBox="1"/>
          <p:nvPr/>
        </p:nvSpPr>
        <p:spPr>
          <a:xfrm>
            <a:off x="7474470"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قراءة الدليل: ماذا تثبت المطابقة، وما الحكم؟</a:t>
            </a:r>
          </a:p>
        </p:txBody>
      </p:sp>
      <p:sp>
        <p:nvSpPr>
          <p:cNvPr id="20" name="Box 19"/>
          <p:cNvSpPr/>
          <p:nvPr/>
        </p:nvSpPr>
        <p:spPr>
          <a:xfrm>
            <a:off x="815975" y="1830586"/>
            <a:ext cx="5187950" cy="1690291"/>
          </a:xfrm>
          <a:prstGeom prst="roundRect">
            <a:avLst>
              <a:gd name="adj" fmla="val 6736"/>
            </a:avLst>
          </a:prstGeom>
          <a:solidFill>
            <a:srgbClr val="FCFBF8"/>
          </a:solidFill>
          <a:ln w="6350">
            <a:solidFill>
              <a:srgbClr val="DDD7CA"/>
            </a:solidFill>
          </a:ln>
        </p:spPr>
        <p:txBody>
          <a:bodyPr rtlCol="0" anchor="ctr"/>
          <a:lstStyle/>
          <a:p>
            <a:pPr algn="ctr"/>
          </a:p>
        </p:txBody>
      </p:sp>
      <p:sp>
        <p:nvSpPr>
          <p:cNvPr id="21" name="Box 20"/>
          <p:cNvSpPr/>
          <p:nvPr/>
        </p:nvSpPr>
        <p:spPr>
          <a:xfrm>
            <a:off x="5518150" y="1973461"/>
            <a:ext cx="304800" cy="304800"/>
          </a:xfrm>
          <a:prstGeom prst="roundRect">
            <a:avLst>
              <a:gd name="adj" fmla="val 33333"/>
            </a:avLst>
          </a:prstGeom>
          <a:solidFill>
            <a:srgbClr val="F6E6DC"/>
          </a:solidFill>
          <a:ln>
            <a:noFill/>
          </a:ln>
        </p:spPr>
        <p:txBody>
          <a:bodyPr rtlCol="0" anchor="ctr"/>
          <a:lstStyle/>
          <a:p>
            <a:pPr algn="ctr"/>
          </a:p>
        </p:txBody>
      </p:sp>
      <p:pic>
        <p:nvPicPr>
          <p:cNvPr id="22" name="Icon Warning 21" descr="icon025.png"/>
          <p:cNvPicPr>
            <a:picLocks noChangeAspect="1"/>
          </p:cNvPicPr>
          <p:nvPr/>
        </p:nvPicPr>
        <p:blipFill>
          <a:blip r:embed="rId3"/>
          <a:stretch>
            <a:fillRect/>
          </a:stretch>
        </p:blipFill>
        <p:spPr>
          <a:xfrm>
            <a:off x="5588000" y="2043311"/>
            <a:ext cx="165100" cy="165100"/>
          </a:xfrm>
          <a:prstGeom prst="rect">
            <a:avLst/>
          </a:prstGeom>
        </p:spPr>
      </p:pic>
      <p:sp>
        <p:nvSpPr>
          <p:cNvPr id="23" name="Text 22"/>
          <p:cNvSpPr txBox="1"/>
          <p:nvPr/>
        </p:nvSpPr>
        <p:spPr>
          <a:xfrm>
            <a:off x="4011791" y="1995780"/>
            <a:ext cx="1417459"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132033"/>
                </a:solidFill>
                <a:latin typeface="Alexandria"/>
                <a:ea typeface="Alexandria"/>
                <a:cs typeface="Alexandria"/>
              </a:rPr>
              <a:t>ما لا يثبته وحده</a:t>
            </a:r>
          </a:p>
        </p:txBody>
      </p:sp>
      <p:sp>
        <p:nvSpPr>
          <p:cNvPr id="24" name="Box 23"/>
          <p:cNvSpPr/>
          <p:nvPr/>
        </p:nvSpPr>
        <p:spPr>
          <a:xfrm>
            <a:off x="5734050" y="2433141"/>
            <a:ext cx="88900" cy="88900"/>
          </a:xfrm>
          <a:prstGeom prst="roundRect">
            <a:avLst>
              <a:gd name="adj" fmla="val 50000"/>
            </a:avLst>
          </a:prstGeom>
          <a:solidFill>
            <a:srgbClr val="A6461A"/>
          </a:solidFill>
          <a:ln>
            <a:noFill/>
          </a:ln>
        </p:spPr>
        <p:txBody>
          <a:bodyPr rtlCol="0" anchor="ctr"/>
          <a:lstStyle/>
          <a:p>
            <a:pPr algn="ctr"/>
          </a:p>
        </p:txBody>
      </p:sp>
      <p:sp>
        <p:nvSpPr>
          <p:cNvPr id="25" name="Text 24"/>
          <p:cNvSpPr txBox="1"/>
          <p:nvPr/>
        </p:nvSpPr>
        <p:spPr>
          <a:xfrm>
            <a:off x="838200" y="233972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أن القائمة كاملة: تُطابق بسجل الموارد البشرية وعقود المتعاقدين للفترة.</a:t>
            </a:r>
          </a:p>
        </p:txBody>
      </p:sp>
      <p:sp>
        <p:nvSpPr>
          <p:cNvPr id="26" name="Box 25"/>
          <p:cNvSpPr/>
          <p:nvPr/>
        </p:nvSpPr>
        <p:spPr>
          <a:xfrm>
            <a:off x="5734050" y="2828131"/>
            <a:ext cx="88900" cy="88900"/>
          </a:xfrm>
          <a:prstGeom prst="roundRect">
            <a:avLst>
              <a:gd name="adj" fmla="val 50000"/>
            </a:avLst>
          </a:prstGeom>
          <a:solidFill>
            <a:srgbClr val="A6461A"/>
          </a:solidFill>
          <a:ln>
            <a:noFill/>
          </a:ln>
        </p:spPr>
        <p:txBody>
          <a:bodyPr rtlCol="0" anchor="ctr"/>
          <a:lstStyle/>
          <a:p>
            <a:pPr algn="ctr"/>
          </a:p>
        </p:txBody>
      </p:sp>
      <p:sp>
        <p:nvSpPr>
          <p:cNvPr id="27" name="Text 26"/>
          <p:cNvSpPr txBox="1"/>
          <p:nvPr/>
        </p:nvSpPr>
        <p:spPr>
          <a:xfrm>
            <a:off x="858266" y="2624189"/>
            <a:ext cx="476148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أن بقية الحسابات عُطّلت: التطبيقات السحابية، والحسابات المحلية، وبطاقات الدخول.</a:t>
            </a:r>
          </a:p>
        </p:txBody>
      </p:sp>
      <p:sp>
        <p:nvSpPr>
          <p:cNvPr id="28" name="Box 27"/>
          <p:cNvSpPr/>
          <p:nvPr/>
        </p:nvSpPr>
        <p:spPr>
          <a:xfrm>
            <a:off x="5734050" y="3223022"/>
            <a:ext cx="88900" cy="88900"/>
          </a:xfrm>
          <a:prstGeom prst="roundRect">
            <a:avLst>
              <a:gd name="adj" fmla="val 50000"/>
            </a:avLst>
          </a:prstGeom>
          <a:solidFill>
            <a:srgbClr val="A6461A"/>
          </a:solidFill>
          <a:ln>
            <a:noFill/>
          </a:ln>
        </p:spPr>
        <p:txBody>
          <a:bodyPr rtlCol="0" anchor="ctr"/>
          <a:lstStyle/>
          <a:p>
            <a:pPr algn="ctr"/>
          </a:p>
        </p:txBody>
      </p:sp>
      <p:sp>
        <p:nvSpPr>
          <p:cNvPr id="29" name="Text 28"/>
          <p:cNvSpPr txBox="1"/>
          <p:nvPr/>
        </p:nvSpPr>
        <p:spPr>
          <a:xfrm>
            <a:off x="838200" y="312960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أن الحسابات لم تُستخدم بعد الانتهاء: يحتاج ذلك سجلات الدخول.</a:t>
            </a:r>
          </a:p>
        </p:txBody>
      </p:sp>
      <p:sp>
        <p:nvSpPr>
          <p:cNvPr id="30" name="Box 29"/>
          <p:cNvSpPr/>
          <p:nvPr/>
        </p:nvSpPr>
        <p:spPr>
          <a:xfrm>
            <a:off x="6188075" y="1830586"/>
            <a:ext cx="5187950" cy="1690291"/>
          </a:xfrm>
          <a:prstGeom prst="roundRect">
            <a:avLst>
              <a:gd name="adj" fmla="val 6736"/>
            </a:avLst>
          </a:prstGeom>
          <a:solidFill>
            <a:srgbClr val="FCFBF8"/>
          </a:solidFill>
          <a:ln w="6350">
            <a:solidFill>
              <a:srgbClr val="DDD7CA"/>
            </a:solidFill>
          </a:ln>
        </p:spPr>
        <p:txBody>
          <a:bodyPr rtlCol="0" anchor="ctr"/>
          <a:lstStyle/>
          <a:p>
            <a:pPr algn="ctr"/>
          </a:p>
        </p:txBody>
      </p:sp>
      <p:sp>
        <p:nvSpPr>
          <p:cNvPr id="31" name="Box 30"/>
          <p:cNvSpPr/>
          <p:nvPr/>
        </p:nvSpPr>
        <p:spPr>
          <a:xfrm>
            <a:off x="10890250" y="1973461"/>
            <a:ext cx="304800" cy="304800"/>
          </a:xfrm>
          <a:prstGeom prst="roundRect">
            <a:avLst>
              <a:gd name="adj" fmla="val 33333"/>
            </a:avLst>
          </a:prstGeom>
          <a:solidFill>
            <a:srgbClr val="F6E6DC"/>
          </a:solidFill>
          <a:ln>
            <a:noFill/>
          </a:ln>
        </p:spPr>
        <p:txBody>
          <a:bodyPr rtlCol="0" anchor="ctr"/>
          <a:lstStyle/>
          <a:p>
            <a:pPr algn="ctr"/>
          </a:p>
        </p:txBody>
      </p:sp>
      <p:pic>
        <p:nvPicPr>
          <p:cNvPr id="32" name="Icon CheckCircle 31" descr="icon035.png"/>
          <p:cNvPicPr>
            <a:picLocks noChangeAspect="1"/>
          </p:cNvPicPr>
          <p:nvPr/>
        </p:nvPicPr>
        <p:blipFill>
          <a:blip r:embed="rId4"/>
          <a:stretch>
            <a:fillRect/>
          </a:stretch>
        </p:blipFill>
        <p:spPr>
          <a:xfrm>
            <a:off x="10960100" y="2043311"/>
            <a:ext cx="165100" cy="165100"/>
          </a:xfrm>
          <a:prstGeom prst="rect">
            <a:avLst/>
          </a:prstGeom>
        </p:spPr>
      </p:pic>
      <p:sp>
        <p:nvSpPr>
          <p:cNvPr id="33" name="Text 32"/>
          <p:cNvSpPr txBox="1"/>
          <p:nvPr/>
        </p:nvSpPr>
        <p:spPr>
          <a:xfrm>
            <a:off x="9497993" y="1995780"/>
            <a:ext cx="130335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132033"/>
                </a:solidFill>
                <a:latin typeface="Alexandria"/>
                <a:ea typeface="Alexandria"/>
                <a:cs typeface="Alexandria"/>
              </a:rPr>
              <a:t>ما يثبته الدليل</a:t>
            </a:r>
          </a:p>
        </p:txBody>
      </p:sp>
      <p:sp>
        <p:nvSpPr>
          <p:cNvPr id="34" name="Box 33"/>
          <p:cNvSpPr/>
          <p:nvPr/>
        </p:nvSpPr>
        <p:spPr>
          <a:xfrm>
            <a:off x="11106150" y="2433141"/>
            <a:ext cx="88900" cy="88900"/>
          </a:xfrm>
          <a:prstGeom prst="roundRect">
            <a:avLst>
              <a:gd name="adj" fmla="val 50000"/>
            </a:avLst>
          </a:prstGeom>
          <a:solidFill>
            <a:srgbClr val="A6461A"/>
          </a:solidFill>
          <a:ln>
            <a:noFill/>
          </a:ln>
        </p:spPr>
        <p:txBody>
          <a:bodyPr rtlCol="0" anchor="ctr"/>
          <a:lstStyle/>
          <a:p>
            <a:pPr algn="ctr"/>
          </a:p>
        </p:txBody>
      </p:sp>
      <p:sp>
        <p:nvSpPr>
          <p:cNvPr id="35" name="Text 34"/>
          <p:cNvSpPr txBox="1"/>
          <p:nvPr/>
        </p:nvSpPr>
        <p:spPr>
          <a:xfrm>
            <a:off x="6210300" y="233972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حالتان من خمس أُلغيت صلاحياتهما في الموعد (40%).</a:t>
            </a:r>
          </a:p>
        </p:txBody>
      </p:sp>
      <p:sp>
        <p:nvSpPr>
          <p:cNvPr id="36" name="Box 35"/>
          <p:cNvSpPr/>
          <p:nvPr/>
        </p:nvSpPr>
        <p:spPr>
          <a:xfrm>
            <a:off x="11106150" y="2717602"/>
            <a:ext cx="88900" cy="88900"/>
          </a:xfrm>
          <a:prstGeom prst="roundRect">
            <a:avLst>
              <a:gd name="adj" fmla="val 50000"/>
            </a:avLst>
          </a:prstGeom>
          <a:solidFill>
            <a:srgbClr val="A6461A"/>
          </a:solidFill>
          <a:ln>
            <a:noFill/>
          </a:ln>
        </p:spPr>
        <p:txBody>
          <a:bodyPr rtlCol="0" anchor="ctr"/>
          <a:lstStyle/>
          <a:p>
            <a:pPr algn="ctr"/>
          </a:p>
        </p:txBody>
      </p:sp>
      <p:sp>
        <p:nvSpPr>
          <p:cNvPr id="37" name="Text 36"/>
          <p:cNvSpPr txBox="1"/>
          <p:nvPr/>
        </p:nvSpPr>
        <p:spPr>
          <a:xfrm>
            <a:off x="6210300" y="262418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ثلاث حالات متأخرة: موظف ومتعاقدان، أقصاها حساب نشط بعد 40 يوماً.</a:t>
            </a:r>
          </a:p>
        </p:txBody>
      </p:sp>
      <p:sp>
        <p:nvSpPr>
          <p:cNvPr id="38" name="Box 37"/>
          <p:cNvSpPr/>
          <p:nvPr/>
        </p:nvSpPr>
        <p:spPr>
          <a:xfrm>
            <a:off x="11106150" y="3002062"/>
            <a:ext cx="88900" cy="88900"/>
          </a:xfrm>
          <a:prstGeom prst="roundRect">
            <a:avLst>
              <a:gd name="adj" fmla="val 50000"/>
            </a:avLst>
          </a:prstGeom>
          <a:solidFill>
            <a:srgbClr val="A6461A"/>
          </a:solidFill>
          <a:ln>
            <a:noFill/>
          </a:ln>
        </p:spPr>
        <p:txBody>
          <a:bodyPr rtlCol="0" anchor="ctr"/>
          <a:lstStyle/>
          <a:p>
            <a:pPr algn="ctr"/>
          </a:p>
        </p:txBody>
      </p:sp>
      <p:sp>
        <p:nvSpPr>
          <p:cNvPr id="39" name="Text 38"/>
          <p:cNvSpPr txBox="1"/>
          <p:nvPr/>
        </p:nvSpPr>
        <p:spPr>
          <a:xfrm>
            <a:off x="6210300" y="290864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تعطيل الدليل النشط وحده لا يكفي: حساب ERP للمتعاقد 2234 بقي قرابة 7 أيام.</a:t>
            </a:r>
          </a:p>
        </p:txBody>
      </p:sp>
      <p:sp>
        <p:nvSpPr>
          <p:cNvPr id="40" name="Box 39"/>
          <p:cNvSpPr/>
          <p:nvPr/>
        </p:nvSpPr>
        <p:spPr>
          <a:xfrm>
            <a:off x="815975" y="3679627"/>
            <a:ext cx="5187950" cy="1469330"/>
          </a:xfrm>
          <a:prstGeom prst="roundRect">
            <a:avLst>
              <a:gd name="adj" fmla="val 7745"/>
            </a:avLst>
          </a:prstGeom>
          <a:solidFill>
            <a:srgbClr val="FCFBF8"/>
          </a:solidFill>
          <a:ln w="6350">
            <a:solidFill>
              <a:srgbClr val="DDD7CA"/>
            </a:solidFill>
          </a:ln>
        </p:spPr>
        <p:txBody>
          <a:bodyPr rtlCol="0" anchor="ctr"/>
          <a:lstStyle/>
          <a:p>
            <a:pPr algn="ctr"/>
          </a:p>
        </p:txBody>
      </p:sp>
      <p:sp>
        <p:nvSpPr>
          <p:cNvPr id="41" name="Box 40"/>
          <p:cNvSpPr/>
          <p:nvPr/>
        </p:nvSpPr>
        <p:spPr>
          <a:xfrm>
            <a:off x="5518150" y="3822502"/>
            <a:ext cx="304800" cy="304800"/>
          </a:xfrm>
          <a:prstGeom prst="roundRect">
            <a:avLst>
              <a:gd name="adj" fmla="val 33333"/>
            </a:avLst>
          </a:prstGeom>
          <a:solidFill>
            <a:srgbClr val="F6E6DC"/>
          </a:solidFill>
          <a:ln>
            <a:noFill/>
          </a:ln>
        </p:spPr>
        <p:txBody>
          <a:bodyPr rtlCol="0" anchor="ctr"/>
          <a:lstStyle/>
          <a:p>
            <a:pPr algn="ctr"/>
          </a:p>
        </p:txBody>
      </p:sp>
      <p:pic>
        <p:nvPicPr>
          <p:cNvPr id="42" name="Icon Key 41" descr="icon036.png"/>
          <p:cNvPicPr>
            <a:picLocks noChangeAspect="1"/>
          </p:cNvPicPr>
          <p:nvPr/>
        </p:nvPicPr>
        <p:blipFill>
          <a:blip r:embed="rId5"/>
          <a:stretch>
            <a:fillRect/>
          </a:stretch>
        </p:blipFill>
        <p:spPr>
          <a:xfrm>
            <a:off x="5588000" y="3892352"/>
            <a:ext cx="165100" cy="165100"/>
          </a:xfrm>
          <a:prstGeom prst="rect">
            <a:avLst/>
          </a:prstGeom>
        </p:spPr>
      </p:pic>
      <p:sp>
        <p:nvSpPr>
          <p:cNvPr id="43" name="Text 42"/>
          <p:cNvSpPr txBox="1"/>
          <p:nvPr/>
        </p:nvSpPr>
        <p:spPr>
          <a:xfrm>
            <a:off x="3496258" y="3844821"/>
            <a:ext cx="193299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132033"/>
                </a:solidFill>
                <a:latin typeface="Alexandria"/>
                <a:ea typeface="Alexandria"/>
                <a:cs typeface="Alexandria"/>
              </a:rPr>
              <a:t>الحكم والخطوة التالية</a:t>
            </a:r>
          </a:p>
        </p:txBody>
      </p:sp>
      <p:sp>
        <p:nvSpPr>
          <p:cNvPr id="44" name="Box 43"/>
          <p:cNvSpPr/>
          <p:nvPr/>
        </p:nvSpPr>
        <p:spPr>
          <a:xfrm>
            <a:off x="5734050" y="4282182"/>
            <a:ext cx="88900" cy="88900"/>
          </a:xfrm>
          <a:prstGeom prst="roundRect">
            <a:avLst>
              <a:gd name="adj" fmla="val 50000"/>
            </a:avLst>
          </a:prstGeom>
          <a:solidFill>
            <a:srgbClr val="A6461A"/>
          </a:solidFill>
          <a:ln>
            <a:noFill/>
          </a:ln>
        </p:spPr>
        <p:txBody>
          <a:bodyPr rtlCol="0" anchor="ctr"/>
          <a:lstStyle/>
          <a:p>
            <a:pPr algn="ctr"/>
          </a:p>
        </p:txBody>
      </p:sp>
      <p:sp>
        <p:nvSpPr>
          <p:cNvPr id="45" name="Text 44"/>
          <p:cNvSpPr txBox="1"/>
          <p:nvPr/>
        </p:nvSpPr>
        <p:spPr>
          <a:xfrm>
            <a:off x="838200" y="418877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الحكم: ‎1-9-5‎ غير مطبق بالكامل في الفترة؛ 3 من 5 حالات متأخرة.</a:t>
            </a:r>
          </a:p>
        </p:txBody>
      </p:sp>
      <p:sp>
        <p:nvSpPr>
          <p:cNvPr id="46" name="Box 45"/>
          <p:cNvSpPr/>
          <p:nvPr/>
        </p:nvSpPr>
        <p:spPr>
          <a:xfrm>
            <a:off x="5734050" y="4566642"/>
            <a:ext cx="88900" cy="88900"/>
          </a:xfrm>
          <a:prstGeom prst="roundRect">
            <a:avLst>
              <a:gd name="adj" fmla="val 50000"/>
            </a:avLst>
          </a:prstGeom>
          <a:solidFill>
            <a:srgbClr val="A6461A"/>
          </a:solidFill>
          <a:ln>
            <a:noFill/>
          </a:ln>
        </p:spPr>
        <p:txBody>
          <a:bodyPr rtlCol="0" anchor="ctr"/>
          <a:lstStyle/>
          <a:p>
            <a:pPr algn="ctr"/>
          </a:p>
        </p:txBody>
      </p:sp>
      <p:sp>
        <p:nvSpPr>
          <p:cNvPr id="47" name="Text 46"/>
          <p:cNvSpPr txBox="1"/>
          <p:nvPr/>
        </p:nvSpPr>
        <p:spPr>
          <a:xfrm>
            <a:off x="838200" y="447323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تعطيل فوري للحساب النشط، وفحص استخدامه بعد الانتهاء كحادثة محتملة.</a:t>
            </a:r>
          </a:p>
        </p:txBody>
      </p:sp>
      <p:sp>
        <p:nvSpPr>
          <p:cNvPr id="48" name="Box 47"/>
          <p:cNvSpPr/>
          <p:nvPr/>
        </p:nvSpPr>
        <p:spPr>
          <a:xfrm>
            <a:off x="5734050" y="4851102"/>
            <a:ext cx="88900" cy="88900"/>
          </a:xfrm>
          <a:prstGeom prst="roundRect">
            <a:avLst>
              <a:gd name="adj" fmla="val 50000"/>
            </a:avLst>
          </a:prstGeom>
          <a:solidFill>
            <a:srgbClr val="A6461A"/>
          </a:solidFill>
          <a:ln>
            <a:noFill/>
          </a:ln>
        </p:spPr>
        <p:txBody>
          <a:bodyPr rtlCol="0" anchor="ctr"/>
          <a:lstStyle/>
          <a:p>
            <a:pPr algn="ctr"/>
          </a:p>
        </p:txBody>
      </p:sp>
      <p:sp>
        <p:nvSpPr>
          <p:cNvPr id="49" name="Text 48"/>
          <p:cNvSpPr txBox="1"/>
          <p:nvPr/>
        </p:nvSpPr>
        <p:spPr>
          <a:xfrm>
            <a:off x="838200" y="475769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معالجة العملية: إشعار آلي من الموارد البشرية يشمل المتعاقدين وكل الأنظمة.</a:t>
            </a:r>
          </a:p>
        </p:txBody>
      </p:sp>
      <p:sp>
        <p:nvSpPr>
          <p:cNvPr id="50" name="Box 49"/>
          <p:cNvSpPr/>
          <p:nvPr/>
        </p:nvSpPr>
        <p:spPr>
          <a:xfrm>
            <a:off x="6188075" y="3679627"/>
            <a:ext cx="5187950" cy="1469330"/>
          </a:xfrm>
          <a:prstGeom prst="roundRect">
            <a:avLst>
              <a:gd name="adj" fmla="val 7745"/>
            </a:avLst>
          </a:prstGeom>
          <a:solidFill>
            <a:srgbClr val="FCFBF8"/>
          </a:solidFill>
          <a:ln w="6350">
            <a:solidFill>
              <a:srgbClr val="DDD7CA"/>
            </a:solidFill>
          </a:ln>
        </p:spPr>
        <p:txBody>
          <a:bodyPr rtlCol="0" anchor="ctr"/>
          <a:lstStyle/>
          <a:p>
            <a:pPr algn="ctr"/>
          </a:p>
        </p:txBody>
      </p:sp>
      <p:sp>
        <p:nvSpPr>
          <p:cNvPr id="51" name="Box 50"/>
          <p:cNvSpPr/>
          <p:nvPr/>
        </p:nvSpPr>
        <p:spPr>
          <a:xfrm>
            <a:off x="10890250" y="3822502"/>
            <a:ext cx="304800" cy="304800"/>
          </a:xfrm>
          <a:prstGeom prst="roundRect">
            <a:avLst>
              <a:gd name="adj" fmla="val 33333"/>
            </a:avLst>
          </a:prstGeom>
          <a:solidFill>
            <a:srgbClr val="F6E6DC"/>
          </a:solidFill>
          <a:ln>
            <a:noFill/>
          </a:ln>
        </p:spPr>
        <p:txBody>
          <a:bodyPr rtlCol="0" anchor="ctr"/>
          <a:lstStyle/>
          <a:p>
            <a:pPr algn="ctr"/>
          </a:p>
        </p:txBody>
      </p:sp>
      <p:pic>
        <p:nvPicPr>
          <p:cNvPr id="52" name="Icon Search 51" descr="icon037.png"/>
          <p:cNvPicPr>
            <a:picLocks noChangeAspect="1"/>
          </p:cNvPicPr>
          <p:nvPr/>
        </p:nvPicPr>
        <p:blipFill>
          <a:blip r:embed="rId6"/>
          <a:stretch>
            <a:fillRect/>
          </a:stretch>
        </p:blipFill>
        <p:spPr>
          <a:xfrm>
            <a:off x="10960100" y="3892352"/>
            <a:ext cx="165100" cy="165100"/>
          </a:xfrm>
          <a:prstGeom prst="rect">
            <a:avLst/>
          </a:prstGeom>
        </p:spPr>
      </p:pic>
      <p:sp>
        <p:nvSpPr>
          <p:cNvPr id="53" name="Text 52"/>
          <p:cNvSpPr txBox="1"/>
          <p:nvPr/>
        </p:nvSpPr>
        <p:spPr>
          <a:xfrm>
            <a:off x="8026003" y="3844821"/>
            <a:ext cx="277534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132033"/>
                </a:solidFill>
                <a:latin typeface="Alexandria"/>
                <a:ea typeface="Alexandria"/>
                <a:cs typeface="Alexandria"/>
              </a:rPr>
              <a:t>المعلومات الناقصة التي تُطلب</a:t>
            </a:r>
          </a:p>
        </p:txBody>
      </p:sp>
      <p:sp>
        <p:nvSpPr>
          <p:cNvPr id="54" name="Box 53"/>
          <p:cNvSpPr/>
          <p:nvPr/>
        </p:nvSpPr>
        <p:spPr>
          <a:xfrm>
            <a:off x="11106150" y="4282182"/>
            <a:ext cx="88900" cy="88900"/>
          </a:xfrm>
          <a:prstGeom prst="roundRect">
            <a:avLst>
              <a:gd name="adj" fmla="val 50000"/>
            </a:avLst>
          </a:prstGeom>
          <a:solidFill>
            <a:srgbClr val="A6461A"/>
          </a:solidFill>
          <a:ln>
            <a:noFill/>
          </a:ln>
        </p:spPr>
        <p:txBody>
          <a:bodyPr rtlCol="0" anchor="ctr"/>
          <a:lstStyle/>
          <a:p>
            <a:pPr algn="ctr"/>
          </a:p>
        </p:txBody>
      </p:sp>
      <p:sp>
        <p:nvSpPr>
          <p:cNvPr id="55" name="Text 54"/>
          <p:cNvSpPr txBox="1"/>
          <p:nvPr/>
        </p:nvSpPr>
        <p:spPr>
          <a:xfrm>
            <a:off x="6210300" y="418877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الأنظمة التي يملك فيها كل شخص حساباً، ومصدرها.</a:t>
            </a:r>
          </a:p>
        </p:txBody>
      </p:sp>
      <p:sp>
        <p:nvSpPr>
          <p:cNvPr id="56" name="Box 55"/>
          <p:cNvSpPr/>
          <p:nvPr/>
        </p:nvSpPr>
        <p:spPr>
          <a:xfrm>
            <a:off x="11106150" y="4566642"/>
            <a:ext cx="88900" cy="88900"/>
          </a:xfrm>
          <a:prstGeom prst="roundRect">
            <a:avLst>
              <a:gd name="adj" fmla="val 50000"/>
            </a:avLst>
          </a:prstGeom>
          <a:solidFill>
            <a:srgbClr val="A6461A"/>
          </a:solidFill>
          <a:ln>
            <a:noFill/>
          </a:ln>
        </p:spPr>
        <p:txBody>
          <a:bodyPr rtlCol="0" anchor="ctr"/>
          <a:lstStyle/>
          <a:p>
            <a:pPr algn="ctr"/>
          </a:p>
        </p:txBody>
      </p:sp>
      <p:sp>
        <p:nvSpPr>
          <p:cNvPr id="57" name="Text 56"/>
          <p:cNvSpPr txBox="1"/>
          <p:nvPr/>
        </p:nvSpPr>
        <p:spPr>
          <a:xfrm>
            <a:off x="6210300" y="447323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دخول حساب المتعاقد 2210، وحساب 2234 في ERP، بعد الانتهاء.</a:t>
            </a:r>
          </a:p>
        </p:txBody>
      </p:sp>
      <p:sp>
        <p:nvSpPr>
          <p:cNvPr id="58" name="Box 57"/>
          <p:cNvSpPr/>
          <p:nvPr/>
        </p:nvSpPr>
        <p:spPr>
          <a:xfrm>
            <a:off x="11106150" y="4851102"/>
            <a:ext cx="88900" cy="88900"/>
          </a:xfrm>
          <a:prstGeom prst="roundRect">
            <a:avLst>
              <a:gd name="adj" fmla="val 50000"/>
            </a:avLst>
          </a:prstGeom>
          <a:solidFill>
            <a:srgbClr val="A6461A"/>
          </a:solidFill>
          <a:ln>
            <a:noFill/>
          </a:ln>
        </p:spPr>
        <p:txBody>
          <a:bodyPr rtlCol="0" anchor="ctr"/>
          <a:lstStyle/>
          <a:p>
            <a:pPr algn="ctr"/>
          </a:p>
        </p:txBody>
      </p:sp>
      <p:sp>
        <p:nvSpPr>
          <p:cNvPr id="59" name="Text 58"/>
          <p:cNvSpPr txBox="1"/>
          <p:nvPr/>
        </p:nvSpPr>
        <p:spPr>
          <a:xfrm>
            <a:off x="6210300" y="475769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الإجراء المعتمد الذي يعرّف «مباشرة» ويحدد مسؤولية كل طرف.</a:t>
            </a:r>
          </a:p>
        </p:txBody>
      </p:sp>
      <p:sp>
        <p:nvSpPr>
          <p:cNvPr id="60" name="Text 5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1" name="Box 60"/>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3" name="Box 62"/>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4" name="Box 63"/>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65" name="Box 64"/>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Box 6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Box 6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9" name="Box 6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Text 6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6E6DC"/>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335294" y="812800"/>
            <a:ext cx="2043906"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مكوّن فرعي جديد · 10 من 10</a:t>
            </a:r>
          </a:p>
        </p:txBody>
      </p:sp>
      <p:sp>
        <p:nvSpPr>
          <p:cNvPr id="4" name="Text 3"/>
          <p:cNvSpPr txBox="1"/>
          <p:nvPr/>
        </p:nvSpPr>
        <p:spPr>
          <a:xfrm>
            <a:off x="7948835"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022898" y="821035"/>
            <a:ext cx="82341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‎1-10‎ برنامج التوعية والتدريب</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A6461A"/>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أن يمتلك العاملون الوعي اللازم، ويعرفوا مسؤولياتهم، ويحصلوا على المهارات والتدريب المطلوب.</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6E6DC"/>
          </a:solidFill>
          <a:ln>
            <a:noFill/>
          </a:ln>
        </p:spPr>
        <p:txBody>
          <a:bodyPr rtlCol="0" anchor="ctr"/>
          <a:lstStyle/>
          <a:p>
            <a:pPr algn="ctr"/>
          </a:p>
        </p:txBody>
      </p:sp>
      <p:pic>
        <p:nvPicPr>
          <p:cNvPr id="25" name="Icon Warning 24" descr="icon02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أغلب الهجمات تبدأ برسالة تصيد يفتحها موظف لم يتعلم كيف يميزها، مهما كانت التقنية قوية.</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6E6DC"/>
          </a:solidFill>
          <a:ln>
            <a:noFill/>
          </a:ln>
        </p:spPr>
        <p:txBody>
          <a:bodyPr rtlCol="0" anchor="ctr"/>
          <a:lstStyle/>
          <a:p>
            <a:pPr algn="ctr"/>
          </a:p>
        </p:txBody>
      </p:sp>
      <p:pic>
        <p:nvPicPr>
          <p:cNvPr id="30" name="Icon Home 29" descr="icon03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تعليم القيادة: كل السائقين يتعلمون أنظمة المرور، وسائق الإسعاف يحتاج تدريباً إضافياً لعمله.</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6E6DC"/>
          </a:solidFill>
          <a:ln>
            <a:noFill/>
          </a:ln>
        </p:spPr>
        <p:txBody>
          <a:bodyPr rtlCol="0" anchor="ctr"/>
          <a:lstStyle/>
          <a:p>
            <a:pPr algn="ctr"/>
          </a:p>
        </p:txBody>
      </p:sp>
      <p:pic>
        <p:nvPicPr>
          <p:cNvPr id="35" name="Icon Lightbulb 34" descr="icon03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توعية كل العاملين بالمخاطر وكيف يتصرفون بأمان، وتدريب متخصص لمن يعمل في الأمن السيبراني والتقنية وللقيادات.</a:t>
            </a:r>
          </a:p>
        </p:txBody>
      </p:sp>
      <p:sp>
        <p:nvSpPr>
          <p:cNvPr id="38" name="Rule 37"/>
          <p:cNvSpPr/>
          <p:nvPr/>
        </p:nvSpPr>
        <p:spPr>
          <a:xfrm>
            <a:off x="7992566" y="5282009"/>
            <a:ext cx="3386634" cy="19050"/>
          </a:xfrm>
          <a:prstGeom prst="rect">
            <a:avLst/>
          </a:prstGeom>
          <a:solidFill>
            <a:srgbClr val="A6461A"/>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التصيد</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رسالة تنتحل جهة موثوقة لسرقة بيانات</a:t>
            </a:r>
          </a:p>
        </p:txBody>
      </p:sp>
      <p:sp>
        <p:nvSpPr>
          <p:cNvPr id="41" name="Rule 40"/>
          <p:cNvSpPr/>
          <p:nvPr/>
        </p:nvSpPr>
        <p:spPr>
          <a:xfrm>
            <a:off x="4402733" y="5282009"/>
            <a:ext cx="3386634" cy="19050"/>
          </a:xfrm>
          <a:prstGeom prst="rect">
            <a:avLst/>
          </a:prstGeom>
          <a:solidFill>
            <a:srgbClr val="A6461A"/>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محاكاة التصيد</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رسائل تجريبية لقياس وعي الموظفين</a:t>
            </a:r>
          </a:p>
        </p:txBody>
      </p:sp>
      <p:sp>
        <p:nvSpPr>
          <p:cNvPr id="44" name="Rule 43"/>
          <p:cNvSpPr/>
          <p:nvPr/>
        </p:nvSpPr>
        <p:spPr>
          <a:xfrm>
            <a:off x="812899" y="5282009"/>
            <a:ext cx="3386634" cy="19050"/>
          </a:xfrm>
          <a:prstGeom prst="rect">
            <a:avLst/>
          </a:prstGeom>
          <a:solidFill>
            <a:srgbClr val="A6461A"/>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مصفوفة المهارات</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ربط كل دور بالتدريب الذي يحتاجه</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2" name="Box 51"/>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84891" y="812800"/>
            <a:ext cx="209430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‎1-10‎ · برنامج التوعية والتدريب</a:t>
            </a:r>
          </a:p>
        </p:txBody>
      </p:sp>
      <p:sp>
        <p:nvSpPr>
          <p:cNvPr id="4" name="Text 3"/>
          <p:cNvSpPr txBox="1"/>
          <p:nvPr/>
        </p:nvSpPr>
        <p:spPr>
          <a:xfrm>
            <a:off x="789843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التوعية: البرنامج والتطبيق والمحتوى والمراجعة</a:t>
            </a:r>
          </a:p>
        </p:txBody>
      </p:sp>
      <p:sp>
        <p:nvSpPr>
          <p:cNvPr id="20" name="Rule 19"/>
          <p:cNvSpPr/>
          <p:nvPr/>
        </p:nvSpPr>
        <p:spPr>
          <a:xfrm>
            <a:off x="812800" y="2193131"/>
            <a:ext cx="2594173"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4417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406973" y="2193131"/>
            <a:ext cx="2899470" cy="19050"/>
          </a:xfrm>
          <a:prstGeom prst="rect">
            <a:avLst/>
          </a:prstGeom>
          <a:solidFill>
            <a:srgbClr val="A6461A"/>
          </a:solidFill>
          <a:ln>
            <a:noFill/>
          </a:ln>
        </p:spPr>
        <p:txBody>
          <a:bodyPr rtlCol="0" anchor="ctr"/>
          <a:lstStyle/>
          <a:p>
            <a:pPr algn="ctr"/>
          </a:p>
        </p:txBody>
      </p:sp>
      <p:sp>
        <p:nvSpPr>
          <p:cNvPr id="23" name="Text 22"/>
          <p:cNvSpPr txBox="1"/>
          <p:nvPr/>
        </p:nvSpPr>
        <p:spPr>
          <a:xfrm>
            <a:off x="3432373" y="1892689"/>
            <a:ext cx="274707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306443" y="2193131"/>
            <a:ext cx="4120257" cy="19050"/>
          </a:xfrm>
          <a:prstGeom prst="rect">
            <a:avLst/>
          </a:prstGeom>
          <a:solidFill>
            <a:srgbClr val="A6461A"/>
          </a:solidFill>
          <a:ln>
            <a:noFill/>
          </a:ln>
        </p:spPr>
        <p:txBody>
          <a:bodyPr rtlCol="0" anchor="ctr"/>
          <a:lstStyle/>
          <a:p>
            <a:pPr algn="ctr"/>
          </a:p>
        </p:txBody>
      </p:sp>
      <p:sp>
        <p:nvSpPr>
          <p:cNvPr id="25" name="Text 24"/>
          <p:cNvSpPr txBox="1"/>
          <p:nvPr/>
        </p:nvSpPr>
        <p:spPr>
          <a:xfrm>
            <a:off x="6331843" y="1892689"/>
            <a:ext cx="396785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A6461A"/>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594173"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2594173"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44177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البرنامج المعتمد بتاريخه وقنواته وجمهوره</a:t>
            </a:r>
          </a:p>
        </p:txBody>
      </p:sp>
      <p:sp>
        <p:nvSpPr>
          <p:cNvPr id="31" name="Rule 30"/>
          <p:cNvSpPr/>
          <p:nvPr/>
        </p:nvSpPr>
        <p:spPr>
          <a:xfrm>
            <a:off x="3406973" y="3041352"/>
            <a:ext cx="2899470" cy="6350"/>
          </a:xfrm>
          <a:prstGeom prst="rect">
            <a:avLst/>
          </a:prstGeom>
          <a:solidFill>
            <a:srgbClr val="DDD7CA"/>
          </a:solidFill>
          <a:ln>
            <a:noFill/>
          </a:ln>
        </p:spPr>
        <p:txBody>
          <a:bodyPr rtlCol="0" anchor="ctr"/>
          <a:lstStyle/>
          <a:p>
            <a:pPr algn="ctr"/>
          </a:p>
        </p:txBody>
      </p:sp>
      <p:sp>
        <p:nvSpPr>
          <p:cNvPr id="32" name="Text 31"/>
          <p:cNvSpPr txBox="1"/>
          <p:nvPr/>
        </p:nvSpPr>
        <p:spPr>
          <a:xfrm>
            <a:off x="3454609" y="2286349"/>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سنوية بالموضوعات والقنوات: بريد، ومنصة تعلم، وورش، ورسائل، وشاشات</a:t>
            </a:r>
          </a:p>
        </p:txBody>
      </p:sp>
      <p:sp>
        <p:nvSpPr>
          <p:cNvPr id="33" name="Rule 32"/>
          <p:cNvSpPr/>
          <p:nvPr/>
        </p:nvSpPr>
        <p:spPr>
          <a:xfrm>
            <a:off x="6306443" y="3041352"/>
            <a:ext cx="4120257" cy="6350"/>
          </a:xfrm>
          <a:prstGeom prst="rect">
            <a:avLst/>
          </a:prstGeom>
          <a:solidFill>
            <a:srgbClr val="DDD7CA"/>
          </a:solidFill>
          <a:ln>
            <a:noFill/>
          </a:ln>
        </p:spPr>
        <p:txBody>
          <a:bodyPr rtlCol="0" anchor="ctr"/>
          <a:lstStyle/>
          <a:p>
            <a:pPr algn="ctr"/>
          </a:p>
        </p:txBody>
      </p:sp>
      <p:sp>
        <p:nvSpPr>
          <p:cNvPr id="34" name="Text 33"/>
          <p:cNvSpPr txBox="1"/>
          <p:nvPr/>
        </p:nvSpPr>
        <p:spPr>
          <a:xfrm>
            <a:off x="6331843" y="2286349"/>
            <a:ext cx="396785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برنامج توعية عبر قنوات متعددة، يُطوَّر ويُعتمد دورياً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2594173" cy="651470"/>
          </a:xfrm>
          <a:prstGeom prst="rect">
            <a:avLst/>
          </a:prstGeom>
          <a:solidFill>
            <a:srgbClr val="F6E6DC"/>
          </a:solidFill>
          <a:ln>
            <a:noFill/>
          </a:ln>
        </p:spPr>
        <p:txBody>
          <a:bodyPr rtlCol="0" anchor="ctr"/>
          <a:lstStyle/>
          <a:p>
            <a:pPr algn="ctr"/>
          </a:p>
        </p:txBody>
      </p:sp>
      <p:sp>
        <p:nvSpPr>
          <p:cNvPr id="39" name="Rule 38"/>
          <p:cNvSpPr/>
          <p:nvPr/>
        </p:nvSpPr>
        <p:spPr>
          <a:xfrm>
            <a:off x="812800" y="3692823"/>
            <a:ext cx="2594173" cy="6350"/>
          </a:xfrm>
          <a:prstGeom prst="rect">
            <a:avLst/>
          </a:prstGeom>
          <a:solidFill>
            <a:srgbClr val="DDD7CA"/>
          </a:solidFill>
          <a:ln>
            <a:noFill/>
          </a:ln>
        </p:spPr>
        <p:txBody>
          <a:bodyPr rtlCol="0" anchor="ctr"/>
          <a:lstStyle/>
          <a:p>
            <a:pPr algn="ctr"/>
          </a:p>
        </p:txBody>
      </p:sp>
      <p:sp>
        <p:nvSpPr>
          <p:cNvPr id="40" name="Text 39"/>
          <p:cNvSpPr txBox="1"/>
          <p:nvPr/>
        </p:nvSpPr>
        <p:spPr>
          <a:xfrm>
            <a:off x="869595" y="3121870"/>
            <a:ext cx="241037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الإكمال ونسبها، ومواد الحملات المنشورة</a:t>
            </a:r>
          </a:p>
        </p:txBody>
      </p:sp>
      <p:sp>
        <p:nvSpPr>
          <p:cNvPr id="41" name="Rule 40"/>
          <p:cNvSpPr/>
          <p:nvPr/>
        </p:nvSpPr>
        <p:spPr>
          <a:xfrm>
            <a:off x="3406973" y="3692823"/>
            <a:ext cx="2899470" cy="6350"/>
          </a:xfrm>
          <a:prstGeom prst="rect">
            <a:avLst/>
          </a:prstGeom>
          <a:solidFill>
            <a:srgbClr val="DDD7CA"/>
          </a:solidFill>
          <a:ln>
            <a:noFill/>
          </a:ln>
        </p:spPr>
        <p:txBody>
          <a:bodyPr rtlCol="0" anchor="ctr"/>
          <a:lstStyle/>
          <a:p>
            <a:pPr algn="ctr"/>
          </a:p>
        </p:txBody>
      </p:sp>
      <p:sp>
        <p:nvSpPr>
          <p:cNvPr id="42" name="Text 41"/>
          <p:cNvSpPr txBox="1"/>
          <p:nvPr/>
        </p:nvSpPr>
        <p:spPr>
          <a:xfrm>
            <a:off x="3432373" y="3121870"/>
            <a:ext cx="274707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تنفيذ الأنشطة وقياس الحضور والإكمال لكل فئة</a:t>
            </a:r>
          </a:p>
        </p:txBody>
      </p:sp>
      <p:sp>
        <p:nvSpPr>
          <p:cNvPr id="43" name="Rule 42"/>
          <p:cNvSpPr/>
          <p:nvPr/>
        </p:nvSpPr>
        <p:spPr>
          <a:xfrm>
            <a:off x="6306443" y="3692823"/>
            <a:ext cx="4120257" cy="6350"/>
          </a:xfrm>
          <a:prstGeom prst="rect">
            <a:avLst/>
          </a:prstGeom>
          <a:solidFill>
            <a:srgbClr val="DDD7CA"/>
          </a:solidFill>
          <a:ln>
            <a:noFill/>
          </a:ln>
        </p:spPr>
        <p:txBody>
          <a:bodyPr rtlCol="0" anchor="ctr"/>
          <a:lstStyle/>
          <a:p>
            <a:pPr algn="ctr"/>
          </a:p>
        </p:txBody>
      </p:sp>
      <p:sp>
        <p:nvSpPr>
          <p:cNvPr id="44" name="Text 43"/>
          <p:cNvSpPr txBox="1"/>
          <p:nvPr/>
        </p:nvSpPr>
        <p:spPr>
          <a:xfrm>
            <a:off x="6331843" y="3121870"/>
            <a:ext cx="396785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البرنامج المعتمد</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2594173" cy="1093391"/>
          </a:xfrm>
          <a:prstGeom prst="rect">
            <a:avLst/>
          </a:prstGeom>
          <a:solidFill>
            <a:srgbClr val="F6E6DC"/>
          </a:solidFill>
          <a:ln>
            <a:noFill/>
          </a:ln>
        </p:spPr>
        <p:txBody>
          <a:bodyPr rtlCol="0" anchor="ctr"/>
          <a:lstStyle/>
          <a:p>
            <a:pPr algn="ctr"/>
          </a:p>
        </p:txBody>
      </p:sp>
      <p:sp>
        <p:nvSpPr>
          <p:cNvPr id="49" name="Rule 48"/>
          <p:cNvSpPr/>
          <p:nvPr/>
        </p:nvSpPr>
        <p:spPr>
          <a:xfrm>
            <a:off x="812800" y="4786213"/>
            <a:ext cx="2594173" cy="6350"/>
          </a:xfrm>
          <a:prstGeom prst="rect">
            <a:avLst/>
          </a:prstGeom>
          <a:solidFill>
            <a:srgbClr val="DDD7CA"/>
          </a:solidFill>
          <a:ln>
            <a:noFill/>
          </a:ln>
        </p:spPr>
        <p:txBody>
          <a:bodyPr rtlCol="0" anchor="ctr"/>
          <a:lstStyle/>
          <a:p>
            <a:pPr algn="ctr"/>
          </a:p>
        </p:txBody>
      </p:sp>
      <p:sp>
        <p:nvSpPr>
          <p:cNvPr id="50" name="Text 49"/>
          <p:cNvSpPr txBox="1"/>
          <p:nvPr/>
        </p:nvSpPr>
        <p:spPr>
          <a:xfrm>
            <a:off x="869595" y="3773341"/>
            <a:ext cx="241037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محتوى لكل موضوع من الأربعة، ونتائج محاكاة التصيد</a:t>
            </a:r>
          </a:p>
        </p:txBody>
      </p:sp>
      <p:sp>
        <p:nvSpPr>
          <p:cNvPr id="51" name="Rule 50"/>
          <p:cNvSpPr/>
          <p:nvPr/>
        </p:nvSpPr>
        <p:spPr>
          <a:xfrm>
            <a:off x="3406973" y="4786213"/>
            <a:ext cx="2899470" cy="6350"/>
          </a:xfrm>
          <a:prstGeom prst="rect">
            <a:avLst/>
          </a:prstGeom>
          <a:solidFill>
            <a:srgbClr val="DDD7CA"/>
          </a:solidFill>
          <a:ln>
            <a:noFill/>
          </a:ln>
        </p:spPr>
        <p:txBody>
          <a:bodyPr rtlCol="0" anchor="ctr"/>
          <a:lstStyle/>
          <a:p>
            <a:pPr algn="ctr"/>
          </a:p>
        </p:txBody>
      </p:sp>
      <p:sp>
        <p:nvSpPr>
          <p:cNvPr id="52" name="Text 51"/>
          <p:cNvSpPr txBox="1"/>
          <p:nvPr/>
        </p:nvSpPr>
        <p:spPr>
          <a:xfrm>
            <a:off x="3454609" y="3773341"/>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محتوى مخصص لكل موضوع، وتمارين تصيد محاكاة دورية</a:t>
            </a:r>
          </a:p>
        </p:txBody>
      </p:sp>
      <p:sp>
        <p:nvSpPr>
          <p:cNvPr id="53" name="Rule 52"/>
          <p:cNvSpPr/>
          <p:nvPr/>
        </p:nvSpPr>
        <p:spPr>
          <a:xfrm>
            <a:off x="6306443" y="4786213"/>
            <a:ext cx="4120257" cy="6350"/>
          </a:xfrm>
          <a:prstGeom prst="rect">
            <a:avLst/>
          </a:prstGeom>
          <a:solidFill>
            <a:srgbClr val="DDD7CA"/>
          </a:solidFill>
          <a:ln>
            <a:noFill/>
          </a:ln>
        </p:spPr>
        <p:txBody>
          <a:bodyPr rtlCol="0" anchor="ctr"/>
          <a:lstStyle/>
          <a:p>
            <a:pPr algn="ctr"/>
          </a:p>
        </p:txBody>
      </p:sp>
      <p:sp>
        <p:nvSpPr>
          <p:cNvPr id="54" name="Text 53"/>
          <p:cNvSpPr txBox="1"/>
          <p:nvPr/>
        </p:nvSpPr>
        <p:spPr>
          <a:xfrm>
            <a:off x="6331843" y="3773341"/>
            <a:ext cx="3967857" cy="883841"/>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يغطي البرنامج حماية الجهة من أهم المخاطر والتهديدات السيبرانية وما يستجد منها، ومنها التعامل الآمن مع: البريد وخصوصاً التصيد، والأجهزة المحمولة ووسائط التخزين، والتصفح، ووسائل التواصل الاجتماعي</a:t>
            </a:r>
          </a:p>
        </p:txBody>
      </p:sp>
      <p:sp>
        <p:nvSpPr>
          <p:cNvPr id="55" name="Rule 54"/>
          <p:cNvSpPr/>
          <p:nvPr/>
        </p:nvSpPr>
        <p:spPr>
          <a:xfrm>
            <a:off x="10426700" y="478621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1-10-3</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792563"/>
            <a:ext cx="2594173" cy="835521"/>
          </a:xfrm>
          <a:prstGeom prst="rect">
            <a:avLst/>
          </a:prstGeom>
          <a:solidFill>
            <a:srgbClr val="F6E6DC"/>
          </a:solidFill>
          <a:ln>
            <a:noFill/>
          </a:ln>
        </p:spPr>
        <p:txBody>
          <a:bodyPr rtlCol="0" anchor="ctr"/>
          <a:lstStyle/>
          <a:p>
            <a:pPr algn="ctr"/>
          </a:p>
        </p:txBody>
      </p:sp>
      <p:sp>
        <p:nvSpPr>
          <p:cNvPr id="59" name="Rule 58"/>
          <p:cNvSpPr/>
          <p:nvPr/>
        </p:nvSpPr>
        <p:spPr>
          <a:xfrm>
            <a:off x="812800" y="5621734"/>
            <a:ext cx="2594173"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866731"/>
            <a:ext cx="244177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ومؤشرات الفعالية</a:t>
            </a:r>
          </a:p>
        </p:txBody>
      </p:sp>
      <p:sp>
        <p:nvSpPr>
          <p:cNvPr id="61" name="Rule 60"/>
          <p:cNvSpPr/>
          <p:nvPr/>
        </p:nvSpPr>
        <p:spPr>
          <a:xfrm>
            <a:off x="3406973" y="5621734"/>
            <a:ext cx="2899470" cy="6350"/>
          </a:xfrm>
          <a:prstGeom prst="rect">
            <a:avLst/>
          </a:prstGeom>
          <a:solidFill>
            <a:srgbClr val="DDD7CA"/>
          </a:solidFill>
          <a:ln>
            <a:noFill/>
          </a:ln>
        </p:spPr>
        <p:txBody>
          <a:bodyPr rtlCol="0" anchor="ctr"/>
          <a:lstStyle/>
          <a:p>
            <a:pPr algn="ctr"/>
          </a:p>
        </p:txBody>
      </p:sp>
      <p:sp>
        <p:nvSpPr>
          <p:cNvPr id="62" name="Text 61"/>
          <p:cNvSpPr txBox="1"/>
          <p:nvPr/>
        </p:nvSpPr>
        <p:spPr>
          <a:xfrm>
            <a:off x="3454609" y="4866731"/>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قياس الفعالية: نسب النقر في المحاكاة، ونتائج الاختبارات، والبلاغات</a:t>
            </a:r>
          </a:p>
        </p:txBody>
      </p:sp>
      <p:sp>
        <p:nvSpPr>
          <p:cNvPr id="63" name="Rule 62"/>
          <p:cNvSpPr/>
          <p:nvPr/>
        </p:nvSpPr>
        <p:spPr>
          <a:xfrm>
            <a:off x="6306443" y="5621734"/>
            <a:ext cx="4120257" cy="6350"/>
          </a:xfrm>
          <a:prstGeom prst="rect">
            <a:avLst/>
          </a:prstGeom>
          <a:solidFill>
            <a:srgbClr val="DDD7CA"/>
          </a:solidFill>
          <a:ln>
            <a:noFill/>
          </a:ln>
        </p:spPr>
        <p:txBody>
          <a:bodyPr rtlCol="0" anchor="ctr"/>
          <a:lstStyle/>
          <a:p>
            <a:pPr algn="ctr"/>
          </a:p>
        </p:txBody>
      </p:sp>
      <p:sp>
        <p:nvSpPr>
          <p:cNvPr id="64" name="Text 63"/>
          <p:cNvSpPr txBox="1"/>
          <p:nvPr/>
        </p:nvSpPr>
        <p:spPr>
          <a:xfrm>
            <a:off x="6331843" y="4866731"/>
            <a:ext cx="396785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البرنامج دورياً</a:t>
            </a:r>
          </a:p>
        </p:txBody>
      </p:sp>
      <p:sp>
        <p:nvSpPr>
          <p:cNvPr id="65" name="Rule 64"/>
          <p:cNvSpPr/>
          <p:nvPr/>
        </p:nvSpPr>
        <p:spPr>
          <a:xfrm>
            <a:off x="10426700" y="562173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88343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1-10-5</a:t>
            </a:r>
          </a:p>
        </p:txBody>
      </p:sp>
      <p:sp>
        <p:nvSpPr>
          <p:cNvPr id="67" name="Text 66"/>
          <p:cNvSpPr txBox="1"/>
          <p:nvPr/>
        </p:nvSpPr>
        <p:spPr>
          <a:xfrm>
            <a:off x="10515600" y="508896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84891" y="812800"/>
            <a:ext cx="209430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‎1-10‎ · برنامج التوعية والتدريب</a:t>
            </a:r>
          </a:p>
        </p:txBody>
      </p:sp>
      <p:sp>
        <p:nvSpPr>
          <p:cNvPr id="4" name="Text 3"/>
          <p:cNvSpPr txBox="1"/>
          <p:nvPr/>
        </p:nvSpPr>
        <p:spPr>
          <a:xfrm>
            <a:off x="789843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‎1-10-4‎: التدريب المتخصص حسب الدور</a:t>
            </a:r>
          </a:p>
        </p:txBody>
      </p:sp>
      <p:sp>
        <p:nvSpPr>
          <p:cNvPr id="20" name="Rule 19"/>
          <p:cNvSpPr/>
          <p:nvPr/>
        </p:nvSpPr>
        <p:spPr>
          <a:xfrm>
            <a:off x="812800" y="2193131"/>
            <a:ext cx="2695972" cy="19050"/>
          </a:xfrm>
          <a:prstGeom prst="rect">
            <a:avLst/>
          </a:prstGeom>
          <a:solidFill>
            <a:srgbClr val="A6461A"/>
          </a:solidFill>
          <a:ln>
            <a:noFill/>
          </a:ln>
        </p:spPr>
        <p:txBody>
          <a:bodyPr rtlCol="0" anchor="ctr"/>
          <a:lstStyle/>
          <a:p>
            <a:pPr algn="ctr"/>
          </a:p>
        </p:txBody>
      </p:sp>
      <p:sp>
        <p:nvSpPr>
          <p:cNvPr id="21" name="Text 20"/>
          <p:cNvSpPr txBox="1"/>
          <p:nvPr/>
        </p:nvSpPr>
        <p:spPr>
          <a:xfrm>
            <a:off x="838200" y="1892689"/>
            <a:ext cx="25435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الدليل</a:t>
            </a:r>
          </a:p>
        </p:txBody>
      </p:sp>
      <p:sp>
        <p:nvSpPr>
          <p:cNvPr id="22" name="Rule 21"/>
          <p:cNvSpPr/>
          <p:nvPr/>
        </p:nvSpPr>
        <p:spPr>
          <a:xfrm>
            <a:off x="3508772" y="2193131"/>
            <a:ext cx="3145334" cy="19050"/>
          </a:xfrm>
          <a:prstGeom prst="rect">
            <a:avLst/>
          </a:prstGeom>
          <a:solidFill>
            <a:srgbClr val="A6461A"/>
          </a:solidFill>
          <a:ln>
            <a:noFill/>
          </a:ln>
        </p:spPr>
        <p:txBody>
          <a:bodyPr rtlCol="0" anchor="ctr"/>
          <a:lstStyle/>
          <a:p>
            <a:pPr algn="ctr"/>
          </a:p>
        </p:txBody>
      </p:sp>
      <p:sp>
        <p:nvSpPr>
          <p:cNvPr id="23" name="Text 22"/>
          <p:cNvSpPr txBox="1"/>
          <p:nvPr/>
        </p:nvSpPr>
        <p:spPr>
          <a:xfrm>
            <a:off x="3534172" y="1892689"/>
            <a:ext cx="29929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654105" y="2193131"/>
            <a:ext cx="3594695" cy="19050"/>
          </a:xfrm>
          <a:prstGeom prst="rect">
            <a:avLst/>
          </a:prstGeom>
          <a:solidFill>
            <a:srgbClr val="A6461A"/>
          </a:solidFill>
          <a:ln>
            <a:noFill/>
          </a:ln>
        </p:spPr>
        <p:txBody>
          <a:bodyPr rtlCol="0" anchor="ctr"/>
          <a:lstStyle/>
          <a:p>
            <a:pPr algn="ctr"/>
          </a:p>
        </p:txBody>
      </p:sp>
      <p:sp>
        <p:nvSpPr>
          <p:cNvPr id="25" name="Text 24"/>
          <p:cNvSpPr txBox="1"/>
          <p:nvPr/>
        </p:nvSpPr>
        <p:spPr>
          <a:xfrm>
            <a:off x="6679505" y="1892689"/>
            <a:ext cx="344229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801" y="2193131"/>
            <a:ext cx="1130300" cy="19050"/>
          </a:xfrm>
          <a:prstGeom prst="rect">
            <a:avLst/>
          </a:prstGeom>
          <a:solidFill>
            <a:srgbClr val="A6461A"/>
          </a:solidFill>
          <a:ln>
            <a:noFill/>
          </a:ln>
        </p:spPr>
        <p:txBody>
          <a:bodyPr rtlCol="0" anchor="ctr"/>
          <a:lstStyle/>
          <a:p>
            <a:pPr algn="ctr"/>
          </a:p>
        </p:txBody>
      </p:sp>
      <p:sp>
        <p:nvSpPr>
          <p:cNvPr id="27" name="Text 26"/>
          <p:cNvSpPr txBox="1"/>
          <p:nvPr/>
        </p:nvSpPr>
        <p:spPr>
          <a:xfrm>
            <a:off x="10284361"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695972" cy="835521"/>
          </a:xfrm>
          <a:prstGeom prst="rect">
            <a:avLst/>
          </a:prstGeom>
          <a:solidFill>
            <a:srgbClr val="F6E6DC"/>
          </a:solidFill>
          <a:ln>
            <a:noFill/>
          </a:ln>
        </p:spPr>
        <p:txBody>
          <a:bodyPr rtlCol="0" anchor="ctr"/>
          <a:lstStyle/>
          <a:p>
            <a:pPr algn="ctr"/>
          </a:p>
        </p:txBody>
      </p:sp>
      <p:sp>
        <p:nvSpPr>
          <p:cNvPr id="29" name="Rule 28"/>
          <p:cNvSpPr/>
          <p:nvPr/>
        </p:nvSpPr>
        <p:spPr>
          <a:xfrm>
            <a:off x="812800" y="3041352"/>
            <a:ext cx="2695972" cy="6350"/>
          </a:xfrm>
          <a:prstGeom prst="rect">
            <a:avLst/>
          </a:prstGeom>
          <a:solidFill>
            <a:srgbClr val="DDD7CA"/>
          </a:solidFill>
          <a:ln>
            <a:noFill/>
          </a:ln>
        </p:spPr>
        <p:txBody>
          <a:bodyPr rtlCol="0" anchor="ctr"/>
          <a:lstStyle/>
          <a:p>
            <a:pPr algn="ctr"/>
          </a:p>
        </p:txBody>
      </p:sp>
      <p:sp>
        <p:nvSpPr>
          <p:cNvPr id="30" name="Text 29"/>
          <p:cNvSpPr txBox="1"/>
          <p:nvPr/>
        </p:nvSpPr>
        <p:spPr>
          <a:xfrm>
            <a:off x="866541" y="2286349"/>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مصفوفة الأدوار والمهارات المعتمدة، وخطة التدريب السنوية</a:t>
            </a:r>
          </a:p>
        </p:txBody>
      </p:sp>
      <p:sp>
        <p:nvSpPr>
          <p:cNvPr id="31" name="Rule 30"/>
          <p:cNvSpPr/>
          <p:nvPr/>
        </p:nvSpPr>
        <p:spPr>
          <a:xfrm>
            <a:off x="3508772" y="3041352"/>
            <a:ext cx="3145334" cy="6350"/>
          </a:xfrm>
          <a:prstGeom prst="rect">
            <a:avLst/>
          </a:prstGeom>
          <a:solidFill>
            <a:srgbClr val="DDD7CA"/>
          </a:solidFill>
          <a:ln>
            <a:noFill/>
          </a:ln>
        </p:spPr>
        <p:txBody>
          <a:bodyPr rtlCol="0" anchor="ctr"/>
          <a:lstStyle/>
          <a:p>
            <a:pPr algn="ctr"/>
          </a:p>
        </p:txBody>
      </p:sp>
      <p:sp>
        <p:nvSpPr>
          <p:cNvPr id="32" name="Text 31"/>
          <p:cNvSpPr txBox="1"/>
          <p:nvPr/>
        </p:nvSpPr>
        <p:spPr>
          <a:xfrm>
            <a:off x="3549032" y="2286349"/>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تحليل احتياج: مصفوفة دور × مهارة × تدريب، ثم خطة سنوية بالميزانية</a:t>
            </a:r>
          </a:p>
        </p:txBody>
      </p:sp>
      <p:sp>
        <p:nvSpPr>
          <p:cNvPr id="33" name="Rule 32"/>
          <p:cNvSpPr/>
          <p:nvPr/>
        </p:nvSpPr>
        <p:spPr>
          <a:xfrm>
            <a:off x="6654105" y="3041352"/>
            <a:ext cx="3594695" cy="6350"/>
          </a:xfrm>
          <a:prstGeom prst="rect">
            <a:avLst/>
          </a:prstGeom>
          <a:solidFill>
            <a:srgbClr val="DDD7CA"/>
          </a:solidFill>
          <a:ln>
            <a:noFill/>
          </a:ln>
        </p:spPr>
        <p:txBody>
          <a:bodyPr rtlCol="0" anchor="ctr"/>
          <a:lstStyle/>
          <a:p>
            <a:pPr algn="ctr"/>
          </a:p>
        </p:txBody>
      </p:sp>
      <p:sp>
        <p:nvSpPr>
          <p:cNvPr id="34" name="Text 33"/>
          <p:cNvSpPr txBox="1"/>
          <p:nvPr/>
        </p:nvSpPr>
        <p:spPr>
          <a:xfrm>
            <a:off x="6680885" y="2286349"/>
            <a:ext cx="344091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مهارات وتدريب متخصص للوظائف المرتبطة مباشرة بالأمن السيبراني، مصنف حسب المسؤوليات</a:t>
            </a:r>
          </a:p>
        </p:txBody>
      </p:sp>
      <p:sp>
        <p:nvSpPr>
          <p:cNvPr id="35" name="Rule 34"/>
          <p:cNvSpPr/>
          <p:nvPr/>
        </p:nvSpPr>
        <p:spPr>
          <a:xfrm>
            <a:off x="10248801" y="304135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741"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1-10-4</a:t>
            </a:r>
          </a:p>
        </p:txBody>
      </p:sp>
      <p:sp>
        <p:nvSpPr>
          <p:cNvPr id="37" name="Text 36"/>
          <p:cNvSpPr txBox="1"/>
          <p:nvPr/>
        </p:nvSpPr>
        <p:spPr>
          <a:xfrm>
            <a:off x="10337701" y="2508579"/>
            <a:ext cx="9144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تدريب متخصص</a:t>
            </a:r>
          </a:p>
        </p:txBody>
      </p:sp>
      <p:sp>
        <p:nvSpPr>
          <p:cNvPr id="38" name="Box 37"/>
          <p:cNvSpPr/>
          <p:nvPr/>
        </p:nvSpPr>
        <p:spPr>
          <a:xfrm>
            <a:off x="812800" y="3047702"/>
            <a:ext cx="2695972" cy="835521"/>
          </a:xfrm>
          <a:prstGeom prst="rect">
            <a:avLst/>
          </a:prstGeom>
          <a:solidFill>
            <a:srgbClr val="F6E6DC"/>
          </a:solidFill>
          <a:ln>
            <a:noFill/>
          </a:ln>
        </p:spPr>
        <p:txBody>
          <a:bodyPr rtlCol="0" anchor="ctr"/>
          <a:lstStyle/>
          <a:p>
            <a:pPr algn="ctr"/>
          </a:p>
        </p:txBody>
      </p:sp>
      <p:sp>
        <p:nvSpPr>
          <p:cNvPr id="39" name="Rule 38"/>
          <p:cNvSpPr/>
          <p:nvPr/>
        </p:nvSpPr>
        <p:spPr>
          <a:xfrm>
            <a:off x="812800" y="3876873"/>
            <a:ext cx="2695972" cy="6350"/>
          </a:xfrm>
          <a:prstGeom prst="rect">
            <a:avLst/>
          </a:prstGeom>
          <a:solidFill>
            <a:srgbClr val="DDD7CA"/>
          </a:solidFill>
          <a:ln>
            <a:noFill/>
          </a:ln>
        </p:spPr>
        <p:txBody>
          <a:bodyPr rtlCol="0" anchor="ctr"/>
          <a:lstStyle/>
          <a:p>
            <a:pPr algn="ctr"/>
          </a:p>
        </p:txBody>
      </p:sp>
      <p:sp>
        <p:nvSpPr>
          <p:cNvPr id="40" name="Text 39"/>
          <p:cNvSpPr txBox="1"/>
          <p:nvPr/>
        </p:nvSpPr>
        <p:spPr>
          <a:xfrm>
            <a:off x="866541" y="3121870"/>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خطط التطوير الفردية، وسجلات التدريب والشهادات</a:t>
            </a:r>
          </a:p>
        </p:txBody>
      </p:sp>
      <p:sp>
        <p:nvSpPr>
          <p:cNvPr id="41" name="Rule 40"/>
          <p:cNvSpPr/>
          <p:nvPr/>
        </p:nvSpPr>
        <p:spPr>
          <a:xfrm>
            <a:off x="3508772" y="3876873"/>
            <a:ext cx="3145334" cy="6350"/>
          </a:xfrm>
          <a:prstGeom prst="rect">
            <a:avLst/>
          </a:prstGeom>
          <a:solidFill>
            <a:srgbClr val="DDD7CA"/>
          </a:solidFill>
          <a:ln>
            <a:noFill/>
          </a:ln>
        </p:spPr>
        <p:txBody>
          <a:bodyPr rtlCol="0" anchor="ctr"/>
          <a:lstStyle/>
          <a:p>
            <a:pPr algn="ctr"/>
          </a:p>
        </p:txBody>
      </p:sp>
      <p:sp>
        <p:nvSpPr>
          <p:cNvPr id="42" name="Text 41"/>
          <p:cNvSpPr txBox="1"/>
          <p:nvPr/>
        </p:nvSpPr>
        <p:spPr>
          <a:xfrm>
            <a:off x="3549032" y="3121870"/>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تطوير فردية لكل موظف: شهادات مهنية وتدريب تقني حسب دوره</a:t>
            </a:r>
          </a:p>
        </p:txBody>
      </p:sp>
      <p:sp>
        <p:nvSpPr>
          <p:cNvPr id="43" name="Rule 42"/>
          <p:cNvSpPr/>
          <p:nvPr/>
        </p:nvSpPr>
        <p:spPr>
          <a:xfrm>
            <a:off x="6654105" y="3876873"/>
            <a:ext cx="3594695" cy="6350"/>
          </a:xfrm>
          <a:prstGeom prst="rect">
            <a:avLst/>
          </a:prstGeom>
          <a:solidFill>
            <a:srgbClr val="DDD7CA"/>
          </a:solidFill>
          <a:ln>
            <a:noFill/>
          </a:ln>
        </p:spPr>
        <p:txBody>
          <a:bodyPr rtlCol="0" anchor="ctr"/>
          <a:lstStyle/>
          <a:p>
            <a:pPr algn="ctr"/>
          </a:p>
        </p:txBody>
      </p:sp>
      <p:sp>
        <p:nvSpPr>
          <p:cNvPr id="44" name="Text 43"/>
          <p:cNvSpPr txBox="1"/>
          <p:nvPr/>
        </p:nvSpPr>
        <p:spPr>
          <a:xfrm>
            <a:off x="6679505" y="3121870"/>
            <a:ext cx="344229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منسوبو إدارة الأمن السيبراني</a:t>
            </a:r>
          </a:p>
        </p:txBody>
      </p:sp>
      <p:sp>
        <p:nvSpPr>
          <p:cNvPr id="45" name="Rule 44"/>
          <p:cNvSpPr/>
          <p:nvPr/>
        </p:nvSpPr>
        <p:spPr>
          <a:xfrm>
            <a:off x="10248801" y="3876873"/>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741" y="313857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1-10-4-1</a:t>
            </a:r>
          </a:p>
        </p:txBody>
      </p:sp>
      <p:sp>
        <p:nvSpPr>
          <p:cNvPr id="47" name="Text 46"/>
          <p:cNvSpPr txBox="1"/>
          <p:nvPr/>
        </p:nvSpPr>
        <p:spPr>
          <a:xfrm>
            <a:off x="10337701" y="3344100"/>
            <a:ext cx="9144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تدريب متخصص</a:t>
            </a:r>
          </a:p>
        </p:txBody>
      </p:sp>
      <p:sp>
        <p:nvSpPr>
          <p:cNvPr id="48" name="Box 47"/>
          <p:cNvSpPr/>
          <p:nvPr/>
        </p:nvSpPr>
        <p:spPr>
          <a:xfrm>
            <a:off x="812800" y="3883223"/>
            <a:ext cx="2695972" cy="835521"/>
          </a:xfrm>
          <a:prstGeom prst="rect">
            <a:avLst/>
          </a:prstGeom>
          <a:solidFill>
            <a:srgbClr val="F6E6DC"/>
          </a:solidFill>
          <a:ln>
            <a:noFill/>
          </a:ln>
        </p:spPr>
        <p:txBody>
          <a:bodyPr rtlCol="0" anchor="ctr"/>
          <a:lstStyle/>
          <a:p>
            <a:pPr algn="ctr"/>
          </a:p>
        </p:txBody>
      </p:sp>
      <p:sp>
        <p:nvSpPr>
          <p:cNvPr id="49" name="Rule 48"/>
          <p:cNvSpPr/>
          <p:nvPr/>
        </p:nvSpPr>
        <p:spPr>
          <a:xfrm>
            <a:off x="812800" y="4712395"/>
            <a:ext cx="2695972" cy="6350"/>
          </a:xfrm>
          <a:prstGeom prst="rect">
            <a:avLst/>
          </a:prstGeom>
          <a:solidFill>
            <a:srgbClr val="DDD7CA"/>
          </a:solidFill>
          <a:ln>
            <a:noFill/>
          </a:ln>
        </p:spPr>
        <p:txBody>
          <a:bodyPr rtlCol="0" anchor="ctr"/>
          <a:lstStyle/>
          <a:p>
            <a:pPr algn="ctr"/>
          </a:p>
        </p:txBody>
      </p:sp>
      <p:sp>
        <p:nvSpPr>
          <p:cNvPr id="50" name="Text 49"/>
          <p:cNvSpPr txBox="1"/>
          <p:nvPr/>
        </p:nvSpPr>
        <p:spPr>
          <a:xfrm>
            <a:off x="866541" y="3957391"/>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التدريب لعينة من المطورين والمشغلين</a:t>
            </a:r>
          </a:p>
        </p:txBody>
      </p:sp>
      <p:sp>
        <p:nvSpPr>
          <p:cNvPr id="51" name="Rule 50"/>
          <p:cNvSpPr/>
          <p:nvPr/>
        </p:nvSpPr>
        <p:spPr>
          <a:xfrm>
            <a:off x="3508772" y="4712395"/>
            <a:ext cx="3145334" cy="6350"/>
          </a:xfrm>
          <a:prstGeom prst="rect">
            <a:avLst/>
          </a:prstGeom>
          <a:solidFill>
            <a:srgbClr val="DDD7CA"/>
          </a:solidFill>
          <a:ln>
            <a:noFill/>
          </a:ln>
        </p:spPr>
        <p:txBody>
          <a:bodyPr rtlCol="0" anchor="ctr"/>
          <a:lstStyle/>
          <a:p>
            <a:pPr algn="ctr"/>
          </a:p>
        </p:txBody>
      </p:sp>
      <p:sp>
        <p:nvSpPr>
          <p:cNvPr id="52" name="Text 51"/>
          <p:cNvSpPr txBox="1"/>
          <p:nvPr/>
        </p:nvSpPr>
        <p:spPr>
          <a:xfrm>
            <a:off x="3549032" y="3957391"/>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التطوير الآمن للمطورين، والتقوية والتشغيل الآمن لفرق التقنية</a:t>
            </a:r>
          </a:p>
        </p:txBody>
      </p:sp>
      <p:sp>
        <p:nvSpPr>
          <p:cNvPr id="53" name="Rule 52"/>
          <p:cNvSpPr/>
          <p:nvPr/>
        </p:nvSpPr>
        <p:spPr>
          <a:xfrm>
            <a:off x="6654105" y="4712395"/>
            <a:ext cx="3594695" cy="6350"/>
          </a:xfrm>
          <a:prstGeom prst="rect">
            <a:avLst/>
          </a:prstGeom>
          <a:solidFill>
            <a:srgbClr val="DDD7CA"/>
          </a:solidFill>
          <a:ln>
            <a:noFill/>
          </a:ln>
        </p:spPr>
        <p:txBody>
          <a:bodyPr rtlCol="0" anchor="ctr"/>
          <a:lstStyle/>
          <a:p>
            <a:pPr algn="ctr"/>
          </a:p>
        </p:txBody>
      </p:sp>
      <p:sp>
        <p:nvSpPr>
          <p:cNvPr id="54" name="Text 53"/>
          <p:cNvSpPr txBox="1"/>
          <p:nvPr/>
        </p:nvSpPr>
        <p:spPr>
          <a:xfrm>
            <a:off x="6679505" y="3957391"/>
            <a:ext cx="344229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العاملون في تطوير البرمجيات وعلى الأصول التقنية</a:t>
            </a:r>
          </a:p>
        </p:txBody>
      </p:sp>
      <p:sp>
        <p:nvSpPr>
          <p:cNvPr id="55" name="Rule 54"/>
          <p:cNvSpPr/>
          <p:nvPr/>
        </p:nvSpPr>
        <p:spPr>
          <a:xfrm>
            <a:off x="10248801" y="4712395"/>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741" y="3974092"/>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1-10-4-2</a:t>
            </a:r>
          </a:p>
        </p:txBody>
      </p:sp>
      <p:sp>
        <p:nvSpPr>
          <p:cNvPr id="57" name="Text 56"/>
          <p:cNvSpPr txBox="1"/>
          <p:nvPr/>
        </p:nvSpPr>
        <p:spPr>
          <a:xfrm>
            <a:off x="10337701" y="4179622"/>
            <a:ext cx="9144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تدريب متخصص</a:t>
            </a:r>
          </a:p>
        </p:txBody>
      </p:sp>
      <p:sp>
        <p:nvSpPr>
          <p:cNvPr id="58" name="Box 57"/>
          <p:cNvSpPr/>
          <p:nvPr/>
        </p:nvSpPr>
        <p:spPr>
          <a:xfrm>
            <a:off x="812800" y="4718745"/>
            <a:ext cx="2695972" cy="835521"/>
          </a:xfrm>
          <a:prstGeom prst="rect">
            <a:avLst/>
          </a:prstGeom>
          <a:solidFill>
            <a:srgbClr val="F6E6DC"/>
          </a:solidFill>
          <a:ln>
            <a:noFill/>
          </a:ln>
        </p:spPr>
        <p:txBody>
          <a:bodyPr rtlCol="0" anchor="ctr"/>
          <a:lstStyle/>
          <a:p>
            <a:pPr algn="ctr"/>
          </a:p>
        </p:txBody>
      </p:sp>
      <p:sp>
        <p:nvSpPr>
          <p:cNvPr id="59" name="Rule 58"/>
          <p:cNvSpPr/>
          <p:nvPr/>
        </p:nvSpPr>
        <p:spPr>
          <a:xfrm>
            <a:off x="812800" y="5547916"/>
            <a:ext cx="2695972"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792913"/>
            <a:ext cx="25435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حضور القيادات ومحتوى الجلسات</a:t>
            </a:r>
          </a:p>
        </p:txBody>
      </p:sp>
      <p:sp>
        <p:nvSpPr>
          <p:cNvPr id="61" name="Rule 60"/>
          <p:cNvSpPr/>
          <p:nvPr/>
        </p:nvSpPr>
        <p:spPr>
          <a:xfrm>
            <a:off x="3508772" y="5547916"/>
            <a:ext cx="3145334" cy="6350"/>
          </a:xfrm>
          <a:prstGeom prst="rect">
            <a:avLst/>
          </a:prstGeom>
          <a:solidFill>
            <a:srgbClr val="DDD7CA"/>
          </a:solidFill>
          <a:ln>
            <a:noFill/>
          </a:ln>
        </p:spPr>
        <p:txBody>
          <a:bodyPr rtlCol="0" anchor="ctr"/>
          <a:lstStyle/>
          <a:p>
            <a:pPr algn="ctr"/>
          </a:p>
        </p:txBody>
      </p:sp>
      <p:sp>
        <p:nvSpPr>
          <p:cNvPr id="62" name="Text 61"/>
          <p:cNvSpPr txBox="1"/>
          <p:nvPr/>
        </p:nvSpPr>
        <p:spPr>
          <a:xfrm>
            <a:off x="3549032" y="4792913"/>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جلسات للقيادات عن المخاطر والمسؤوليات وتمارين أزمات</a:t>
            </a:r>
          </a:p>
        </p:txBody>
      </p:sp>
      <p:sp>
        <p:nvSpPr>
          <p:cNvPr id="63" name="Rule 62"/>
          <p:cNvSpPr/>
          <p:nvPr/>
        </p:nvSpPr>
        <p:spPr>
          <a:xfrm>
            <a:off x="6654105" y="5547916"/>
            <a:ext cx="3594695" cy="6350"/>
          </a:xfrm>
          <a:prstGeom prst="rect">
            <a:avLst/>
          </a:prstGeom>
          <a:solidFill>
            <a:srgbClr val="DDD7CA"/>
          </a:solidFill>
          <a:ln>
            <a:noFill/>
          </a:ln>
        </p:spPr>
        <p:txBody>
          <a:bodyPr rtlCol="0" anchor="ctr"/>
          <a:lstStyle/>
          <a:p>
            <a:pPr algn="ctr"/>
          </a:p>
        </p:txBody>
      </p:sp>
      <p:sp>
        <p:nvSpPr>
          <p:cNvPr id="64" name="Text 63"/>
          <p:cNvSpPr txBox="1"/>
          <p:nvPr/>
        </p:nvSpPr>
        <p:spPr>
          <a:xfrm>
            <a:off x="6679505" y="4792913"/>
            <a:ext cx="344229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الوظائف التنفيذية والإشرافية</a:t>
            </a:r>
          </a:p>
        </p:txBody>
      </p:sp>
      <p:sp>
        <p:nvSpPr>
          <p:cNvPr id="65" name="Rule 64"/>
          <p:cNvSpPr/>
          <p:nvPr/>
        </p:nvSpPr>
        <p:spPr>
          <a:xfrm>
            <a:off x="10248801" y="5547916"/>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741" y="4809613"/>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A6461A"/>
                </a:solidFill>
                <a:latin typeface="IBM Plex Mono"/>
                <a:ea typeface="IBM Plex Mono"/>
                <a:cs typeface="IBM Plex Mono"/>
              </a:rPr>
              <a:t>1-10-4-3</a:t>
            </a:r>
          </a:p>
        </p:txBody>
      </p:sp>
      <p:sp>
        <p:nvSpPr>
          <p:cNvPr id="67" name="Text 66"/>
          <p:cNvSpPr txBox="1"/>
          <p:nvPr/>
        </p:nvSpPr>
        <p:spPr>
          <a:xfrm>
            <a:off x="10337701" y="5015143"/>
            <a:ext cx="9144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تدريب متخصص</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73" name="Box 7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84891" y="812800"/>
            <a:ext cx="209430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‎1-10‎ · برنامج التوعية والتدريب</a:t>
            </a:r>
          </a:p>
        </p:txBody>
      </p:sp>
      <p:sp>
        <p:nvSpPr>
          <p:cNvPr id="4" name="Text 3"/>
          <p:cNvSpPr txBox="1"/>
          <p:nvPr/>
        </p:nvSpPr>
        <p:spPr>
          <a:xfrm>
            <a:off x="789843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المحتوى: مثال لرسالة تصيد</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534003" y="1852811"/>
            <a:ext cx="72648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1-10-3</a:t>
            </a:r>
          </a:p>
        </p:txBody>
      </p:sp>
      <p:sp>
        <p:nvSpPr>
          <p:cNvPr id="23" name="Text box 22"/>
          <p:cNvSpPr/>
          <p:nvPr/>
        </p:nvSpPr>
        <p:spPr>
          <a:xfrm>
            <a:off x="7744023" y="1852811"/>
            <a:ext cx="72648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1-10-2</a:t>
            </a:r>
          </a:p>
        </p:txBody>
      </p:sp>
      <p:sp>
        <p:nvSpPr>
          <p:cNvPr id="24" name="Text 23"/>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5" name="Box 24"/>
          <p:cNvSpPr/>
          <p:nvPr/>
        </p:nvSpPr>
        <p:spPr>
          <a:xfrm>
            <a:off x="11125200" y="2518172"/>
            <a:ext cx="254000" cy="254000"/>
          </a:xfrm>
          <a:prstGeom prst="roundRect">
            <a:avLst>
              <a:gd name="adj" fmla="val 50000"/>
            </a:avLst>
          </a:prstGeom>
          <a:solidFill>
            <a:srgbClr val="A6461A"/>
          </a:solidFill>
          <a:ln>
            <a:noFill/>
          </a:ln>
        </p:spPr>
        <p:txBody>
          <a:bodyPr rtlCol="0" anchor="ctr"/>
          <a:lstStyle/>
          <a:p>
            <a:pPr algn="ctr"/>
          </a:p>
        </p:txBody>
      </p:sp>
      <p:sp>
        <p:nvSpPr>
          <p:cNvPr id="26" name="Text 25"/>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7" name="Text 26"/>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رسالة تنتحل جهة معروفة وتطلب إجراءً عاجلاً.</a:t>
            </a:r>
          </a:p>
        </p:txBody>
      </p:sp>
      <p:sp>
        <p:nvSpPr>
          <p:cNvPr id="28" name="Box 27"/>
          <p:cNvSpPr/>
          <p:nvPr/>
        </p:nvSpPr>
        <p:spPr>
          <a:xfrm>
            <a:off x="11125200" y="2835672"/>
            <a:ext cx="254000" cy="254000"/>
          </a:xfrm>
          <a:prstGeom prst="roundRect">
            <a:avLst>
              <a:gd name="adj" fmla="val 50000"/>
            </a:avLst>
          </a:prstGeom>
          <a:solidFill>
            <a:srgbClr val="A6461A"/>
          </a:solidFill>
          <a:ln>
            <a:noFill/>
          </a:ln>
        </p:spPr>
        <p:txBody>
          <a:bodyPr rtlCol="0" anchor="ctr"/>
          <a:lstStyle/>
          <a:p>
            <a:pPr algn="ctr"/>
          </a:p>
        </p:txBody>
      </p:sp>
      <p:sp>
        <p:nvSpPr>
          <p:cNvPr id="29" name="Text 28"/>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0" name="Text 29"/>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رابط أو مرفق يقود إلى صفحة لسرقة البيانات.</a:t>
            </a:r>
          </a:p>
        </p:txBody>
      </p:sp>
      <p:sp>
        <p:nvSpPr>
          <p:cNvPr id="31" name="Box 30"/>
          <p:cNvSpPr/>
          <p:nvPr/>
        </p:nvSpPr>
        <p:spPr>
          <a:xfrm>
            <a:off x="11125200" y="3153172"/>
            <a:ext cx="254000" cy="254000"/>
          </a:xfrm>
          <a:prstGeom prst="roundRect">
            <a:avLst>
              <a:gd name="adj" fmla="val 50000"/>
            </a:avLst>
          </a:prstGeom>
          <a:solidFill>
            <a:srgbClr val="A6461A"/>
          </a:solidFill>
          <a:ln>
            <a:noFill/>
          </a:ln>
        </p:spPr>
        <p:txBody>
          <a:bodyPr rtlCol="0" anchor="ctr"/>
          <a:lstStyle/>
          <a:p>
            <a:pPr algn="ctr"/>
          </a:p>
        </p:txBody>
      </p:sp>
      <p:sp>
        <p:nvSpPr>
          <p:cNvPr id="32" name="Text 31"/>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3" name="Text 32"/>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علامات يتعلمها الموظف: المرسل، والإلحاح، والرابط.</a:t>
            </a:r>
          </a:p>
        </p:txBody>
      </p:sp>
      <p:sp>
        <p:nvSpPr>
          <p:cNvPr id="34" name="Rule 33"/>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5" name="Text 34"/>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6" name="Icon CheckCircle 35" descr="icon033.png"/>
          <p:cNvPicPr>
            <a:picLocks noChangeAspect="1"/>
          </p:cNvPicPr>
          <p:nvPr/>
        </p:nvPicPr>
        <p:blipFill>
          <a:blip r:embed="rId3"/>
          <a:stretch>
            <a:fillRect/>
          </a:stretch>
        </p:blipFill>
        <p:spPr>
          <a:xfrm>
            <a:off x="11150600" y="3880842"/>
            <a:ext cx="203200" cy="203200"/>
          </a:xfrm>
          <a:prstGeom prst="rect">
            <a:avLst/>
          </a:prstGeom>
        </p:spPr>
      </p:pic>
      <p:sp>
        <p:nvSpPr>
          <p:cNvPr id="37" name="Text 36"/>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محتوى التوعية يغطي البريد والتصيد كما ينص ‎1-10-3‎.</a:t>
            </a:r>
          </a:p>
        </p:txBody>
      </p:sp>
      <p:pic>
        <p:nvPicPr>
          <p:cNvPr id="38" name="Icon CheckCircle 37" descr="icon033.png"/>
          <p:cNvPicPr>
            <a:picLocks noChangeAspect="1"/>
          </p:cNvPicPr>
          <p:nvPr/>
        </p:nvPicPr>
        <p:blipFill>
          <a:blip r:embed="rId3"/>
          <a:stretch>
            <a:fillRect/>
          </a:stretch>
        </p:blipFill>
        <p:spPr>
          <a:xfrm>
            <a:off x="11150600" y="4185642"/>
            <a:ext cx="203200" cy="203200"/>
          </a:xfrm>
          <a:prstGeom prst="rect">
            <a:avLst/>
          </a:prstGeom>
        </p:spPr>
      </p:pic>
      <p:sp>
        <p:nvSpPr>
          <p:cNvPr id="39" name="Text 38"/>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الأمثلة حديثة وتعكس التهديدات الحالية.</a:t>
            </a:r>
          </a:p>
        </p:txBody>
      </p:sp>
      <p:pic>
        <p:nvPicPr>
          <p:cNvPr id="40" name="Icon CheckCircle 39" descr="icon033.png"/>
          <p:cNvPicPr>
            <a:picLocks noChangeAspect="1"/>
          </p:cNvPicPr>
          <p:nvPr/>
        </p:nvPicPr>
        <p:blipFill>
          <a:blip r:embed="rId3"/>
          <a:stretch>
            <a:fillRect/>
          </a:stretch>
        </p:blipFill>
        <p:spPr>
          <a:xfrm>
            <a:off x="11150600" y="4490442"/>
            <a:ext cx="203200" cy="203200"/>
          </a:xfrm>
          <a:prstGeom prst="rect">
            <a:avLst/>
          </a:prstGeom>
        </p:spPr>
      </p:pic>
      <p:sp>
        <p:nvSpPr>
          <p:cNvPr id="41" name="Text 40"/>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سجلات إكمال التوعية لكل الفئات.</a:t>
            </a:r>
          </a:p>
        </p:txBody>
      </p:sp>
      <p:sp>
        <p:nvSpPr>
          <p:cNvPr id="42" name="Box 41"/>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3" name="Icon Warning 42" descr="icon028.png"/>
          <p:cNvPicPr>
            <a:picLocks noChangeAspect="1"/>
          </p:cNvPicPr>
          <p:nvPr/>
        </p:nvPicPr>
        <p:blipFill>
          <a:blip r:embed="rId4"/>
          <a:stretch>
            <a:fillRect/>
          </a:stretch>
        </p:blipFill>
        <p:spPr>
          <a:xfrm>
            <a:off x="11074400" y="5311180"/>
            <a:ext cx="190500" cy="190500"/>
          </a:xfrm>
          <a:prstGeom prst="rect">
            <a:avLst/>
          </a:prstGeom>
        </p:spPr>
      </p:pic>
      <p:sp>
        <p:nvSpPr>
          <p:cNvPr id="44" name="Text 43"/>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صورة توضيحية لمحتوى توعوي، ولا تثبت تنفيذ البرنامج؛ الإثبات خطة معتمدة وسجلات إكمال لكل الفئات.</a:t>
            </a:r>
          </a:p>
        </p:txBody>
      </p:sp>
      <p:sp>
        <p:nvSpPr>
          <p:cNvPr id="45" name="Box 44"/>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6" name="Picture 45" descr="phishing-email-zoom.png"/>
          <p:cNvPicPr>
            <a:picLocks noChangeAspect="1"/>
          </p:cNvPicPr>
          <p:nvPr/>
        </p:nvPicPr>
        <p:blipFill>
          <a:blip r:embed="rId5"/>
          <a:stretch>
            <a:fillRect/>
          </a:stretch>
        </p:blipFill>
        <p:spPr>
          <a:xfrm>
            <a:off x="1795675" y="1954411"/>
            <a:ext cx="3546049" cy="3098800"/>
          </a:xfrm>
          <a:prstGeom prst="rect">
            <a:avLst/>
          </a:prstGeom>
        </p:spPr>
      </p:pic>
      <p:sp>
        <p:nvSpPr>
          <p:cNvPr id="47" name="Text 46"/>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Isochrone، تعديل Belbury · مقطع مكبّر · CC ‎BY-SA‎ 4.0 · المصدر: Wikimedia Commons</a:t>
            </a:r>
          </a:p>
        </p:txBody>
      </p:sp>
      <p:sp>
        <p:nvSpPr>
          <p:cNvPr id="48" name="Text 4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49" name="Box 4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3" name="Box 52"/>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Text 5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84891" y="812800"/>
            <a:ext cx="2094309"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‎1-10‎ · برنامج التوعية والتدريب</a:t>
            </a:r>
          </a:p>
        </p:txBody>
      </p:sp>
      <p:sp>
        <p:nvSpPr>
          <p:cNvPr id="4" name="Text 3"/>
          <p:cNvSpPr txBox="1"/>
          <p:nvPr/>
        </p:nvSpPr>
        <p:spPr>
          <a:xfrm>
            <a:off x="7898432" y="827278"/>
            <a:ext cx="127215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04 · الحوكمة</a:t>
            </a:r>
          </a:p>
        </p:txBody>
      </p:sp>
      <p:sp>
        <p:nvSpPr>
          <p:cNvPr id="5" name="Box 4"/>
          <p:cNvSpPr/>
          <p:nvPr/>
        </p:nvSpPr>
        <p:spPr>
          <a:xfrm>
            <a:off x="3502620" y="821035"/>
            <a:ext cx="823416"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A6461A"/>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F6E6DC"/>
          </a:solidFill>
          <a:ln w="6350">
            <a:solidFill>
              <a:srgbClr val="F6E6DC"/>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A6461A"/>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A6461A"/>
          </a:solidFill>
          <a:ln w="6350">
            <a:solidFill>
              <a:srgbClr val="A6461A"/>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A6461A"/>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تقرير محاكاة التصيد</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297664" y="1852811"/>
            <a:ext cx="72648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1-10-5</a:t>
            </a:r>
          </a:p>
        </p:txBody>
      </p:sp>
      <p:sp>
        <p:nvSpPr>
          <p:cNvPr id="23" name="Text box 22"/>
          <p:cNvSpPr/>
          <p:nvPr/>
        </p:nvSpPr>
        <p:spPr>
          <a:xfrm>
            <a:off x="7507684" y="1852811"/>
            <a:ext cx="726480" cy="274241"/>
          </a:xfrm>
          <a:prstGeom prst="roundRect">
            <a:avLst>
              <a:gd name="adj" fmla="val 27785"/>
            </a:avLst>
          </a:prstGeom>
          <a:solidFill>
            <a:srgbClr val="F6E6DC"/>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A6461A"/>
                </a:solidFill>
                <a:latin typeface="IBM Plex Mono"/>
                <a:ea typeface="IBM Plex Mono"/>
                <a:cs typeface="IBM Plex Mono"/>
              </a:rPr>
              <a:t>1-10-2</a:t>
            </a:r>
          </a:p>
        </p:txBody>
      </p:sp>
      <p:sp>
        <p:nvSpPr>
          <p:cNvPr id="24" name="Text 23"/>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تراه</a:t>
            </a:r>
          </a:p>
        </p:txBody>
      </p:sp>
      <p:sp>
        <p:nvSpPr>
          <p:cNvPr id="25" name="Box 24"/>
          <p:cNvSpPr/>
          <p:nvPr/>
        </p:nvSpPr>
        <p:spPr>
          <a:xfrm>
            <a:off x="11125200" y="2518172"/>
            <a:ext cx="254000" cy="254000"/>
          </a:xfrm>
          <a:prstGeom prst="roundRect">
            <a:avLst>
              <a:gd name="adj" fmla="val 50000"/>
            </a:avLst>
          </a:prstGeom>
          <a:solidFill>
            <a:srgbClr val="A6461A"/>
          </a:solidFill>
          <a:ln>
            <a:noFill/>
          </a:ln>
        </p:spPr>
        <p:txBody>
          <a:bodyPr rtlCol="0" anchor="ctr"/>
          <a:lstStyle/>
          <a:p>
            <a:pPr algn="ctr"/>
          </a:p>
        </p:txBody>
      </p:sp>
      <p:sp>
        <p:nvSpPr>
          <p:cNvPr id="26" name="Text 25"/>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7" name="Text 26"/>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ثلاث حملات متتالية بالأرقام نفسها، فالمقارنة ممكنة.</a:t>
            </a:r>
          </a:p>
        </p:txBody>
      </p:sp>
      <p:sp>
        <p:nvSpPr>
          <p:cNvPr id="28" name="Box 27"/>
          <p:cNvSpPr/>
          <p:nvPr/>
        </p:nvSpPr>
        <p:spPr>
          <a:xfrm>
            <a:off x="11125200" y="2835672"/>
            <a:ext cx="254000" cy="254000"/>
          </a:xfrm>
          <a:prstGeom prst="roundRect">
            <a:avLst>
              <a:gd name="adj" fmla="val 50000"/>
            </a:avLst>
          </a:prstGeom>
          <a:solidFill>
            <a:srgbClr val="A6461A"/>
          </a:solidFill>
          <a:ln>
            <a:noFill/>
          </a:ln>
        </p:spPr>
        <p:txBody>
          <a:bodyPr rtlCol="0" anchor="ctr"/>
          <a:lstStyle/>
          <a:p>
            <a:pPr algn="ctr"/>
          </a:p>
        </p:txBody>
      </p:sp>
      <p:sp>
        <p:nvSpPr>
          <p:cNvPr id="29" name="Text 28"/>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0" name="Text 29"/>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نسبة من نقروا على الرابط، ونسبة من أبلغوا عن الرسالة.</a:t>
            </a:r>
          </a:p>
        </p:txBody>
      </p:sp>
      <p:sp>
        <p:nvSpPr>
          <p:cNvPr id="31" name="Box 30"/>
          <p:cNvSpPr/>
          <p:nvPr/>
        </p:nvSpPr>
        <p:spPr>
          <a:xfrm>
            <a:off x="11125200" y="3153172"/>
            <a:ext cx="254000" cy="254000"/>
          </a:xfrm>
          <a:prstGeom prst="roundRect">
            <a:avLst>
              <a:gd name="adj" fmla="val 50000"/>
            </a:avLst>
          </a:prstGeom>
          <a:solidFill>
            <a:srgbClr val="A6461A"/>
          </a:solidFill>
          <a:ln>
            <a:noFill/>
          </a:ln>
        </p:spPr>
        <p:txBody>
          <a:bodyPr rtlCol="0" anchor="ctr"/>
          <a:lstStyle/>
          <a:p>
            <a:pPr algn="ctr"/>
          </a:p>
        </p:txBody>
      </p:sp>
      <p:sp>
        <p:nvSpPr>
          <p:cNvPr id="32" name="Text 31"/>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3" name="Text 32"/>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اتجاه واضح بين الحملات، لا رقم واحد.</a:t>
            </a:r>
          </a:p>
        </p:txBody>
      </p:sp>
      <p:sp>
        <p:nvSpPr>
          <p:cNvPr id="34" name="Rule 33"/>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5" name="Text 34"/>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ما الذي يبحث عنه المقيّم</a:t>
            </a:r>
          </a:p>
        </p:txBody>
      </p:sp>
      <p:pic>
        <p:nvPicPr>
          <p:cNvPr id="36" name="Icon CheckCircle 35" descr="icon033.png"/>
          <p:cNvPicPr>
            <a:picLocks noChangeAspect="1"/>
          </p:cNvPicPr>
          <p:nvPr/>
        </p:nvPicPr>
        <p:blipFill>
          <a:blip r:embed="rId3"/>
          <a:stretch>
            <a:fillRect/>
          </a:stretch>
        </p:blipFill>
        <p:spPr>
          <a:xfrm>
            <a:off x="11150600" y="3880842"/>
            <a:ext cx="203200" cy="203200"/>
          </a:xfrm>
          <a:prstGeom prst="rect">
            <a:avLst/>
          </a:prstGeom>
        </p:spPr>
      </p:pic>
      <p:sp>
        <p:nvSpPr>
          <p:cNvPr id="37" name="Text 36"/>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البرنامج نُفذ فعلاً عبر الزمن، لا مرة واحدة.</a:t>
            </a:r>
          </a:p>
        </p:txBody>
      </p:sp>
      <p:pic>
        <p:nvPicPr>
          <p:cNvPr id="38" name="Icon CheckCircle 37" descr="icon033.png"/>
          <p:cNvPicPr>
            <a:picLocks noChangeAspect="1"/>
          </p:cNvPicPr>
          <p:nvPr/>
        </p:nvPicPr>
        <p:blipFill>
          <a:blip r:embed="rId3"/>
          <a:stretch>
            <a:fillRect/>
          </a:stretch>
        </p:blipFill>
        <p:spPr>
          <a:xfrm>
            <a:off x="11150600" y="4185642"/>
            <a:ext cx="203200" cy="203200"/>
          </a:xfrm>
          <a:prstGeom prst="rect">
            <a:avLst/>
          </a:prstGeom>
        </p:spPr>
      </p:pic>
      <p:sp>
        <p:nvSpPr>
          <p:cNvPr id="39" name="Text 38"/>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المراجعة في ‎1-10-5‎ تستخدم هذه الأرقام لتحسين البرنامج.</a:t>
            </a:r>
          </a:p>
        </p:txBody>
      </p:sp>
      <p:pic>
        <p:nvPicPr>
          <p:cNvPr id="40" name="Icon CheckCircle 39" descr="icon033.png"/>
          <p:cNvPicPr>
            <a:picLocks noChangeAspect="1"/>
          </p:cNvPicPr>
          <p:nvPr/>
        </p:nvPicPr>
        <p:blipFill>
          <a:blip r:embed="rId3"/>
          <a:stretch>
            <a:fillRect/>
          </a:stretch>
        </p:blipFill>
        <p:spPr>
          <a:xfrm>
            <a:off x="11150600" y="4490442"/>
            <a:ext cx="203200" cy="203200"/>
          </a:xfrm>
          <a:prstGeom prst="rect">
            <a:avLst/>
          </a:prstGeom>
        </p:spPr>
      </p:pic>
      <p:sp>
        <p:nvSpPr>
          <p:cNvPr id="41" name="Text 40"/>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نتائج الفئات الأعلى خطراً تُتابع بتدريب إضافي.</a:t>
            </a:r>
          </a:p>
        </p:txBody>
      </p:sp>
      <p:sp>
        <p:nvSpPr>
          <p:cNvPr id="42" name="Box 41"/>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3" name="Icon Warning 42" descr="icon028.png"/>
          <p:cNvPicPr>
            <a:picLocks noChangeAspect="1"/>
          </p:cNvPicPr>
          <p:nvPr/>
        </p:nvPicPr>
        <p:blipFill>
          <a:blip r:embed="rId4"/>
          <a:stretch>
            <a:fillRect/>
          </a:stretch>
        </p:blipFill>
        <p:spPr>
          <a:xfrm>
            <a:off x="11074400" y="5311180"/>
            <a:ext cx="190500" cy="190500"/>
          </a:xfrm>
          <a:prstGeom prst="rect">
            <a:avLst/>
          </a:prstGeom>
        </p:spPr>
      </p:pic>
      <p:sp>
        <p:nvSpPr>
          <p:cNvPr id="44" name="Text 43"/>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التقرير يثبت تنفيذ حملات المحاكاة ونتائجها، ولا يثبت وحده تغطية البرنامج لكل الفئات والموضوعات.</a:t>
            </a:r>
          </a:p>
        </p:txBody>
      </p:sp>
      <p:sp>
        <p:nvSpPr>
          <p:cNvPr id="45" name="Box 44"/>
          <p:cNvSpPr/>
          <p:nvPr/>
        </p:nvSpPr>
        <p:spPr>
          <a:xfrm>
            <a:off x="815975" y="1855986"/>
            <a:ext cx="5556250" cy="2193727"/>
          </a:xfrm>
          <a:prstGeom prst="roundRect">
            <a:avLst>
              <a:gd name="adj" fmla="val 4618"/>
            </a:avLst>
          </a:prstGeom>
          <a:solidFill>
            <a:srgbClr val="FBFAF7"/>
          </a:solidFill>
          <a:ln w="6350">
            <a:solidFill>
              <a:srgbClr val="DDD7CA"/>
            </a:solidFill>
          </a:ln>
        </p:spPr>
        <p:txBody>
          <a:bodyPr rtlCol="0" anchor="ctr"/>
          <a:lstStyle/>
          <a:p>
            <a:pPr algn="ctr"/>
          </a:p>
        </p:txBody>
      </p:sp>
      <p:sp>
        <p:nvSpPr>
          <p:cNvPr id="46" name="Box 45"/>
          <p:cNvSpPr/>
          <p:nvPr/>
        </p:nvSpPr>
        <p:spPr>
          <a:xfrm>
            <a:off x="819150" y="1859161"/>
            <a:ext cx="55499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7" name="Box 46"/>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8" name="Box 47"/>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9" name="Box 48"/>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50" name="Text 49"/>
          <p:cNvSpPr txBox="1"/>
          <p:nvPr/>
        </p:nvSpPr>
        <p:spPr>
          <a:xfrm>
            <a:off x="4530550" y="1919359"/>
            <a:ext cx="171150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تقرير محاكاة التصيد · 2026</a:t>
            </a:r>
          </a:p>
        </p:txBody>
      </p:sp>
      <p:graphicFrame>
        <p:nvGraphicFramePr>
          <p:cNvPr id="51" name="Table 50"/>
          <p:cNvGraphicFramePr>
            <a:graphicFrameLocks noGrp="1"/>
          </p:cNvGraphicFramePr>
          <p:nvPr/>
        </p:nvGraphicFramePr>
        <p:xfrm>
          <a:off x="962025" y="2339777"/>
          <a:ext cx="5264150" cy="1274364"/>
        </p:xfrm>
        <a:graphic>
          <a:graphicData uri="http://schemas.openxmlformats.org/drawingml/2006/table">
            <a:tbl>
              <a:tblPr firstRow="0" bandRow="0" lastRow="0" firstCol="0" lastCol="0" bandCol="0">
                <a:tableStyleId>{2D5ABB26-0587-4C30-8999-92F81FD0307C}</a:tableStyleId>
              </a:tblPr>
              <a:tblGrid>
                <a:gridCol w="1052830"/>
                <a:gridCol w="1052830"/>
                <a:gridCol w="1052830"/>
                <a:gridCol w="210566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أبلغوا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نقروا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المستلمون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الحملة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6%</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18%</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1,200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حملة 1 · فبراير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1,200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حملة 2 · مايو</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7%</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1,250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حملة 3 · أغسطس</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52" name="Text 51"/>
          <p:cNvSpPr txBox="1"/>
          <p:nvPr/>
        </p:nvSpPr>
        <p:spPr>
          <a:xfrm>
            <a:off x="838200" y="3682595"/>
            <a:ext cx="53911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الاتجاه: نسبة النقر تنخفض ونسبة الإبلاغ ترتفع بعد كل حملة توعية.</a:t>
            </a:r>
          </a:p>
        </p:txBody>
      </p:sp>
      <p:sp>
        <p:nvSpPr>
          <p:cNvPr id="53" name="Text 52"/>
          <p:cNvSpPr txBox="1"/>
          <p:nvPr/>
        </p:nvSpPr>
        <p:spPr>
          <a:xfrm>
            <a:off x="367792" y="4118166"/>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54" name="Text 5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55" name="Box 5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8" name="Box 57"/>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59" name="Box 58"/>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Box 6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4" name="Text 6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9226352" y="812800"/>
            <a:ext cx="2152848"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تمرين 4 · مجموعات · 20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ست حالات حوكمة: ما الضابط، وما الإجراء؟</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F6E6DC"/>
          </a:solidFill>
          <a:ln>
            <a:noFill/>
          </a:ln>
        </p:spPr>
        <p:txBody>
          <a:bodyPr rtlCol="0" anchor="ctr"/>
          <a:lstStyle/>
          <a:p>
            <a:pPr algn="ctr"/>
          </a:p>
        </p:txBody>
      </p:sp>
      <p:pic>
        <p:nvPicPr>
          <p:cNvPr id="7" name="Icon Tool 6" descr="icon038.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حالة: حدّد الضابط الذي لا تحققه الجهة، واقترح إجراءً تصحيحياً محدداً بمالك.</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A6461A"/>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السياسات معتمدة بتوقيع مدير الأمن السيبراني وحده.</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A6461A"/>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مدير الأمن السيبراني يرفع تقاريره إلى مدير تقنية المعلومات.</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A6461A"/>
          </a:solidFill>
          <a:ln>
            <a:noFill/>
          </a:ln>
        </p:spPr>
        <p:txBody>
          <a:bodyPr rtlCol="0" anchor="ctr"/>
          <a:lstStyle/>
          <a:p>
            <a:pPr algn="ctr"/>
          </a:p>
        </p:txBody>
      </p:sp>
      <p:sp>
        <p:nvSpPr>
          <p:cNvPr id="19" name="Text 18"/>
          <p:cNvSpPr txBox="1"/>
          <p:nvPr/>
        </p:nvSpPr>
        <p:spPr>
          <a:xfrm>
            <a:off x="5589865" y="368657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خدمة إلكترونية جديدة أُطلقت بلا تقييم مخاطر «لأنها عاجلة».</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A6461A"/>
          </a:solidFill>
          <a:ln>
            <a:noFill/>
          </a:ln>
        </p:spPr>
        <p:txBody>
          <a:bodyPr rtlCol="0" anchor="ctr"/>
          <a:lstStyle/>
          <a:p>
            <a:pPr algn="ctr"/>
          </a:p>
        </p:txBody>
      </p:sp>
      <p:sp>
        <p:nvSpPr>
          <p:cNvPr id="23" name="Text 22"/>
          <p:cNvSpPr txBox="1"/>
          <p:nvPr/>
        </p:nvSpPr>
        <p:spPr>
          <a:xfrm>
            <a:off x="10949662" y="368657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محللان في مركز العمليات متعاقدان بدوام جزئي.</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A6461A"/>
          </a:solidFill>
          <a:ln>
            <a:noFill/>
          </a:ln>
        </p:spPr>
        <p:txBody>
          <a:bodyPr rtlCol="0" anchor="ctr"/>
          <a:lstStyle/>
          <a:p>
            <a:pPr algn="ctr"/>
          </a:p>
        </p:txBody>
      </p:sp>
      <p:sp>
        <p:nvSpPr>
          <p:cNvPr id="27" name="Text 26"/>
          <p:cNvSpPr txBox="1"/>
          <p:nvPr/>
        </p:nvSpPr>
        <p:spPr>
          <a:xfrm>
            <a:off x="5587980" y="43977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المراجعة السنوية للضوابط تجريها إدارة الأمن السيبراني فقط.</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A6461A"/>
          </a:solidFill>
          <a:ln>
            <a:noFill/>
          </a:ln>
        </p:spPr>
        <p:txBody>
          <a:bodyPr rtlCol="0" anchor="ctr"/>
          <a:lstStyle/>
          <a:p>
            <a:pPr algn="ctr"/>
          </a:p>
        </p:txBody>
      </p:sp>
      <p:sp>
        <p:nvSpPr>
          <p:cNvPr id="31" name="Text 30"/>
          <p:cNvSpPr txBox="1"/>
          <p:nvPr/>
        </p:nvSpPr>
        <p:spPr>
          <a:xfrm>
            <a:off x="10947777" y="4397770"/>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موظف انتهت خدمته قبل ثلاثة أسابيع وحساب بريده ما زال نشطاً.</a:t>
            </a:r>
          </a:p>
        </p:txBody>
      </p:sp>
      <p:sp>
        <p:nvSpPr>
          <p:cNvPr id="33" name="Text 3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34" name="Box 3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38" name="Box 37"/>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39" name="Box 3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Text 4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A6461A"/>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F6E6DC"/>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A6461A"/>
                </a:solidFill>
                <a:latin typeface="IBM Plex Sans Arabic"/>
                <a:ea typeface="IBM Plex Sans Arabic"/>
                <a:cs typeface="IBM Plex Sans Arabic"/>
              </a:rPr>
              <a:t>حل التمرين 4</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الضابط والإجراء التصحيحي</a:t>
            </a:r>
          </a:p>
        </p:txBody>
      </p:sp>
      <p:graphicFrame>
        <p:nvGraphicFramePr>
          <p:cNvPr id="5" name="Table 4"/>
          <p:cNvGraphicFramePr>
            <a:graphicFrameLocks noGrp="1"/>
          </p:cNvGraphicFramePr>
          <p:nvPr/>
        </p:nvGraphicFramePr>
        <p:xfrm>
          <a:off x="815975" y="1855986"/>
          <a:ext cx="10560050" cy="2337097"/>
        </p:xfrm>
        <a:graphic>
          <a:graphicData uri="http://schemas.openxmlformats.org/drawingml/2006/table">
            <a:tbl>
              <a:tblPr firstRow="0" bandRow="0" lastRow="0" firstCol="0" lastCol="0" bandCol="0">
                <a:tableStyleId>{2D5ABB26-0587-4C30-8999-92F81FD0307C}</a:tableStyleId>
              </a:tblPr>
              <a:tblGrid>
                <a:gridCol w="6230620"/>
                <a:gridCol w="1372870"/>
                <a:gridCol w="295656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الإجراء التصحيحي المقترح</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قرار من صاحب الصلاحية بنقل الارتباط، وتحديث الهيكل المعتمد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1-2-1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 · الارتباط بالتقنية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رفع الحزمة لصاحب الصلاحية لاعتمادها، ثم إعادة التعميم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 · اعتماد السياسات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خطة توطين وتعيين بدوام كامل بموعد محدد، تُعرض على اللجنة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1-2-2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 · الوظائف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مخاطر لاحق فوري، وجعل التقييم شرطاً في قائمة الإطلاق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1-5-3-4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 · خدمة بلا تقييم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تعطيل فوري، ومراجعة كل المنتهية خدماتهم، وربط الموارد البشرية بالهويات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1-9-5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 · حساب نشط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إدراج الأمن السيبراني في خطة المراجعة الداخلية أو مراجع خارجي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A6461A"/>
                          </a:solidFill>
                          <a:latin typeface="IBM Plex Mono"/>
                          <a:ea typeface="IBM Plex Mono"/>
                          <a:cs typeface="IBM Plex Mono"/>
                        </a:rPr>
                        <a:t>1-8-2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 · مراجعة غير مستقلة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04 · الحوكمة</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209800" y="6313190"/>
            <a:ext cx="279400" cy="63500"/>
          </a:xfrm>
          <a:prstGeom prst="roundRect">
            <a:avLst>
              <a:gd name="adj" fmla="val 50000"/>
            </a:avLst>
          </a:prstGeom>
          <a:solidFill>
            <a:srgbClr val="A6461A"/>
          </a:solidFill>
          <a:ln>
            <a:noFill/>
          </a:ln>
        </p:spPr>
        <p:txBody>
          <a:bodyPr rtlCol="0" anchor="ctr"/>
          <a:lstStyle/>
          <a:p>
            <a:pPr algn="ctr"/>
          </a:p>
        </p:txBody>
      </p:sp>
      <p:sp>
        <p:nvSpPr>
          <p:cNvPr id="11" name="Box 10"/>
          <p:cNvSpPr/>
          <p:nvPr/>
        </p:nvSpPr>
        <p:spPr>
          <a:xfrm>
            <a:off x="2032000" y="6313190"/>
            <a:ext cx="139700" cy="63500"/>
          </a:xfrm>
          <a:prstGeom prst="roundRect">
            <a:avLst>
              <a:gd name="adj" fmla="val 50000"/>
            </a:avLst>
          </a:prstGeom>
          <a:solidFill>
            <a:srgbClr val="DDD7CA"/>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7FB2EA"/>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8575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7604323" y="285750"/>
            <a:ext cx="1145580" cy="264120"/>
          </a:xfrm>
          <a:prstGeom prst="roundRect">
            <a:avLst>
              <a:gd name="adj" fmla="val 50000"/>
            </a:avLst>
          </a:prstGeom>
          <a:solidFill>
            <a:srgbClr val="7FB2EA"/>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05 · التعزيز (1)</a:t>
            </a:r>
          </a:p>
        </p:txBody>
      </p:sp>
      <p:sp>
        <p:nvSpPr>
          <p:cNvPr id="9" name="Text box 8"/>
          <p:cNvSpPr/>
          <p:nvPr/>
        </p:nvSpPr>
        <p:spPr>
          <a:xfrm>
            <a:off x="7149703"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6699548"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6241752"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784255"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29291" y="899795"/>
            <a:ext cx="2449909"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7FB2EA"/>
                </a:solidFill>
                <a:latin typeface="Alexandria"/>
                <a:ea typeface="Alexandria"/>
                <a:cs typeface="Alexandria"/>
              </a:rPr>
              <a:t>05</a:t>
            </a:r>
          </a:p>
        </p:txBody>
      </p:sp>
      <p:sp>
        <p:nvSpPr>
          <p:cNvPr id="14" name="Text 13"/>
          <p:cNvSpPr txBox="1"/>
          <p:nvPr/>
        </p:nvSpPr>
        <p:spPr>
          <a:xfrm>
            <a:off x="126905" y="1000629"/>
            <a:ext cx="925958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7FB2EA"/>
                </a:solidFill>
                <a:latin typeface="IBM Plex Sans Arabic"/>
                <a:ea typeface="IBM Plex Sans Arabic"/>
                <a:cs typeface="IBM Plex Sans Arabic"/>
              </a:rPr>
              <a:t>الوحدة 05 · المكون الأساسي 2</a:t>
            </a:r>
          </a:p>
        </p:txBody>
      </p:sp>
      <p:sp>
        <p:nvSpPr>
          <p:cNvPr id="15" name="Text 14"/>
          <p:cNvSpPr txBox="1"/>
          <p:nvPr/>
        </p:nvSpPr>
        <p:spPr>
          <a:xfrm>
            <a:off x="126905" y="1342898"/>
            <a:ext cx="9259586"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تعزيز الأمن السيبراني (1)</a:t>
            </a:r>
          </a:p>
        </p:txBody>
      </p:sp>
      <p:sp>
        <p:nvSpPr>
          <p:cNvPr id="16" name="Text 15"/>
          <p:cNvSpPr txBox="1"/>
          <p:nvPr/>
        </p:nvSpPr>
        <p:spPr>
          <a:xfrm>
            <a:off x="2876550" y="2269744"/>
            <a:ext cx="8502650" cy="6096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الحماية الأساسية للأصول والوصول والبنية: ماذا نملك، ومن يدخل، وكيف نحمي الأجهزة والبريد والشبكات والبيانات.</a:t>
            </a:r>
          </a:p>
        </p:txBody>
      </p:sp>
      <p:sp>
        <p:nvSpPr>
          <p:cNvPr id="17" name="Rule 16"/>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2-2</a:t>
            </a:r>
          </a:p>
        </p:txBody>
      </p:sp>
      <p:sp>
        <p:nvSpPr>
          <p:cNvPr id="19" name="Text 18"/>
          <p:cNvSpPr txBox="1"/>
          <p:nvPr/>
        </p:nvSpPr>
        <p:spPr>
          <a:xfrm>
            <a:off x="13066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الهويات والصلاحيات</a:t>
            </a:r>
          </a:p>
        </p:txBody>
      </p:sp>
      <p:sp>
        <p:nvSpPr>
          <p:cNvPr id="20" name="Text 19"/>
          <p:cNvSpPr txBox="1"/>
          <p:nvPr/>
        </p:nvSpPr>
        <p:spPr>
          <a:xfrm>
            <a:off x="8128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82</a:t>
            </a:r>
          </a:p>
        </p:txBody>
      </p:sp>
      <p:sp>
        <p:nvSpPr>
          <p:cNvPr id="21" name="Rule 20"/>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a:t>
            </a:r>
          </a:p>
        </p:txBody>
      </p:sp>
      <p:sp>
        <p:nvSpPr>
          <p:cNvPr id="23" name="Text 22"/>
          <p:cNvSpPr txBox="1"/>
          <p:nvPr/>
        </p:nvSpPr>
        <p:spPr>
          <a:xfrm>
            <a:off x="6742263" y="450473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إدارة الأصول</a:t>
            </a:r>
          </a:p>
        </p:txBody>
      </p:sp>
      <p:sp>
        <p:nvSpPr>
          <p:cNvPr id="24" name="Text 23"/>
          <p:cNvSpPr txBox="1"/>
          <p:nvPr/>
        </p:nvSpPr>
        <p:spPr>
          <a:xfrm>
            <a:off x="6248400" y="4519406"/>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78</a:t>
            </a:r>
          </a:p>
        </p:txBody>
      </p:sp>
      <p:sp>
        <p:nvSpPr>
          <p:cNvPr id="25" name="Rule 24"/>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2-4</a:t>
            </a:r>
          </a:p>
        </p:txBody>
      </p:sp>
      <p:sp>
        <p:nvSpPr>
          <p:cNvPr id="27" name="Text 26"/>
          <p:cNvSpPr txBox="1"/>
          <p:nvPr/>
        </p:nvSpPr>
        <p:spPr>
          <a:xfrm>
            <a:off x="13066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حماية البريد</a:t>
            </a:r>
          </a:p>
        </p:txBody>
      </p:sp>
      <p:sp>
        <p:nvSpPr>
          <p:cNvPr id="28" name="Text 27"/>
          <p:cNvSpPr txBox="1"/>
          <p:nvPr/>
        </p:nvSpPr>
        <p:spPr>
          <a:xfrm>
            <a:off x="8128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92</a:t>
            </a:r>
          </a:p>
        </p:txBody>
      </p:sp>
      <p:sp>
        <p:nvSpPr>
          <p:cNvPr id="29" name="Rule 28"/>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2-3</a:t>
            </a:r>
          </a:p>
        </p:txBody>
      </p:sp>
      <p:sp>
        <p:nvSpPr>
          <p:cNvPr id="31" name="Text 30"/>
          <p:cNvSpPr txBox="1"/>
          <p:nvPr/>
        </p:nvSpPr>
        <p:spPr>
          <a:xfrm>
            <a:off x="6742263" y="4932668"/>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حماية الأنظمة</a:t>
            </a:r>
          </a:p>
        </p:txBody>
      </p:sp>
      <p:sp>
        <p:nvSpPr>
          <p:cNvPr id="32" name="Text 31"/>
          <p:cNvSpPr txBox="1"/>
          <p:nvPr/>
        </p:nvSpPr>
        <p:spPr>
          <a:xfrm>
            <a:off x="6248400" y="494733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88</a:t>
            </a:r>
          </a:p>
        </p:txBody>
      </p:sp>
      <p:sp>
        <p:nvSpPr>
          <p:cNvPr id="33" name="Rule 32"/>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2-6</a:t>
            </a:r>
          </a:p>
        </p:txBody>
      </p:sp>
      <p:sp>
        <p:nvSpPr>
          <p:cNvPr id="35" name="Text 34"/>
          <p:cNvSpPr txBox="1"/>
          <p:nvPr/>
        </p:nvSpPr>
        <p:spPr>
          <a:xfrm>
            <a:off x="1405354" y="536059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الأجهزة المحمولة</a:t>
            </a:r>
          </a:p>
        </p:txBody>
      </p:sp>
      <p:sp>
        <p:nvSpPr>
          <p:cNvPr id="36" name="Text 35"/>
          <p:cNvSpPr txBox="1"/>
          <p:nvPr/>
        </p:nvSpPr>
        <p:spPr>
          <a:xfrm>
            <a:off x="8128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102</a:t>
            </a:r>
          </a:p>
        </p:txBody>
      </p:sp>
      <p:sp>
        <p:nvSpPr>
          <p:cNvPr id="37" name="Rule 36"/>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2-5</a:t>
            </a:r>
          </a:p>
        </p:txBody>
      </p:sp>
      <p:sp>
        <p:nvSpPr>
          <p:cNvPr id="39" name="Text 38"/>
          <p:cNvSpPr txBox="1"/>
          <p:nvPr/>
        </p:nvSpPr>
        <p:spPr>
          <a:xfrm>
            <a:off x="6742263" y="5360599"/>
            <a:ext cx="383683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أمن الشبكات</a:t>
            </a:r>
          </a:p>
        </p:txBody>
      </p:sp>
      <p:sp>
        <p:nvSpPr>
          <p:cNvPr id="40" name="Text 39"/>
          <p:cNvSpPr txBox="1"/>
          <p:nvPr/>
        </p:nvSpPr>
        <p:spPr>
          <a:xfrm>
            <a:off x="6248400" y="5375267"/>
            <a:ext cx="6764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96</a:t>
            </a:r>
          </a:p>
        </p:txBody>
      </p:sp>
      <p:sp>
        <p:nvSpPr>
          <p:cNvPr id="41" name="Rule 40"/>
          <p:cNvSpPr/>
          <p:nvPr/>
        </p:nvSpPr>
        <p:spPr>
          <a:xfrm>
            <a:off x="812800" y="5718870"/>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51460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2-8</a:t>
            </a:r>
          </a:p>
        </p:txBody>
      </p:sp>
      <p:sp>
        <p:nvSpPr>
          <p:cNvPr id="43" name="Text 42"/>
          <p:cNvSpPr txBox="1"/>
          <p:nvPr/>
        </p:nvSpPr>
        <p:spPr>
          <a:xfrm>
            <a:off x="1405354" y="578852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التشفير</a:t>
            </a:r>
          </a:p>
        </p:txBody>
      </p:sp>
      <p:sp>
        <p:nvSpPr>
          <p:cNvPr id="44" name="Text 43"/>
          <p:cNvSpPr txBox="1"/>
          <p:nvPr/>
        </p:nvSpPr>
        <p:spPr>
          <a:xfrm>
            <a:off x="8128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108</a:t>
            </a:r>
          </a:p>
        </p:txBody>
      </p:sp>
      <p:sp>
        <p:nvSpPr>
          <p:cNvPr id="45" name="Rule 44"/>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46" name="Text 45"/>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2-7</a:t>
            </a:r>
          </a:p>
        </p:txBody>
      </p:sp>
      <p:sp>
        <p:nvSpPr>
          <p:cNvPr id="47" name="Text 46"/>
          <p:cNvSpPr txBox="1"/>
          <p:nvPr/>
        </p:nvSpPr>
        <p:spPr>
          <a:xfrm>
            <a:off x="6840954" y="578852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حماية البيانات</a:t>
            </a:r>
          </a:p>
        </p:txBody>
      </p:sp>
      <p:sp>
        <p:nvSpPr>
          <p:cNvPr id="48" name="Text 47"/>
          <p:cNvSpPr txBox="1"/>
          <p:nvPr/>
        </p:nvSpPr>
        <p:spPr>
          <a:xfrm>
            <a:off x="62484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106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1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 إدارة الأصول</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قائمة جرد دقيقة ومحدثة بتفاصيل كل الأصول المعلوماتية والتقنية، لدعم العمليات ومتطلبات الأمن السيبراني.</a:t>
            </a:r>
          </a:p>
        </p:txBody>
      </p:sp>
      <p:sp>
        <p:nvSpPr>
          <p:cNvPr id="23" name="Box 22"/>
          <p:cNvSpPr/>
          <p:nvPr/>
        </p:nvSpPr>
        <p:spPr>
          <a:xfrm>
            <a:off x="8159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خادم منسي لا يحدثه أحد ولا يراقبه يصبح باب المهاجم، لأنه خارج كل الضوابط الأخرى.</a:t>
            </a:r>
          </a:p>
        </p:txBody>
      </p:sp>
      <p:sp>
        <p:nvSpPr>
          <p:cNvPr id="28" name="Box 27"/>
          <p:cNvSpPr/>
          <p:nvPr/>
        </p:nvSpPr>
        <p:spPr>
          <a:xfrm>
            <a:off x="43973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جرد المستودع: لا تستطيع حماية بضاعة لا تعرف أنها موجودة، ولا أين وضعتها.</a:t>
            </a:r>
          </a:p>
        </p:txBody>
      </p:sp>
      <p:sp>
        <p:nvSpPr>
          <p:cNvPr id="33" name="Box 32"/>
          <p:cNvSpPr/>
          <p:nvPr/>
        </p:nvSpPr>
        <p:spPr>
          <a:xfrm>
            <a:off x="79787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957262"/>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معرفة كل ما تملكه الجهة من أجهزة وأنظمة وبيانات وخدمات في سجل محدث، ولكل أصل مالك وتصنيف، مع سياسة واضحة للاستخدام المقبول.</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سجل الأصول</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قائمة مركزية بكل الأصول وتفاصيلها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مالك الأصل</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المسؤول من الأعمال عن الأصل</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الاستخدام المقبول</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ما يُسمح وما يُمنع للعاملين</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033198" y="812800"/>
            <a:ext cx="1346002"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 · إدارة الأصول</a:t>
            </a:r>
          </a:p>
        </p:txBody>
      </p:sp>
      <p:sp>
        <p:nvSpPr>
          <p:cNvPr id="4" name="Text 3"/>
          <p:cNvSpPr txBox="1"/>
          <p:nvPr/>
        </p:nvSpPr>
        <p:spPr>
          <a:xfrm>
            <a:off x="851000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إدارة الأصول: السياسة والسجل والمراجعة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تغطي الحصر والملكية ودورة حياة الأصل من الاقتناء إلى الإتلاف</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إدارة الأصول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الأصول بتاريخ تحديث حديث، ومطابقة عينة بين السجل والواقع</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مركزي يُحدَّث آلياً قدر الإمكان من أدوات الاكتشاف، ولكل أصل مالك من الأعمال</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متطلبات إدارة الأصول</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35521"/>
          </a:xfrm>
          <a:prstGeom prst="rect">
            <a:avLst/>
          </a:prstGeom>
          <a:solidFill>
            <a:srgbClr val="E1EAF4"/>
          </a:solidFill>
          <a:ln>
            <a:noFill/>
          </a:ln>
        </p:spPr>
        <p:txBody>
          <a:bodyPr rtlCol="0" anchor="ctr"/>
          <a:lstStyle/>
          <a:p>
            <a:pPr algn="ctr"/>
          </a:p>
        </p:txBody>
      </p:sp>
      <p:sp>
        <p:nvSpPr>
          <p:cNvPr id="49" name="Rule 48"/>
          <p:cNvSpPr/>
          <p:nvPr/>
        </p:nvSpPr>
        <p:spPr>
          <a:xfrm>
            <a:off x="812800" y="4528344"/>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 المطابقة</a:t>
            </a:r>
          </a:p>
        </p:txBody>
      </p:sp>
      <p:sp>
        <p:nvSpPr>
          <p:cNvPr id="51" name="Rule 50"/>
          <p:cNvSpPr/>
          <p:nvPr/>
        </p:nvSpPr>
        <p:spPr>
          <a:xfrm>
            <a:off x="3864769" y="4528344"/>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ومطابقة دورية للسجل مع نتائج الاكتشاف الآلي</a:t>
            </a:r>
          </a:p>
        </p:txBody>
      </p:sp>
      <p:sp>
        <p:nvSpPr>
          <p:cNvPr id="53" name="Rule 52"/>
          <p:cNvSpPr/>
          <p:nvPr/>
        </p:nvSpPr>
        <p:spPr>
          <a:xfrm>
            <a:off x="7374632" y="4528344"/>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متطلبات إدارة الأصول دورياً</a:t>
            </a:r>
          </a:p>
        </p:txBody>
      </p:sp>
      <p:sp>
        <p:nvSpPr>
          <p:cNvPr id="55" name="Rule 54"/>
          <p:cNvSpPr/>
          <p:nvPr/>
        </p:nvSpPr>
        <p:spPr>
          <a:xfrm>
            <a:off x="10426700" y="452834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2-1-6</a:t>
            </a:r>
          </a:p>
        </p:txBody>
      </p:sp>
      <p:sp>
        <p:nvSpPr>
          <p:cNvPr id="57" name="Text 56"/>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8" name="Text 57"/>
          <p:cNvSpPr txBox="1"/>
          <p:nvPr/>
        </p:nvSpPr>
        <p:spPr>
          <a:xfrm>
            <a:off x="0" y="518853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حقول مقترحة لسجل الأصول</a:t>
            </a:r>
          </a:p>
        </p:txBody>
      </p:sp>
      <p:sp>
        <p:nvSpPr>
          <p:cNvPr id="59" name="Text box 58"/>
          <p:cNvSpPr/>
          <p:nvPr/>
        </p:nvSpPr>
        <p:spPr>
          <a:xfrm>
            <a:off x="10701834" y="5517555"/>
            <a:ext cx="674191"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المعرّف</a:t>
            </a:r>
          </a:p>
        </p:txBody>
      </p:sp>
      <p:sp>
        <p:nvSpPr>
          <p:cNvPr id="60" name="Text box 59"/>
          <p:cNvSpPr/>
          <p:nvPr/>
        </p:nvSpPr>
        <p:spPr>
          <a:xfrm>
            <a:off x="10064353" y="5517555"/>
            <a:ext cx="54223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النوع</a:t>
            </a:r>
          </a:p>
        </p:txBody>
      </p:sp>
      <p:sp>
        <p:nvSpPr>
          <p:cNvPr id="61" name="Text box 60"/>
          <p:cNvSpPr/>
          <p:nvPr/>
        </p:nvSpPr>
        <p:spPr>
          <a:xfrm>
            <a:off x="9331523" y="5517555"/>
            <a:ext cx="63758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المالك</a:t>
            </a:r>
          </a:p>
        </p:txBody>
      </p:sp>
      <p:sp>
        <p:nvSpPr>
          <p:cNvPr id="62" name="Text box 61"/>
          <p:cNvSpPr/>
          <p:nvPr/>
        </p:nvSpPr>
        <p:spPr>
          <a:xfrm>
            <a:off x="8596412" y="5517555"/>
            <a:ext cx="63986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الموقع</a:t>
            </a:r>
          </a:p>
        </p:txBody>
      </p:sp>
      <p:sp>
        <p:nvSpPr>
          <p:cNvPr id="63" name="Text box 62"/>
          <p:cNvSpPr/>
          <p:nvPr/>
        </p:nvSpPr>
        <p:spPr>
          <a:xfrm>
            <a:off x="7745512" y="5517555"/>
            <a:ext cx="75565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التصنيف</a:t>
            </a:r>
          </a:p>
        </p:txBody>
      </p:sp>
      <p:sp>
        <p:nvSpPr>
          <p:cNvPr id="64" name="Text box 63"/>
          <p:cNvSpPr/>
          <p:nvPr/>
        </p:nvSpPr>
        <p:spPr>
          <a:xfrm>
            <a:off x="6981726" y="5517555"/>
            <a:ext cx="66853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الأهمية</a:t>
            </a:r>
          </a:p>
        </p:txBody>
      </p:sp>
      <p:sp>
        <p:nvSpPr>
          <p:cNvPr id="65" name="Text box 64"/>
          <p:cNvSpPr/>
          <p:nvPr/>
        </p:nvSpPr>
        <p:spPr>
          <a:xfrm>
            <a:off x="5768876" y="5517555"/>
            <a:ext cx="111760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النظام والإصدار</a:t>
            </a:r>
          </a:p>
        </p:txBody>
      </p:sp>
      <p:sp>
        <p:nvSpPr>
          <p:cNvPr id="66" name="Text box 65"/>
          <p:cNvSpPr/>
          <p:nvPr/>
        </p:nvSpPr>
        <p:spPr>
          <a:xfrm>
            <a:off x="4571702" y="5517555"/>
            <a:ext cx="110192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العنوان الشبكي</a:t>
            </a:r>
          </a:p>
        </p:txBody>
      </p:sp>
      <p:sp>
        <p:nvSpPr>
          <p:cNvPr id="67" name="Text box 66"/>
          <p:cNvSpPr/>
          <p:nvPr/>
        </p:nvSpPr>
        <p:spPr>
          <a:xfrm>
            <a:off x="3330178" y="5517555"/>
            <a:ext cx="1146274"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مواجه للإنترنت؟</a:t>
            </a:r>
          </a:p>
        </p:txBody>
      </p:sp>
      <p:sp>
        <p:nvSpPr>
          <p:cNvPr id="68" name="Text box 67"/>
          <p:cNvSpPr/>
          <p:nvPr/>
        </p:nvSpPr>
        <p:spPr>
          <a:xfrm>
            <a:off x="2360017" y="5517555"/>
            <a:ext cx="874911"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آخر تحديث</a:t>
            </a:r>
          </a:p>
        </p:txBody>
      </p:sp>
      <p:sp>
        <p:nvSpPr>
          <p:cNvPr id="69" name="Text 6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70" name="Box 6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3" name="Box 7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4" name="Box 73"/>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Box 7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9" name="Text 7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033198" y="812800"/>
            <a:ext cx="1346002"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 · إدارة الأصول</a:t>
            </a:r>
          </a:p>
        </p:txBody>
      </p:sp>
      <p:sp>
        <p:nvSpPr>
          <p:cNvPr id="4" name="Text 3"/>
          <p:cNvSpPr txBox="1"/>
          <p:nvPr/>
        </p:nvSpPr>
        <p:spPr>
          <a:xfrm>
            <a:off x="851000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الاستخدام المقبول وتصنيف الأصول</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 ودليل تعميمها</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قصيرة وواضحة: المسموح والممنوع في الأجهزة والبريد والإنترنت والبيانات</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سياسة الاستخدام المقبول وتوثيقها واعتمادها وتعميمها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وتعميم</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إقرارات موقعة لعينة عاملين، وإعدادات تقنية داعمة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إقرار عند التعيين وبشكل دوري، وضوابط تقنية تفرض أهم بنودها</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سياسة الاستخدام المقبول</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حقل التصنيف في سجل الأصول، وعينة وثائق مرمّزة، وقواعد التعامل المعتمدة</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اعتماد مستويات التصنيف الوطنية، وترميز الوثائق والأجهزة، وقواعد تعامل لكل مستوى</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تصنيف الأصول وترميزها والتعامل معها وفق المتطلبات التشريعية والتنظيمية</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التصنيف</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Key 59" descr="icon042.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7FB2EA"/>
                </a:solidFill>
                <a:latin typeface="IBM Plex Sans Arabic"/>
                <a:ea typeface="IBM Plex Sans Arabic"/>
                <a:cs typeface="IBM Plex Sans Arabic"/>
              </a:rPr>
              <a:t>الفكرة الأساسية</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التصنيف هو مفتاح ‎2-7‎ و‎2-8‎ و‎2-9‎: مستوى الحماية والتشفير ونطاق النسخ كلها تُبنى عليه.</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033198" y="812800"/>
            <a:ext cx="1346002"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 · إدارة الأصول</a:t>
            </a:r>
          </a:p>
        </p:txBody>
      </p:sp>
      <p:sp>
        <p:nvSpPr>
          <p:cNvPr id="4" name="Text 3"/>
          <p:cNvSpPr txBox="1"/>
          <p:nvPr/>
        </p:nvSpPr>
        <p:spPr>
          <a:xfrm>
            <a:off x="851000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نظام لجرد الأصول</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625483" y="1852811"/>
            <a:ext cx="63500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a:t>
            </a:r>
          </a:p>
        </p:txBody>
      </p:sp>
      <p:sp>
        <p:nvSpPr>
          <p:cNvPr id="23" name="Text box 22"/>
          <p:cNvSpPr/>
          <p:nvPr/>
        </p:nvSpPr>
        <p:spPr>
          <a:xfrm>
            <a:off x="7926983" y="1852811"/>
            <a:ext cx="63500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a:t>
            </a:r>
          </a:p>
        </p:txBody>
      </p:sp>
      <p:sp>
        <p:nvSpPr>
          <p:cNvPr id="24" name="Text 23"/>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5" name="Box 24"/>
          <p:cNvSpPr/>
          <p:nvPr/>
        </p:nvSpPr>
        <p:spPr>
          <a:xfrm>
            <a:off x="11125200" y="2518172"/>
            <a:ext cx="254000" cy="254000"/>
          </a:xfrm>
          <a:prstGeom prst="roundRect">
            <a:avLst>
              <a:gd name="adj" fmla="val 50000"/>
            </a:avLst>
          </a:prstGeom>
          <a:solidFill>
            <a:srgbClr val="1D5B9E"/>
          </a:solidFill>
          <a:ln>
            <a:noFill/>
          </a:ln>
        </p:spPr>
        <p:txBody>
          <a:bodyPr rtlCol="0" anchor="ctr"/>
          <a:lstStyle/>
          <a:p>
            <a:pPr algn="ctr"/>
          </a:p>
        </p:txBody>
      </p:sp>
      <p:sp>
        <p:nvSpPr>
          <p:cNvPr id="26" name="Text 25"/>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7" name="Text 26"/>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لوحة أداة جرد: عدد الأجهزة والبرمجيات وأجهزة الشبكة حسب النوع.</a:t>
            </a:r>
          </a:p>
        </p:txBody>
      </p:sp>
      <p:sp>
        <p:nvSpPr>
          <p:cNvPr id="28" name="Box 27"/>
          <p:cNvSpPr/>
          <p:nvPr/>
        </p:nvSpPr>
        <p:spPr>
          <a:xfrm>
            <a:off x="11125200" y="2835672"/>
            <a:ext cx="254000" cy="254000"/>
          </a:xfrm>
          <a:prstGeom prst="roundRect">
            <a:avLst>
              <a:gd name="adj" fmla="val 50000"/>
            </a:avLst>
          </a:prstGeom>
          <a:solidFill>
            <a:srgbClr val="1D5B9E"/>
          </a:solidFill>
          <a:ln>
            <a:noFill/>
          </a:ln>
        </p:spPr>
        <p:txBody>
          <a:bodyPr rtlCol="0" anchor="ctr"/>
          <a:lstStyle/>
          <a:p>
            <a:pPr algn="ctr"/>
          </a:p>
        </p:txBody>
      </p:sp>
      <p:sp>
        <p:nvSpPr>
          <p:cNvPr id="29" name="Text 28"/>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0" name="Text 29"/>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رسوم للأجهزة حسب الحالة والشركة المصنعة والنوع.</a:t>
            </a:r>
          </a:p>
        </p:txBody>
      </p:sp>
      <p:sp>
        <p:nvSpPr>
          <p:cNvPr id="31" name="Box 30"/>
          <p:cNvSpPr/>
          <p:nvPr/>
        </p:nvSpPr>
        <p:spPr>
          <a:xfrm>
            <a:off x="11125200" y="3153172"/>
            <a:ext cx="254000" cy="254000"/>
          </a:xfrm>
          <a:prstGeom prst="roundRect">
            <a:avLst>
              <a:gd name="adj" fmla="val 50000"/>
            </a:avLst>
          </a:prstGeom>
          <a:solidFill>
            <a:srgbClr val="1D5B9E"/>
          </a:solidFill>
          <a:ln>
            <a:noFill/>
          </a:ln>
        </p:spPr>
        <p:txBody>
          <a:bodyPr rtlCol="0" anchor="ctr"/>
          <a:lstStyle/>
          <a:p>
            <a:pPr algn="ctr"/>
          </a:p>
        </p:txBody>
      </p:sp>
      <p:sp>
        <p:nvSpPr>
          <p:cNvPr id="32" name="Text 31"/>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3" name="Text 32"/>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خلف كل رقم قائمة تفصيلية تُصفّى وتُصدَّر للمطابقة.</a:t>
            </a:r>
          </a:p>
        </p:txBody>
      </p:sp>
      <p:sp>
        <p:nvSpPr>
          <p:cNvPr id="34" name="Rule 33"/>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5" name="Text 34"/>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6" name="Icon CheckCircle 35" descr="icon043.png"/>
          <p:cNvPicPr>
            <a:picLocks noChangeAspect="1"/>
          </p:cNvPicPr>
          <p:nvPr/>
        </p:nvPicPr>
        <p:blipFill>
          <a:blip r:embed="rId3"/>
          <a:stretch>
            <a:fillRect/>
          </a:stretch>
        </p:blipFill>
        <p:spPr>
          <a:xfrm>
            <a:off x="11150600" y="3880842"/>
            <a:ext cx="203200" cy="203200"/>
          </a:xfrm>
          <a:prstGeom prst="rect">
            <a:avLst/>
          </a:prstGeom>
        </p:spPr>
      </p:pic>
      <p:sp>
        <p:nvSpPr>
          <p:cNvPr id="37" name="Text 36"/>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تاريخ تحديث حديث، ومالكاً من الأعمال لكل أصل.</a:t>
            </a:r>
          </a:p>
        </p:txBody>
      </p:sp>
      <p:pic>
        <p:nvPicPr>
          <p:cNvPr id="38" name="Icon CheckCircle 37" descr="icon043.png"/>
          <p:cNvPicPr>
            <a:picLocks noChangeAspect="1"/>
          </p:cNvPicPr>
          <p:nvPr/>
        </p:nvPicPr>
        <p:blipFill>
          <a:blip r:embed="rId3"/>
          <a:stretch>
            <a:fillRect/>
          </a:stretch>
        </p:blipFill>
        <p:spPr>
          <a:xfrm>
            <a:off x="11150600" y="4185642"/>
            <a:ext cx="203200" cy="203200"/>
          </a:xfrm>
          <a:prstGeom prst="rect">
            <a:avLst/>
          </a:prstGeom>
        </p:spPr>
      </p:pic>
      <p:sp>
        <p:nvSpPr>
          <p:cNvPr id="39" name="Text 38"/>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مطابقة عينة بين السجل والشبكة في الاتجاهين.</a:t>
            </a:r>
          </a:p>
        </p:txBody>
      </p:sp>
      <p:pic>
        <p:nvPicPr>
          <p:cNvPr id="40" name="Icon CheckCircle 39" descr="icon043.png"/>
          <p:cNvPicPr>
            <a:picLocks noChangeAspect="1"/>
          </p:cNvPicPr>
          <p:nvPr/>
        </p:nvPicPr>
        <p:blipFill>
          <a:blip r:embed="rId3"/>
          <a:stretch>
            <a:fillRect/>
          </a:stretch>
        </p:blipFill>
        <p:spPr>
          <a:xfrm>
            <a:off x="11150600" y="4490442"/>
            <a:ext cx="203200" cy="203200"/>
          </a:xfrm>
          <a:prstGeom prst="rect">
            <a:avLst/>
          </a:prstGeom>
        </p:spPr>
      </p:pic>
      <p:sp>
        <p:nvSpPr>
          <p:cNvPr id="41" name="Text 40"/>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حقل التصنيف والأهمية، وأن الأصول السحابية مشمولة.</a:t>
            </a:r>
          </a:p>
        </p:txBody>
      </p:sp>
      <p:sp>
        <p:nvSpPr>
          <p:cNvPr id="42" name="Box 41"/>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3" name="Icon Warning 42" descr="icon028.png"/>
          <p:cNvPicPr>
            <a:picLocks noChangeAspect="1"/>
          </p:cNvPicPr>
          <p:nvPr/>
        </p:nvPicPr>
        <p:blipFill>
          <a:blip r:embed="rId4"/>
          <a:stretch>
            <a:fillRect/>
          </a:stretch>
        </p:blipFill>
        <p:spPr>
          <a:xfrm>
            <a:off x="11074400" y="5311180"/>
            <a:ext cx="190500" cy="190500"/>
          </a:xfrm>
          <a:prstGeom prst="rect">
            <a:avLst/>
          </a:prstGeom>
        </p:spPr>
      </p:pic>
      <p:sp>
        <p:nvSpPr>
          <p:cNvPr id="44" name="Text 43"/>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واجهة أداة جرد ببيانات تجريبية؛ الأداة لا تثبت اكتمال السجل، فالاكتمال يُختبر بالمطابقة مع الشبكة.</a:t>
            </a:r>
          </a:p>
        </p:txBody>
      </p:sp>
      <p:sp>
        <p:nvSpPr>
          <p:cNvPr id="45" name="Box 44"/>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6" name="Picture 45" descr="asset-inventory.png"/>
          <p:cNvPicPr>
            <a:picLocks noChangeAspect="1"/>
          </p:cNvPicPr>
          <p:nvPr/>
        </p:nvPicPr>
        <p:blipFill>
          <a:blip r:embed="rId5"/>
          <a:stretch>
            <a:fillRect/>
          </a:stretch>
        </p:blipFill>
        <p:spPr>
          <a:xfrm>
            <a:off x="914400" y="2210577"/>
            <a:ext cx="5308600" cy="2586468"/>
          </a:xfrm>
          <a:prstGeom prst="rect">
            <a:avLst/>
          </a:prstGeom>
        </p:spPr>
      </p:pic>
      <p:sp>
        <p:nvSpPr>
          <p:cNvPr id="47" name="Text 46"/>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GLPI project (Teclib') · مقتطعة · ‎GPL-3.0‎ · المصدر: GitHub · ‎glpi-project/glpi‎</a:t>
            </a:r>
          </a:p>
        </p:txBody>
      </p:sp>
      <p:sp>
        <p:nvSpPr>
          <p:cNvPr id="48" name="Text 4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9" name="Box 4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3" name="Box 5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Text 5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2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‎2-2‎ إدارة هويات الدخول والصلاحيات</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الدخول المنطقي للأصول، ومنع الوصول غير المصرح به، وتقييده بما يلزم لأداء المهام.</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كلمة مرور واحدة مسروقة لحساب مدير نظام تكفي المهاجم للسيطرة على الشبكة كلها.</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بطاقات المبنى: لكل موظف بطاقته، وتفتح له الأبواب التي يحتاجها فقط، وغرفة الخزنة تحتاج بطاقة ورمزاً معاً.</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ضبط من يدخل إلى أنظمة الجهة وماذا يستطيع أن يفعل: حساب فريد لكل شخص، وصلاحيات بقدر الحاجة، وتحقق متعدد العوامل للحسابات المهمة.</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التحقق متعدد العوامل</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كلمة مرور ومعها عامل آخر</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الحساب المميز</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حساب بصلاحيات إدارة عالية</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مراجعة الصلاحيات</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تأكيد دوري أن كل صلاحية لازمة</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837712" y="812800"/>
            <a:ext cx="254148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‎2-2‎ · إدارة هويات الدخول والصلاحيات</a:t>
            </a:r>
          </a:p>
        </p:txBody>
      </p:sp>
      <p:sp>
        <p:nvSpPr>
          <p:cNvPr id="4" name="Text 3"/>
          <p:cNvSpPr txBox="1"/>
          <p:nvPr/>
        </p:nvSpPr>
        <p:spPr>
          <a:xfrm>
            <a:off x="731452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الهويات والصلاحيات: المتطلبات والتحقق الأحادي</a:t>
            </a:r>
          </a:p>
        </p:txBody>
      </p:sp>
      <p:sp>
        <p:nvSpPr>
          <p:cNvPr id="20" name="Rule 19"/>
          <p:cNvSpPr/>
          <p:nvPr/>
        </p:nvSpPr>
        <p:spPr>
          <a:xfrm>
            <a:off x="812800" y="2193131"/>
            <a:ext cx="27467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1D5B9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1D5B9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والمعيار المعتمدان</a:t>
            </a:r>
          </a:p>
        </p:txBody>
      </p:sp>
      <p:sp>
        <p:nvSpPr>
          <p:cNvPr id="31" name="Rule 30"/>
          <p:cNvSpPr/>
          <p:nvPr/>
        </p:nvSpPr>
        <p:spPr>
          <a:xfrm>
            <a:off x="3559572" y="304135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ومعيار: دورة حياة الحساب، وكلمات المرور، والصلاحيات، والحسابات المميزة والخدمية</a:t>
            </a:r>
          </a:p>
        </p:txBody>
      </p:sp>
      <p:sp>
        <p:nvSpPr>
          <p:cNvPr id="33" name="Rule 32"/>
          <p:cNvSpPr/>
          <p:nvPr/>
        </p:nvSpPr>
        <p:spPr>
          <a:xfrm>
            <a:off x="6764238" y="304135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2746772"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312187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طلبات صلاحية بموافقاتها، وتصدير إعدادات النظام</a:t>
            </a:r>
          </a:p>
        </p:txBody>
      </p:sp>
      <p:sp>
        <p:nvSpPr>
          <p:cNvPr id="41" name="Rule 40"/>
          <p:cNvSpPr/>
          <p:nvPr/>
        </p:nvSpPr>
        <p:spPr>
          <a:xfrm>
            <a:off x="3559572" y="3692823"/>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312187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نظام هويات مركزي، وإجراء لطلب الصلاحية بموافقة المدير ومالك النظام</a:t>
            </a:r>
          </a:p>
        </p:txBody>
      </p:sp>
      <p:sp>
        <p:nvSpPr>
          <p:cNvPr id="43" name="Rule 42"/>
          <p:cNvSpPr/>
          <p:nvPr/>
        </p:nvSpPr>
        <p:spPr>
          <a:xfrm>
            <a:off x="6764238" y="3692823"/>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12187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2746772"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3773341"/>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سياسة كلمات المرور، وقائمة الحسابات المشتركة ومبرراتها</a:t>
            </a:r>
          </a:p>
        </p:txBody>
      </p:sp>
      <p:sp>
        <p:nvSpPr>
          <p:cNvPr id="51" name="Rule 50"/>
          <p:cNvSpPr/>
          <p:nvPr/>
        </p:nvSpPr>
        <p:spPr>
          <a:xfrm>
            <a:off x="3559572" y="4344293"/>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77334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معرّف فريد لكل مستخدم، وقواعد للطول والتعقيد والقفل، ومنع الحسابات المشتركة</a:t>
            </a:r>
          </a:p>
        </p:txBody>
      </p:sp>
      <p:sp>
        <p:nvSpPr>
          <p:cNvPr id="53" name="Rule 52"/>
          <p:cNvSpPr/>
          <p:nvPr/>
        </p:nvSpPr>
        <p:spPr>
          <a:xfrm>
            <a:off x="6764238" y="4344293"/>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773341"/>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التحقق من الهوية أحادي العنصر بناءً على إدارة تسجيل المستخدم وإدارة كلمة المرور</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2746772" cy="835521"/>
          </a:xfrm>
          <a:prstGeom prst="rect">
            <a:avLst/>
          </a:prstGeom>
          <a:solidFill>
            <a:srgbClr val="E1EAF4"/>
          </a:solidFill>
          <a:ln>
            <a:noFill/>
          </a:ln>
        </p:spPr>
        <p:txBody>
          <a:bodyPr rtlCol="0" anchor="ctr"/>
          <a:lstStyle/>
          <a:p>
            <a:pPr algn="ctr"/>
          </a:p>
        </p:txBody>
      </p:sp>
      <p:sp>
        <p:nvSpPr>
          <p:cNvPr id="59" name="Rule 58"/>
          <p:cNvSpPr/>
          <p:nvPr/>
        </p:nvSpPr>
        <p:spPr>
          <a:xfrm>
            <a:off x="812800" y="5179814"/>
            <a:ext cx="2746772"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 العينة</a:t>
            </a:r>
          </a:p>
        </p:txBody>
      </p:sp>
      <p:sp>
        <p:nvSpPr>
          <p:cNvPr id="61" name="Rule 60"/>
          <p:cNvSpPr/>
          <p:nvPr/>
        </p:nvSpPr>
        <p:spPr>
          <a:xfrm>
            <a:off x="3559572" y="5179814"/>
            <a:ext cx="3204666" cy="6350"/>
          </a:xfrm>
          <a:prstGeom prst="rect">
            <a:avLst/>
          </a:prstGeom>
          <a:solidFill>
            <a:srgbClr val="DDD7CA"/>
          </a:solidFill>
          <a:ln>
            <a:noFill/>
          </a:ln>
        </p:spPr>
        <p:txBody>
          <a:bodyPr rtlCol="0" anchor="ctr"/>
          <a:lstStyle/>
          <a:p>
            <a:pPr algn="ctr"/>
          </a:p>
        </p:txBody>
      </p:sp>
      <p:sp>
        <p:nvSpPr>
          <p:cNvPr id="62" name="Text 61"/>
          <p:cNvSpPr txBox="1"/>
          <p:nvPr/>
        </p:nvSpPr>
        <p:spPr>
          <a:xfrm>
            <a:off x="3584972" y="4424811"/>
            <a:ext cx="305226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وتطبيقها على عينة من الأنظمة</a:t>
            </a:r>
          </a:p>
        </p:txBody>
      </p:sp>
      <p:sp>
        <p:nvSpPr>
          <p:cNvPr id="63" name="Rule 62"/>
          <p:cNvSpPr/>
          <p:nvPr/>
        </p:nvSpPr>
        <p:spPr>
          <a:xfrm>
            <a:off x="6764238" y="5179814"/>
            <a:ext cx="3662462" cy="6350"/>
          </a:xfrm>
          <a:prstGeom prst="rect">
            <a:avLst/>
          </a:prstGeom>
          <a:solidFill>
            <a:srgbClr val="DDD7CA"/>
          </a:solidFill>
          <a:ln>
            <a:noFill/>
          </a:ln>
        </p:spPr>
        <p:txBody>
          <a:bodyPr rtlCol="0" anchor="ctr"/>
          <a:lstStyle/>
          <a:p>
            <a:pPr algn="ctr"/>
          </a:p>
        </p:txBody>
      </p:sp>
      <p:sp>
        <p:nvSpPr>
          <p:cNvPr id="64" name="Text 63"/>
          <p:cNvSpPr txBox="1"/>
          <p:nvPr/>
        </p:nvSpPr>
        <p:spPr>
          <a:xfrm>
            <a:off x="6789638" y="4424811"/>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837712" y="812800"/>
            <a:ext cx="254148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‎2-2‎ · إدارة هويات الدخول والصلاحيات</a:t>
            </a:r>
          </a:p>
        </p:txBody>
      </p:sp>
      <p:sp>
        <p:nvSpPr>
          <p:cNvPr id="4" name="Text 3"/>
          <p:cNvSpPr txBox="1"/>
          <p:nvPr/>
        </p:nvSpPr>
        <p:spPr>
          <a:xfrm>
            <a:off x="731452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التحقق متعدد العوامل والصلاحيات المميزة</a:t>
            </a:r>
          </a:p>
        </p:txBody>
      </p:sp>
      <p:sp>
        <p:nvSpPr>
          <p:cNvPr id="20" name="Rule 19"/>
          <p:cNvSpPr/>
          <p:nvPr/>
        </p:nvSpPr>
        <p:spPr>
          <a:xfrm>
            <a:off x="812800" y="2193131"/>
            <a:ext cx="27467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1D5B9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1D5B9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1093391"/>
          </a:xfrm>
          <a:prstGeom prst="rect">
            <a:avLst/>
          </a:prstGeom>
          <a:solidFill>
            <a:srgbClr val="E1EAF4"/>
          </a:solidFill>
          <a:ln>
            <a:noFill/>
          </a:ln>
        </p:spPr>
        <p:txBody>
          <a:bodyPr rtlCol="0" anchor="ctr"/>
          <a:lstStyle/>
          <a:p>
            <a:pPr algn="ctr"/>
          </a:p>
        </p:txBody>
      </p:sp>
      <p:sp>
        <p:nvSpPr>
          <p:cNvPr id="29" name="Rule 28"/>
          <p:cNvSpPr/>
          <p:nvPr/>
        </p:nvSpPr>
        <p:spPr>
          <a:xfrm>
            <a:off x="812800" y="329922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تقييم الأثر، وإعدادات سياسة الإلزام واستثناءاتها المعتمدة، ومطابقة الحسابات المعنية، وسجلات دخول لعينة</a:t>
            </a:r>
          </a:p>
        </p:txBody>
      </p:sp>
      <p:sp>
        <p:nvSpPr>
          <p:cNvPr id="31" name="Rule 30"/>
          <p:cNvSpPr/>
          <p:nvPr/>
        </p:nvSpPr>
        <p:spPr>
          <a:xfrm>
            <a:off x="3559572" y="329922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883841"/>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أثر موثق يحدد العناصر وعددها، ثم سياسة إلزام مفعّلة تشمل كل مسارات الدخول عن بعد وكل الحسابات المميزة البشرية، وإيقاف المسارات التي تتجاوزها</a:t>
            </a:r>
          </a:p>
        </p:txBody>
      </p:sp>
      <p:sp>
        <p:nvSpPr>
          <p:cNvPr id="33" name="Rule 32"/>
          <p:cNvSpPr/>
          <p:nvPr/>
        </p:nvSpPr>
        <p:spPr>
          <a:xfrm>
            <a:off x="6764238" y="329922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التحقق متعدد العناصر للدخول عن بعد والحسابات ذات الصلاحيات الهامة والحساسة، وتحديد العناصر وعددها وتقنياتها بناءً على تقييم أثر فشل التحقق وتخطيه</a:t>
            </a:r>
          </a:p>
        </p:txBody>
      </p:sp>
      <p:sp>
        <p:nvSpPr>
          <p:cNvPr id="35" name="Rule 34"/>
          <p:cNvSpPr/>
          <p:nvPr/>
        </p:nvSpPr>
        <p:spPr>
          <a:xfrm>
            <a:off x="10426700" y="329922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305572"/>
            <a:ext cx="2746772" cy="651470"/>
          </a:xfrm>
          <a:prstGeom prst="rect">
            <a:avLst/>
          </a:prstGeom>
          <a:solidFill>
            <a:srgbClr val="E1EAF4"/>
          </a:solidFill>
          <a:ln>
            <a:noFill/>
          </a:ln>
        </p:spPr>
        <p:txBody>
          <a:bodyPr rtlCol="0" anchor="ctr"/>
          <a:lstStyle/>
          <a:p>
            <a:pPr algn="ctr"/>
          </a:p>
        </p:txBody>
      </p:sp>
      <p:sp>
        <p:nvSpPr>
          <p:cNvPr id="39" name="Rule 38"/>
          <p:cNvSpPr/>
          <p:nvPr/>
        </p:nvSpPr>
        <p:spPr>
          <a:xfrm>
            <a:off x="812800" y="3950692"/>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337974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مصفوفة الأدوار وفصل المهام، وعينة صلاحيات مطابقة لها</a:t>
            </a:r>
          </a:p>
        </p:txBody>
      </p:sp>
      <p:sp>
        <p:nvSpPr>
          <p:cNvPr id="41" name="Rule 40"/>
          <p:cNvSpPr/>
          <p:nvPr/>
        </p:nvSpPr>
        <p:spPr>
          <a:xfrm>
            <a:off x="3559572" y="3950692"/>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337974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أدوار معيارية لكل وظيفة، ومصفوفة فصل مهام للأنظمة الحساسة</a:t>
            </a:r>
          </a:p>
        </p:txBody>
      </p:sp>
      <p:sp>
        <p:nvSpPr>
          <p:cNvPr id="43" name="Rule 42"/>
          <p:cNvSpPr/>
          <p:nvPr/>
        </p:nvSpPr>
        <p:spPr>
          <a:xfrm>
            <a:off x="6764238" y="3950692"/>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379740"/>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الصلاحيات وفق الحاجة للمعرفة والاستخدام، والحد الأدنى، وفصل المهام</a:t>
            </a:r>
          </a:p>
        </p:txBody>
      </p:sp>
      <p:sp>
        <p:nvSpPr>
          <p:cNvPr id="45" name="Rule 44"/>
          <p:cNvSpPr/>
          <p:nvPr/>
        </p:nvSpPr>
        <p:spPr>
          <a:xfrm>
            <a:off x="10426700" y="395069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39644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2-2-3-3</a:t>
            </a:r>
          </a:p>
        </p:txBody>
      </p:sp>
      <p:sp>
        <p:nvSpPr>
          <p:cNvPr id="47" name="Text 46"/>
          <p:cNvSpPr txBox="1"/>
          <p:nvPr/>
        </p:nvSpPr>
        <p:spPr>
          <a:xfrm>
            <a:off x="10462260" y="360197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957042"/>
            <a:ext cx="2746772" cy="651470"/>
          </a:xfrm>
          <a:prstGeom prst="rect">
            <a:avLst/>
          </a:prstGeom>
          <a:solidFill>
            <a:srgbClr val="E1EAF4"/>
          </a:solidFill>
          <a:ln>
            <a:noFill/>
          </a:ln>
        </p:spPr>
        <p:txBody>
          <a:bodyPr rtlCol="0" anchor="ctr"/>
          <a:lstStyle/>
          <a:p>
            <a:pPr algn="ctr"/>
          </a:p>
        </p:txBody>
      </p:sp>
      <p:sp>
        <p:nvSpPr>
          <p:cNvPr id="49" name="Rule 48"/>
          <p:cNvSpPr/>
          <p:nvPr/>
        </p:nvSpPr>
        <p:spPr>
          <a:xfrm>
            <a:off x="812800" y="4602162"/>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403121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الحسابات المميزة، وإعدادات النظام، وسجلات الجلسات</a:t>
            </a:r>
          </a:p>
        </p:txBody>
      </p:sp>
      <p:sp>
        <p:nvSpPr>
          <p:cNvPr id="51" name="Rule 50"/>
          <p:cNvSpPr/>
          <p:nvPr/>
        </p:nvSpPr>
        <p:spPr>
          <a:xfrm>
            <a:off x="3559572" y="4602162"/>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403121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حصر الحسابات المميزة، وخزنة لكلمات مرورها، وتسجيل الجلسات، وصلاحيات مؤقتة عند الحاجة</a:t>
            </a:r>
          </a:p>
        </p:txBody>
      </p:sp>
      <p:sp>
        <p:nvSpPr>
          <p:cNvPr id="53" name="Rule 52"/>
          <p:cNvSpPr/>
          <p:nvPr/>
        </p:nvSpPr>
        <p:spPr>
          <a:xfrm>
            <a:off x="6764238" y="4602162"/>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403121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الصلاحيات الهامة والحساسة</a:t>
            </a:r>
          </a:p>
        </p:txBody>
      </p:sp>
      <p:sp>
        <p:nvSpPr>
          <p:cNvPr id="55" name="Rule 54"/>
          <p:cNvSpPr/>
          <p:nvPr/>
        </p:nvSpPr>
        <p:spPr>
          <a:xfrm>
            <a:off x="10426700" y="460216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40479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2-2-3-4</a:t>
            </a:r>
          </a:p>
        </p:txBody>
      </p:sp>
      <p:sp>
        <p:nvSpPr>
          <p:cNvPr id="57" name="Text 56"/>
          <p:cNvSpPr txBox="1"/>
          <p:nvPr/>
        </p:nvSpPr>
        <p:spPr>
          <a:xfrm>
            <a:off x="10462260" y="425344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608512"/>
            <a:ext cx="2746772" cy="651470"/>
          </a:xfrm>
          <a:prstGeom prst="rect">
            <a:avLst/>
          </a:prstGeom>
          <a:solidFill>
            <a:srgbClr val="E1EAF4"/>
          </a:solidFill>
          <a:ln>
            <a:noFill/>
          </a:ln>
        </p:spPr>
        <p:txBody>
          <a:bodyPr rtlCol="0" anchor="ctr"/>
          <a:lstStyle/>
          <a:p>
            <a:pPr algn="ctr"/>
          </a:p>
        </p:txBody>
      </p:sp>
      <p:sp>
        <p:nvSpPr>
          <p:cNvPr id="59" name="Rule 58"/>
          <p:cNvSpPr/>
          <p:nvPr/>
        </p:nvSpPr>
        <p:spPr>
          <a:xfrm>
            <a:off x="812800" y="5253633"/>
            <a:ext cx="2746772" cy="6350"/>
          </a:xfrm>
          <a:prstGeom prst="rect">
            <a:avLst/>
          </a:prstGeom>
          <a:solidFill>
            <a:srgbClr val="DDD7CA"/>
          </a:solidFill>
          <a:ln>
            <a:noFill/>
          </a:ln>
        </p:spPr>
        <p:txBody>
          <a:bodyPr rtlCol="0" anchor="ctr"/>
          <a:lstStyle/>
          <a:p>
            <a:pPr algn="ctr"/>
          </a:p>
        </p:txBody>
      </p:sp>
      <p:sp>
        <p:nvSpPr>
          <p:cNvPr id="60" name="Text 59"/>
          <p:cNvSpPr txBox="1"/>
          <p:nvPr/>
        </p:nvSpPr>
        <p:spPr>
          <a:xfrm>
            <a:off x="865017" y="468268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نتائج حملات المراجعة الموقعة، ودليل إلغاء ما رُفض</a:t>
            </a:r>
          </a:p>
        </p:txBody>
      </p:sp>
      <p:sp>
        <p:nvSpPr>
          <p:cNvPr id="61" name="Rule 60"/>
          <p:cNvSpPr/>
          <p:nvPr/>
        </p:nvSpPr>
        <p:spPr>
          <a:xfrm>
            <a:off x="3559572" y="5253633"/>
            <a:ext cx="3204666" cy="6350"/>
          </a:xfrm>
          <a:prstGeom prst="rect">
            <a:avLst/>
          </a:prstGeom>
          <a:solidFill>
            <a:srgbClr val="DDD7CA"/>
          </a:solidFill>
          <a:ln>
            <a:noFill/>
          </a:ln>
        </p:spPr>
        <p:txBody>
          <a:bodyPr rtlCol="0" anchor="ctr"/>
          <a:lstStyle/>
          <a:p>
            <a:pPr algn="ctr"/>
          </a:p>
        </p:txBody>
      </p:sp>
      <p:sp>
        <p:nvSpPr>
          <p:cNvPr id="62" name="Text 61"/>
          <p:cNvSpPr txBox="1"/>
          <p:nvPr/>
        </p:nvSpPr>
        <p:spPr>
          <a:xfrm>
            <a:off x="3598052" y="468268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حملة مراجعة دورية يعتمد فيها مالك كل نظام صلاحيات مستخدميه، ويُلغى غير المبرر</a:t>
            </a:r>
          </a:p>
        </p:txBody>
      </p:sp>
      <p:sp>
        <p:nvSpPr>
          <p:cNvPr id="63" name="Rule 62"/>
          <p:cNvSpPr/>
          <p:nvPr/>
        </p:nvSpPr>
        <p:spPr>
          <a:xfrm>
            <a:off x="6764238" y="5253633"/>
            <a:ext cx="3662462" cy="6350"/>
          </a:xfrm>
          <a:prstGeom prst="rect">
            <a:avLst/>
          </a:prstGeom>
          <a:solidFill>
            <a:srgbClr val="DDD7CA"/>
          </a:solidFill>
          <a:ln>
            <a:noFill/>
          </a:ln>
        </p:spPr>
        <p:txBody>
          <a:bodyPr rtlCol="0" anchor="ctr"/>
          <a:lstStyle/>
          <a:p>
            <a:pPr algn="ctr"/>
          </a:p>
        </p:txBody>
      </p:sp>
      <p:sp>
        <p:nvSpPr>
          <p:cNvPr id="64" name="Text 63"/>
          <p:cNvSpPr txBox="1"/>
          <p:nvPr/>
        </p:nvSpPr>
        <p:spPr>
          <a:xfrm>
            <a:off x="6789638" y="468268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المراجعة الدورية للهويات وصلاحيات الدخول</a:t>
            </a:r>
          </a:p>
        </p:txBody>
      </p:sp>
      <p:sp>
        <p:nvSpPr>
          <p:cNvPr id="65" name="Rule 64"/>
          <p:cNvSpPr/>
          <p:nvPr/>
        </p:nvSpPr>
        <p:spPr>
          <a:xfrm>
            <a:off x="10426700" y="5253633"/>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9938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2-2-3-5</a:t>
            </a:r>
          </a:p>
        </p:txBody>
      </p:sp>
      <p:sp>
        <p:nvSpPr>
          <p:cNvPr id="67" name="Text 66"/>
          <p:cNvSpPr txBox="1"/>
          <p:nvPr/>
        </p:nvSpPr>
        <p:spPr>
          <a:xfrm>
            <a:off x="10462260" y="490491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837712" y="812800"/>
            <a:ext cx="254148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‎2-2‎ · إدارة هويات الدخول والصلاحيات</a:t>
            </a:r>
          </a:p>
        </p:txBody>
      </p:sp>
      <p:sp>
        <p:nvSpPr>
          <p:cNvPr id="4" name="Text 3"/>
          <p:cNvSpPr txBox="1"/>
          <p:nvPr/>
        </p:nvSpPr>
        <p:spPr>
          <a:xfrm>
            <a:off x="731452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3</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التسجيل في التحقق ليس إلزاماً به</a:t>
            </a:r>
          </a:p>
        </p:txBody>
      </p:sp>
      <p:sp>
        <p:nvSpPr>
          <p:cNvPr id="20" name="Text box 19"/>
          <p:cNvSpPr/>
          <p:nvPr/>
        </p:nvSpPr>
        <p:spPr>
          <a:xfrm>
            <a:off x="10037862" y="17766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7987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206184" y="17766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2-2-3-2</a:t>
            </a:r>
          </a:p>
        </p:txBody>
      </p:sp>
      <p:sp>
        <p:nvSpPr>
          <p:cNvPr id="23" name="Text box 22"/>
          <p:cNvSpPr/>
          <p:nvPr/>
        </p:nvSpPr>
        <p:spPr>
          <a:xfrm>
            <a:off x="7324725" y="17766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2-2-3-4</a:t>
            </a:r>
          </a:p>
        </p:txBody>
      </p:sp>
      <p:sp>
        <p:nvSpPr>
          <p:cNvPr id="24" name="Box 23"/>
          <p:cNvSpPr/>
          <p:nvPr/>
        </p:nvSpPr>
        <p:spPr>
          <a:xfrm>
            <a:off x="815975" y="2181027"/>
            <a:ext cx="10560050" cy="2734370"/>
          </a:xfrm>
          <a:prstGeom prst="roundRect">
            <a:avLst>
              <a:gd name="adj" fmla="val 3707"/>
            </a:avLst>
          </a:prstGeom>
          <a:solidFill>
            <a:srgbClr val="FBFAF7"/>
          </a:solidFill>
          <a:ln w="6350">
            <a:solidFill>
              <a:srgbClr val="DDD7CA"/>
            </a:solidFill>
          </a:ln>
        </p:spPr>
        <p:txBody>
          <a:bodyPr rtlCol="0" anchor="ctr"/>
          <a:lstStyle/>
          <a:p>
            <a:pPr algn="ctr"/>
          </a:p>
        </p:txBody>
      </p:sp>
      <p:sp>
        <p:nvSpPr>
          <p:cNvPr id="25" name="Box 24"/>
          <p:cNvSpPr/>
          <p:nvPr/>
        </p:nvSpPr>
        <p:spPr>
          <a:xfrm>
            <a:off x="819150" y="2184202"/>
            <a:ext cx="105537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26" name="Box 25"/>
          <p:cNvSpPr/>
          <p:nvPr/>
        </p:nvSpPr>
        <p:spPr>
          <a:xfrm>
            <a:off x="946150" y="2314972"/>
            <a:ext cx="88900" cy="88900"/>
          </a:xfrm>
          <a:prstGeom prst="roundRect">
            <a:avLst>
              <a:gd name="adj" fmla="val 50000"/>
            </a:avLst>
          </a:prstGeom>
          <a:solidFill>
            <a:srgbClr val="E46A5A"/>
          </a:solidFill>
          <a:ln>
            <a:noFill/>
          </a:ln>
        </p:spPr>
        <p:txBody>
          <a:bodyPr rtlCol="0" anchor="ctr"/>
          <a:lstStyle/>
          <a:p>
            <a:pPr algn="ctr"/>
          </a:p>
        </p:txBody>
      </p:sp>
      <p:sp>
        <p:nvSpPr>
          <p:cNvPr id="27" name="Box 26"/>
          <p:cNvSpPr/>
          <p:nvPr/>
        </p:nvSpPr>
        <p:spPr>
          <a:xfrm>
            <a:off x="1098550" y="2314972"/>
            <a:ext cx="88900" cy="88900"/>
          </a:xfrm>
          <a:prstGeom prst="roundRect">
            <a:avLst>
              <a:gd name="adj" fmla="val 50000"/>
            </a:avLst>
          </a:prstGeom>
          <a:solidFill>
            <a:srgbClr val="E8B44A"/>
          </a:solidFill>
          <a:ln>
            <a:noFill/>
          </a:ln>
        </p:spPr>
        <p:txBody>
          <a:bodyPr rtlCol="0" anchor="ctr"/>
          <a:lstStyle/>
          <a:p>
            <a:pPr algn="ctr"/>
          </a:p>
        </p:txBody>
      </p:sp>
      <p:sp>
        <p:nvSpPr>
          <p:cNvPr id="28" name="Box 27"/>
          <p:cNvSpPr/>
          <p:nvPr/>
        </p:nvSpPr>
        <p:spPr>
          <a:xfrm>
            <a:off x="1250950" y="2314972"/>
            <a:ext cx="88900" cy="88900"/>
          </a:xfrm>
          <a:prstGeom prst="roundRect">
            <a:avLst>
              <a:gd name="adj" fmla="val 50000"/>
            </a:avLst>
          </a:prstGeom>
          <a:solidFill>
            <a:srgbClr val="5DB27A"/>
          </a:solidFill>
          <a:ln>
            <a:noFill/>
          </a:ln>
        </p:spPr>
        <p:txBody>
          <a:bodyPr rtlCol="0" anchor="ctr"/>
          <a:lstStyle/>
          <a:p>
            <a:pPr algn="ctr"/>
          </a:p>
        </p:txBody>
      </p:sp>
      <p:sp>
        <p:nvSpPr>
          <p:cNvPr id="29" name="Text 28"/>
          <p:cNvSpPr txBox="1"/>
          <p:nvPr/>
        </p:nvSpPr>
        <p:spPr>
          <a:xfrm>
            <a:off x="6717963" y="2244400"/>
            <a:ext cx="4527887"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مطابقة الحسابات المميزة البشرية بالتسجيل والإلزام · كما في ‎2026-09-30‎</a:t>
            </a:r>
          </a:p>
        </p:txBody>
      </p:sp>
      <p:graphicFrame>
        <p:nvGraphicFramePr>
          <p:cNvPr id="30" name="Table 29"/>
          <p:cNvGraphicFramePr>
            <a:graphicFrameLocks noGrp="1"/>
          </p:cNvGraphicFramePr>
          <p:nvPr/>
        </p:nvGraphicFramePr>
        <p:xfrm>
          <a:off x="962025" y="2664817"/>
          <a:ext cx="10267950" cy="2117227"/>
        </p:xfrm>
        <a:graphic>
          <a:graphicData uri="http://schemas.openxmlformats.org/drawingml/2006/table">
            <a:tbl>
              <a:tblPr firstRow="0" bandRow="0" lastRow="0" firstCol="0" lastCol="0" bandCol="0">
                <a:tableStyleId>{2D5ABB26-0587-4C30-8999-92F81FD0307C}</a:tableStyleId>
              </a:tblPr>
              <a:tblGrid>
                <a:gridCol w="1334770"/>
                <a:gridCol w="1231900"/>
                <a:gridCol w="1745615"/>
                <a:gridCol w="1540510"/>
                <a:gridCol w="1334770"/>
                <a:gridCol w="3080385"/>
              </a:tblGrid>
              <a:tr h="524272">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غير مغطاة بالإلزام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استثناءات معتمدة</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مشمولة بسياسة إلزام مفعّلة</a:t>
                      </a:r>
                    </a:p>
                  </a:txBody>
                  <a:tcPr marT="64237" marR="91440" marB="42443" marL="44563"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مسجلة بوسيلة 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الحسابات المعنية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المجموعة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لا فجوة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6</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6</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6</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مديرو النطاق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9</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مديرو الخوادم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7</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مديرو قواعد البيانات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8</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مديرو المنصات السحابية (حسابات بشرية)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13 حساباً (35%)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22 (59%)</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31 (84%)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37</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المجموع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31" name="Rule 30"/>
          <p:cNvSpPr/>
          <p:nvPr/>
        </p:nvSpPr>
        <p:spPr>
          <a:xfrm>
            <a:off x="812800" y="5292130"/>
            <a:ext cx="10566400" cy="6350"/>
          </a:xfrm>
          <a:prstGeom prst="rect">
            <a:avLst/>
          </a:prstGeom>
          <a:solidFill>
            <a:srgbClr val="DDD7CA"/>
          </a:solidFill>
          <a:ln>
            <a:noFill/>
          </a:ln>
        </p:spPr>
        <p:txBody>
          <a:bodyPr rtlCol="0" anchor="ctr"/>
          <a:lstStyle/>
          <a:p>
            <a:pPr algn="ctr"/>
          </a:p>
        </p:txBody>
      </p:sp>
      <p:sp>
        <p:nvSpPr>
          <p:cNvPr id="32" name="Box 31"/>
          <p:cNvSpPr/>
          <p:nvPr/>
        </p:nvSpPr>
        <p:spPr>
          <a:xfrm>
            <a:off x="11125200" y="5400080"/>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69233" y="5455839"/>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34" name="Text 33"/>
          <p:cNvSpPr txBox="1"/>
          <p:nvPr/>
        </p:nvSpPr>
        <p:spPr>
          <a:xfrm>
            <a:off x="7883779" y="5372648"/>
            <a:ext cx="315252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المعنية: كل حساب مميز بشري من الدليل النشط والمنصات السحابية وأنظمة الإدارة.</a:t>
            </a:r>
          </a:p>
        </p:txBody>
      </p:sp>
      <p:sp>
        <p:nvSpPr>
          <p:cNvPr id="35" name="Box 34"/>
          <p:cNvSpPr/>
          <p:nvPr/>
        </p:nvSpPr>
        <p:spPr>
          <a:xfrm>
            <a:off x="7543800" y="5400080"/>
            <a:ext cx="254000" cy="254000"/>
          </a:xfrm>
          <a:prstGeom prst="roundRect">
            <a:avLst>
              <a:gd name="adj" fmla="val 50000"/>
            </a:avLst>
          </a:prstGeom>
          <a:solidFill>
            <a:srgbClr val="1D5B9E"/>
          </a:solidFill>
          <a:ln>
            <a:noFill/>
          </a:ln>
        </p:spPr>
        <p:txBody>
          <a:bodyPr rtlCol="0" anchor="ctr"/>
          <a:lstStyle/>
          <a:p>
            <a:pPr algn="ctr"/>
          </a:p>
        </p:txBody>
      </p:sp>
      <p:sp>
        <p:nvSpPr>
          <p:cNvPr id="36" name="Text 35"/>
          <p:cNvSpPr txBox="1"/>
          <p:nvPr/>
        </p:nvSpPr>
        <p:spPr>
          <a:xfrm>
            <a:off x="7571264" y="5455839"/>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7" name="Text 36"/>
          <p:cNvSpPr txBox="1"/>
          <p:nvPr/>
        </p:nvSpPr>
        <p:spPr>
          <a:xfrm>
            <a:off x="4302379" y="5372648"/>
            <a:ext cx="315252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المسجلة بوسيلة تحقق 31 (84%)، والمشمولة بإلزام مفعّل 22 فقط (59%).</a:t>
            </a:r>
          </a:p>
        </p:txBody>
      </p:sp>
      <p:sp>
        <p:nvSpPr>
          <p:cNvPr id="38" name="Box 37"/>
          <p:cNvSpPr/>
          <p:nvPr/>
        </p:nvSpPr>
        <p:spPr>
          <a:xfrm>
            <a:off x="3962400" y="5400080"/>
            <a:ext cx="254000" cy="254000"/>
          </a:xfrm>
          <a:prstGeom prst="roundRect">
            <a:avLst>
              <a:gd name="adj" fmla="val 50000"/>
            </a:avLst>
          </a:prstGeom>
          <a:solidFill>
            <a:srgbClr val="1D5B9E"/>
          </a:solidFill>
          <a:ln>
            <a:noFill/>
          </a:ln>
        </p:spPr>
        <p:txBody>
          <a:bodyPr rtlCol="0" anchor="ctr"/>
          <a:lstStyle/>
          <a:p>
            <a:pPr algn="ctr"/>
          </a:p>
        </p:txBody>
      </p:sp>
      <p:sp>
        <p:nvSpPr>
          <p:cNvPr id="39" name="Text 38"/>
          <p:cNvSpPr txBox="1"/>
          <p:nvPr/>
        </p:nvSpPr>
        <p:spPr>
          <a:xfrm>
            <a:off x="3990062" y="5455839"/>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40" name="Text 39"/>
          <p:cNvSpPr txBox="1"/>
          <p:nvPr/>
        </p:nvSpPr>
        <p:spPr>
          <a:xfrm>
            <a:off x="812800" y="5372648"/>
            <a:ext cx="30607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خارج الجدول: هويات الخدمات غير البشرية، ودخول الشبكة الافتراضية في تقرير مستقل.</a:t>
            </a:r>
          </a:p>
        </p:txBody>
      </p:sp>
      <p:sp>
        <p:nvSpPr>
          <p:cNvPr id="41" name="Text 4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2" name="Box 4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3" name="Box 4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6" name="Box 45"/>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47" name="Box 46"/>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Text 5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837712" y="812800"/>
            <a:ext cx="254148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‎2-2‎ · إدارة هويات الدخول والصلاحيات</a:t>
            </a:r>
          </a:p>
        </p:txBody>
      </p:sp>
      <p:sp>
        <p:nvSpPr>
          <p:cNvPr id="4" name="Text 3"/>
          <p:cNvSpPr txBox="1"/>
          <p:nvPr/>
        </p:nvSpPr>
        <p:spPr>
          <a:xfrm>
            <a:off x="731452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3</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قراءة الدليل: من الإعداد إلى الأثر الفعلي</a:t>
            </a:r>
          </a:p>
        </p:txBody>
      </p:sp>
      <p:sp>
        <p:nvSpPr>
          <p:cNvPr id="20" name="Box 19"/>
          <p:cNvSpPr/>
          <p:nvPr/>
        </p:nvSpPr>
        <p:spPr>
          <a:xfrm>
            <a:off x="815975" y="1830586"/>
            <a:ext cx="5187950" cy="1469330"/>
          </a:xfrm>
          <a:prstGeom prst="roundRect">
            <a:avLst>
              <a:gd name="adj" fmla="val 7745"/>
            </a:avLst>
          </a:prstGeom>
          <a:solidFill>
            <a:srgbClr val="FCFBF8"/>
          </a:solidFill>
          <a:ln w="6350">
            <a:solidFill>
              <a:srgbClr val="DDD7CA"/>
            </a:solidFill>
          </a:ln>
        </p:spPr>
        <p:txBody>
          <a:bodyPr rtlCol="0" anchor="ctr"/>
          <a:lstStyle/>
          <a:p>
            <a:pPr algn="ctr"/>
          </a:p>
        </p:txBody>
      </p:sp>
      <p:sp>
        <p:nvSpPr>
          <p:cNvPr id="21" name="Box 20"/>
          <p:cNvSpPr/>
          <p:nvPr/>
        </p:nvSpPr>
        <p:spPr>
          <a:xfrm>
            <a:off x="5518150" y="1973461"/>
            <a:ext cx="304800" cy="304800"/>
          </a:xfrm>
          <a:prstGeom prst="roundRect">
            <a:avLst>
              <a:gd name="adj" fmla="val 33333"/>
            </a:avLst>
          </a:prstGeom>
          <a:solidFill>
            <a:srgbClr val="E1EAF4"/>
          </a:solidFill>
          <a:ln>
            <a:noFill/>
          </a:ln>
        </p:spPr>
        <p:txBody>
          <a:bodyPr rtlCol="0" anchor="ctr"/>
          <a:lstStyle/>
          <a:p>
            <a:pPr algn="ctr"/>
          </a:p>
        </p:txBody>
      </p:sp>
      <p:pic>
        <p:nvPicPr>
          <p:cNvPr id="22" name="Icon Warning 21" descr="icon044.png"/>
          <p:cNvPicPr>
            <a:picLocks noChangeAspect="1"/>
          </p:cNvPicPr>
          <p:nvPr/>
        </p:nvPicPr>
        <p:blipFill>
          <a:blip r:embed="rId3"/>
          <a:stretch>
            <a:fillRect/>
          </a:stretch>
        </p:blipFill>
        <p:spPr>
          <a:xfrm>
            <a:off x="5588000" y="2043311"/>
            <a:ext cx="165100" cy="165100"/>
          </a:xfrm>
          <a:prstGeom prst="rect">
            <a:avLst/>
          </a:prstGeom>
        </p:spPr>
      </p:pic>
      <p:sp>
        <p:nvSpPr>
          <p:cNvPr id="23" name="Text 22"/>
          <p:cNvSpPr txBox="1"/>
          <p:nvPr/>
        </p:nvSpPr>
        <p:spPr>
          <a:xfrm>
            <a:off x="4011791" y="1995780"/>
            <a:ext cx="1417459"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132033"/>
                </a:solidFill>
                <a:latin typeface="Alexandria"/>
                <a:ea typeface="Alexandria"/>
                <a:cs typeface="Alexandria"/>
              </a:rPr>
              <a:t>ما لا يثبته وحده</a:t>
            </a:r>
          </a:p>
        </p:txBody>
      </p:sp>
      <p:sp>
        <p:nvSpPr>
          <p:cNvPr id="24" name="Box 23"/>
          <p:cNvSpPr/>
          <p:nvPr/>
        </p:nvSpPr>
        <p:spPr>
          <a:xfrm>
            <a:off x="5734050" y="2433141"/>
            <a:ext cx="88900" cy="889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838200" y="233972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أن الإلزام يشمل كل مسارات الدخول، فالبروتوكول القديم تجاوزه.</a:t>
            </a:r>
          </a:p>
        </p:txBody>
      </p:sp>
      <p:sp>
        <p:nvSpPr>
          <p:cNvPr id="26" name="Box 25"/>
          <p:cNvSpPr/>
          <p:nvPr/>
        </p:nvSpPr>
        <p:spPr>
          <a:xfrm>
            <a:off x="5734050" y="2717602"/>
            <a:ext cx="88900" cy="889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838200" y="262418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أن قائمة الحسابات المعنية مكتملة في كل الأنظمة.</a:t>
            </a:r>
          </a:p>
        </p:txBody>
      </p:sp>
      <p:sp>
        <p:nvSpPr>
          <p:cNvPr id="28" name="Box 27"/>
          <p:cNvSpPr/>
          <p:nvPr/>
        </p:nvSpPr>
        <p:spPr>
          <a:xfrm>
            <a:off x="5734050" y="3002062"/>
            <a:ext cx="88900" cy="88900"/>
          </a:xfrm>
          <a:prstGeom prst="roundRect">
            <a:avLst>
              <a:gd name="adj" fmla="val 50000"/>
            </a:avLst>
          </a:prstGeom>
          <a:solidFill>
            <a:srgbClr val="1D5B9E"/>
          </a:solidFill>
          <a:ln>
            <a:noFill/>
          </a:ln>
        </p:spPr>
        <p:txBody>
          <a:bodyPr rtlCol="0" anchor="ctr"/>
          <a:lstStyle/>
          <a:p>
            <a:pPr algn="ctr"/>
          </a:p>
        </p:txBody>
      </p:sp>
      <p:sp>
        <p:nvSpPr>
          <p:cNvPr id="29" name="Text 28"/>
          <p:cNvSpPr txBox="1"/>
          <p:nvPr/>
        </p:nvSpPr>
        <p:spPr>
          <a:xfrm>
            <a:off x="838200" y="290864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أن العناصر مناسبة، فاختيارها يحدده تقييم الأثر.</a:t>
            </a:r>
          </a:p>
        </p:txBody>
      </p:sp>
      <p:sp>
        <p:nvSpPr>
          <p:cNvPr id="30" name="Box 29"/>
          <p:cNvSpPr/>
          <p:nvPr/>
        </p:nvSpPr>
        <p:spPr>
          <a:xfrm>
            <a:off x="6188075" y="1830586"/>
            <a:ext cx="5187950" cy="1469330"/>
          </a:xfrm>
          <a:prstGeom prst="roundRect">
            <a:avLst>
              <a:gd name="adj" fmla="val 7745"/>
            </a:avLst>
          </a:prstGeom>
          <a:solidFill>
            <a:srgbClr val="FCFBF8"/>
          </a:solidFill>
          <a:ln w="6350">
            <a:solidFill>
              <a:srgbClr val="DDD7CA"/>
            </a:solidFill>
          </a:ln>
        </p:spPr>
        <p:txBody>
          <a:bodyPr rtlCol="0" anchor="ctr"/>
          <a:lstStyle/>
          <a:p>
            <a:pPr algn="ctr"/>
          </a:p>
        </p:txBody>
      </p:sp>
      <p:sp>
        <p:nvSpPr>
          <p:cNvPr id="31" name="Box 30"/>
          <p:cNvSpPr/>
          <p:nvPr/>
        </p:nvSpPr>
        <p:spPr>
          <a:xfrm>
            <a:off x="10890250" y="1973461"/>
            <a:ext cx="304800" cy="304800"/>
          </a:xfrm>
          <a:prstGeom prst="roundRect">
            <a:avLst>
              <a:gd name="adj" fmla="val 33333"/>
            </a:avLst>
          </a:prstGeom>
          <a:solidFill>
            <a:srgbClr val="E1EAF4"/>
          </a:solidFill>
          <a:ln>
            <a:noFill/>
          </a:ln>
        </p:spPr>
        <p:txBody>
          <a:bodyPr rtlCol="0" anchor="ctr"/>
          <a:lstStyle/>
          <a:p>
            <a:pPr algn="ctr"/>
          </a:p>
        </p:txBody>
      </p:sp>
      <p:pic>
        <p:nvPicPr>
          <p:cNvPr id="32" name="Icon CheckCircle 31" descr="icon045.png"/>
          <p:cNvPicPr>
            <a:picLocks noChangeAspect="1"/>
          </p:cNvPicPr>
          <p:nvPr/>
        </p:nvPicPr>
        <p:blipFill>
          <a:blip r:embed="rId4"/>
          <a:stretch>
            <a:fillRect/>
          </a:stretch>
        </p:blipFill>
        <p:spPr>
          <a:xfrm>
            <a:off x="10960100" y="2043311"/>
            <a:ext cx="165100" cy="165100"/>
          </a:xfrm>
          <a:prstGeom prst="rect">
            <a:avLst/>
          </a:prstGeom>
        </p:spPr>
      </p:pic>
      <p:sp>
        <p:nvSpPr>
          <p:cNvPr id="33" name="Text 32"/>
          <p:cNvSpPr txBox="1"/>
          <p:nvPr/>
        </p:nvSpPr>
        <p:spPr>
          <a:xfrm>
            <a:off x="9497993" y="1995780"/>
            <a:ext cx="130335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132033"/>
                </a:solidFill>
                <a:latin typeface="Alexandria"/>
                <a:ea typeface="Alexandria"/>
                <a:cs typeface="Alexandria"/>
              </a:rPr>
              <a:t>ما يثبته الدليل</a:t>
            </a:r>
          </a:p>
        </p:txBody>
      </p:sp>
      <p:sp>
        <p:nvSpPr>
          <p:cNvPr id="34" name="Box 33"/>
          <p:cNvSpPr/>
          <p:nvPr/>
        </p:nvSpPr>
        <p:spPr>
          <a:xfrm>
            <a:off x="11106150" y="2433141"/>
            <a:ext cx="88900" cy="88900"/>
          </a:xfrm>
          <a:prstGeom prst="roundRect">
            <a:avLst>
              <a:gd name="adj" fmla="val 50000"/>
            </a:avLst>
          </a:prstGeom>
          <a:solidFill>
            <a:srgbClr val="1D5B9E"/>
          </a:solidFill>
          <a:ln>
            <a:noFill/>
          </a:ln>
        </p:spPr>
        <p:txBody>
          <a:bodyPr rtlCol="0" anchor="ctr"/>
          <a:lstStyle/>
          <a:p>
            <a:pPr algn="ctr"/>
          </a:p>
        </p:txBody>
      </p:sp>
      <p:sp>
        <p:nvSpPr>
          <p:cNvPr id="35" name="Text 34"/>
          <p:cNvSpPr txBox="1"/>
          <p:nvPr/>
        </p:nvSpPr>
        <p:spPr>
          <a:xfrm>
            <a:off x="6210300" y="233972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22 من 37 حساباً مميزاً بشرياً بإلزام مفعّل (59%).</a:t>
            </a:r>
          </a:p>
        </p:txBody>
      </p:sp>
      <p:sp>
        <p:nvSpPr>
          <p:cNvPr id="36" name="Box 35"/>
          <p:cNvSpPr/>
          <p:nvPr/>
        </p:nvSpPr>
        <p:spPr>
          <a:xfrm>
            <a:off x="11106150" y="2717602"/>
            <a:ext cx="88900" cy="88900"/>
          </a:xfrm>
          <a:prstGeom prst="roundRect">
            <a:avLst>
              <a:gd name="adj" fmla="val 50000"/>
            </a:avLst>
          </a:prstGeom>
          <a:solidFill>
            <a:srgbClr val="1D5B9E"/>
          </a:solidFill>
          <a:ln>
            <a:noFill/>
          </a:ln>
        </p:spPr>
        <p:txBody>
          <a:bodyPr rtlCol="0" anchor="ctr"/>
          <a:lstStyle/>
          <a:p>
            <a:pPr algn="ctr"/>
          </a:p>
        </p:txBody>
      </p:sp>
      <p:sp>
        <p:nvSpPr>
          <p:cNvPr id="37" name="Text 36"/>
          <p:cNvSpPr txBox="1"/>
          <p:nvPr/>
        </p:nvSpPr>
        <p:spPr>
          <a:xfrm>
            <a:off x="6210300" y="262418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13 بلا إلزام: 7 مسجلة دون سياسة مفعّلة، و6 غير مسجلة.</a:t>
            </a:r>
          </a:p>
        </p:txBody>
      </p:sp>
      <p:sp>
        <p:nvSpPr>
          <p:cNvPr id="38" name="Box 37"/>
          <p:cNvSpPr/>
          <p:nvPr/>
        </p:nvSpPr>
        <p:spPr>
          <a:xfrm>
            <a:off x="11106150" y="3002062"/>
            <a:ext cx="88900" cy="88900"/>
          </a:xfrm>
          <a:prstGeom prst="roundRect">
            <a:avLst>
              <a:gd name="adj" fmla="val 50000"/>
            </a:avLst>
          </a:prstGeom>
          <a:solidFill>
            <a:srgbClr val="1D5B9E"/>
          </a:solidFill>
          <a:ln>
            <a:noFill/>
          </a:ln>
        </p:spPr>
        <p:txBody>
          <a:bodyPr rtlCol="0" anchor="ctr"/>
          <a:lstStyle/>
          <a:p>
            <a:pPr algn="ctr"/>
          </a:p>
        </p:txBody>
      </p:sp>
      <p:sp>
        <p:nvSpPr>
          <p:cNvPr id="39" name="Text 38"/>
          <p:cNvSpPr txBox="1"/>
          <p:nvPr/>
        </p:nvSpPr>
        <p:spPr>
          <a:xfrm>
            <a:off x="6210300" y="290864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30 يوماً: 4 دخول عن بعد بعنصر واحد عبر بروتوكول قديم.</a:t>
            </a:r>
          </a:p>
        </p:txBody>
      </p:sp>
      <p:sp>
        <p:nvSpPr>
          <p:cNvPr id="40" name="Box 39"/>
          <p:cNvSpPr/>
          <p:nvPr/>
        </p:nvSpPr>
        <p:spPr>
          <a:xfrm>
            <a:off x="815975" y="3458666"/>
            <a:ext cx="5187950" cy="1469330"/>
          </a:xfrm>
          <a:prstGeom prst="roundRect">
            <a:avLst>
              <a:gd name="adj" fmla="val 7745"/>
            </a:avLst>
          </a:prstGeom>
          <a:solidFill>
            <a:srgbClr val="FCFBF8"/>
          </a:solidFill>
          <a:ln w="6350">
            <a:solidFill>
              <a:srgbClr val="DDD7CA"/>
            </a:solidFill>
          </a:ln>
        </p:spPr>
        <p:txBody>
          <a:bodyPr rtlCol="0" anchor="ctr"/>
          <a:lstStyle/>
          <a:p>
            <a:pPr algn="ctr"/>
          </a:p>
        </p:txBody>
      </p:sp>
      <p:sp>
        <p:nvSpPr>
          <p:cNvPr id="41" name="Box 40"/>
          <p:cNvSpPr/>
          <p:nvPr/>
        </p:nvSpPr>
        <p:spPr>
          <a:xfrm>
            <a:off x="5518150" y="3601541"/>
            <a:ext cx="304800" cy="304800"/>
          </a:xfrm>
          <a:prstGeom prst="roundRect">
            <a:avLst>
              <a:gd name="adj" fmla="val 33333"/>
            </a:avLst>
          </a:prstGeom>
          <a:solidFill>
            <a:srgbClr val="E1EAF4"/>
          </a:solidFill>
          <a:ln>
            <a:noFill/>
          </a:ln>
        </p:spPr>
        <p:txBody>
          <a:bodyPr rtlCol="0" anchor="ctr"/>
          <a:lstStyle/>
          <a:p>
            <a:pPr algn="ctr"/>
          </a:p>
        </p:txBody>
      </p:sp>
      <p:pic>
        <p:nvPicPr>
          <p:cNvPr id="42" name="Icon Key 41" descr="icon046.png"/>
          <p:cNvPicPr>
            <a:picLocks noChangeAspect="1"/>
          </p:cNvPicPr>
          <p:nvPr/>
        </p:nvPicPr>
        <p:blipFill>
          <a:blip r:embed="rId5"/>
          <a:stretch>
            <a:fillRect/>
          </a:stretch>
        </p:blipFill>
        <p:spPr>
          <a:xfrm>
            <a:off x="5588000" y="3671391"/>
            <a:ext cx="165100" cy="165100"/>
          </a:xfrm>
          <a:prstGeom prst="rect">
            <a:avLst/>
          </a:prstGeom>
        </p:spPr>
      </p:pic>
      <p:sp>
        <p:nvSpPr>
          <p:cNvPr id="43" name="Text 42"/>
          <p:cNvSpPr txBox="1"/>
          <p:nvPr/>
        </p:nvSpPr>
        <p:spPr>
          <a:xfrm>
            <a:off x="3496258" y="3623861"/>
            <a:ext cx="193299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132033"/>
                </a:solidFill>
                <a:latin typeface="Alexandria"/>
                <a:ea typeface="Alexandria"/>
                <a:cs typeface="Alexandria"/>
              </a:rPr>
              <a:t>الحكم والخطوة التالية</a:t>
            </a:r>
          </a:p>
        </p:txBody>
      </p:sp>
      <p:sp>
        <p:nvSpPr>
          <p:cNvPr id="44" name="Box 43"/>
          <p:cNvSpPr/>
          <p:nvPr/>
        </p:nvSpPr>
        <p:spPr>
          <a:xfrm>
            <a:off x="5734050" y="4061222"/>
            <a:ext cx="88900" cy="88900"/>
          </a:xfrm>
          <a:prstGeom prst="roundRect">
            <a:avLst>
              <a:gd name="adj" fmla="val 50000"/>
            </a:avLst>
          </a:prstGeom>
          <a:solidFill>
            <a:srgbClr val="1D5B9E"/>
          </a:solidFill>
          <a:ln>
            <a:noFill/>
          </a:ln>
        </p:spPr>
        <p:txBody>
          <a:bodyPr rtlCol="0" anchor="ctr"/>
          <a:lstStyle/>
          <a:p>
            <a:pPr algn="ctr"/>
          </a:p>
        </p:txBody>
      </p:sp>
      <p:sp>
        <p:nvSpPr>
          <p:cNvPr id="45" name="Text 44"/>
          <p:cNvSpPr txBox="1"/>
          <p:nvPr/>
        </p:nvSpPr>
        <p:spPr>
          <a:xfrm>
            <a:off x="838200" y="396780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الحكم: ‎2-2-3-2‎ غير مطبق بالكامل (13 من 37 بلا إلزام).</a:t>
            </a:r>
          </a:p>
        </p:txBody>
      </p:sp>
      <p:sp>
        <p:nvSpPr>
          <p:cNvPr id="46" name="Box 45"/>
          <p:cNvSpPr/>
          <p:nvPr/>
        </p:nvSpPr>
        <p:spPr>
          <a:xfrm>
            <a:off x="5734050" y="4345682"/>
            <a:ext cx="88900" cy="88900"/>
          </a:xfrm>
          <a:prstGeom prst="roundRect">
            <a:avLst>
              <a:gd name="adj" fmla="val 50000"/>
            </a:avLst>
          </a:prstGeom>
          <a:solidFill>
            <a:srgbClr val="1D5B9E"/>
          </a:solidFill>
          <a:ln>
            <a:noFill/>
          </a:ln>
        </p:spPr>
        <p:txBody>
          <a:bodyPr rtlCol="0" anchor="ctr"/>
          <a:lstStyle/>
          <a:p>
            <a:pPr algn="ctr"/>
          </a:p>
        </p:txBody>
      </p:sp>
      <p:sp>
        <p:nvSpPr>
          <p:cNvPr id="47" name="Text 46"/>
          <p:cNvSpPr txBox="1"/>
          <p:nvPr/>
        </p:nvSpPr>
        <p:spPr>
          <a:xfrm>
            <a:off x="838200" y="425227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تفعيل السياسة، وإيقاف البروتوكولات القديمة، وتسجيل الباقين.</a:t>
            </a:r>
          </a:p>
        </p:txBody>
      </p:sp>
      <p:sp>
        <p:nvSpPr>
          <p:cNvPr id="48" name="Box 47"/>
          <p:cNvSpPr/>
          <p:nvPr/>
        </p:nvSpPr>
        <p:spPr>
          <a:xfrm>
            <a:off x="5734050" y="4630142"/>
            <a:ext cx="88900" cy="88900"/>
          </a:xfrm>
          <a:prstGeom prst="roundRect">
            <a:avLst>
              <a:gd name="adj" fmla="val 50000"/>
            </a:avLst>
          </a:prstGeom>
          <a:solidFill>
            <a:srgbClr val="1D5B9E"/>
          </a:solidFill>
          <a:ln>
            <a:noFill/>
          </a:ln>
        </p:spPr>
        <p:txBody>
          <a:bodyPr rtlCol="0" anchor="ctr"/>
          <a:lstStyle/>
          <a:p>
            <a:pPr algn="ctr"/>
          </a:p>
        </p:txBody>
      </p:sp>
      <p:sp>
        <p:nvSpPr>
          <p:cNvPr id="49" name="Text 48"/>
          <p:cNvSpPr txBox="1"/>
          <p:nvPr/>
        </p:nvSpPr>
        <p:spPr>
          <a:xfrm>
            <a:off x="838200" y="453673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الهويات غير البشرية: هويات مُدارة أو شهادات، وأقل صلاحية، ومراقبة.</a:t>
            </a:r>
          </a:p>
        </p:txBody>
      </p:sp>
      <p:sp>
        <p:nvSpPr>
          <p:cNvPr id="50" name="Box 49"/>
          <p:cNvSpPr/>
          <p:nvPr/>
        </p:nvSpPr>
        <p:spPr>
          <a:xfrm>
            <a:off x="6188075" y="3458666"/>
            <a:ext cx="5187950" cy="1469330"/>
          </a:xfrm>
          <a:prstGeom prst="roundRect">
            <a:avLst>
              <a:gd name="adj" fmla="val 7745"/>
            </a:avLst>
          </a:prstGeom>
          <a:solidFill>
            <a:srgbClr val="FCFBF8"/>
          </a:solidFill>
          <a:ln w="6350">
            <a:solidFill>
              <a:srgbClr val="DDD7CA"/>
            </a:solidFill>
          </a:ln>
        </p:spPr>
        <p:txBody>
          <a:bodyPr rtlCol="0" anchor="ctr"/>
          <a:lstStyle/>
          <a:p>
            <a:pPr algn="ctr"/>
          </a:p>
        </p:txBody>
      </p:sp>
      <p:sp>
        <p:nvSpPr>
          <p:cNvPr id="51" name="Box 50"/>
          <p:cNvSpPr/>
          <p:nvPr/>
        </p:nvSpPr>
        <p:spPr>
          <a:xfrm>
            <a:off x="10890250" y="3601541"/>
            <a:ext cx="304800" cy="304800"/>
          </a:xfrm>
          <a:prstGeom prst="roundRect">
            <a:avLst>
              <a:gd name="adj" fmla="val 33333"/>
            </a:avLst>
          </a:prstGeom>
          <a:solidFill>
            <a:srgbClr val="E1EAF4"/>
          </a:solidFill>
          <a:ln>
            <a:noFill/>
          </a:ln>
        </p:spPr>
        <p:txBody>
          <a:bodyPr rtlCol="0" anchor="ctr"/>
          <a:lstStyle/>
          <a:p>
            <a:pPr algn="ctr"/>
          </a:p>
        </p:txBody>
      </p:sp>
      <p:pic>
        <p:nvPicPr>
          <p:cNvPr id="52" name="Icon Search 51" descr="icon047.png"/>
          <p:cNvPicPr>
            <a:picLocks noChangeAspect="1"/>
          </p:cNvPicPr>
          <p:nvPr/>
        </p:nvPicPr>
        <p:blipFill>
          <a:blip r:embed="rId6"/>
          <a:stretch>
            <a:fillRect/>
          </a:stretch>
        </p:blipFill>
        <p:spPr>
          <a:xfrm>
            <a:off x="10960100" y="3671391"/>
            <a:ext cx="165100" cy="165100"/>
          </a:xfrm>
          <a:prstGeom prst="rect">
            <a:avLst/>
          </a:prstGeom>
        </p:spPr>
      </p:pic>
      <p:sp>
        <p:nvSpPr>
          <p:cNvPr id="53" name="Text 52"/>
          <p:cNvSpPr txBox="1"/>
          <p:nvPr/>
        </p:nvSpPr>
        <p:spPr>
          <a:xfrm>
            <a:off x="8026003" y="3623861"/>
            <a:ext cx="277534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132033"/>
                </a:solidFill>
                <a:latin typeface="Alexandria"/>
                <a:ea typeface="Alexandria"/>
                <a:cs typeface="Alexandria"/>
              </a:rPr>
              <a:t>المعلومات الناقصة التي تُطلب</a:t>
            </a:r>
          </a:p>
        </p:txBody>
      </p:sp>
      <p:sp>
        <p:nvSpPr>
          <p:cNvPr id="54" name="Box 53"/>
          <p:cNvSpPr/>
          <p:nvPr/>
        </p:nvSpPr>
        <p:spPr>
          <a:xfrm>
            <a:off x="11106150" y="4061222"/>
            <a:ext cx="88900" cy="88900"/>
          </a:xfrm>
          <a:prstGeom prst="roundRect">
            <a:avLst>
              <a:gd name="adj" fmla="val 50000"/>
            </a:avLst>
          </a:prstGeom>
          <a:solidFill>
            <a:srgbClr val="1D5B9E"/>
          </a:solidFill>
          <a:ln>
            <a:noFill/>
          </a:ln>
        </p:spPr>
        <p:txBody>
          <a:bodyPr rtlCol="0" anchor="ctr"/>
          <a:lstStyle/>
          <a:p>
            <a:pPr algn="ctr"/>
          </a:p>
        </p:txBody>
      </p:sp>
      <p:sp>
        <p:nvSpPr>
          <p:cNvPr id="55" name="Text 54"/>
          <p:cNvSpPr txBox="1"/>
          <p:nvPr/>
        </p:nvSpPr>
        <p:spPr>
          <a:xfrm>
            <a:off x="6210300" y="3967809"/>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تقييم أثر فشل التحقق وتخطيه وما حددته.</a:t>
            </a:r>
          </a:p>
        </p:txBody>
      </p:sp>
      <p:sp>
        <p:nvSpPr>
          <p:cNvPr id="56" name="Box 55"/>
          <p:cNvSpPr/>
          <p:nvPr/>
        </p:nvSpPr>
        <p:spPr>
          <a:xfrm>
            <a:off x="11106150" y="4345682"/>
            <a:ext cx="88900" cy="88900"/>
          </a:xfrm>
          <a:prstGeom prst="roundRect">
            <a:avLst>
              <a:gd name="adj" fmla="val 50000"/>
            </a:avLst>
          </a:prstGeom>
          <a:solidFill>
            <a:srgbClr val="1D5B9E"/>
          </a:solidFill>
          <a:ln>
            <a:noFill/>
          </a:ln>
        </p:spPr>
        <p:txBody>
          <a:bodyPr rtlCol="0" anchor="ctr"/>
          <a:lstStyle/>
          <a:p>
            <a:pPr algn="ctr"/>
          </a:p>
        </p:txBody>
      </p:sp>
      <p:sp>
        <p:nvSpPr>
          <p:cNvPr id="57" name="Text 56"/>
          <p:cNvSpPr txBox="1"/>
          <p:nvPr/>
        </p:nvSpPr>
        <p:spPr>
          <a:xfrm>
            <a:off x="6210300" y="425227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سياسات الإلزام: النطاق والاستثناءات والوضع.</a:t>
            </a:r>
          </a:p>
        </p:txBody>
      </p:sp>
      <p:sp>
        <p:nvSpPr>
          <p:cNvPr id="58" name="Box 57"/>
          <p:cNvSpPr/>
          <p:nvPr/>
        </p:nvSpPr>
        <p:spPr>
          <a:xfrm>
            <a:off x="11106150" y="4630142"/>
            <a:ext cx="88900" cy="88900"/>
          </a:xfrm>
          <a:prstGeom prst="roundRect">
            <a:avLst>
              <a:gd name="adj" fmla="val 50000"/>
            </a:avLst>
          </a:prstGeom>
          <a:solidFill>
            <a:srgbClr val="1D5B9E"/>
          </a:solidFill>
          <a:ln>
            <a:noFill/>
          </a:ln>
        </p:spPr>
        <p:txBody>
          <a:bodyPr rtlCol="0" anchor="ctr"/>
          <a:lstStyle/>
          <a:p>
            <a:pPr algn="ctr"/>
          </a:p>
        </p:txBody>
      </p:sp>
      <p:sp>
        <p:nvSpPr>
          <p:cNvPr id="59" name="Text 58"/>
          <p:cNvSpPr txBox="1"/>
          <p:nvPr/>
        </p:nvSpPr>
        <p:spPr>
          <a:xfrm>
            <a:off x="6210300" y="4536730"/>
            <a:ext cx="478155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موافقات الاستثناءين، وسجلات دخول لعينة من 10 حسابات.</a:t>
            </a:r>
          </a:p>
        </p:txBody>
      </p:sp>
      <p:sp>
        <p:nvSpPr>
          <p:cNvPr id="60" name="Text 5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1" name="Box 60"/>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3" name="Box 62"/>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4" name="Box 63"/>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5" name="Box 64"/>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6" name="Box 6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Box 6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9" name="Box 6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Text 6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837712" y="812800"/>
            <a:ext cx="254148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‎2-2‎ · إدارة هويات الدخول والصلاحيات</a:t>
            </a:r>
          </a:p>
        </p:txBody>
      </p:sp>
      <p:sp>
        <p:nvSpPr>
          <p:cNvPr id="4" name="Text 3"/>
          <p:cNvSpPr txBox="1"/>
          <p:nvPr/>
        </p:nvSpPr>
        <p:spPr>
          <a:xfrm>
            <a:off x="731452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3 من 3</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أدوات تراها في أدلة ‎2-2‎: عامل التحقق وخزنة كلمات المرور</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442523"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2-2-3-2</a:t>
            </a:r>
          </a:p>
        </p:txBody>
      </p:sp>
      <p:sp>
        <p:nvSpPr>
          <p:cNvPr id="23" name="Text box 22"/>
          <p:cNvSpPr/>
          <p:nvPr/>
        </p:nvSpPr>
        <p:spPr>
          <a:xfrm>
            <a:off x="7561064"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2-2-3-4</a:t>
            </a:r>
          </a:p>
        </p:txBody>
      </p:sp>
      <p:sp>
        <p:nvSpPr>
          <p:cNvPr id="24" name="Text box 23"/>
          <p:cNvSpPr/>
          <p:nvPr/>
        </p:nvSpPr>
        <p:spPr>
          <a:xfrm>
            <a:off x="10469860" y="2190552"/>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2-12-3-2</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عنصر تحقق ثانٍ: مفتاح أمان مادي أو تطبيق رموز مؤقتة.</a:t>
            </a:r>
          </a:p>
        </p:txBody>
      </p:sp>
      <p:sp>
        <p:nvSpPr>
          <p:cNvPr id="29" name="Box 28"/>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خزنة تحفظ كلمات مرور الحسابات المميزة بدل الملفات.</a:t>
            </a:r>
          </a:p>
        </p:txBody>
      </p:sp>
      <p:sp>
        <p:nvSpPr>
          <p:cNvPr id="32" name="Box 31"/>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كلاهما أداة، والدليل إعدادها وتغطيتها.</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إلزام مفعّلة للدخول عن بعد والحسابات المميزة.</a:t>
            </a:r>
          </a:p>
        </p:txBody>
      </p:sp>
      <p:pic>
        <p:nvPicPr>
          <p:cNvPr id="39" name="Icon CheckCircle 38" descr="icon043.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كلمات مرور المميزة في الخزنة، وتدويرها بعد الاستخدام.</a:t>
            </a:r>
          </a:p>
        </p:txBody>
      </p:sp>
      <p:pic>
        <p:nvPicPr>
          <p:cNvPr id="41" name="Icon CheckCircle 40" descr="icon043.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سجلات جلسات الحسابات المميزة في منصة السجلات.</a:t>
            </a:r>
          </a:p>
        </p:txBody>
      </p:sp>
      <p:sp>
        <p:nvSpPr>
          <p:cNvPr id="43" name="Box 42"/>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23483"/>
            <a:ext cx="190500" cy="190500"/>
          </a:xfrm>
          <a:prstGeom prst="rect">
            <a:avLst/>
          </a:prstGeom>
        </p:spPr>
      </p:pic>
      <p:sp>
        <p:nvSpPr>
          <p:cNvPr id="45" name="Text 44"/>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صور لأدوات فقط: وجود الأداة لا يثبت فرض التحقق ولا تغطية الحسابات؛ يلزم الإعداد وسجلات الدخول.</a:t>
            </a:r>
          </a:p>
        </p:txBody>
      </p:sp>
      <p:pic>
        <p:nvPicPr>
          <p:cNvPr id="46" name="Picture 45" descr="mfa.jpg"/>
          <p:cNvPicPr>
            <a:picLocks noChangeAspect="1"/>
          </p:cNvPicPr>
          <p:nvPr/>
        </p:nvPicPr>
        <p:blipFill>
          <a:blip r:embed="rId5"/>
          <a:srcRect l="27428" r="27428"/>
          <a:stretch>
            <a:fillRect/>
          </a:stretch>
        </p:blipFill>
        <p:spPr>
          <a:xfrm>
            <a:off x="4356100" y="1852811"/>
            <a:ext cx="2019300" cy="2984500"/>
          </a:xfrm>
          <a:prstGeom prst="roundRect">
            <a:avLst>
              <a:gd name="adj" fmla="val 5660"/>
            </a:avLst>
          </a:prstGeom>
        </p:spPr>
      </p:pic>
      <p:sp>
        <p:nvSpPr>
          <p:cNvPr id="47" name="Box 46"/>
          <p:cNvSpPr/>
          <p:nvPr/>
        </p:nvSpPr>
        <p:spPr>
          <a:xfrm>
            <a:off x="863600" y="1852811"/>
            <a:ext cx="3365500" cy="2984500"/>
          </a:xfrm>
          <a:prstGeom prst="roundRect">
            <a:avLst>
              <a:gd name="adj" fmla="val 3829"/>
            </a:avLst>
          </a:prstGeom>
          <a:solidFill>
            <a:srgbClr val="0E1A2B"/>
          </a:solidFill>
          <a:ln>
            <a:noFill/>
          </a:ln>
        </p:spPr>
        <p:txBody>
          <a:bodyPr rtlCol="0" anchor="ctr"/>
          <a:lstStyle/>
          <a:p>
            <a:pPr algn="ctr"/>
          </a:p>
        </p:txBody>
      </p:sp>
      <p:pic>
        <p:nvPicPr>
          <p:cNvPr id="48" name="Picture 47" descr="password-vault.png"/>
          <p:cNvPicPr>
            <a:picLocks noChangeAspect="1"/>
          </p:cNvPicPr>
          <p:nvPr/>
        </p:nvPicPr>
        <p:blipFill>
          <a:blip r:embed="rId6"/>
          <a:stretch>
            <a:fillRect/>
          </a:stretch>
        </p:blipFill>
        <p:spPr>
          <a:xfrm>
            <a:off x="965200" y="2375488"/>
            <a:ext cx="3162300" cy="1939146"/>
          </a:xfrm>
          <a:prstGeom prst="rect">
            <a:avLst/>
          </a:prstGeom>
        </p:spPr>
      </p:pic>
      <p:sp>
        <p:nvSpPr>
          <p:cNvPr id="49" name="Text 48"/>
          <p:cNvSpPr txBox="1"/>
          <p:nvPr/>
        </p:nvSpPr>
        <p:spPr>
          <a:xfrm>
            <a:off x="645922" y="4902589"/>
            <a:ext cx="5729478" cy="63996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 توضيحية من الإنترنت، ليست أدلة صادرة عن جهة · Tony Webster · CC BY 2.0 · Wikimedia Commons | KeePassXC Team · ‎GPL-2.0/3.0‎ · GitHub · ‎keepassxreboot/keepassxc‎</a:t>
            </a:r>
          </a:p>
        </p:txBody>
      </p:sp>
      <p:sp>
        <p:nvSpPr>
          <p:cNvPr id="50" name="Text 4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51" name="Box 50"/>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4" name="Box 53"/>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5" name="Box 54"/>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6" name="Box 55"/>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Box 5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Text 5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3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‎2-3‎ حماية الأنظمة وأجهزة معالجة المعلومات</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الأنظمة وأجهزة معالجة المعلومات، بما فيها أجهزة المستخدمين والبنى التحتية،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جهاز واحد بلا حماية أو بلا تحديث يكفي لتنتشر منه برمجية ضارة إلى بقية الشبكة.</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صيانة السيارة: قفل جيد، وفحص دوري، وتغيير القطع المعيبة قبل أن تتعطل في الطريق.</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الخوادم وأجهزة الموظفين: برنامج حماية متقدم، وإعدادات آمنة، وتحديثات منتظمة، وتقييد وسائط التخزين، وتوقيت موحد.</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الحماية المتقدمة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تكشف السلوك المشبوه لا التواقيع فقط</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خط الأساس</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الإعدادات الآمنة المعتمدة للنظام</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حزمة التحديث</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إصلاح يصدره المورد لثغرة</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377634" y="812800"/>
            <a:ext cx="300156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‎2-3‎ · حماية الأنظمة وأجهزة معالجة المعلومات</a:t>
            </a:r>
          </a:p>
        </p:txBody>
      </p:sp>
      <p:sp>
        <p:nvSpPr>
          <p:cNvPr id="4" name="Text 3"/>
          <p:cNvSpPr txBox="1"/>
          <p:nvPr/>
        </p:nvSpPr>
        <p:spPr>
          <a:xfrm>
            <a:off x="685444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حماية الأنظمة: المتطلبات والحماية من البرمجيات الضارة</a:t>
            </a:r>
          </a:p>
        </p:txBody>
      </p:sp>
      <p:sp>
        <p:nvSpPr>
          <p:cNvPr id="20" name="Rule 19"/>
          <p:cNvSpPr/>
          <p:nvPr/>
        </p:nvSpPr>
        <p:spPr>
          <a:xfrm>
            <a:off x="812800" y="2193131"/>
            <a:ext cx="2594173"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4417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406973" y="2193131"/>
            <a:ext cx="2899470" cy="19050"/>
          </a:xfrm>
          <a:prstGeom prst="rect">
            <a:avLst/>
          </a:prstGeom>
          <a:solidFill>
            <a:srgbClr val="1D5B9E"/>
          </a:solidFill>
          <a:ln>
            <a:noFill/>
          </a:ln>
        </p:spPr>
        <p:txBody>
          <a:bodyPr rtlCol="0" anchor="ctr"/>
          <a:lstStyle/>
          <a:p>
            <a:pPr algn="ctr"/>
          </a:p>
        </p:txBody>
      </p:sp>
      <p:sp>
        <p:nvSpPr>
          <p:cNvPr id="23" name="Text 22"/>
          <p:cNvSpPr txBox="1"/>
          <p:nvPr/>
        </p:nvSpPr>
        <p:spPr>
          <a:xfrm>
            <a:off x="3432373" y="1892689"/>
            <a:ext cx="274707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306443" y="2193131"/>
            <a:ext cx="4120257" cy="19050"/>
          </a:xfrm>
          <a:prstGeom prst="rect">
            <a:avLst/>
          </a:prstGeom>
          <a:solidFill>
            <a:srgbClr val="1D5B9E"/>
          </a:solidFill>
          <a:ln>
            <a:noFill/>
          </a:ln>
        </p:spPr>
        <p:txBody>
          <a:bodyPr rtlCol="0" anchor="ctr"/>
          <a:lstStyle/>
          <a:p>
            <a:pPr algn="ctr"/>
          </a:p>
        </p:txBody>
      </p:sp>
      <p:sp>
        <p:nvSpPr>
          <p:cNvPr id="25" name="Text 24"/>
          <p:cNvSpPr txBox="1"/>
          <p:nvPr/>
        </p:nvSpPr>
        <p:spPr>
          <a:xfrm>
            <a:off x="6331843" y="1892689"/>
            <a:ext cx="396785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594173"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2594173"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44177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ومعايير التقوية المعتمدة</a:t>
            </a:r>
          </a:p>
        </p:txBody>
      </p:sp>
      <p:sp>
        <p:nvSpPr>
          <p:cNvPr id="31" name="Rule 30"/>
          <p:cNvSpPr/>
          <p:nvPr/>
        </p:nvSpPr>
        <p:spPr>
          <a:xfrm>
            <a:off x="3406973" y="3041352"/>
            <a:ext cx="2899470" cy="6350"/>
          </a:xfrm>
          <a:prstGeom prst="rect">
            <a:avLst/>
          </a:prstGeom>
          <a:solidFill>
            <a:srgbClr val="DDD7CA"/>
          </a:solidFill>
          <a:ln>
            <a:noFill/>
          </a:ln>
        </p:spPr>
        <p:txBody>
          <a:bodyPr rtlCol="0" anchor="ctr"/>
          <a:lstStyle/>
          <a:p>
            <a:pPr algn="ctr"/>
          </a:p>
        </p:txBody>
      </p:sp>
      <p:sp>
        <p:nvSpPr>
          <p:cNvPr id="32" name="Text 31"/>
          <p:cNvSpPr txBox="1"/>
          <p:nvPr/>
        </p:nvSpPr>
        <p:spPr>
          <a:xfrm>
            <a:off x="3454609" y="2286349"/>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ومعايير تقوية لأجهزة المستخدمين والخوادم ومكونات البنية</a:t>
            </a:r>
          </a:p>
        </p:txBody>
      </p:sp>
      <p:sp>
        <p:nvSpPr>
          <p:cNvPr id="33" name="Rule 32"/>
          <p:cNvSpPr/>
          <p:nvPr/>
        </p:nvSpPr>
        <p:spPr>
          <a:xfrm>
            <a:off x="6306443" y="3041352"/>
            <a:ext cx="4120257" cy="6350"/>
          </a:xfrm>
          <a:prstGeom prst="rect">
            <a:avLst/>
          </a:prstGeom>
          <a:solidFill>
            <a:srgbClr val="DDD7CA"/>
          </a:solidFill>
          <a:ln>
            <a:noFill/>
          </a:ln>
        </p:spPr>
        <p:txBody>
          <a:bodyPr rtlCol="0" anchor="ctr"/>
          <a:lstStyle/>
          <a:p>
            <a:pPr algn="ctr"/>
          </a:p>
        </p:txBody>
      </p:sp>
      <p:sp>
        <p:nvSpPr>
          <p:cNvPr id="34" name="Text 33"/>
          <p:cNvSpPr txBox="1"/>
          <p:nvPr/>
        </p:nvSpPr>
        <p:spPr>
          <a:xfrm>
            <a:off x="6331843" y="2286349"/>
            <a:ext cx="396785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2594173"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2594173"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44177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مطابقة الإعدادات لخط الأساس</a:t>
            </a:r>
          </a:p>
        </p:txBody>
      </p:sp>
      <p:sp>
        <p:nvSpPr>
          <p:cNvPr id="41" name="Rule 40"/>
          <p:cNvSpPr/>
          <p:nvPr/>
        </p:nvSpPr>
        <p:spPr>
          <a:xfrm>
            <a:off x="3406973" y="3692823"/>
            <a:ext cx="2899470" cy="6350"/>
          </a:xfrm>
          <a:prstGeom prst="rect">
            <a:avLst/>
          </a:prstGeom>
          <a:solidFill>
            <a:srgbClr val="DDD7CA"/>
          </a:solidFill>
          <a:ln>
            <a:noFill/>
          </a:ln>
        </p:spPr>
        <p:txBody>
          <a:bodyPr rtlCol="0" anchor="ctr"/>
          <a:lstStyle/>
          <a:p>
            <a:pPr algn="ctr"/>
          </a:p>
        </p:txBody>
      </p:sp>
      <p:sp>
        <p:nvSpPr>
          <p:cNvPr id="42" name="Text 41"/>
          <p:cNvSpPr txBox="1"/>
          <p:nvPr/>
        </p:nvSpPr>
        <p:spPr>
          <a:xfrm>
            <a:off x="3454609" y="3121870"/>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خطوط أساس للإعدادات تُفرض عبر أدوات الإدارة المركزية</a:t>
            </a:r>
          </a:p>
        </p:txBody>
      </p:sp>
      <p:sp>
        <p:nvSpPr>
          <p:cNvPr id="43" name="Rule 42"/>
          <p:cNvSpPr/>
          <p:nvPr/>
        </p:nvSpPr>
        <p:spPr>
          <a:xfrm>
            <a:off x="6306443" y="3692823"/>
            <a:ext cx="4120257" cy="6350"/>
          </a:xfrm>
          <a:prstGeom prst="rect">
            <a:avLst/>
          </a:prstGeom>
          <a:solidFill>
            <a:srgbClr val="DDD7CA"/>
          </a:solidFill>
          <a:ln>
            <a:noFill/>
          </a:ln>
        </p:spPr>
        <p:txBody>
          <a:bodyPr rtlCol="0" anchor="ctr"/>
          <a:lstStyle/>
          <a:p>
            <a:pPr algn="ctr"/>
          </a:p>
        </p:txBody>
      </p:sp>
      <p:sp>
        <p:nvSpPr>
          <p:cNvPr id="44" name="Text 43"/>
          <p:cNvSpPr txBox="1"/>
          <p:nvPr/>
        </p:nvSpPr>
        <p:spPr>
          <a:xfrm>
            <a:off x="6331843" y="3121870"/>
            <a:ext cx="396785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2594173" cy="872430"/>
          </a:xfrm>
          <a:prstGeom prst="rect">
            <a:avLst/>
          </a:prstGeom>
          <a:solidFill>
            <a:srgbClr val="E1EAF4"/>
          </a:solidFill>
          <a:ln>
            <a:noFill/>
          </a:ln>
        </p:spPr>
        <p:txBody>
          <a:bodyPr rtlCol="0" anchor="ctr"/>
          <a:lstStyle/>
          <a:p>
            <a:pPr algn="ctr"/>
          </a:p>
        </p:txBody>
      </p:sp>
      <p:sp>
        <p:nvSpPr>
          <p:cNvPr id="49" name="Rule 48"/>
          <p:cNvSpPr/>
          <p:nvPr/>
        </p:nvSpPr>
        <p:spPr>
          <a:xfrm>
            <a:off x="812800" y="4565253"/>
            <a:ext cx="2594173" cy="6350"/>
          </a:xfrm>
          <a:prstGeom prst="rect">
            <a:avLst/>
          </a:prstGeom>
          <a:solidFill>
            <a:srgbClr val="DDD7CA"/>
          </a:solidFill>
          <a:ln>
            <a:noFill/>
          </a:ln>
        </p:spPr>
        <p:txBody>
          <a:bodyPr rtlCol="0" anchor="ctr"/>
          <a:lstStyle/>
          <a:p>
            <a:pPr algn="ctr"/>
          </a:p>
        </p:txBody>
      </p:sp>
      <p:sp>
        <p:nvSpPr>
          <p:cNvPr id="50" name="Text 49"/>
          <p:cNvSpPr txBox="1"/>
          <p:nvPr/>
        </p:nvSpPr>
        <p:spPr>
          <a:xfrm>
            <a:off x="869595" y="3773341"/>
            <a:ext cx="241037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التغطية من وحدة الإدارة مقارنة بسجل الأصول، وحالة التحديث</a:t>
            </a:r>
          </a:p>
        </p:txBody>
      </p:sp>
      <p:sp>
        <p:nvSpPr>
          <p:cNvPr id="51" name="Rule 50"/>
          <p:cNvSpPr/>
          <p:nvPr/>
        </p:nvSpPr>
        <p:spPr>
          <a:xfrm>
            <a:off x="3406973" y="4565253"/>
            <a:ext cx="2899470" cy="6350"/>
          </a:xfrm>
          <a:prstGeom prst="rect">
            <a:avLst/>
          </a:prstGeom>
          <a:solidFill>
            <a:srgbClr val="DDD7CA"/>
          </a:solidFill>
          <a:ln>
            <a:noFill/>
          </a:ln>
        </p:spPr>
        <p:txBody>
          <a:bodyPr rtlCol="0" anchor="ctr"/>
          <a:lstStyle/>
          <a:p>
            <a:pPr algn="ctr"/>
          </a:p>
        </p:txBody>
      </p:sp>
      <p:sp>
        <p:nvSpPr>
          <p:cNvPr id="52" name="Text 51"/>
          <p:cNvSpPr txBox="1"/>
          <p:nvPr/>
        </p:nvSpPr>
        <p:spPr>
          <a:xfrm>
            <a:off x="3454609" y="3773341"/>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حل حماية متقدم لنقاط النهاية على كل الأجهزة والخوادم، بإدارة مركزية وتحديث تلقائي</a:t>
            </a:r>
          </a:p>
        </p:txBody>
      </p:sp>
      <p:sp>
        <p:nvSpPr>
          <p:cNvPr id="53" name="Rule 52"/>
          <p:cNvSpPr/>
          <p:nvPr/>
        </p:nvSpPr>
        <p:spPr>
          <a:xfrm>
            <a:off x="6306443" y="4565253"/>
            <a:ext cx="4120257" cy="6350"/>
          </a:xfrm>
          <a:prstGeom prst="rect">
            <a:avLst/>
          </a:prstGeom>
          <a:solidFill>
            <a:srgbClr val="DDD7CA"/>
          </a:solidFill>
          <a:ln>
            <a:noFill/>
          </a:ln>
        </p:spPr>
        <p:txBody>
          <a:bodyPr rtlCol="0" anchor="ctr"/>
          <a:lstStyle/>
          <a:p>
            <a:pPr algn="ctr"/>
          </a:p>
        </p:txBody>
      </p:sp>
      <p:sp>
        <p:nvSpPr>
          <p:cNvPr id="54" name="Text 53"/>
          <p:cNvSpPr txBox="1"/>
          <p:nvPr/>
        </p:nvSpPr>
        <p:spPr>
          <a:xfrm>
            <a:off x="6331843" y="3773341"/>
            <a:ext cx="3967857"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الحماية من الفيروسات والبرامج والأنشطة المشبوهة والبرمجيات الضارة على أجهزة المستخدمين والخوادم، بتقنيات حماية حديثة ومتقدمة، وإدارتها بشكل آمن</a:t>
            </a:r>
          </a:p>
        </p:txBody>
      </p:sp>
      <p:sp>
        <p:nvSpPr>
          <p:cNvPr id="55" name="Rule 54"/>
          <p:cNvSpPr/>
          <p:nvPr/>
        </p:nvSpPr>
        <p:spPr>
          <a:xfrm>
            <a:off x="10426700" y="456525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571603"/>
            <a:ext cx="2594173" cy="835521"/>
          </a:xfrm>
          <a:prstGeom prst="rect">
            <a:avLst/>
          </a:prstGeom>
          <a:solidFill>
            <a:srgbClr val="E1EAF4"/>
          </a:solidFill>
          <a:ln>
            <a:noFill/>
          </a:ln>
        </p:spPr>
        <p:txBody>
          <a:bodyPr rtlCol="0" anchor="ctr"/>
          <a:lstStyle/>
          <a:p>
            <a:pPr algn="ctr"/>
          </a:p>
        </p:txBody>
      </p:sp>
      <p:sp>
        <p:nvSpPr>
          <p:cNvPr id="59" name="Rule 58"/>
          <p:cNvSpPr/>
          <p:nvPr/>
        </p:nvSpPr>
        <p:spPr>
          <a:xfrm>
            <a:off x="812800" y="5400774"/>
            <a:ext cx="2594173"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45771"/>
            <a:ext cx="244177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ونتائجه</a:t>
            </a:r>
          </a:p>
        </p:txBody>
      </p:sp>
      <p:sp>
        <p:nvSpPr>
          <p:cNvPr id="61" name="Rule 60"/>
          <p:cNvSpPr/>
          <p:nvPr/>
        </p:nvSpPr>
        <p:spPr>
          <a:xfrm>
            <a:off x="3406973" y="5400774"/>
            <a:ext cx="2899470" cy="6350"/>
          </a:xfrm>
          <a:prstGeom prst="rect">
            <a:avLst/>
          </a:prstGeom>
          <a:solidFill>
            <a:srgbClr val="DDD7CA"/>
          </a:solidFill>
          <a:ln>
            <a:noFill/>
          </a:ln>
        </p:spPr>
        <p:txBody>
          <a:bodyPr rtlCol="0" anchor="ctr"/>
          <a:lstStyle/>
          <a:p>
            <a:pPr algn="ctr"/>
          </a:p>
        </p:txBody>
      </p:sp>
      <p:sp>
        <p:nvSpPr>
          <p:cNvPr id="62" name="Text 61"/>
          <p:cNvSpPr txBox="1"/>
          <p:nvPr/>
        </p:nvSpPr>
        <p:spPr>
          <a:xfrm>
            <a:off x="3454609" y="4645771"/>
            <a:ext cx="272483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وعينة من مطابقة الإعدادات والتغطية</a:t>
            </a:r>
          </a:p>
        </p:txBody>
      </p:sp>
      <p:sp>
        <p:nvSpPr>
          <p:cNvPr id="63" name="Rule 62"/>
          <p:cNvSpPr/>
          <p:nvPr/>
        </p:nvSpPr>
        <p:spPr>
          <a:xfrm>
            <a:off x="6306443" y="5400774"/>
            <a:ext cx="4120257" cy="6350"/>
          </a:xfrm>
          <a:prstGeom prst="rect">
            <a:avLst/>
          </a:prstGeom>
          <a:solidFill>
            <a:srgbClr val="DDD7CA"/>
          </a:solidFill>
          <a:ln>
            <a:noFill/>
          </a:ln>
        </p:spPr>
        <p:txBody>
          <a:bodyPr rtlCol="0" anchor="ctr"/>
          <a:lstStyle/>
          <a:p>
            <a:pPr algn="ctr"/>
          </a:p>
        </p:txBody>
      </p:sp>
      <p:sp>
        <p:nvSpPr>
          <p:cNvPr id="64" name="Text 63"/>
          <p:cNvSpPr txBox="1"/>
          <p:nvPr/>
        </p:nvSpPr>
        <p:spPr>
          <a:xfrm>
            <a:off x="6331843" y="4645771"/>
            <a:ext cx="396785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40077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6247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2-3-4</a:t>
            </a:r>
          </a:p>
        </p:txBody>
      </p:sp>
      <p:sp>
        <p:nvSpPr>
          <p:cNvPr id="67" name="Text 66"/>
          <p:cNvSpPr txBox="1"/>
          <p:nvPr/>
        </p:nvSpPr>
        <p:spPr>
          <a:xfrm>
            <a:off x="10515600" y="486800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377634" y="812800"/>
            <a:ext cx="300156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‎2-3‎ · حماية الأنظمة وأجهزة معالجة المعلومات</a:t>
            </a:r>
          </a:p>
        </p:txBody>
      </p:sp>
      <p:sp>
        <p:nvSpPr>
          <p:cNvPr id="4" name="Text 3"/>
          <p:cNvSpPr txBox="1"/>
          <p:nvPr/>
        </p:nvSpPr>
        <p:spPr>
          <a:xfrm>
            <a:off x="685444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الوسائط والتحديثات والتوقيت</a:t>
            </a:r>
          </a:p>
        </p:txBody>
      </p:sp>
      <p:sp>
        <p:nvSpPr>
          <p:cNvPr id="20" name="Rule 19"/>
          <p:cNvSpPr/>
          <p:nvPr/>
        </p:nvSpPr>
        <p:spPr>
          <a:xfrm>
            <a:off x="812800" y="2193131"/>
            <a:ext cx="27467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1D5B9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1D5B9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 سياسة المنع على الأجهزة، وسجل الاستثناءات المعتمدة</a:t>
            </a:r>
          </a:p>
        </p:txBody>
      </p:sp>
      <p:sp>
        <p:nvSpPr>
          <p:cNvPr id="31" name="Rule 30"/>
          <p:cNvSpPr/>
          <p:nvPr/>
        </p:nvSpPr>
        <p:spPr>
          <a:xfrm>
            <a:off x="3559572" y="285730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منع افتراضي لوسائط التخزين عبر سياسات الأجهزة، واستثناءات معتمدة بوسائط مشفرة</a:t>
            </a:r>
          </a:p>
        </p:txBody>
      </p:sp>
      <p:sp>
        <p:nvSpPr>
          <p:cNvPr id="33" name="Rule 32"/>
          <p:cNvSpPr/>
          <p:nvPr/>
        </p:nvSpPr>
        <p:spPr>
          <a:xfrm>
            <a:off x="6764238" y="285730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تقييد حازم لاستخدام وسائط التخزين الخارجية وأمنها</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746772"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293782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حالة التحديثات للأجهزة والخوادم، وسجلات التغيير</a:t>
            </a:r>
          </a:p>
        </p:txBody>
      </p:sp>
      <p:sp>
        <p:nvSpPr>
          <p:cNvPr id="41" name="Rule 40"/>
          <p:cNvSpPr/>
          <p:nvPr/>
        </p:nvSpPr>
        <p:spPr>
          <a:xfrm>
            <a:off x="3559572" y="3508772"/>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293782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دورة تحديث منتظمة بأولويات حسب الخطورة، ونشر مركزي، وتقارير امتثال شهرية</a:t>
            </a:r>
          </a:p>
        </p:txBody>
      </p:sp>
      <p:sp>
        <p:nvSpPr>
          <p:cNvPr id="43" name="Rule 42"/>
          <p:cNvSpPr/>
          <p:nvPr/>
        </p:nvSpPr>
        <p:spPr>
          <a:xfrm>
            <a:off x="6764238" y="3508772"/>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2937820"/>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حزم التحديثات والإصلاحات للأنظمة والتطبيقات والأجهزة</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2746772"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358929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خادم التوقيت المركزي ومصدره، وعينة أنظمة متزامنة معه</a:t>
            </a:r>
          </a:p>
        </p:txBody>
      </p:sp>
      <p:sp>
        <p:nvSpPr>
          <p:cNvPr id="51" name="Rule 50"/>
          <p:cNvSpPr/>
          <p:nvPr/>
        </p:nvSpPr>
        <p:spPr>
          <a:xfrm>
            <a:off x="3559572" y="4160242"/>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58929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خادم توقيت داخلي يتزامن مع المصدر الموثوق، وكل الأنظمة تتزامن معه</a:t>
            </a:r>
          </a:p>
        </p:txBody>
      </p:sp>
      <p:sp>
        <p:nvSpPr>
          <p:cNvPr id="53" name="Rule 52"/>
          <p:cNvSpPr/>
          <p:nvPr/>
        </p:nvSpPr>
        <p:spPr>
          <a:xfrm>
            <a:off x="6764238" y="4160242"/>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589290"/>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مزامنة مركزية للتوقيت مع مصدر دقيق وموثوق، مثل مصادر هيئة المواصفات والمقاييس والجودة</a:t>
            </a:r>
          </a:p>
        </p:txBody>
      </p:sp>
      <p:sp>
        <p:nvSpPr>
          <p:cNvPr id="55" name="Rule 54"/>
          <p:cNvSpPr/>
          <p:nvPr/>
        </p:nvSpPr>
        <p:spPr>
          <a:xfrm>
            <a:off x="10426700" y="416024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2-3-3-4</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Book 59" descr="icon048.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7FB2EA"/>
                </a:solidFill>
                <a:latin typeface="IBM Plex Sans Arabic"/>
                <a:ea typeface="IBM Plex Sans Arabic"/>
                <a:cs typeface="IBM Plex Sans Arabic"/>
              </a:rPr>
              <a:t>تذكّر</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بلا توقيت موحد لا يمكن ربط السجلات بين الأنظمة عند التحقيق في حادثة (‎2-12‎ و‎2-13‎).</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377634" y="812800"/>
            <a:ext cx="300156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‎2-3‎ · حماية الأنظمة وأجهزة معالجة المعلومات</a:t>
            </a:r>
          </a:p>
        </p:txBody>
      </p:sp>
      <p:sp>
        <p:nvSpPr>
          <p:cNvPr id="4" name="Text 3"/>
          <p:cNvSpPr txBox="1"/>
          <p:nvPr/>
        </p:nvSpPr>
        <p:spPr>
          <a:xfrm>
            <a:off x="685444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تقرير تغطية الحماية</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206184"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2-3-3-1</a:t>
            </a:r>
          </a:p>
        </p:txBody>
      </p:sp>
      <p:sp>
        <p:nvSpPr>
          <p:cNvPr id="23" name="Text box 22"/>
          <p:cNvSpPr/>
          <p:nvPr/>
        </p:nvSpPr>
        <p:spPr>
          <a:xfrm>
            <a:off x="7507684" y="1852811"/>
            <a:ext cx="63500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a:t>
            </a:r>
          </a:p>
        </p:txBody>
      </p:sp>
      <p:sp>
        <p:nvSpPr>
          <p:cNvPr id="24" name="Text 23"/>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5" name="Box 24"/>
          <p:cNvSpPr/>
          <p:nvPr/>
        </p:nvSpPr>
        <p:spPr>
          <a:xfrm>
            <a:off x="11125200" y="2518172"/>
            <a:ext cx="254000" cy="254000"/>
          </a:xfrm>
          <a:prstGeom prst="roundRect">
            <a:avLst>
              <a:gd name="adj" fmla="val 50000"/>
            </a:avLst>
          </a:prstGeom>
          <a:solidFill>
            <a:srgbClr val="1D5B9E"/>
          </a:solidFill>
          <a:ln>
            <a:noFill/>
          </a:ln>
        </p:spPr>
        <p:txBody>
          <a:bodyPr rtlCol="0" anchor="ctr"/>
          <a:lstStyle/>
          <a:p>
            <a:pPr algn="ctr"/>
          </a:p>
        </p:txBody>
      </p:sp>
      <p:sp>
        <p:nvSpPr>
          <p:cNvPr id="26" name="Text 25"/>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7" name="Text 26"/>
          <p:cNvSpPr txBox="1"/>
          <p:nvPr/>
        </p:nvSpPr>
        <p:spPr>
          <a:xfrm>
            <a:off x="6549898" y="2490740"/>
            <a:ext cx="447370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عدد الأجهزة في سجل الأصول، مقابل الأجهزة المحمية والمحدثة في وحدة الإدارة.</a:t>
            </a:r>
          </a:p>
        </p:txBody>
      </p:sp>
      <p:sp>
        <p:nvSpPr>
          <p:cNvPr id="28" name="Box 27"/>
          <p:cNvSpPr/>
          <p:nvPr/>
        </p:nvSpPr>
        <p:spPr>
          <a:xfrm>
            <a:off x="11125200" y="3023592"/>
            <a:ext cx="254000" cy="254000"/>
          </a:xfrm>
          <a:prstGeom prst="roundRect">
            <a:avLst>
              <a:gd name="adj" fmla="val 50000"/>
            </a:avLst>
          </a:prstGeom>
          <a:solidFill>
            <a:srgbClr val="1D5B9E"/>
          </a:solidFill>
          <a:ln>
            <a:noFill/>
          </a:ln>
        </p:spPr>
        <p:txBody>
          <a:bodyPr rtlCol="0" anchor="ctr"/>
          <a:lstStyle/>
          <a:p>
            <a:pPr algn="ctr"/>
          </a:p>
        </p:txBody>
      </p:sp>
      <p:sp>
        <p:nvSpPr>
          <p:cNvPr id="29" name="Text 28"/>
          <p:cNvSpPr txBox="1"/>
          <p:nvPr/>
        </p:nvSpPr>
        <p:spPr>
          <a:xfrm>
            <a:off x="11152664" y="307935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0" name="Text 29"/>
          <p:cNvSpPr txBox="1"/>
          <p:nvPr/>
        </p:nvSpPr>
        <p:spPr>
          <a:xfrm>
            <a:off x="6332728" y="299616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نسبة التغطية لكل فئة في عمود مستقل عن الفجوة.</a:t>
            </a:r>
          </a:p>
        </p:txBody>
      </p:sp>
      <p:sp>
        <p:nvSpPr>
          <p:cNvPr id="31" name="Box 30"/>
          <p:cNvSpPr/>
          <p:nvPr/>
        </p:nvSpPr>
        <p:spPr>
          <a:xfrm>
            <a:off x="11125200" y="3341092"/>
            <a:ext cx="254000" cy="254000"/>
          </a:xfrm>
          <a:prstGeom prst="roundRect">
            <a:avLst>
              <a:gd name="adj" fmla="val 50000"/>
            </a:avLst>
          </a:prstGeom>
          <a:solidFill>
            <a:srgbClr val="1D5B9E"/>
          </a:solidFill>
          <a:ln>
            <a:noFill/>
          </a:ln>
        </p:spPr>
        <p:txBody>
          <a:bodyPr rtlCol="0" anchor="ctr"/>
          <a:lstStyle/>
          <a:p>
            <a:pPr algn="ctr"/>
          </a:p>
        </p:txBody>
      </p:sp>
      <p:sp>
        <p:nvSpPr>
          <p:cNvPr id="32" name="Text 31"/>
          <p:cNvSpPr txBox="1"/>
          <p:nvPr/>
        </p:nvSpPr>
        <p:spPr>
          <a:xfrm>
            <a:off x="11152862" y="339685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3" name="Text 32"/>
          <p:cNvSpPr txBox="1"/>
          <p:nvPr/>
        </p:nvSpPr>
        <p:spPr>
          <a:xfrm>
            <a:off x="6332728" y="331366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الفجوة بالعدد: 240 جهازاً بلا حماية (التغطية 83%).</a:t>
            </a:r>
          </a:p>
        </p:txBody>
      </p:sp>
      <p:sp>
        <p:nvSpPr>
          <p:cNvPr id="34" name="Rule 33"/>
          <p:cNvSpPr/>
          <p:nvPr/>
        </p:nvSpPr>
        <p:spPr>
          <a:xfrm>
            <a:off x="6680200" y="3683992"/>
            <a:ext cx="4699000" cy="6350"/>
          </a:xfrm>
          <a:prstGeom prst="rect">
            <a:avLst/>
          </a:prstGeom>
          <a:solidFill>
            <a:srgbClr val="DDD7CA"/>
          </a:solidFill>
          <a:ln>
            <a:noFill/>
          </a:ln>
        </p:spPr>
        <p:txBody>
          <a:bodyPr rtlCol="0" anchor="ctr"/>
          <a:lstStyle/>
          <a:p>
            <a:pPr algn="ctr"/>
          </a:p>
        </p:txBody>
      </p:sp>
      <p:sp>
        <p:nvSpPr>
          <p:cNvPr id="35" name="Text 34"/>
          <p:cNvSpPr txBox="1"/>
          <p:nvPr/>
        </p:nvSpPr>
        <p:spPr>
          <a:xfrm>
            <a:off x="6680200" y="375562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6" name="Icon CheckCircle 35" descr="icon043.png"/>
          <p:cNvPicPr>
            <a:picLocks noChangeAspect="1"/>
          </p:cNvPicPr>
          <p:nvPr/>
        </p:nvPicPr>
        <p:blipFill>
          <a:blip r:embed="rId3"/>
          <a:stretch>
            <a:fillRect/>
          </a:stretch>
        </p:blipFill>
        <p:spPr>
          <a:xfrm>
            <a:off x="11150600" y="4068762"/>
            <a:ext cx="203200" cy="203200"/>
          </a:xfrm>
          <a:prstGeom prst="rect">
            <a:avLst/>
          </a:prstGeom>
        </p:spPr>
      </p:pic>
      <p:sp>
        <p:nvSpPr>
          <p:cNvPr id="37" name="Text 36"/>
          <p:cNvSpPr txBox="1"/>
          <p:nvPr/>
        </p:nvSpPr>
        <p:spPr>
          <a:xfrm>
            <a:off x="6680200" y="401593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المقام هو سجل الأصول، لا ما تراه وحدة الإدارة.</a:t>
            </a:r>
          </a:p>
        </p:txBody>
      </p:sp>
      <p:pic>
        <p:nvPicPr>
          <p:cNvPr id="38" name="Icon CheckCircle 37" descr="icon043.png"/>
          <p:cNvPicPr>
            <a:picLocks noChangeAspect="1"/>
          </p:cNvPicPr>
          <p:nvPr/>
        </p:nvPicPr>
        <p:blipFill>
          <a:blip r:embed="rId3"/>
          <a:stretch>
            <a:fillRect/>
          </a:stretch>
        </p:blipFill>
        <p:spPr>
          <a:xfrm>
            <a:off x="11150600" y="4373562"/>
            <a:ext cx="203200" cy="203200"/>
          </a:xfrm>
          <a:prstGeom prst="rect">
            <a:avLst/>
          </a:prstGeom>
        </p:spPr>
      </p:pic>
      <p:sp>
        <p:nvSpPr>
          <p:cNvPr id="39" name="Text 38"/>
          <p:cNvSpPr txBox="1"/>
          <p:nvPr/>
        </p:nvSpPr>
        <p:spPr>
          <a:xfrm>
            <a:off x="6680200" y="432073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التحديث تلقائي، وأن المستخدم لا يستطيع تعطيل الحماية.</a:t>
            </a:r>
          </a:p>
        </p:txBody>
      </p:sp>
      <p:pic>
        <p:nvPicPr>
          <p:cNvPr id="40" name="Icon CheckCircle 39" descr="icon043.png"/>
          <p:cNvPicPr>
            <a:picLocks noChangeAspect="1"/>
          </p:cNvPicPr>
          <p:nvPr/>
        </p:nvPicPr>
        <p:blipFill>
          <a:blip r:embed="rId3"/>
          <a:stretch>
            <a:fillRect/>
          </a:stretch>
        </p:blipFill>
        <p:spPr>
          <a:xfrm>
            <a:off x="11150600" y="4678362"/>
            <a:ext cx="203200" cy="203200"/>
          </a:xfrm>
          <a:prstGeom prst="rect">
            <a:avLst/>
          </a:prstGeom>
        </p:spPr>
      </p:pic>
      <p:sp>
        <p:nvSpPr>
          <p:cNvPr id="41" name="Text 40"/>
          <p:cNvSpPr txBox="1"/>
          <p:nvPr/>
        </p:nvSpPr>
        <p:spPr>
          <a:xfrm>
            <a:off x="6680200" y="462553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ضوابط بديلة موثقة للأجهزة التي لا تقبل الوكيل.</a:t>
            </a:r>
          </a:p>
        </p:txBody>
      </p:sp>
      <p:sp>
        <p:nvSpPr>
          <p:cNvPr id="42" name="Box 41"/>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3" name="Icon Warning 42" descr="icon028.png"/>
          <p:cNvPicPr>
            <a:picLocks noChangeAspect="1"/>
          </p:cNvPicPr>
          <p:nvPr/>
        </p:nvPicPr>
        <p:blipFill>
          <a:blip r:embed="rId4"/>
          <a:stretch>
            <a:fillRect/>
          </a:stretch>
        </p:blipFill>
        <p:spPr>
          <a:xfrm>
            <a:off x="11074400" y="5311180"/>
            <a:ext cx="190500" cy="190500"/>
          </a:xfrm>
          <a:prstGeom prst="rect">
            <a:avLst/>
          </a:prstGeom>
        </p:spPr>
      </p:pic>
      <p:sp>
        <p:nvSpPr>
          <p:cNvPr id="44" name="Text 43"/>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التقرير يثبت التغطية في تاريخه فقط؛ استمرارها يحتاج تقارير متتالية، ودقته تحتاج سجل أصول محدثاً.</a:t>
            </a:r>
          </a:p>
        </p:txBody>
      </p:sp>
      <p:sp>
        <p:nvSpPr>
          <p:cNvPr id="45" name="Box 44"/>
          <p:cNvSpPr/>
          <p:nvPr/>
        </p:nvSpPr>
        <p:spPr>
          <a:xfrm>
            <a:off x="815975" y="1855986"/>
            <a:ext cx="5556250" cy="2415778"/>
          </a:xfrm>
          <a:prstGeom prst="roundRect">
            <a:avLst>
              <a:gd name="adj" fmla="val 4194"/>
            </a:avLst>
          </a:prstGeom>
          <a:solidFill>
            <a:srgbClr val="FBFAF7"/>
          </a:solidFill>
          <a:ln w="6350">
            <a:solidFill>
              <a:srgbClr val="DDD7CA"/>
            </a:solidFill>
          </a:ln>
        </p:spPr>
        <p:txBody>
          <a:bodyPr rtlCol="0" anchor="ctr"/>
          <a:lstStyle/>
          <a:p>
            <a:pPr algn="ctr"/>
          </a:p>
        </p:txBody>
      </p:sp>
      <p:sp>
        <p:nvSpPr>
          <p:cNvPr id="46" name="Box 45"/>
          <p:cNvSpPr/>
          <p:nvPr/>
        </p:nvSpPr>
        <p:spPr>
          <a:xfrm>
            <a:off x="819150" y="1859161"/>
            <a:ext cx="55499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7" name="Box 46"/>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8" name="Box 47"/>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9" name="Box 48"/>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50" name="Text 49"/>
          <p:cNvSpPr txBox="1"/>
          <p:nvPr/>
        </p:nvSpPr>
        <p:spPr>
          <a:xfrm>
            <a:off x="2664210" y="1919359"/>
            <a:ext cx="3577840"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تقرير تغطية الحماية المتقدمة لنقاط النهاية · ‎2026-09-30‎</a:t>
            </a:r>
          </a:p>
        </p:txBody>
      </p:sp>
      <p:graphicFrame>
        <p:nvGraphicFramePr>
          <p:cNvPr id="51" name="Table 50"/>
          <p:cNvGraphicFramePr>
            <a:graphicFrameLocks noGrp="1"/>
          </p:cNvGraphicFramePr>
          <p:nvPr/>
        </p:nvGraphicFramePr>
        <p:xfrm>
          <a:off x="962025" y="2339777"/>
          <a:ext cx="5264150" cy="1798636"/>
        </p:xfrm>
        <a:graphic>
          <a:graphicData uri="http://schemas.openxmlformats.org/drawingml/2006/table">
            <a:tbl>
              <a:tblPr firstRow="0" bandRow="0" lastRow="0" firstCol="0" lastCol="0" bandCol="0">
                <a:tableStyleId>{2D5ABB26-0587-4C30-8999-92F81FD0307C}</a:tableStyleId>
              </a:tblPr>
              <a:tblGrid>
                <a:gridCol w="947420"/>
                <a:gridCol w="842010"/>
                <a:gridCol w="948055"/>
                <a:gridCol w="947420"/>
                <a:gridCol w="1579245"/>
              </a:tblGrid>
              <a:tr h="524272">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بلا حماية (الفجوة)</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نسبة التغطية</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محمية ومحدثة</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في سجل الأصول</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الفئة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148</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87%</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1,032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1,180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أجهزة الموظفين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70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63%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190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الخوادم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56%</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28</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50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أجهزة شبكية تقبل الوكيل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240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83%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1,180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1,420</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المجموع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52" name="Text 51"/>
          <p:cNvSpPr txBox="1"/>
          <p:nvPr/>
        </p:nvSpPr>
        <p:spPr>
          <a:xfrm>
            <a:off x="367792" y="4340217"/>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8" name="Box 5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9" name="Box 5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4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‎2-4‎ حماية البريد الإلكتروني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خدمة البريد الإلكتروني للجهة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رسالة تصيد تصل إلى كل الموظفين، أو مهاجم يرسل باسم نطاق الجهة رسائل مزيفة إلى المستفيدين.</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البريد الورقي في جهة حكومية: يُفحص قبل توزيعه، ويحمل ختماً رسمياً يثبت أنه صادر منك.</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البريد لأنه أكثر طرق الهجوم استخداماً: تصفية الرسائل الضارة، وتحقق متعدد العوامل، وأرشفة، ومنع انتحال اسم الجهة.</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التصفية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حجب الرسائل الضارة قبل وصولها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انتحال النطاق</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إرسال بريد مزيف باسم الجهة</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DMARC</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سياسة تحدد مصير البريد المزيف</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1861" y="812800"/>
            <a:ext cx="1887339"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‎2-4‎ · حماية البريد الإلكتروني</a:t>
            </a:r>
          </a:p>
        </p:txBody>
      </p:sp>
      <p:sp>
        <p:nvSpPr>
          <p:cNvPr id="4" name="Text 3"/>
          <p:cNvSpPr txBox="1"/>
          <p:nvPr/>
        </p:nvSpPr>
        <p:spPr>
          <a:xfrm>
            <a:off x="796867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حماية البريد: المتطلبات والتصفية</a:t>
            </a:r>
          </a:p>
        </p:txBody>
      </p:sp>
      <p:sp>
        <p:nvSpPr>
          <p:cNvPr id="20" name="Rule 19"/>
          <p:cNvSpPr/>
          <p:nvPr/>
        </p:nvSpPr>
        <p:spPr>
          <a:xfrm>
            <a:off x="812800" y="2193131"/>
            <a:ext cx="27467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1D5B9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1D5B9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أو المعيار المعتمد</a:t>
            </a:r>
          </a:p>
        </p:txBody>
      </p:sp>
      <p:sp>
        <p:nvSpPr>
          <p:cNvPr id="31" name="Rule 30"/>
          <p:cNvSpPr/>
          <p:nvPr/>
        </p:nvSpPr>
        <p:spPr>
          <a:xfrm>
            <a:off x="3559572" y="304135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معيار لحماية البريد يغطي البنود الخمسة في ‎2-4-3‎ وإعداداتها</a:t>
            </a:r>
          </a:p>
        </p:txBody>
      </p:sp>
      <p:sp>
        <p:nvSpPr>
          <p:cNvPr id="33" name="Rule 32"/>
          <p:cNvSpPr/>
          <p:nvPr/>
        </p:nvSpPr>
        <p:spPr>
          <a:xfrm>
            <a:off x="6764238" y="304135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2746772" cy="629841"/>
          </a:xfrm>
          <a:prstGeom prst="rect">
            <a:avLst/>
          </a:prstGeom>
          <a:solidFill>
            <a:srgbClr val="E1EAF4"/>
          </a:solidFill>
          <a:ln>
            <a:noFill/>
          </a:ln>
        </p:spPr>
        <p:txBody>
          <a:bodyPr rtlCol="0" anchor="ctr"/>
          <a:lstStyle/>
          <a:p>
            <a:pPr algn="ctr"/>
          </a:p>
        </p:txBody>
      </p:sp>
      <p:sp>
        <p:nvSpPr>
          <p:cNvPr id="39" name="Rule 38"/>
          <p:cNvSpPr/>
          <p:nvPr/>
        </p:nvSpPr>
        <p:spPr>
          <a:xfrm>
            <a:off x="812800" y="3671193"/>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تصدير إعدادات بوابة البريد</a:t>
            </a:r>
          </a:p>
        </p:txBody>
      </p:sp>
      <p:sp>
        <p:nvSpPr>
          <p:cNvPr id="41" name="Rule 40"/>
          <p:cNvSpPr/>
          <p:nvPr/>
        </p:nvSpPr>
        <p:spPr>
          <a:xfrm>
            <a:off x="3559572" y="3671193"/>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84972" y="3121870"/>
            <a:ext cx="305226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تطبيق المعيار على خادم البريد وبوابة الحماية</a:t>
            </a:r>
          </a:p>
        </p:txBody>
      </p:sp>
      <p:sp>
        <p:nvSpPr>
          <p:cNvPr id="43" name="Rule 42"/>
          <p:cNvSpPr/>
          <p:nvPr/>
        </p:nvSpPr>
        <p:spPr>
          <a:xfrm>
            <a:off x="6764238" y="3671193"/>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12187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7119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77543"/>
            <a:ext cx="2746772" cy="651470"/>
          </a:xfrm>
          <a:prstGeom prst="rect">
            <a:avLst/>
          </a:prstGeom>
          <a:solidFill>
            <a:srgbClr val="E1EAF4"/>
          </a:solidFill>
          <a:ln>
            <a:noFill/>
          </a:ln>
        </p:spPr>
        <p:txBody>
          <a:bodyPr rtlCol="0" anchor="ctr"/>
          <a:lstStyle/>
          <a:p>
            <a:pPr algn="ctr"/>
          </a:p>
        </p:txBody>
      </p:sp>
      <p:sp>
        <p:nvSpPr>
          <p:cNvPr id="49" name="Rule 48"/>
          <p:cNvSpPr/>
          <p:nvPr/>
        </p:nvSpPr>
        <p:spPr>
          <a:xfrm>
            <a:off x="812800" y="4322663"/>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3751711"/>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قواعد التصفية، وتقرير الرسائل المحجوبة لفترة</a:t>
            </a:r>
          </a:p>
        </p:txBody>
      </p:sp>
      <p:sp>
        <p:nvSpPr>
          <p:cNvPr id="51" name="Rule 50"/>
          <p:cNvSpPr/>
          <p:nvPr/>
        </p:nvSpPr>
        <p:spPr>
          <a:xfrm>
            <a:off x="3559572" y="4322663"/>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75171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بوابة حماية بريد بتصفية للتصيد والرسائل غير المرغوبة والروابط والمرفقات</a:t>
            </a:r>
          </a:p>
        </p:txBody>
      </p:sp>
      <p:sp>
        <p:nvSpPr>
          <p:cNvPr id="53" name="Rule 52"/>
          <p:cNvSpPr/>
          <p:nvPr/>
        </p:nvSpPr>
        <p:spPr>
          <a:xfrm>
            <a:off x="6764238" y="4322663"/>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751711"/>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تحليل الرسائل وتصفيتها، وخصوصاً التصيد والرسائل غير المرغوبة، بتقنيات حديثة ومتقدمة</a:t>
            </a:r>
          </a:p>
        </p:txBody>
      </p:sp>
      <p:sp>
        <p:nvSpPr>
          <p:cNvPr id="55" name="Rule 54"/>
          <p:cNvSpPr/>
          <p:nvPr/>
        </p:nvSpPr>
        <p:spPr>
          <a:xfrm>
            <a:off x="10426700" y="432266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684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2-4-3-1</a:t>
            </a:r>
          </a:p>
        </p:txBody>
      </p:sp>
      <p:sp>
        <p:nvSpPr>
          <p:cNvPr id="57" name="Text 56"/>
          <p:cNvSpPr txBox="1"/>
          <p:nvPr/>
        </p:nvSpPr>
        <p:spPr>
          <a:xfrm>
            <a:off x="10462260" y="397394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29013"/>
            <a:ext cx="2746772" cy="835521"/>
          </a:xfrm>
          <a:prstGeom prst="rect">
            <a:avLst/>
          </a:prstGeom>
          <a:solidFill>
            <a:srgbClr val="E1EAF4"/>
          </a:solidFill>
          <a:ln>
            <a:noFill/>
          </a:ln>
        </p:spPr>
        <p:txBody>
          <a:bodyPr rtlCol="0" anchor="ctr"/>
          <a:lstStyle/>
          <a:p>
            <a:pPr algn="ctr"/>
          </a:p>
        </p:txBody>
      </p:sp>
      <p:sp>
        <p:nvSpPr>
          <p:cNvPr id="59" name="Rule 58"/>
          <p:cNvSpPr/>
          <p:nvPr/>
        </p:nvSpPr>
        <p:spPr>
          <a:xfrm>
            <a:off x="812800" y="5158184"/>
            <a:ext cx="2746772"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03181"/>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ونتائجه</a:t>
            </a:r>
          </a:p>
        </p:txBody>
      </p:sp>
      <p:sp>
        <p:nvSpPr>
          <p:cNvPr id="61" name="Rule 60"/>
          <p:cNvSpPr/>
          <p:nvPr/>
        </p:nvSpPr>
        <p:spPr>
          <a:xfrm>
            <a:off x="3559572" y="5158184"/>
            <a:ext cx="3204666" cy="6350"/>
          </a:xfrm>
          <a:prstGeom prst="rect">
            <a:avLst/>
          </a:prstGeom>
          <a:solidFill>
            <a:srgbClr val="DDD7CA"/>
          </a:solidFill>
          <a:ln>
            <a:noFill/>
          </a:ln>
        </p:spPr>
        <p:txBody>
          <a:bodyPr rtlCol="0" anchor="ctr"/>
          <a:lstStyle/>
          <a:p>
            <a:pPr algn="ctr"/>
          </a:p>
        </p:txBody>
      </p:sp>
      <p:sp>
        <p:nvSpPr>
          <p:cNvPr id="62" name="Text 61"/>
          <p:cNvSpPr txBox="1"/>
          <p:nvPr/>
        </p:nvSpPr>
        <p:spPr>
          <a:xfrm>
            <a:off x="3598052" y="440318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الإعدادات والمؤشرات، مثل نسب الحجب والبلاغات</a:t>
            </a:r>
          </a:p>
        </p:txBody>
      </p:sp>
      <p:sp>
        <p:nvSpPr>
          <p:cNvPr id="63" name="Rule 62"/>
          <p:cNvSpPr/>
          <p:nvPr/>
        </p:nvSpPr>
        <p:spPr>
          <a:xfrm>
            <a:off x="6764238" y="5158184"/>
            <a:ext cx="3662462" cy="6350"/>
          </a:xfrm>
          <a:prstGeom prst="rect">
            <a:avLst/>
          </a:prstGeom>
          <a:solidFill>
            <a:srgbClr val="DDD7CA"/>
          </a:solidFill>
          <a:ln>
            <a:noFill/>
          </a:ln>
        </p:spPr>
        <p:txBody>
          <a:bodyPr rtlCol="0" anchor="ctr"/>
          <a:lstStyle/>
          <a:p>
            <a:pPr algn="ctr"/>
          </a:p>
        </p:txBody>
      </p:sp>
      <p:sp>
        <p:nvSpPr>
          <p:cNvPr id="64" name="Text 63"/>
          <p:cNvSpPr txBox="1"/>
          <p:nvPr/>
        </p:nvSpPr>
        <p:spPr>
          <a:xfrm>
            <a:off x="6789638" y="4403181"/>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15818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1988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2-4-4</a:t>
            </a:r>
          </a:p>
        </p:txBody>
      </p:sp>
      <p:sp>
        <p:nvSpPr>
          <p:cNvPr id="67" name="Text 66"/>
          <p:cNvSpPr txBox="1"/>
          <p:nvPr/>
        </p:nvSpPr>
        <p:spPr>
          <a:xfrm>
            <a:off x="10515600" y="462541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1861" y="812800"/>
            <a:ext cx="1887339"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‎2-4‎ · حماية البريد الإلكتروني</a:t>
            </a:r>
          </a:p>
        </p:txBody>
      </p:sp>
      <p:sp>
        <p:nvSpPr>
          <p:cNvPr id="4" name="Text 3"/>
          <p:cNvSpPr txBox="1"/>
          <p:nvPr/>
        </p:nvSpPr>
        <p:spPr>
          <a:xfrm>
            <a:off x="796867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التحقق والأرشفة والتهديدات المتقدمة والنطاقات</a:t>
            </a:r>
          </a:p>
        </p:txBody>
      </p:sp>
      <p:sp>
        <p:nvSpPr>
          <p:cNvPr id="20" name="Rule 19"/>
          <p:cNvSpPr/>
          <p:nvPr/>
        </p:nvSpPr>
        <p:spPr>
          <a:xfrm>
            <a:off x="812800" y="2193131"/>
            <a:ext cx="27467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1D5B9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1D5B9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1093391"/>
          </a:xfrm>
          <a:prstGeom prst="rect">
            <a:avLst/>
          </a:prstGeom>
          <a:solidFill>
            <a:srgbClr val="E1EAF4"/>
          </a:solidFill>
          <a:ln>
            <a:noFill/>
          </a:ln>
        </p:spPr>
        <p:txBody>
          <a:bodyPr rtlCol="0" anchor="ctr"/>
          <a:lstStyle/>
          <a:p>
            <a:pPr algn="ctr"/>
          </a:p>
        </p:txBody>
      </p:sp>
      <p:sp>
        <p:nvSpPr>
          <p:cNvPr id="29" name="Rule 28"/>
          <p:cNvSpPr/>
          <p:nvPr/>
        </p:nvSpPr>
        <p:spPr>
          <a:xfrm>
            <a:off x="812800" y="329922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تقييم الأثر، وإعدادات الإلزام لصفحة البريد والدخول عن بعد، وقائمة البروتوكولات المعطلة، وسجلات دخول لعينة</a:t>
            </a:r>
          </a:p>
        </p:txBody>
      </p:sp>
      <p:sp>
        <p:nvSpPr>
          <p:cNvPr id="31" name="Rule 30"/>
          <p:cNvSpPr/>
          <p:nvPr/>
        </p:nvSpPr>
        <p:spPr>
          <a:xfrm>
            <a:off x="3559572" y="329922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883841"/>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أثر موثق، ثم إلزام التحقق على كل مسار يصل إلى البريد عن بعد أو عبر صفحة الويب، وإيقاف البروتوكولات القديمة؛ موقع المستخدم وحده لا يحدد التغطية</a:t>
            </a:r>
          </a:p>
        </p:txBody>
      </p:sp>
      <p:sp>
        <p:nvSpPr>
          <p:cNvPr id="33" name="Rule 32"/>
          <p:cNvSpPr/>
          <p:nvPr/>
        </p:nvSpPr>
        <p:spPr>
          <a:xfrm>
            <a:off x="6764238" y="329922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التحقق متعدد العناصر للدخول عن بعد وللدخول عبر صفحة البريد (Webmail)، وتحديد العناصر وعددها وتقنياتها بناءً على تقييم أثر فشل التحقق وتخطيه</a:t>
            </a:r>
          </a:p>
        </p:txBody>
      </p:sp>
      <p:sp>
        <p:nvSpPr>
          <p:cNvPr id="35" name="Rule 34"/>
          <p:cNvSpPr/>
          <p:nvPr/>
        </p:nvSpPr>
        <p:spPr>
          <a:xfrm>
            <a:off x="10426700" y="329922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3305572"/>
            <a:ext cx="2746772" cy="651470"/>
          </a:xfrm>
          <a:prstGeom prst="rect">
            <a:avLst/>
          </a:prstGeom>
          <a:solidFill>
            <a:srgbClr val="E1EAF4"/>
          </a:solidFill>
          <a:ln>
            <a:noFill/>
          </a:ln>
        </p:spPr>
        <p:txBody>
          <a:bodyPr rtlCol="0" anchor="ctr"/>
          <a:lstStyle/>
          <a:p>
            <a:pPr algn="ctr"/>
          </a:p>
        </p:txBody>
      </p:sp>
      <p:sp>
        <p:nvSpPr>
          <p:cNvPr id="39" name="Rule 38"/>
          <p:cNvSpPr/>
          <p:nvPr/>
        </p:nvSpPr>
        <p:spPr>
          <a:xfrm>
            <a:off x="812800" y="3950692"/>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337974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الأرشفة والنسخ، ونتيجة اختبار استرجاع رسالة</a:t>
            </a:r>
          </a:p>
        </p:txBody>
      </p:sp>
      <p:sp>
        <p:nvSpPr>
          <p:cNvPr id="41" name="Rule 40"/>
          <p:cNvSpPr/>
          <p:nvPr/>
        </p:nvSpPr>
        <p:spPr>
          <a:xfrm>
            <a:off x="3559572" y="3950692"/>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337974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أرشفة ونسخ احتياطي للبريد وفق مدد الاحتفاظ المعتمدة</a:t>
            </a:r>
          </a:p>
        </p:txBody>
      </p:sp>
      <p:sp>
        <p:nvSpPr>
          <p:cNvPr id="43" name="Rule 42"/>
          <p:cNvSpPr/>
          <p:nvPr/>
        </p:nvSpPr>
        <p:spPr>
          <a:xfrm>
            <a:off x="6764238" y="3950692"/>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37974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أرشفة البريد ونسخه احتياطياً</a:t>
            </a:r>
          </a:p>
        </p:txBody>
      </p:sp>
      <p:sp>
        <p:nvSpPr>
          <p:cNvPr id="45" name="Rule 44"/>
          <p:cNvSpPr/>
          <p:nvPr/>
        </p:nvSpPr>
        <p:spPr>
          <a:xfrm>
            <a:off x="10426700" y="395069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39644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2-4-3-3</a:t>
            </a:r>
          </a:p>
        </p:txBody>
      </p:sp>
      <p:sp>
        <p:nvSpPr>
          <p:cNvPr id="47" name="Text 46"/>
          <p:cNvSpPr txBox="1"/>
          <p:nvPr/>
        </p:nvSpPr>
        <p:spPr>
          <a:xfrm>
            <a:off x="10462260" y="360197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957042"/>
            <a:ext cx="2746772" cy="651470"/>
          </a:xfrm>
          <a:prstGeom prst="rect">
            <a:avLst/>
          </a:prstGeom>
          <a:solidFill>
            <a:srgbClr val="E1EAF4"/>
          </a:solidFill>
          <a:ln>
            <a:noFill/>
          </a:ln>
        </p:spPr>
        <p:txBody>
          <a:bodyPr rtlCol="0" anchor="ctr"/>
          <a:lstStyle/>
          <a:p>
            <a:pPr algn="ctr"/>
          </a:p>
        </p:txBody>
      </p:sp>
      <p:sp>
        <p:nvSpPr>
          <p:cNvPr id="49" name="Rule 48"/>
          <p:cNvSpPr/>
          <p:nvPr/>
        </p:nvSpPr>
        <p:spPr>
          <a:xfrm>
            <a:off x="812800" y="4602162"/>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403121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الحماية المتقدمة، وتقرير بالمرفقات المعزولة</a:t>
            </a:r>
          </a:p>
        </p:txBody>
      </p:sp>
      <p:sp>
        <p:nvSpPr>
          <p:cNvPr id="51" name="Rule 50"/>
          <p:cNvSpPr/>
          <p:nvPr/>
        </p:nvSpPr>
        <p:spPr>
          <a:xfrm>
            <a:off x="3559572" y="4602162"/>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403121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عزل المرفقات وتحليلها في بيئة معزولة قبل التسليم، وفحص الروابط عند النقر</a:t>
            </a:r>
          </a:p>
        </p:txBody>
      </p:sp>
      <p:sp>
        <p:nvSpPr>
          <p:cNvPr id="53" name="Rule 52"/>
          <p:cNvSpPr/>
          <p:nvPr/>
        </p:nvSpPr>
        <p:spPr>
          <a:xfrm>
            <a:off x="6764238" y="4602162"/>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4031210"/>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الحماية من التهديدات المتقدمة المستمرة التي تستخدم عادة برمجيات ضارة غير معروفة مسبقاً، وإدارتها بشكل آمن</a:t>
            </a:r>
          </a:p>
        </p:txBody>
      </p:sp>
      <p:sp>
        <p:nvSpPr>
          <p:cNvPr id="55" name="Rule 54"/>
          <p:cNvSpPr/>
          <p:nvPr/>
        </p:nvSpPr>
        <p:spPr>
          <a:xfrm>
            <a:off x="10426700" y="460216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40479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2-4-3-4</a:t>
            </a:r>
          </a:p>
        </p:txBody>
      </p:sp>
      <p:sp>
        <p:nvSpPr>
          <p:cNvPr id="57" name="Text 56"/>
          <p:cNvSpPr txBox="1"/>
          <p:nvPr/>
        </p:nvSpPr>
        <p:spPr>
          <a:xfrm>
            <a:off x="10462260" y="425344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608512"/>
            <a:ext cx="2746772" cy="651470"/>
          </a:xfrm>
          <a:prstGeom prst="rect">
            <a:avLst/>
          </a:prstGeom>
          <a:solidFill>
            <a:srgbClr val="E1EAF4"/>
          </a:solidFill>
          <a:ln>
            <a:noFill/>
          </a:ln>
        </p:spPr>
        <p:txBody>
          <a:bodyPr rtlCol="0" anchor="ctr"/>
          <a:lstStyle/>
          <a:p>
            <a:pPr algn="ctr"/>
          </a:p>
        </p:txBody>
      </p:sp>
      <p:sp>
        <p:nvSpPr>
          <p:cNvPr id="59" name="Rule 58"/>
          <p:cNvSpPr/>
          <p:nvPr/>
        </p:nvSpPr>
        <p:spPr>
          <a:xfrm>
            <a:off x="812800" y="5253633"/>
            <a:ext cx="2746772" cy="6350"/>
          </a:xfrm>
          <a:prstGeom prst="rect">
            <a:avLst/>
          </a:prstGeom>
          <a:solidFill>
            <a:srgbClr val="DDD7CA"/>
          </a:solidFill>
          <a:ln>
            <a:noFill/>
          </a:ln>
        </p:spPr>
        <p:txBody>
          <a:bodyPr rtlCol="0" anchor="ctr"/>
          <a:lstStyle/>
          <a:p>
            <a:pPr algn="ctr"/>
          </a:p>
        </p:txBody>
      </p:sp>
      <p:sp>
        <p:nvSpPr>
          <p:cNvPr id="60" name="Text 59"/>
          <p:cNvSpPr txBox="1"/>
          <p:nvPr/>
        </p:nvSpPr>
        <p:spPr>
          <a:xfrm>
            <a:off x="865017" y="468268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استعلام DNS يُظهر سجلات SPF وDKIM وDMARC لكل نطاق</a:t>
            </a:r>
          </a:p>
        </p:txBody>
      </p:sp>
      <p:sp>
        <p:nvSpPr>
          <p:cNvPr id="61" name="Rule 60"/>
          <p:cNvSpPr/>
          <p:nvPr/>
        </p:nvSpPr>
        <p:spPr>
          <a:xfrm>
            <a:off x="3559572" y="5253633"/>
            <a:ext cx="3204666" cy="6350"/>
          </a:xfrm>
          <a:prstGeom prst="rect">
            <a:avLst/>
          </a:prstGeom>
          <a:solidFill>
            <a:srgbClr val="DDD7CA"/>
          </a:solidFill>
          <a:ln>
            <a:noFill/>
          </a:ln>
        </p:spPr>
        <p:txBody>
          <a:bodyPr rtlCol="0" anchor="ctr"/>
          <a:lstStyle/>
          <a:p>
            <a:pPr algn="ctr"/>
          </a:p>
        </p:txBody>
      </p:sp>
      <p:sp>
        <p:nvSpPr>
          <p:cNvPr id="62" name="Text 61"/>
          <p:cNvSpPr txBox="1"/>
          <p:nvPr/>
        </p:nvSpPr>
        <p:spPr>
          <a:xfrm>
            <a:off x="3598052" y="468268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نشر SPF وتوقيع DKIM، وسياسة DMARC تتدرج إلى الرفض أو العزل بعد المراقبة</a:t>
            </a:r>
          </a:p>
        </p:txBody>
      </p:sp>
      <p:sp>
        <p:nvSpPr>
          <p:cNvPr id="63" name="Rule 62"/>
          <p:cNvSpPr/>
          <p:nvPr/>
        </p:nvSpPr>
        <p:spPr>
          <a:xfrm>
            <a:off x="6764238" y="5253633"/>
            <a:ext cx="3662462" cy="6350"/>
          </a:xfrm>
          <a:prstGeom prst="rect">
            <a:avLst/>
          </a:prstGeom>
          <a:solidFill>
            <a:srgbClr val="DDD7CA"/>
          </a:solidFill>
          <a:ln>
            <a:noFill/>
          </a:ln>
        </p:spPr>
        <p:txBody>
          <a:bodyPr rtlCol="0" anchor="ctr"/>
          <a:lstStyle/>
          <a:p>
            <a:pPr algn="ctr"/>
          </a:p>
        </p:txBody>
      </p:sp>
      <p:sp>
        <p:nvSpPr>
          <p:cNvPr id="64" name="Text 63"/>
          <p:cNvSpPr txBox="1"/>
          <p:nvPr/>
        </p:nvSpPr>
        <p:spPr>
          <a:xfrm>
            <a:off x="6789638" y="468268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التحقق من نطاقات البريد عبر SPF وDKIM وDMARC</a:t>
            </a:r>
          </a:p>
        </p:txBody>
      </p:sp>
      <p:sp>
        <p:nvSpPr>
          <p:cNvPr id="65" name="Rule 64"/>
          <p:cNvSpPr/>
          <p:nvPr/>
        </p:nvSpPr>
        <p:spPr>
          <a:xfrm>
            <a:off x="10426700" y="5253633"/>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9938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2-4-3-5</a:t>
            </a:r>
          </a:p>
        </p:txBody>
      </p:sp>
      <p:sp>
        <p:nvSpPr>
          <p:cNvPr id="67" name="Text 66"/>
          <p:cNvSpPr txBox="1"/>
          <p:nvPr/>
        </p:nvSpPr>
        <p:spPr>
          <a:xfrm>
            <a:off x="10462260" y="490491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1861" y="812800"/>
            <a:ext cx="1887339"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‎2-4‎ · حماية البريد الإلكتروني</a:t>
            </a:r>
          </a:p>
        </p:txBody>
      </p:sp>
      <p:sp>
        <p:nvSpPr>
          <p:cNvPr id="4" name="Text 3"/>
          <p:cNvSpPr txBox="1"/>
          <p:nvPr/>
        </p:nvSpPr>
        <p:spPr>
          <a:xfrm>
            <a:off x="796867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استعلام حقيقي لسجلات SPF وDMARC</a:t>
            </a:r>
          </a:p>
        </p:txBody>
      </p:sp>
      <p:sp>
        <p:nvSpPr>
          <p:cNvPr id="20" name="Text box 19"/>
          <p:cNvSpPr/>
          <p:nvPr/>
        </p:nvSpPr>
        <p:spPr>
          <a:xfrm>
            <a:off x="9718080" y="1852811"/>
            <a:ext cx="1661120"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استعلام حقيقي للتوضيح</a:t>
            </a:r>
          </a:p>
        </p:txBody>
      </p:sp>
      <p:sp>
        <p:nvSpPr>
          <p:cNvPr id="21" name="Text 20"/>
          <p:cNvSpPr txBox="1"/>
          <p:nvPr/>
        </p:nvSpPr>
        <p:spPr>
          <a:xfrm>
            <a:off x="8676422"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10561241" y="2190552"/>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2-4-3-5</a:t>
            </a:r>
          </a:p>
        </p:txBody>
      </p:sp>
      <p:sp>
        <p:nvSpPr>
          <p:cNvPr id="23" name="Text 22"/>
          <p:cNvSpPr txBox="1"/>
          <p:nvPr/>
        </p:nvSpPr>
        <p:spPr>
          <a:xfrm>
            <a:off x="7961237" y="2530070"/>
            <a:ext cx="34179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4" name="Box 23"/>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6" name="Text 25"/>
          <p:cNvSpPr txBox="1"/>
          <p:nvPr/>
        </p:nvSpPr>
        <p:spPr>
          <a:xfrm>
            <a:off x="7989685" y="2828480"/>
            <a:ext cx="303391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DMARC بقيمة p=reject: البريد المزيف يُرفض.</a:t>
            </a:r>
          </a:p>
        </p:txBody>
      </p:sp>
      <p:sp>
        <p:nvSpPr>
          <p:cNvPr id="27" name="Box 26"/>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9" name="Text 28"/>
          <p:cNvSpPr txBox="1"/>
          <p:nvPr/>
        </p:nvSpPr>
        <p:spPr>
          <a:xfrm>
            <a:off x="7989685" y="3145980"/>
            <a:ext cx="303391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SPF صارم -all لنطاق لا يرسل بريداً.</a:t>
            </a:r>
          </a:p>
        </p:txBody>
      </p:sp>
      <p:sp>
        <p:nvSpPr>
          <p:cNvPr id="30" name="Box 29"/>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1" name="Text 30"/>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2" name="Text 31"/>
          <p:cNvSpPr txBox="1"/>
          <p:nvPr/>
        </p:nvSpPr>
        <p:spPr>
          <a:xfrm>
            <a:off x="7989685" y="3463480"/>
            <a:ext cx="303391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عنوان rua يستقبل تقارير DMARC للمراجعة.</a:t>
            </a:r>
          </a:p>
        </p:txBody>
      </p:sp>
      <p:sp>
        <p:nvSpPr>
          <p:cNvPr id="33" name="Rule 32"/>
          <p:cNvSpPr/>
          <p:nvPr/>
        </p:nvSpPr>
        <p:spPr>
          <a:xfrm>
            <a:off x="8214420" y="3833812"/>
            <a:ext cx="3164780" cy="6350"/>
          </a:xfrm>
          <a:prstGeom prst="rect">
            <a:avLst/>
          </a:prstGeom>
          <a:solidFill>
            <a:srgbClr val="DDD7CA"/>
          </a:solidFill>
          <a:ln>
            <a:noFill/>
          </a:ln>
        </p:spPr>
        <p:txBody>
          <a:bodyPr rtlCol="0" anchor="ctr"/>
          <a:lstStyle/>
          <a:p>
            <a:pPr algn="ctr"/>
          </a:p>
        </p:txBody>
      </p:sp>
      <p:sp>
        <p:nvSpPr>
          <p:cNvPr id="34" name="Text 33"/>
          <p:cNvSpPr txBox="1"/>
          <p:nvPr/>
        </p:nvSpPr>
        <p:spPr>
          <a:xfrm>
            <a:off x="8214420" y="3905440"/>
            <a:ext cx="316478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5" name="Icon CheckCircle 34" descr="icon043.png"/>
          <p:cNvPicPr>
            <a:picLocks noChangeAspect="1"/>
          </p:cNvPicPr>
          <p:nvPr/>
        </p:nvPicPr>
        <p:blipFill>
          <a:blip r:embed="rId3"/>
          <a:stretch>
            <a:fillRect/>
          </a:stretch>
        </p:blipFill>
        <p:spPr>
          <a:xfrm>
            <a:off x="11150600" y="4218583"/>
            <a:ext cx="203200" cy="203200"/>
          </a:xfrm>
          <a:prstGeom prst="rect">
            <a:avLst/>
          </a:prstGeom>
        </p:spPr>
      </p:pic>
      <p:sp>
        <p:nvSpPr>
          <p:cNvPr id="36" name="Text 35"/>
          <p:cNvSpPr txBox="1"/>
          <p:nvPr/>
        </p:nvSpPr>
        <p:spPr>
          <a:xfrm>
            <a:off x="8214420" y="4165751"/>
            <a:ext cx="282188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السياسة رفض أو عزل، لا مراقبة فقط p=none.</a:t>
            </a:r>
          </a:p>
        </p:txBody>
      </p:sp>
      <p:pic>
        <p:nvPicPr>
          <p:cNvPr id="37" name="Icon CheckCircle 36" descr="icon043.png"/>
          <p:cNvPicPr>
            <a:picLocks noChangeAspect="1"/>
          </p:cNvPicPr>
          <p:nvPr/>
        </p:nvPicPr>
        <p:blipFill>
          <a:blip r:embed="rId3"/>
          <a:stretch>
            <a:fillRect/>
          </a:stretch>
        </p:blipFill>
        <p:spPr>
          <a:xfrm>
            <a:off x="11150600" y="4523383"/>
            <a:ext cx="203200" cy="203200"/>
          </a:xfrm>
          <a:prstGeom prst="rect">
            <a:avLst/>
          </a:prstGeom>
        </p:spPr>
      </p:pic>
      <p:sp>
        <p:nvSpPr>
          <p:cNvPr id="38" name="Text 37"/>
          <p:cNvSpPr txBox="1"/>
          <p:nvPr/>
        </p:nvSpPr>
        <p:spPr>
          <a:xfrm>
            <a:off x="8214420" y="4470551"/>
            <a:ext cx="282188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النطاقات الفرعية وغير المرسلة مغطاة.</a:t>
            </a:r>
          </a:p>
        </p:txBody>
      </p:sp>
      <p:pic>
        <p:nvPicPr>
          <p:cNvPr id="39" name="Icon CheckCircle 38" descr="icon043.png"/>
          <p:cNvPicPr>
            <a:picLocks noChangeAspect="1"/>
          </p:cNvPicPr>
          <p:nvPr/>
        </p:nvPicPr>
        <p:blipFill>
          <a:blip r:embed="rId3"/>
          <a:stretch>
            <a:fillRect/>
          </a:stretch>
        </p:blipFill>
        <p:spPr>
          <a:xfrm>
            <a:off x="11150600" y="4828183"/>
            <a:ext cx="203200" cy="203200"/>
          </a:xfrm>
          <a:prstGeom prst="rect">
            <a:avLst/>
          </a:prstGeom>
        </p:spPr>
      </p:pic>
      <p:sp>
        <p:nvSpPr>
          <p:cNvPr id="40" name="Text 39"/>
          <p:cNvSpPr txBox="1"/>
          <p:nvPr/>
        </p:nvSpPr>
        <p:spPr>
          <a:xfrm>
            <a:off x="8214420" y="4775351"/>
            <a:ext cx="282188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سجلات DKIM للخدمات التي ترسل باسم الجهة.</a:t>
            </a:r>
          </a:p>
        </p:txBody>
      </p:sp>
      <p:sp>
        <p:nvSpPr>
          <p:cNvPr id="41" name="Box 40"/>
          <p:cNvSpPr/>
          <p:nvPr/>
        </p:nvSpPr>
        <p:spPr>
          <a:xfrm>
            <a:off x="8214420" y="5234583"/>
            <a:ext cx="3164780" cy="840680"/>
          </a:xfrm>
          <a:prstGeom prst="roundRect">
            <a:avLst>
              <a:gd name="adj" fmla="val 10574"/>
            </a:avLst>
          </a:prstGeom>
          <a:solidFill>
            <a:srgbClr val="ECE8DF"/>
          </a:solidFill>
          <a:ln>
            <a:noFill/>
          </a:ln>
        </p:spPr>
        <p:txBody>
          <a:bodyPr rtlCol="0" anchor="ctr"/>
          <a:lstStyle/>
          <a:p>
            <a:pPr algn="ctr"/>
          </a:p>
        </p:txBody>
      </p:sp>
      <p:pic>
        <p:nvPicPr>
          <p:cNvPr id="42" name="Icon Warning 41" descr="icon028.png"/>
          <p:cNvPicPr>
            <a:picLocks noChangeAspect="1"/>
          </p:cNvPicPr>
          <p:nvPr/>
        </p:nvPicPr>
        <p:blipFill>
          <a:blip r:embed="rId4"/>
          <a:stretch>
            <a:fillRect/>
          </a:stretch>
        </p:blipFill>
        <p:spPr>
          <a:xfrm>
            <a:off x="11074400" y="5323483"/>
            <a:ext cx="190500" cy="190500"/>
          </a:xfrm>
          <a:prstGeom prst="rect">
            <a:avLst/>
          </a:prstGeom>
        </p:spPr>
      </p:pic>
      <p:sp>
        <p:nvSpPr>
          <p:cNvPr id="43" name="Text 42"/>
          <p:cNvSpPr txBox="1"/>
          <p:nvPr/>
        </p:nvSpPr>
        <p:spPr>
          <a:xfrm>
            <a:off x="8249016" y="5296051"/>
            <a:ext cx="2736484"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الاستعلام يثبت ما هو منشور للنطاقين المفحوصين فقط، ولا يثبت تغطية بقية النطاقات ولا إعداد DKIM.</a:t>
            </a:r>
          </a:p>
        </p:txBody>
      </p:sp>
      <p:sp>
        <p:nvSpPr>
          <p:cNvPr id="44" name="Box 43"/>
          <p:cNvSpPr/>
          <p:nvPr/>
        </p:nvSpPr>
        <p:spPr>
          <a:xfrm>
            <a:off x="812800" y="1852811"/>
            <a:ext cx="7096820" cy="2367062"/>
          </a:xfrm>
          <a:prstGeom prst="roundRect">
            <a:avLst>
              <a:gd name="adj" fmla="val 4292"/>
            </a:avLst>
          </a:prstGeom>
          <a:solidFill>
            <a:srgbClr val="0E1A2B"/>
          </a:solidFill>
          <a:ln>
            <a:noFill/>
          </a:ln>
        </p:spPr>
        <p:txBody>
          <a:bodyPr rtlCol="0" anchor="ctr"/>
          <a:lstStyle/>
          <a:p>
            <a:pPr algn="ctr"/>
          </a:p>
        </p:txBody>
      </p:sp>
      <p:sp>
        <p:nvSpPr>
          <p:cNvPr id="45" name="Box 44"/>
          <p:cNvSpPr/>
          <p:nvPr/>
        </p:nvSpPr>
        <p:spPr>
          <a:xfrm>
            <a:off x="812800" y="1852811"/>
            <a:ext cx="7096820" cy="350441"/>
          </a:xfrm>
          <a:prstGeom prst="round2SameRect">
            <a:avLst>
              <a:gd name="adj1" fmla="val 28992"/>
              <a:gd name="adj2" fmla="val 0"/>
            </a:avLst>
          </a:prstGeom>
          <a:solidFill>
            <a:srgbClr val="22344D"/>
          </a:solidFill>
          <a:ln>
            <a:noFill/>
          </a:ln>
        </p:spPr>
        <p:txBody>
          <a:bodyPr rtlCol="0" anchor="ctr"/>
          <a:lstStyle/>
          <a:p>
            <a:pPr algn="ctr"/>
          </a:p>
        </p:txBody>
      </p:sp>
      <p:sp>
        <p:nvSpPr>
          <p:cNvPr id="46" name="Box 45"/>
          <p:cNvSpPr/>
          <p:nvPr/>
        </p:nvSpPr>
        <p:spPr>
          <a:xfrm>
            <a:off x="939800" y="1983581"/>
            <a:ext cx="88900" cy="88900"/>
          </a:xfrm>
          <a:prstGeom prst="roundRect">
            <a:avLst>
              <a:gd name="adj" fmla="val 50000"/>
            </a:avLst>
          </a:prstGeom>
          <a:solidFill>
            <a:srgbClr val="E46A5A"/>
          </a:solidFill>
          <a:ln>
            <a:noFill/>
          </a:ln>
        </p:spPr>
        <p:txBody>
          <a:bodyPr rtlCol="0" anchor="ctr"/>
          <a:lstStyle/>
          <a:p>
            <a:pPr algn="ctr"/>
          </a:p>
        </p:txBody>
      </p:sp>
      <p:sp>
        <p:nvSpPr>
          <p:cNvPr id="47" name="Box 46"/>
          <p:cNvSpPr/>
          <p:nvPr/>
        </p:nvSpPr>
        <p:spPr>
          <a:xfrm>
            <a:off x="1092200" y="1983581"/>
            <a:ext cx="88900" cy="88900"/>
          </a:xfrm>
          <a:prstGeom prst="roundRect">
            <a:avLst>
              <a:gd name="adj" fmla="val 50000"/>
            </a:avLst>
          </a:prstGeom>
          <a:solidFill>
            <a:srgbClr val="E8B44A"/>
          </a:solidFill>
          <a:ln>
            <a:noFill/>
          </a:ln>
        </p:spPr>
        <p:txBody>
          <a:bodyPr rtlCol="0" anchor="ctr"/>
          <a:lstStyle/>
          <a:p>
            <a:pPr algn="ctr"/>
          </a:p>
        </p:txBody>
      </p:sp>
      <p:sp>
        <p:nvSpPr>
          <p:cNvPr id="48" name="Box 47"/>
          <p:cNvSpPr/>
          <p:nvPr/>
        </p:nvSpPr>
        <p:spPr>
          <a:xfrm>
            <a:off x="1244600" y="1983581"/>
            <a:ext cx="88900" cy="88900"/>
          </a:xfrm>
          <a:prstGeom prst="roundRect">
            <a:avLst>
              <a:gd name="adj" fmla="val 50000"/>
            </a:avLst>
          </a:prstGeom>
          <a:solidFill>
            <a:srgbClr val="5DB27A"/>
          </a:solidFill>
          <a:ln>
            <a:noFill/>
          </a:ln>
        </p:spPr>
        <p:txBody>
          <a:bodyPr rtlCol="0" anchor="ctr"/>
          <a:lstStyle/>
          <a:p>
            <a:pPr algn="ctr"/>
          </a:p>
        </p:txBody>
      </p:sp>
      <p:sp>
        <p:nvSpPr>
          <p:cNvPr id="49" name="Text 48"/>
          <p:cNvSpPr txBox="1"/>
          <p:nvPr/>
        </p:nvSpPr>
        <p:spPr>
          <a:xfrm>
            <a:off x="1397000" y="1919105"/>
            <a:ext cx="2271391" cy="198041"/>
          </a:xfrm>
          <a:prstGeom prst="rect">
            <a:avLst/>
          </a:prstGeom>
          <a:noFill/>
        </p:spPr>
        <p:txBody>
          <a:bodyPr wrap="square" tIns="0" rIns="0" bIns="0" lIns="0" anchor="t" rtlCol="0" anchorCtr="0">
            <a:noAutofit/>
          </a:bodyPr>
          <a:lstStyle/>
          <a:p>
            <a:pPr algn="l">
              <a:lnSpc>
                <a:spcPts val="1560"/>
              </a:lnSpc>
              <a:spcBef>
                <a:spcPts val="0"/>
              </a:spcBef>
              <a:spcAft>
                <a:spcPts val="0"/>
              </a:spcAft>
            </a:pPr>
            <a:r>
              <a:rPr sz="1200" b="0" i="0">
                <a:solidFill>
                  <a:srgbClr val="AEBACB"/>
                </a:solidFill>
                <a:latin typeface="IBM Plex Mono"/>
                <a:ea typeface="IBM Plex Mono"/>
                <a:cs typeface="IBM Plex Mono"/>
              </a:rPr>
              <a:t>DNS lookup · 2026-10-17</a:t>
            </a:r>
          </a:p>
        </p:txBody>
      </p:sp>
      <p:sp>
        <p:nvSpPr>
          <p:cNvPr id="50" name="Text 49"/>
          <p:cNvSpPr txBox="1"/>
          <p:nvPr/>
        </p:nvSpPr>
        <p:spPr>
          <a:xfrm>
            <a:off x="977900" y="232161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FB2EA"/>
                </a:solidFill>
                <a:latin typeface="IBM Plex Mono"/>
                <a:ea typeface="IBM Plex Mono"/>
                <a:cs typeface="IBM Plex Mono"/>
              </a:rPr>
              <a:t>$ dig +short TXT _dmarc.gov.uk</a:t>
            </a:r>
          </a:p>
        </p:txBody>
      </p:sp>
      <p:sp>
        <p:nvSpPr>
          <p:cNvPr id="51" name="Text 50"/>
          <p:cNvSpPr txBox="1"/>
          <p:nvPr/>
        </p:nvSpPr>
        <p:spPr>
          <a:xfrm>
            <a:off x="977900" y="2580676"/>
            <a:ext cx="6906320" cy="44192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CCBA2"/>
                </a:solidFill>
                <a:latin typeface="IBM Plex Mono"/>
                <a:ea typeface="IBM Plex Mono"/>
                <a:cs typeface="IBM Plex Mono"/>
              </a:rPr>
              <a:t>"v=DMARC1;p=reject;sp=none;np=reject;adkim=s;aspf=s;fo=1;rua=mailto:dmarc-rua@dmarc.service.gov.uk"</a:t>
            </a:r>
          </a:p>
        </p:txBody>
      </p:sp>
      <p:sp>
        <p:nvSpPr>
          <p:cNvPr id="52" name="Text 51"/>
          <p:cNvSpPr txBox="1"/>
          <p:nvPr/>
        </p:nvSpPr>
        <p:spPr>
          <a:xfrm>
            <a:off x="977900" y="306069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FB2EA"/>
                </a:solidFill>
                <a:latin typeface="IBM Plex Mono"/>
                <a:ea typeface="IBM Plex Mono"/>
                <a:cs typeface="IBM Plex Mono"/>
              </a:rPr>
              <a:t>$ dig +short TXT gov.uk | grep spf</a:t>
            </a:r>
          </a:p>
        </p:txBody>
      </p:sp>
      <p:sp>
        <p:nvSpPr>
          <p:cNvPr id="53" name="Text 52"/>
          <p:cNvSpPr txBox="1"/>
          <p:nvPr/>
        </p:nvSpPr>
        <p:spPr>
          <a:xfrm>
            <a:off x="977900" y="331975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CCBA2"/>
                </a:solidFill>
                <a:latin typeface="IBM Plex Mono"/>
                <a:ea typeface="IBM Plex Mono"/>
                <a:cs typeface="IBM Plex Mono"/>
              </a:rPr>
              <a:t>"v=spf1 -all"</a:t>
            </a:r>
          </a:p>
        </p:txBody>
      </p:sp>
      <p:sp>
        <p:nvSpPr>
          <p:cNvPr id="54" name="Text 53"/>
          <p:cNvSpPr txBox="1"/>
          <p:nvPr/>
        </p:nvSpPr>
        <p:spPr>
          <a:xfrm>
            <a:off x="977900" y="357881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FB2EA"/>
                </a:solidFill>
                <a:latin typeface="IBM Plex Mono"/>
                <a:ea typeface="IBM Plex Mono"/>
                <a:cs typeface="IBM Plex Mono"/>
              </a:rPr>
              <a:t>$ dig +short TXT _dmarc.google.com</a:t>
            </a:r>
          </a:p>
        </p:txBody>
      </p:sp>
      <p:sp>
        <p:nvSpPr>
          <p:cNvPr id="55" name="Text 54"/>
          <p:cNvSpPr txBox="1"/>
          <p:nvPr/>
        </p:nvSpPr>
        <p:spPr>
          <a:xfrm>
            <a:off x="977900" y="3837876"/>
            <a:ext cx="6906320" cy="220960"/>
          </a:xfrm>
          <a:prstGeom prst="rect">
            <a:avLst/>
          </a:prstGeom>
          <a:noFill/>
        </p:spPr>
        <p:txBody>
          <a:bodyPr wrap="square" tIns="0" rIns="0" bIns="0" lIns="0" anchor="t" rtlCol="0" anchorCtr="0">
            <a:noAutofit/>
          </a:bodyPr>
          <a:lstStyle/>
          <a:p>
            <a:pPr algn="l">
              <a:lnSpc>
                <a:spcPts val="1739"/>
              </a:lnSpc>
              <a:spcBef>
                <a:spcPts val="0"/>
              </a:spcBef>
              <a:spcAft>
                <a:spcPts val="0"/>
              </a:spcAft>
            </a:pPr>
            <a:r>
              <a:rPr sz="1200" b="0" i="0">
                <a:solidFill>
                  <a:srgbClr val="7CCBA2"/>
                </a:solidFill>
                <a:latin typeface="IBM Plex Mono"/>
                <a:ea typeface="IBM Plex Mono"/>
                <a:cs typeface="IBM Plex Mono"/>
              </a:rPr>
              <a:t>"v=DMARC1; p=reject; rua=mailto:mailauth-reports@google.com"</a:t>
            </a:r>
          </a:p>
        </p:txBody>
      </p:sp>
      <p:sp>
        <p:nvSpPr>
          <p:cNvPr id="56" name="Text 55"/>
          <p:cNvSpPr txBox="1"/>
          <p:nvPr/>
        </p:nvSpPr>
        <p:spPr>
          <a:xfrm>
            <a:off x="245054" y="4285151"/>
            <a:ext cx="766456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استعلام DNS حقيقي لنطاقين عامين عبر الإنترنت، نُفذ بتاريخ ‎2026-10-17‎ · السجلات عامة ويمكن لأي شخص الاستعلام عنها</a:t>
            </a:r>
          </a:p>
        </p:txBody>
      </p:sp>
      <p:sp>
        <p:nvSpPr>
          <p:cNvPr id="57" name="Text 5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58" name="Box 5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9" name="Box 5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2" name="Box 6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3" name="Box 6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4" name="Box 6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5" name="Box 6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Box 6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Text 6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5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‎2-5‎ إدارة أمن الشبكات</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شبكات الجهة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شبكة مسطحة بلا تقسيم: مهاجم يدخل من جهاز موظف يصل مباشرة إلى خوادم قواعد البيانات.</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سفينة مقسمة إلى غرف محكمة الإغلاق: لو دخل الماء غرفة، لا تغرق السفينة كلها.</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تقسيم الشبكة إلى مناطق بينها جدران نارية، وعزل بيئات الاختبار، وتأمين التصفح واللاسلكي، وأنظمة لكشف الاختراق ومنعه.</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المنطقة الشبكية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جزء معزول من الشبكة بقواعد خاصة</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الرفض الافتراضي</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كل ما لم يُسمح به صراحة ممنوع</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نظام منع الاختراق</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يوقف الحركة الهجومية المعروفة</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3</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أمن الشبكات: المتطلبات والعزل والتقسيم</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ومعايير أجهزة الشبكة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ومعايير لأجهزة الشبكة والجدران النارية تغطي البنود التسعة في ‎2-5-3‎</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مخطط الشبكة المحدث، وتصدير إعدادات الأجهزة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تطبيق المعايير على كل أجهزة الشبكة، ومخطط شبكة محدث ومعتمد</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مخطط المناطق الشبكية، وقواعد الجدار الناري بين المناطق ومراجعتها</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تقسيم الشبكة إلى مناطق حسب الحساسية، وجدار ناري بين المناطق، ومبدأ الرفض الافتراضي</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العزل والتقسيم المادي أو المنطقي للشبكة بأمان، بجدار ناري ومبدأ الدفاع متعدد المراحل</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1798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ومراجعة قواعد الجدار الناري</a:t>
            </a:r>
          </a:p>
        </p:txBody>
      </p:sp>
      <p:sp>
        <p:nvSpPr>
          <p:cNvPr id="61" name="Rule 60"/>
          <p:cNvSpPr/>
          <p:nvPr/>
        </p:nvSpPr>
        <p:spPr>
          <a:xfrm>
            <a:off x="3864769" y="51798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4093" y="442481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ومراجعة دورية لقواعد الجدار الناري وإزالة غير المستخدم</a:t>
            </a:r>
          </a:p>
        </p:txBody>
      </p:sp>
      <p:sp>
        <p:nvSpPr>
          <p:cNvPr id="63" name="Rule 62"/>
          <p:cNvSpPr/>
          <p:nvPr/>
        </p:nvSpPr>
        <p:spPr>
          <a:xfrm>
            <a:off x="7374632" y="51798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2481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3</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البيئات والتصفح واللاسلكي والمنافذ</a:t>
            </a:r>
          </a:p>
        </p:txBody>
      </p:sp>
      <p:sp>
        <p:nvSpPr>
          <p:cNvPr id="20" name="Rule 19"/>
          <p:cNvSpPr/>
          <p:nvPr/>
        </p:nvSpPr>
        <p:spPr>
          <a:xfrm>
            <a:off x="812800" y="2193131"/>
            <a:ext cx="27467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1D5B9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1D5B9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مخطط البيئات، وقواعد الجدار الناري بينها</a:t>
            </a:r>
          </a:p>
        </p:txBody>
      </p:sp>
      <p:sp>
        <p:nvSpPr>
          <p:cNvPr id="31" name="Rule 30"/>
          <p:cNvSpPr/>
          <p:nvPr/>
        </p:nvSpPr>
        <p:spPr>
          <a:xfrm>
            <a:off x="3559572" y="285730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مناطق منفصلة للتطوير والاختبار، ومنع الاتصال المباشر بالإنتاج إلا بقواعد محددة</a:t>
            </a:r>
          </a:p>
        </p:txBody>
      </p:sp>
      <p:sp>
        <p:nvSpPr>
          <p:cNvPr id="33" name="Rule 32"/>
          <p:cNvSpPr/>
          <p:nvPr/>
        </p:nvSpPr>
        <p:spPr>
          <a:xfrm>
            <a:off x="6764238" y="285730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عزل شبكة الإنتاج عن شبكات الاختبار والتطوير</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746772" cy="872430"/>
          </a:xfrm>
          <a:prstGeom prst="rect">
            <a:avLst/>
          </a:prstGeom>
          <a:solidFill>
            <a:srgbClr val="E1EAF4"/>
          </a:solidFill>
          <a:ln>
            <a:noFill/>
          </a:ln>
        </p:spPr>
        <p:txBody>
          <a:bodyPr rtlCol="0" anchor="ctr"/>
          <a:lstStyle/>
          <a:p>
            <a:pPr algn="ctr"/>
          </a:p>
        </p:txBody>
      </p:sp>
      <p:sp>
        <p:nvSpPr>
          <p:cNvPr id="39" name="Rule 38"/>
          <p:cNvSpPr/>
          <p:nvPr/>
        </p:nvSpPr>
        <p:spPr>
          <a:xfrm>
            <a:off x="812800" y="3729732"/>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293782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سياسة التصفية في الوكيل، وتقرير المحجوب، وسجل الاستثناءات</a:t>
            </a:r>
          </a:p>
        </p:txBody>
      </p:sp>
      <p:sp>
        <p:nvSpPr>
          <p:cNvPr id="41" name="Rule 40"/>
          <p:cNvSpPr/>
          <p:nvPr/>
        </p:nvSpPr>
        <p:spPr>
          <a:xfrm>
            <a:off x="3559572" y="3729732"/>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293782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وكيل ويب بتصنيف المواقع يحجب الفئات الثلاث، واستثناءات معتمدة بمبرر</a:t>
            </a:r>
          </a:p>
        </p:txBody>
      </p:sp>
      <p:sp>
        <p:nvSpPr>
          <p:cNvPr id="43" name="Rule 42"/>
          <p:cNvSpPr/>
          <p:nvPr/>
        </p:nvSpPr>
        <p:spPr>
          <a:xfrm>
            <a:off x="6764238" y="3729732"/>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2937820"/>
            <a:ext cx="3510062"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أمن التصفح والاتصال بالإنترنت، مع التقييد الحازم للمواقع المشبوهة ومواقع مشاركة وتخزين الملفات ومواقع الدخول عن بعد</a:t>
            </a:r>
          </a:p>
        </p:txBody>
      </p:sp>
      <p:sp>
        <p:nvSpPr>
          <p:cNvPr id="45" name="Rule 44"/>
          <p:cNvSpPr/>
          <p:nvPr/>
        </p:nvSpPr>
        <p:spPr>
          <a:xfrm>
            <a:off x="10426700" y="372973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736082"/>
            <a:ext cx="2746772" cy="1093391"/>
          </a:xfrm>
          <a:prstGeom prst="rect">
            <a:avLst/>
          </a:prstGeom>
          <a:solidFill>
            <a:srgbClr val="E1EAF4"/>
          </a:solidFill>
          <a:ln>
            <a:noFill/>
          </a:ln>
        </p:spPr>
        <p:txBody>
          <a:bodyPr rtlCol="0" anchor="ctr"/>
          <a:lstStyle/>
          <a:p>
            <a:pPr algn="ctr"/>
          </a:p>
        </p:txBody>
      </p:sp>
      <p:sp>
        <p:nvSpPr>
          <p:cNvPr id="49" name="Rule 48"/>
          <p:cNvSpPr/>
          <p:nvPr/>
        </p:nvSpPr>
        <p:spPr>
          <a:xfrm>
            <a:off x="812800" y="4823123"/>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381025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وحدة التحكم اللاسلكية، وتقييم المخاطر إن وُجد ربط داخلي</a:t>
            </a:r>
          </a:p>
        </p:txBody>
      </p:sp>
      <p:sp>
        <p:nvSpPr>
          <p:cNvPr id="51" name="Rule 50"/>
          <p:cNvSpPr/>
          <p:nvPr/>
        </p:nvSpPr>
        <p:spPr>
          <a:xfrm>
            <a:off x="3559572" y="4823123"/>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81025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تشفير حديث ومصادقة مركزية، وشبكة ضيوف معزولة، وتقييم مخاطر موثق لأي ربط بالداخل</a:t>
            </a:r>
          </a:p>
        </p:txBody>
      </p:sp>
      <p:sp>
        <p:nvSpPr>
          <p:cNvPr id="53" name="Rule 52"/>
          <p:cNvSpPr/>
          <p:nvPr/>
        </p:nvSpPr>
        <p:spPr>
          <a:xfrm>
            <a:off x="6764238" y="4823123"/>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810250"/>
            <a:ext cx="3510062" cy="883841"/>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أمن الشبكات اللاسلكية وحمايتها بوسائل آمنة للتحقق من الهوية والتشفير، وعدم ربطها بالشبكة الداخلية إلا بعد دراسة متكاملة للمخاطر والتعامل معها بما يحمي الأصول التقنية</a:t>
            </a:r>
          </a:p>
        </p:txBody>
      </p:sp>
      <p:sp>
        <p:nvSpPr>
          <p:cNvPr id="55" name="Rule 54"/>
          <p:cNvSpPr/>
          <p:nvPr/>
        </p:nvSpPr>
        <p:spPr>
          <a:xfrm>
            <a:off x="10426700" y="482312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82695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2-5-3-4</a:t>
            </a:r>
          </a:p>
        </p:txBody>
      </p:sp>
      <p:sp>
        <p:nvSpPr>
          <p:cNvPr id="57" name="Text 56"/>
          <p:cNvSpPr txBox="1"/>
          <p:nvPr/>
        </p:nvSpPr>
        <p:spPr>
          <a:xfrm>
            <a:off x="10462260" y="403248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829473"/>
            <a:ext cx="2746772" cy="651470"/>
          </a:xfrm>
          <a:prstGeom prst="rect">
            <a:avLst/>
          </a:prstGeom>
          <a:solidFill>
            <a:srgbClr val="E1EAF4"/>
          </a:solidFill>
          <a:ln>
            <a:noFill/>
          </a:ln>
        </p:spPr>
        <p:txBody>
          <a:bodyPr rtlCol="0" anchor="ctr"/>
          <a:lstStyle/>
          <a:p>
            <a:pPr algn="ctr"/>
          </a:p>
        </p:txBody>
      </p:sp>
      <p:sp>
        <p:nvSpPr>
          <p:cNvPr id="59" name="Rule 58"/>
          <p:cNvSpPr/>
          <p:nvPr/>
        </p:nvSpPr>
        <p:spPr>
          <a:xfrm>
            <a:off x="812800" y="5474593"/>
            <a:ext cx="2746772" cy="6350"/>
          </a:xfrm>
          <a:prstGeom prst="rect">
            <a:avLst/>
          </a:prstGeom>
          <a:solidFill>
            <a:srgbClr val="DDD7CA"/>
          </a:solidFill>
          <a:ln>
            <a:noFill/>
          </a:ln>
        </p:spPr>
        <p:txBody>
          <a:bodyPr rtlCol="0" anchor="ctr"/>
          <a:lstStyle/>
          <a:p>
            <a:pPr algn="ctr"/>
          </a:p>
        </p:txBody>
      </p:sp>
      <p:sp>
        <p:nvSpPr>
          <p:cNvPr id="60" name="Text 59"/>
          <p:cNvSpPr txBox="1"/>
          <p:nvPr/>
        </p:nvSpPr>
        <p:spPr>
          <a:xfrm>
            <a:off x="865017" y="4903641"/>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القائمة المعتمدة، ونتيجة فحص منافذ تطابقها</a:t>
            </a:r>
          </a:p>
        </p:txBody>
      </p:sp>
      <p:sp>
        <p:nvSpPr>
          <p:cNvPr id="61" name="Rule 60"/>
          <p:cNvSpPr/>
          <p:nvPr/>
        </p:nvSpPr>
        <p:spPr>
          <a:xfrm>
            <a:off x="3559572" y="5474593"/>
            <a:ext cx="3204666" cy="6350"/>
          </a:xfrm>
          <a:prstGeom prst="rect">
            <a:avLst/>
          </a:prstGeom>
          <a:solidFill>
            <a:srgbClr val="DDD7CA"/>
          </a:solidFill>
          <a:ln>
            <a:noFill/>
          </a:ln>
        </p:spPr>
        <p:txBody>
          <a:bodyPr rtlCol="0" anchor="ctr"/>
          <a:lstStyle/>
          <a:p>
            <a:pPr algn="ctr"/>
          </a:p>
        </p:txBody>
      </p:sp>
      <p:sp>
        <p:nvSpPr>
          <p:cNvPr id="62" name="Text 61"/>
          <p:cNvSpPr txBox="1"/>
          <p:nvPr/>
        </p:nvSpPr>
        <p:spPr>
          <a:xfrm>
            <a:off x="3598052" y="490364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معتمدة بالمنافذ والبروتوكولات المسموحة، وتعطيل البروتوكولات غير الآمنة</a:t>
            </a:r>
          </a:p>
        </p:txBody>
      </p:sp>
      <p:sp>
        <p:nvSpPr>
          <p:cNvPr id="63" name="Rule 62"/>
          <p:cNvSpPr/>
          <p:nvPr/>
        </p:nvSpPr>
        <p:spPr>
          <a:xfrm>
            <a:off x="6764238" y="5474593"/>
            <a:ext cx="3662462" cy="6350"/>
          </a:xfrm>
          <a:prstGeom prst="rect">
            <a:avLst/>
          </a:prstGeom>
          <a:solidFill>
            <a:srgbClr val="DDD7CA"/>
          </a:solidFill>
          <a:ln>
            <a:noFill/>
          </a:ln>
        </p:spPr>
        <p:txBody>
          <a:bodyPr rtlCol="0" anchor="ctr"/>
          <a:lstStyle/>
          <a:p>
            <a:pPr algn="ctr"/>
          </a:p>
        </p:txBody>
      </p:sp>
      <p:sp>
        <p:nvSpPr>
          <p:cNvPr id="64" name="Text 63"/>
          <p:cNvSpPr txBox="1"/>
          <p:nvPr/>
        </p:nvSpPr>
        <p:spPr>
          <a:xfrm>
            <a:off x="6789638" y="4903641"/>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تقييد وإدارة خدمات الشبكة والبروتوكولات والمنافذ</a:t>
            </a:r>
          </a:p>
        </p:txBody>
      </p:sp>
      <p:sp>
        <p:nvSpPr>
          <p:cNvPr id="65" name="Rule 64"/>
          <p:cNvSpPr/>
          <p:nvPr/>
        </p:nvSpPr>
        <p:spPr>
          <a:xfrm>
            <a:off x="10426700" y="5474593"/>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9203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2-5-3-5</a:t>
            </a:r>
          </a:p>
        </p:txBody>
      </p:sp>
      <p:sp>
        <p:nvSpPr>
          <p:cNvPr id="67" name="Text 66"/>
          <p:cNvSpPr txBox="1"/>
          <p:nvPr/>
        </p:nvSpPr>
        <p:spPr>
          <a:xfrm>
            <a:off x="10462260" y="51258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3 من 3</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منع الاختراق وDNS وحجب الخدمة</a:t>
            </a:r>
          </a:p>
        </p:txBody>
      </p:sp>
      <p:sp>
        <p:nvSpPr>
          <p:cNvPr id="20" name="Rule 19"/>
          <p:cNvSpPr/>
          <p:nvPr/>
        </p:nvSpPr>
        <p:spPr>
          <a:xfrm>
            <a:off x="812800" y="2193131"/>
            <a:ext cx="3204567"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305216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4017367" y="2193131"/>
            <a:ext cx="3815060" cy="19050"/>
          </a:xfrm>
          <a:prstGeom prst="rect">
            <a:avLst/>
          </a:prstGeom>
          <a:solidFill>
            <a:srgbClr val="1D5B9E"/>
          </a:solidFill>
          <a:ln>
            <a:noFill/>
          </a:ln>
        </p:spPr>
        <p:txBody>
          <a:bodyPr rtlCol="0" anchor="ctr"/>
          <a:lstStyle/>
          <a:p>
            <a:pPr algn="ctr"/>
          </a:p>
        </p:txBody>
      </p:sp>
      <p:sp>
        <p:nvSpPr>
          <p:cNvPr id="23" name="Text 22"/>
          <p:cNvSpPr txBox="1"/>
          <p:nvPr/>
        </p:nvSpPr>
        <p:spPr>
          <a:xfrm>
            <a:off x="4042767" y="1892689"/>
            <a:ext cx="366266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832427" y="2193131"/>
            <a:ext cx="2594273" cy="19050"/>
          </a:xfrm>
          <a:prstGeom prst="rect">
            <a:avLst/>
          </a:prstGeom>
          <a:solidFill>
            <a:srgbClr val="1D5B9E"/>
          </a:solidFill>
          <a:ln>
            <a:noFill/>
          </a:ln>
        </p:spPr>
        <p:txBody>
          <a:bodyPr rtlCol="0" anchor="ctr"/>
          <a:lstStyle/>
          <a:p>
            <a:pPr algn="ctr"/>
          </a:p>
        </p:txBody>
      </p:sp>
      <p:sp>
        <p:nvSpPr>
          <p:cNvPr id="25" name="Text 24"/>
          <p:cNvSpPr txBox="1"/>
          <p:nvPr/>
        </p:nvSpPr>
        <p:spPr>
          <a:xfrm>
            <a:off x="7857827" y="1892689"/>
            <a:ext cx="244187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204567"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204567" cy="6350"/>
          </a:xfrm>
          <a:prstGeom prst="rect">
            <a:avLst/>
          </a:prstGeom>
          <a:solidFill>
            <a:srgbClr val="DDD7CA"/>
          </a:solidFill>
          <a:ln>
            <a:noFill/>
          </a:ln>
        </p:spPr>
        <p:txBody>
          <a:bodyPr rtlCol="0" anchor="ctr"/>
          <a:lstStyle/>
          <a:p>
            <a:pPr algn="ctr"/>
          </a:p>
        </p:txBody>
      </p:sp>
      <p:sp>
        <p:nvSpPr>
          <p:cNvPr id="30" name="Text 29"/>
          <p:cNvSpPr txBox="1"/>
          <p:nvPr/>
        </p:nvSpPr>
        <p:spPr>
          <a:xfrm>
            <a:off x="851283" y="2286349"/>
            <a:ext cx="303908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النظام ووضع التشغيل، وحالة تحديث التواقيع</a:t>
            </a:r>
          </a:p>
        </p:txBody>
      </p:sp>
      <p:sp>
        <p:nvSpPr>
          <p:cNvPr id="31" name="Rule 30"/>
          <p:cNvSpPr/>
          <p:nvPr/>
        </p:nvSpPr>
        <p:spPr>
          <a:xfrm>
            <a:off x="4017367" y="2857302"/>
            <a:ext cx="3815060" cy="6350"/>
          </a:xfrm>
          <a:prstGeom prst="rect">
            <a:avLst/>
          </a:prstGeom>
          <a:solidFill>
            <a:srgbClr val="DDD7CA"/>
          </a:solidFill>
          <a:ln>
            <a:noFill/>
          </a:ln>
        </p:spPr>
        <p:txBody>
          <a:bodyPr rtlCol="0" anchor="ctr"/>
          <a:lstStyle/>
          <a:p>
            <a:pPr algn="ctr"/>
          </a:p>
        </p:txBody>
      </p:sp>
      <p:sp>
        <p:nvSpPr>
          <p:cNvPr id="32" name="Text 31"/>
          <p:cNvSpPr txBox="1"/>
          <p:nvPr/>
        </p:nvSpPr>
        <p:spPr>
          <a:xfrm>
            <a:off x="4042767" y="2286349"/>
            <a:ext cx="36626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نظام منع اختراق على حدود الشبكة وبين المناطق الحساسة، بوضع المنع لا المراقبة فقط</a:t>
            </a:r>
          </a:p>
        </p:txBody>
      </p:sp>
      <p:sp>
        <p:nvSpPr>
          <p:cNvPr id="33" name="Rule 32"/>
          <p:cNvSpPr/>
          <p:nvPr/>
        </p:nvSpPr>
        <p:spPr>
          <a:xfrm>
            <a:off x="7832427" y="2857302"/>
            <a:ext cx="2594273" cy="6350"/>
          </a:xfrm>
          <a:prstGeom prst="rect">
            <a:avLst/>
          </a:prstGeom>
          <a:solidFill>
            <a:srgbClr val="DDD7CA"/>
          </a:solidFill>
          <a:ln>
            <a:noFill/>
          </a:ln>
        </p:spPr>
        <p:txBody>
          <a:bodyPr rtlCol="0" anchor="ctr"/>
          <a:lstStyle/>
          <a:p>
            <a:pPr algn="ctr"/>
          </a:p>
        </p:txBody>
      </p:sp>
      <p:sp>
        <p:nvSpPr>
          <p:cNvPr id="34" name="Text 33"/>
          <p:cNvSpPr txBox="1"/>
          <p:nvPr/>
        </p:nvSpPr>
        <p:spPr>
          <a:xfrm>
            <a:off x="7889219" y="2286349"/>
            <a:ext cx="241048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أنظمة الحماية المتقدمة لاكتشاف الاختراقات ومنعها (IPS)</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2-5-3-6</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204567"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204567" cy="6350"/>
          </a:xfrm>
          <a:prstGeom prst="rect">
            <a:avLst/>
          </a:prstGeom>
          <a:solidFill>
            <a:srgbClr val="DDD7CA"/>
          </a:solidFill>
          <a:ln>
            <a:noFill/>
          </a:ln>
        </p:spPr>
        <p:txBody>
          <a:bodyPr rtlCol="0" anchor="ctr"/>
          <a:lstStyle/>
          <a:p>
            <a:pPr algn="ctr"/>
          </a:p>
        </p:txBody>
      </p:sp>
      <p:sp>
        <p:nvSpPr>
          <p:cNvPr id="40" name="Text 39"/>
          <p:cNvSpPr txBox="1"/>
          <p:nvPr/>
        </p:nvSpPr>
        <p:spPr>
          <a:xfrm>
            <a:off x="851283" y="2937820"/>
            <a:ext cx="303908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خوادم DNS والتصفية، وقواعد الجدار الناري لحركة DNS</a:t>
            </a:r>
          </a:p>
        </p:txBody>
      </p:sp>
      <p:sp>
        <p:nvSpPr>
          <p:cNvPr id="41" name="Rule 40"/>
          <p:cNvSpPr/>
          <p:nvPr/>
        </p:nvSpPr>
        <p:spPr>
          <a:xfrm>
            <a:off x="4017367" y="3508772"/>
            <a:ext cx="3815060" cy="6350"/>
          </a:xfrm>
          <a:prstGeom prst="rect">
            <a:avLst/>
          </a:prstGeom>
          <a:solidFill>
            <a:srgbClr val="DDD7CA"/>
          </a:solidFill>
          <a:ln>
            <a:noFill/>
          </a:ln>
        </p:spPr>
        <p:txBody>
          <a:bodyPr rtlCol="0" anchor="ctr"/>
          <a:lstStyle/>
          <a:p>
            <a:pPr algn="ctr"/>
          </a:p>
        </p:txBody>
      </p:sp>
      <p:sp>
        <p:nvSpPr>
          <p:cNvPr id="42" name="Text 41"/>
          <p:cNvSpPr txBox="1"/>
          <p:nvPr/>
        </p:nvSpPr>
        <p:spPr>
          <a:xfrm>
            <a:off x="4042767" y="2937820"/>
            <a:ext cx="36626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خوادم DNS داخلية مقواة، وتصفية للنطاقات الضارة، ومنع الاستعلام المباشر من الأجهزة للخارج</a:t>
            </a:r>
          </a:p>
        </p:txBody>
      </p:sp>
      <p:sp>
        <p:nvSpPr>
          <p:cNvPr id="43" name="Rule 42"/>
          <p:cNvSpPr/>
          <p:nvPr/>
        </p:nvSpPr>
        <p:spPr>
          <a:xfrm>
            <a:off x="7832427" y="3508772"/>
            <a:ext cx="2594273" cy="6350"/>
          </a:xfrm>
          <a:prstGeom prst="rect">
            <a:avLst/>
          </a:prstGeom>
          <a:solidFill>
            <a:srgbClr val="DDD7CA"/>
          </a:solidFill>
          <a:ln>
            <a:noFill/>
          </a:ln>
        </p:spPr>
        <p:txBody>
          <a:bodyPr rtlCol="0" anchor="ctr"/>
          <a:lstStyle/>
          <a:p>
            <a:pPr algn="ctr"/>
          </a:p>
        </p:txBody>
      </p:sp>
      <p:sp>
        <p:nvSpPr>
          <p:cNvPr id="44" name="Text 43"/>
          <p:cNvSpPr txBox="1"/>
          <p:nvPr/>
        </p:nvSpPr>
        <p:spPr>
          <a:xfrm>
            <a:off x="7857827" y="2937820"/>
            <a:ext cx="244187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أمن نظام أسماء النطاقات</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2-5-3-7</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3204567"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3204567" cy="6350"/>
          </a:xfrm>
          <a:prstGeom prst="rect">
            <a:avLst/>
          </a:prstGeom>
          <a:solidFill>
            <a:srgbClr val="DDD7CA"/>
          </a:solidFill>
          <a:ln>
            <a:noFill/>
          </a:ln>
        </p:spPr>
        <p:txBody>
          <a:bodyPr rtlCol="0" anchor="ctr"/>
          <a:lstStyle/>
          <a:p>
            <a:pPr algn="ctr"/>
          </a:p>
        </p:txBody>
      </p:sp>
      <p:sp>
        <p:nvSpPr>
          <p:cNvPr id="50" name="Text 49"/>
          <p:cNvSpPr txBox="1"/>
          <p:nvPr/>
        </p:nvSpPr>
        <p:spPr>
          <a:xfrm>
            <a:off x="851283" y="3589290"/>
            <a:ext cx="303908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الحماية المتقدمة، وتقرير الملفات المحللة أو المحجوبة</a:t>
            </a:r>
          </a:p>
        </p:txBody>
      </p:sp>
      <p:sp>
        <p:nvSpPr>
          <p:cNvPr id="51" name="Rule 50"/>
          <p:cNvSpPr/>
          <p:nvPr/>
        </p:nvSpPr>
        <p:spPr>
          <a:xfrm>
            <a:off x="4017367" y="4160242"/>
            <a:ext cx="3815060" cy="6350"/>
          </a:xfrm>
          <a:prstGeom prst="rect">
            <a:avLst/>
          </a:prstGeom>
          <a:solidFill>
            <a:srgbClr val="DDD7CA"/>
          </a:solidFill>
          <a:ln>
            <a:noFill/>
          </a:ln>
        </p:spPr>
        <p:txBody>
          <a:bodyPr rtlCol="0" anchor="ctr"/>
          <a:lstStyle/>
          <a:p>
            <a:pPr algn="ctr"/>
          </a:p>
        </p:txBody>
      </p:sp>
      <p:sp>
        <p:nvSpPr>
          <p:cNvPr id="52" name="Text 51"/>
          <p:cNvSpPr txBox="1"/>
          <p:nvPr/>
        </p:nvSpPr>
        <p:spPr>
          <a:xfrm>
            <a:off x="4042767" y="3589290"/>
            <a:ext cx="36626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تحليل التنزيلات في بيئة معزولة، وفحص حركة التصفح المشفرة وفق سياسة معتمدة</a:t>
            </a:r>
          </a:p>
        </p:txBody>
      </p:sp>
      <p:sp>
        <p:nvSpPr>
          <p:cNvPr id="53" name="Rule 52"/>
          <p:cNvSpPr/>
          <p:nvPr/>
        </p:nvSpPr>
        <p:spPr>
          <a:xfrm>
            <a:off x="7832427" y="4160242"/>
            <a:ext cx="2594273" cy="6350"/>
          </a:xfrm>
          <a:prstGeom prst="rect">
            <a:avLst/>
          </a:prstGeom>
          <a:solidFill>
            <a:srgbClr val="DDD7CA"/>
          </a:solidFill>
          <a:ln>
            <a:noFill/>
          </a:ln>
        </p:spPr>
        <p:txBody>
          <a:bodyPr rtlCol="0" anchor="ctr"/>
          <a:lstStyle/>
          <a:p>
            <a:pPr algn="ctr"/>
          </a:p>
        </p:txBody>
      </p:sp>
      <p:sp>
        <p:nvSpPr>
          <p:cNvPr id="54" name="Text 53"/>
          <p:cNvSpPr txBox="1"/>
          <p:nvPr/>
        </p:nvSpPr>
        <p:spPr>
          <a:xfrm>
            <a:off x="7889219" y="3589290"/>
            <a:ext cx="241048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حماية قناة تصفح الإنترنت من التهديدات المتقدمة المستمرة، وإدارتها بشكل آمن</a:t>
            </a:r>
          </a:p>
        </p:txBody>
      </p:sp>
      <p:sp>
        <p:nvSpPr>
          <p:cNvPr id="55" name="Rule 54"/>
          <p:cNvSpPr/>
          <p:nvPr/>
        </p:nvSpPr>
        <p:spPr>
          <a:xfrm>
            <a:off x="10426700" y="416024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2-5-3-8</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166592"/>
            <a:ext cx="3204567" cy="651470"/>
          </a:xfrm>
          <a:prstGeom prst="rect">
            <a:avLst/>
          </a:prstGeom>
          <a:solidFill>
            <a:srgbClr val="E1EAF4"/>
          </a:solidFill>
          <a:ln>
            <a:noFill/>
          </a:ln>
        </p:spPr>
        <p:txBody>
          <a:bodyPr rtlCol="0" anchor="ctr"/>
          <a:lstStyle/>
          <a:p>
            <a:pPr algn="ctr"/>
          </a:p>
        </p:txBody>
      </p:sp>
      <p:sp>
        <p:nvSpPr>
          <p:cNvPr id="59" name="Rule 58"/>
          <p:cNvSpPr/>
          <p:nvPr/>
        </p:nvSpPr>
        <p:spPr>
          <a:xfrm>
            <a:off x="812800" y="4811712"/>
            <a:ext cx="3204567"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240760"/>
            <a:ext cx="3052167"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عقد الخدمة ونطاقها، وإعداداتها، وخطة الاستجابة</a:t>
            </a:r>
          </a:p>
        </p:txBody>
      </p:sp>
      <p:sp>
        <p:nvSpPr>
          <p:cNvPr id="61" name="Rule 60"/>
          <p:cNvSpPr/>
          <p:nvPr/>
        </p:nvSpPr>
        <p:spPr>
          <a:xfrm>
            <a:off x="4017367" y="4811712"/>
            <a:ext cx="3815060" cy="6350"/>
          </a:xfrm>
          <a:prstGeom prst="rect">
            <a:avLst/>
          </a:prstGeom>
          <a:solidFill>
            <a:srgbClr val="DDD7CA"/>
          </a:solidFill>
          <a:ln>
            <a:noFill/>
          </a:ln>
        </p:spPr>
        <p:txBody>
          <a:bodyPr rtlCol="0" anchor="ctr"/>
          <a:lstStyle/>
          <a:p>
            <a:pPr algn="ctr"/>
          </a:p>
        </p:txBody>
      </p:sp>
      <p:sp>
        <p:nvSpPr>
          <p:cNvPr id="62" name="Text 61"/>
          <p:cNvSpPr txBox="1"/>
          <p:nvPr/>
        </p:nvSpPr>
        <p:spPr>
          <a:xfrm>
            <a:off x="4042767" y="4240760"/>
            <a:ext cx="366266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خدمة حماية من مزود الاتصال أو مزود متخصص للخدمات المواجهة للإنترنت، وخطة استجابة</a:t>
            </a:r>
          </a:p>
        </p:txBody>
      </p:sp>
      <p:sp>
        <p:nvSpPr>
          <p:cNvPr id="63" name="Rule 62"/>
          <p:cNvSpPr/>
          <p:nvPr/>
        </p:nvSpPr>
        <p:spPr>
          <a:xfrm>
            <a:off x="7832427" y="4811712"/>
            <a:ext cx="2594273" cy="6350"/>
          </a:xfrm>
          <a:prstGeom prst="rect">
            <a:avLst/>
          </a:prstGeom>
          <a:solidFill>
            <a:srgbClr val="DDD7CA"/>
          </a:solidFill>
          <a:ln>
            <a:noFill/>
          </a:ln>
        </p:spPr>
        <p:txBody>
          <a:bodyPr rtlCol="0" anchor="ctr"/>
          <a:lstStyle/>
          <a:p>
            <a:pPr algn="ctr"/>
          </a:p>
        </p:txBody>
      </p:sp>
      <p:sp>
        <p:nvSpPr>
          <p:cNvPr id="64" name="Text 63"/>
          <p:cNvSpPr txBox="1"/>
          <p:nvPr/>
        </p:nvSpPr>
        <p:spPr>
          <a:xfrm>
            <a:off x="7889219" y="4240760"/>
            <a:ext cx="241048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الحماية من هجمات حجب الخدمة الموزعة للحد من مخاطرها</a:t>
            </a:r>
          </a:p>
        </p:txBody>
      </p:sp>
      <p:sp>
        <p:nvSpPr>
          <p:cNvPr id="65" name="Rule 64"/>
          <p:cNvSpPr/>
          <p:nvPr/>
        </p:nvSpPr>
        <p:spPr>
          <a:xfrm>
            <a:off x="10426700" y="4811712"/>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25746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2-5-3-9</a:t>
            </a:r>
          </a:p>
        </p:txBody>
      </p:sp>
      <p:sp>
        <p:nvSpPr>
          <p:cNvPr id="67" name="Text 66"/>
          <p:cNvSpPr txBox="1"/>
          <p:nvPr/>
        </p:nvSpPr>
        <p:spPr>
          <a:xfrm>
            <a:off x="10462260" y="446299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مخطط شبكة بمناطق معزولة</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442523"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2-5-3-1</a:t>
            </a:r>
          </a:p>
        </p:txBody>
      </p:sp>
      <p:sp>
        <p:nvSpPr>
          <p:cNvPr id="23" name="Text box 22"/>
          <p:cNvSpPr/>
          <p:nvPr/>
        </p:nvSpPr>
        <p:spPr>
          <a:xfrm>
            <a:off x="7744023" y="1852811"/>
            <a:ext cx="63500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2-5-2</a:t>
            </a:r>
          </a:p>
        </p:txBody>
      </p:sp>
      <p:sp>
        <p:nvSpPr>
          <p:cNvPr id="24" name="Text 23"/>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5" name="Box 24"/>
          <p:cNvSpPr/>
          <p:nvPr/>
        </p:nvSpPr>
        <p:spPr>
          <a:xfrm>
            <a:off x="11125200" y="2518172"/>
            <a:ext cx="254000" cy="254000"/>
          </a:xfrm>
          <a:prstGeom prst="roundRect">
            <a:avLst>
              <a:gd name="adj" fmla="val 50000"/>
            </a:avLst>
          </a:prstGeom>
          <a:solidFill>
            <a:srgbClr val="1D5B9E"/>
          </a:solidFill>
          <a:ln>
            <a:noFill/>
          </a:ln>
        </p:spPr>
        <p:txBody>
          <a:bodyPr rtlCol="0" anchor="ctr"/>
          <a:lstStyle/>
          <a:p>
            <a:pPr algn="ctr"/>
          </a:p>
        </p:txBody>
      </p:sp>
      <p:sp>
        <p:nvSpPr>
          <p:cNvPr id="26" name="Text 25"/>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7" name="Text 26"/>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مناطق منفصلة: الإنترنت، والمنطقة المنزوعة السلاح، والشبكة الداخلية.</a:t>
            </a:r>
          </a:p>
        </p:txBody>
      </p:sp>
      <p:sp>
        <p:nvSpPr>
          <p:cNvPr id="28" name="Box 27"/>
          <p:cNvSpPr/>
          <p:nvPr/>
        </p:nvSpPr>
        <p:spPr>
          <a:xfrm>
            <a:off x="11125200" y="2835672"/>
            <a:ext cx="254000" cy="254000"/>
          </a:xfrm>
          <a:prstGeom prst="roundRect">
            <a:avLst>
              <a:gd name="adj" fmla="val 50000"/>
            </a:avLst>
          </a:prstGeom>
          <a:solidFill>
            <a:srgbClr val="1D5B9E"/>
          </a:solidFill>
          <a:ln>
            <a:noFill/>
          </a:ln>
        </p:spPr>
        <p:txBody>
          <a:bodyPr rtlCol="0" anchor="ctr"/>
          <a:lstStyle/>
          <a:p>
            <a:pPr algn="ctr"/>
          </a:p>
        </p:txBody>
      </p:sp>
      <p:sp>
        <p:nvSpPr>
          <p:cNvPr id="29" name="Text 28"/>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0" name="Text 29"/>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جدار ناري يفصل كل منطقة عن الأخرى.</a:t>
            </a:r>
          </a:p>
        </p:txBody>
      </p:sp>
      <p:sp>
        <p:nvSpPr>
          <p:cNvPr id="31" name="Box 30"/>
          <p:cNvSpPr/>
          <p:nvPr/>
        </p:nvSpPr>
        <p:spPr>
          <a:xfrm>
            <a:off x="11125200" y="3153172"/>
            <a:ext cx="254000" cy="254000"/>
          </a:xfrm>
          <a:prstGeom prst="roundRect">
            <a:avLst>
              <a:gd name="adj" fmla="val 50000"/>
            </a:avLst>
          </a:prstGeom>
          <a:solidFill>
            <a:srgbClr val="1D5B9E"/>
          </a:solidFill>
          <a:ln>
            <a:noFill/>
          </a:ln>
        </p:spPr>
        <p:txBody>
          <a:bodyPr rtlCol="0" anchor="ctr"/>
          <a:lstStyle/>
          <a:p>
            <a:pPr algn="ctr"/>
          </a:p>
        </p:txBody>
      </p:sp>
      <p:sp>
        <p:nvSpPr>
          <p:cNvPr id="32" name="Text 31"/>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3" name="Text 32"/>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الخدمات المواجهة للإنترنت في منطقتها، لا في الداخل.</a:t>
            </a:r>
          </a:p>
        </p:txBody>
      </p:sp>
      <p:sp>
        <p:nvSpPr>
          <p:cNvPr id="34" name="Rule 33"/>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5" name="Text 34"/>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6" name="Icon CheckCircle 35" descr="icon043.png"/>
          <p:cNvPicPr>
            <a:picLocks noChangeAspect="1"/>
          </p:cNvPicPr>
          <p:nvPr/>
        </p:nvPicPr>
        <p:blipFill>
          <a:blip r:embed="rId3"/>
          <a:stretch>
            <a:fillRect/>
          </a:stretch>
        </p:blipFill>
        <p:spPr>
          <a:xfrm>
            <a:off x="11150600" y="3880842"/>
            <a:ext cx="203200" cy="203200"/>
          </a:xfrm>
          <a:prstGeom prst="rect">
            <a:avLst/>
          </a:prstGeom>
        </p:spPr>
      </p:pic>
      <p:sp>
        <p:nvSpPr>
          <p:cNvPr id="37" name="Text 36"/>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المخطط محدث ومعتمد ويطابق الواقع.</a:t>
            </a:r>
          </a:p>
        </p:txBody>
      </p:sp>
      <p:pic>
        <p:nvPicPr>
          <p:cNvPr id="38" name="Icon CheckCircle 37" descr="icon043.png"/>
          <p:cNvPicPr>
            <a:picLocks noChangeAspect="1"/>
          </p:cNvPicPr>
          <p:nvPr/>
        </p:nvPicPr>
        <p:blipFill>
          <a:blip r:embed="rId3"/>
          <a:stretch>
            <a:fillRect/>
          </a:stretch>
        </p:blipFill>
        <p:spPr>
          <a:xfrm>
            <a:off x="11150600" y="4185642"/>
            <a:ext cx="203200" cy="203200"/>
          </a:xfrm>
          <a:prstGeom prst="rect">
            <a:avLst/>
          </a:prstGeom>
        </p:spPr>
      </p:pic>
      <p:sp>
        <p:nvSpPr>
          <p:cNvPr id="39" name="Text 38"/>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قواعد الجدار الناري بين المناطق، فهي الدليل الحقيقي للعزل.</a:t>
            </a:r>
          </a:p>
        </p:txBody>
      </p:sp>
      <p:pic>
        <p:nvPicPr>
          <p:cNvPr id="40" name="Icon CheckCircle 39" descr="icon043.png"/>
          <p:cNvPicPr>
            <a:picLocks noChangeAspect="1"/>
          </p:cNvPicPr>
          <p:nvPr/>
        </p:nvPicPr>
        <p:blipFill>
          <a:blip r:embed="rId3"/>
          <a:stretch>
            <a:fillRect/>
          </a:stretch>
        </p:blipFill>
        <p:spPr>
          <a:xfrm>
            <a:off x="11150600" y="4490442"/>
            <a:ext cx="203200" cy="203200"/>
          </a:xfrm>
          <a:prstGeom prst="rect">
            <a:avLst/>
          </a:prstGeom>
        </p:spPr>
      </p:pic>
      <p:sp>
        <p:nvSpPr>
          <p:cNvPr id="41" name="Text 40"/>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عزل شبكة الإنتاج عن الاختبار والتطوير (‎2-5-3-2‎).</a:t>
            </a:r>
          </a:p>
        </p:txBody>
      </p:sp>
      <p:sp>
        <p:nvSpPr>
          <p:cNvPr id="42" name="Box 41"/>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3" name="Icon Warning 42" descr="icon028.png"/>
          <p:cNvPicPr>
            <a:picLocks noChangeAspect="1"/>
          </p:cNvPicPr>
          <p:nvPr/>
        </p:nvPicPr>
        <p:blipFill>
          <a:blip r:embed="rId4"/>
          <a:stretch>
            <a:fillRect/>
          </a:stretch>
        </p:blipFill>
        <p:spPr>
          <a:xfrm>
            <a:off x="11074400" y="5311180"/>
            <a:ext cx="190500" cy="190500"/>
          </a:xfrm>
          <a:prstGeom prst="rect">
            <a:avLst/>
          </a:prstGeom>
        </p:spPr>
      </p:pic>
      <p:sp>
        <p:nvSpPr>
          <p:cNvPr id="44" name="Text 43"/>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مخطط توضيحي عام؛ المخطط لا يثبت العزل الفعلي، فالعزل تثبته قواعد الجدار الناري وفحص الشبكة.</a:t>
            </a:r>
          </a:p>
        </p:txBody>
      </p:sp>
      <p:sp>
        <p:nvSpPr>
          <p:cNvPr id="45" name="Box 44"/>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6" name="Picture 45" descr="net-diagram.png"/>
          <p:cNvPicPr>
            <a:picLocks noChangeAspect="1"/>
          </p:cNvPicPr>
          <p:nvPr/>
        </p:nvPicPr>
        <p:blipFill>
          <a:blip r:embed="rId5"/>
          <a:stretch>
            <a:fillRect/>
          </a:stretch>
        </p:blipFill>
        <p:spPr>
          <a:xfrm>
            <a:off x="1150124" y="1954411"/>
            <a:ext cx="4837151" cy="3098800"/>
          </a:xfrm>
          <a:prstGeom prst="rect">
            <a:avLst/>
          </a:prstGeom>
        </p:spPr>
      </p:pic>
      <p:sp>
        <p:nvSpPr>
          <p:cNvPr id="47" name="Text 46"/>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Pbroks13 · ملكية عامة · المصدر: Wikimedia Commons</a:t>
            </a:r>
          </a:p>
        </p:txBody>
      </p:sp>
      <p:sp>
        <p:nvSpPr>
          <p:cNvPr id="48" name="Text 4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9" name="Box 4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3" name="Box 5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Text 5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689405" y="812800"/>
            <a:ext cx="16897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‎2-5‎ · إدارة أمن الشبكات</a:t>
            </a:r>
          </a:p>
        </p:txBody>
      </p:sp>
      <p:sp>
        <p:nvSpPr>
          <p:cNvPr id="4" name="Text 3"/>
          <p:cNvSpPr txBox="1"/>
          <p:nvPr/>
        </p:nvSpPr>
        <p:spPr>
          <a:xfrm>
            <a:off x="816621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قواعد الجدار الناري</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442523"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2-5-3-1</a:t>
            </a:r>
          </a:p>
        </p:txBody>
      </p:sp>
      <p:sp>
        <p:nvSpPr>
          <p:cNvPr id="23" name="Text box 22"/>
          <p:cNvSpPr/>
          <p:nvPr/>
        </p:nvSpPr>
        <p:spPr>
          <a:xfrm>
            <a:off x="7561064"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2-5-3-5</a:t>
            </a:r>
          </a:p>
        </p:txBody>
      </p:sp>
      <p:sp>
        <p:nvSpPr>
          <p:cNvPr id="24" name="Text box 23"/>
          <p:cNvSpPr/>
          <p:nvPr/>
        </p:nvSpPr>
        <p:spPr>
          <a:xfrm>
            <a:off x="6862564" y="1852811"/>
            <a:ext cx="63500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2-5-4</a:t>
            </a:r>
          </a:p>
        </p:txBody>
      </p:sp>
      <p:sp>
        <p:nvSpPr>
          <p:cNvPr id="25" name="Text 24"/>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51817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قاعدة: مصدر، ووجهة، ومنفذ، وقرار سماح أو منع.</a:t>
            </a:r>
          </a:p>
        </p:txBody>
      </p:sp>
      <p:sp>
        <p:nvSpPr>
          <p:cNvPr id="29" name="Box 28"/>
          <p:cNvSpPr/>
          <p:nvPr/>
        </p:nvSpPr>
        <p:spPr>
          <a:xfrm>
            <a:off x="11125200" y="283567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SSH على المنفذ 22 مسموح من عنوانين محددين فقط.</a:t>
            </a:r>
          </a:p>
        </p:txBody>
      </p:sp>
      <p:sp>
        <p:nvSpPr>
          <p:cNvPr id="32" name="Box 31"/>
          <p:cNvSpPr/>
          <p:nvPr/>
        </p:nvSpPr>
        <p:spPr>
          <a:xfrm>
            <a:off x="11125200" y="315317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قاعدتان تجريبيتان باسم «test rule» تستحقان السؤال.</a:t>
            </a:r>
          </a:p>
        </p:txBody>
      </p:sp>
      <p:sp>
        <p:nvSpPr>
          <p:cNvPr id="35" name="Rule 34"/>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3880842"/>
            <a:ext cx="203200" cy="203200"/>
          </a:xfrm>
          <a:prstGeom prst="rect">
            <a:avLst/>
          </a:prstGeom>
        </p:spPr>
      </p:pic>
      <p:sp>
        <p:nvSpPr>
          <p:cNvPr id="38" name="Text 37"/>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قاعدة رفض افتراضي، وغياب قواعد ‎any-any‎ بين المناطق.</a:t>
            </a:r>
          </a:p>
        </p:txBody>
      </p:sp>
      <p:pic>
        <p:nvPicPr>
          <p:cNvPr id="39" name="Icon CheckCircle 38" descr="icon043.png"/>
          <p:cNvPicPr>
            <a:picLocks noChangeAspect="1"/>
          </p:cNvPicPr>
          <p:nvPr/>
        </p:nvPicPr>
        <p:blipFill>
          <a:blip r:embed="rId3"/>
          <a:stretch>
            <a:fillRect/>
          </a:stretch>
        </p:blipFill>
        <p:spPr>
          <a:xfrm>
            <a:off x="11150600" y="4185642"/>
            <a:ext cx="203200" cy="203200"/>
          </a:xfrm>
          <a:prstGeom prst="rect">
            <a:avLst/>
          </a:prstGeom>
        </p:spPr>
      </p:pic>
      <p:sp>
        <p:nvSpPr>
          <p:cNvPr id="40" name="Text 39"/>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دورية للقواعد وإزالة غير المستخدم منها.</a:t>
            </a:r>
          </a:p>
        </p:txBody>
      </p:sp>
      <p:pic>
        <p:nvPicPr>
          <p:cNvPr id="41" name="Icon CheckCircle 40" descr="icon043.png"/>
          <p:cNvPicPr>
            <a:picLocks noChangeAspect="1"/>
          </p:cNvPicPr>
          <p:nvPr/>
        </p:nvPicPr>
        <p:blipFill>
          <a:blip r:embed="rId3"/>
          <a:stretch>
            <a:fillRect/>
          </a:stretch>
        </p:blipFill>
        <p:spPr>
          <a:xfrm>
            <a:off x="11150600" y="4490442"/>
            <a:ext cx="203200" cy="203200"/>
          </a:xfrm>
          <a:prstGeom prst="rect">
            <a:avLst/>
          </a:prstGeom>
        </p:spPr>
      </p:pic>
      <p:sp>
        <p:nvSpPr>
          <p:cNvPr id="42" name="Text 41"/>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تطابق القواعد مع المنافذ المعتمدة في ‎2-5-3-5‎.</a:t>
            </a:r>
          </a:p>
        </p:txBody>
      </p:sp>
      <p:sp>
        <p:nvSpPr>
          <p:cNvPr id="43" name="Box 42"/>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11180"/>
            <a:ext cx="190500" cy="190500"/>
          </a:xfrm>
          <a:prstGeom prst="rect">
            <a:avLst/>
          </a:prstGeom>
        </p:spPr>
      </p:pic>
      <p:sp>
        <p:nvSpPr>
          <p:cNvPr id="45" name="Text 44"/>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لقطة توضيحية لقواعد جدار واحد؛ لا تثبت أن كل الجدران مضبوطة، ولا أن القواعد تُراجع دورياً.</a:t>
            </a:r>
          </a:p>
        </p:txBody>
      </p:sp>
      <p:sp>
        <p:nvSpPr>
          <p:cNvPr id="46" name="Box 45"/>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7" name="Picture 46" descr="firewall-rules-zoom.png"/>
          <p:cNvPicPr>
            <a:picLocks noChangeAspect="1"/>
          </p:cNvPicPr>
          <p:nvPr/>
        </p:nvPicPr>
        <p:blipFill>
          <a:blip r:embed="rId5"/>
          <a:stretch>
            <a:fillRect/>
          </a:stretch>
        </p:blipFill>
        <p:spPr>
          <a:xfrm>
            <a:off x="914400" y="2774476"/>
            <a:ext cx="5308600" cy="1458669"/>
          </a:xfrm>
          <a:prstGeom prst="rect">
            <a:avLst/>
          </a:prstGeom>
        </p:spPr>
      </p:pic>
      <p:sp>
        <p:nvSpPr>
          <p:cNvPr id="48" name="Text 47"/>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OPNsense documentation contributors · مقطع مكبّر · ‎BSD-2-Clause‎ · المصدر: GitHub · ‎opnsense/docs‎</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5" name="Box 5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6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‎2-6‎ أمن الأجهزة المحمولة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الحواسيب المحمولة والهواتف والأجهزة اللوحية، وبيانات الجهة عليها، بما فيها الأجهزة الشخصية (BYOD).</a:t>
            </a:r>
          </a:p>
        </p:txBody>
      </p:sp>
      <p:sp>
        <p:nvSpPr>
          <p:cNvPr id="23" name="Box 22"/>
          <p:cNvSpPr/>
          <p:nvPr/>
        </p:nvSpPr>
        <p:spPr>
          <a:xfrm>
            <a:off x="8159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حاسوب محمول يُسرق من سيارة وعليه ملفات المستفيدين بلا تشفير.</a:t>
            </a:r>
          </a:p>
        </p:txBody>
      </p:sp>
      <p:sp>
        <p:nvSpPr>
          <p:cNvPr id="28" name="Box 27"/>
          <p:cNvSpPr/>
          <p:nvPr/>
        </p:nvSpPr>
        <p:spPr>
          <a:xfrm>
            <a:off x="43973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حقيبة مستندات تخرج من المكتب: تُقفل، ولا تفتح لغير صاحبها، ويُتلف محتواها عن بعد إن ضاعت.</a:t>
            </a:r>
          </a:p>
        </p:txBody>
      </p:sp>
      <p:sp>
        <p:nvSpPr>
          <p:cNvPr id="33" name="Box 32"/>
          <p:cNvSpPr/>
          <p:nvPr/>
        </p:nvSpPr>
        <p:spPr>
          <a:xfrm>
            <a:off x="79787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957262"/>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الحواسيب المحمولة والجوالات والأجهزة اللوحية، ومنها الأجهزة الشخصية، بنظام إدارة يفرض التشفير ويفصل بيانات العمل ويمسحها عند الفقد.</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MDM</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نظام إدارة الأجهزة المحمولة</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BYOD</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استخدام الموظف لجهازه الشخصي</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المسح عن بعد</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حذف بيانات الجهة من جهاز مفقود</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0670" y="812800"/>
            <a:ext cx="1888530"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‎2-6‎ · أمن الأجهزة المحمولة</a:t>
            </a:r>
          </a:p>
        </p:txBody>
      </p:sp>
      <p:sp>
        <p:nvSpPr>
          <p:cNvPr id="4" name="Text 3"/>
          <p:cNvSpPr txBox="1"/>
          <p:nvPr/>
        </p:nvSpPr>
        <p:spPr>
          <a:xfrm>
            <a:off x="7967480"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الأجهزة المحمولة: المتطلبات والفصل والتشفير</a:t>
            </a:r>
          </a:p>
        </p:txBody>
      </p:sp>
      <p:sp>
        <p:nvSpPr>
          <p:cNvPr id="20" name="Rule 19"/>
          <p:cNvSpPr/>
          <p:nvPr/>
        </p:nvSpPr>
        <p:spPr>
          <a:xfrm>
            <a:off x="812800" y="2193131"/>
            <a:ext cx="27467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1D5B9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1D5B9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559572" y="304135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الأجهزة المسموحة وشروط ربطها والبيانات التي يُسمح بالوصول إليها منها</a:t>
            </a:r>
          </a:p>
        </p:txBody>
      </p:sp>
      <p:sp>
        <p:nvSpPr>
          <p:cNvPr id="33" name="Rule 32"/>
          <p:cNvSpPr/>
          <p:nvPr/>
        </p:nvSpPr>
        <p:spPr>
          <a:xfrm>
            <a:off x="6764238" y="304135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الأجهزة المحمولة والشخصية عند ربطها بالشبكة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2746772"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312187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الأجهزة المسجلة وحالة امتثالها للسياسة</a:t>
            </a:r>
          </a:p>
        </p:txBody>
      </p:sp>
      <p:sp>
        <p:nvSpPr>
          <p:cNvPr id="41" name="Rule 40"/>
          <p:cNvSpPr/>
          <p:nvPr/>
        </p:nvSpPr>
        <p:spPr>
          <a:xfrm>
            <a:off x="3559572" y="3692823"/>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312187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نظام لإدارة الأجهزة أو التطبيقات المحمولة يفرض السياسة، ومنع غير المسجل</a:t>
            </a:r>
          </a:p>
        </p:txBody>
      </p:sp>
      <p:sp>
        <p:nvSpPr>
          <p:cNvPr id="43" name="Rule 42"/>
          <p:cNvSpPr/>
          <p:nvPr/>
        </p:nvSpPr>
        <p:spPr>
          <a:xfrm>
            <a:off x="6764238" y="3692823"/>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12187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2746772"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773341"/>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الحاوية، وتقرير حالة التشفير للأجهزة</a:t>
            </a:r>
          </a:p>
        </p:txBody>
      </p:sp>
      <p:sp>
        <p:nvSpPr>
          <p:cNvPr id="51" name="Rule 50"/>
          <p:cNvSpPr/>
          <p:nvPr/>
        </p:nvSpPr>
        <p:spPr>
          <a:xfrm>
            <a:off x="3559572" y="4344293"/>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77334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حاوية عمل منفصلة على الأجهزة الشخصية، وتشفير كامل للحواسيب المحمولة</a:t>
            </a:r>
          </a:p>
        </p:txBody>
      </p:sp>
      <p:sp>
        <p:nvSpPr>
          <p:cNvPr id="53" name="Rule 52"/>
          <p:cNvSpPr/>
          <p:nvPr/>
        </p:nvSpPr>
        <p:spPr>
          <a:xfrm>
            <a:off x="6764238" y="4344293"/>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773341"/>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فصل بيانات الجهة على الأجهزة وتشفيرها</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2746772" cy="835521"/>
          </a:xfrm>
          <a:prstGeom prst="rect">
            <a:avLst/>
          </a:prstGeom>
          <a:solidFill>
            <a:srgbClr val="E1EAF4"/>
          </a:solidFill>
          <a:ln>
            <a:noFill/>
          </a:ln>
        </p:spPr>
        <p:txBody>
          <a:bodyPr rtlCol="0" anchor="ctr"/>
          <a:lstStyle/>
          <a:p>
            <a:pPr algn="ctr"/>
          </a:p>
        </p:txBody>
      </p:sp>
      <p:sp>
        <p:nvSpPr>
          <p:cNvPr id="59" name="Rule 58"/>
          <p:cNvSpPr/>
          <p:nvPr/>
        </p:nvSpPr>
        <p:spPr>
          <a:xfrm>
            <a:off x="812800" y="5179814"/>
            <a:ext cx="2746772"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ونتائجه</a:t>
            </a:r>
          </a:p>
        </p:txBody>
      </p:sp>
      <p:sp>
        <p:nvSpPr>
          <p:cNvPr id="61" name="Rule 60"/>
          <p:cNvSpPr/>
          <p:nvPr/>
        </p:nvSpPr>
        <p:spPr>
          <a:xfrm>
            <a:off x="3559572" y="5179814"/>
            <a:ext cx="3204666" cy="6350"/>
          </a:xfrm>
          <a:prstGeom prst="rect">
            <a:avLst/>
          </a:prstGeom>
          <a:solidFill>
            <a:srgbClr val="DDD7CA"/>
          </a:solidFill>
          <a:ln>
            <a:noFill/>
          </a:ln>
        </p:spPr>
        <p:txBody>
          <a:bodyPr rtlCol="0" anchor="ctr"/>
          <a:lstStyle/>
          <a:p>
            <a:pPr algn="ctr"/>
          </a:p>
        </p:txBody>
      </p:sp>
      <p:sp>
        <p:nvSpPr>
          <p:cNvPr id="62" name="Text 61"/>
          <p:cNvSpPr txBox="1"/>
          <p:nvPr/>
        </p:nvSpPr>
        <p:spPr>
          <a:xfrm>
            <a:off x="3598052" y="442481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ونسب التسجيل والامتثال والتشفير</a:t>
            </a:r>
          </a:p>
        </p:txBody>
      </p:sp>
      <p:sp>
        <p:nvSpPr>
          <p:cNvPr id="63" name="Rule 62"/>
          <p:cNvSpPr/>
          <p:nvPr/>
        </p:nvSpPr>
        <p:spPr>
          <a:xfrm>
            <a:off x="6764238" y="5179814"/>
            <a:ext cx="3662462" cy="6350"/>
          </a:xfrm>
          <a:prstGeom prst="rect">
            <a:avLst/>
          </a:prstGeom>
          <a:solidFill>
            <a:srgbClr val="DDD7CA"/>
          </a:solidFill>
          <a:ln>
            <a:noFill/>
          </a:ln>
        </p:spPr>
        <p:txBody>
          <a:bodyPr rtlCol="0" anchor="ctr"/>
          <a:lstStyle/>
          <a:p>
            <a:pPr algn="ctr"/>
          </a:p>
        </p:txBody>
      </p:sp>
      <p:sp>
        <p:nvSpPr>
          <p:cNvPr id="64" name="Text 63"/>
          <p:cNvSpPr txBox="1"/>
          <p:nvPr/>
        </p:nvSpPr>
        <p:spPr>
          <a:xfrm>
            <a:off x="6789638" y="4424811"/>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0670" y="812800"/>
            <a:ext cx="1888530"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‎2-6‎ · أمن الأجهزة المحمولة</a:t>
            </a:r>
          </a:p>
        </p:txBody>
      </p:sp>
      <p:sp>
        <p:nvSpPr>
          <p:cNvPr id="4" name="Text 3"/>
          <p:cNvSpPr txBox="1"/>
          <p:nvPr/>
        </p:nvSpPr>
        <p:spPr>
          <a:xfrm>
            <a:off x="7967480"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التقييد والحذف والتوعية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المصرح لهم وموافقاتهم، وإعدادات تقييد التطبيقات</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تحديد الفئات المسموح لها والتطبيقات والخدمات المتاحة، وموافقة على كل تسجيل</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استخدام مقيد ومضبوط حسب حاجة العمل</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المسح عن بعد، ومطابقتها مع بلاغات الفقد وإنهاء الخدمات</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مسح عن بعد لحاوية العمل أو الجهاز، مرتبط ببلاغ الفقد وإجراء إنهاء الخدمة</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17690" y="2937820"/>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حذف بيانات الجهة عند فقد الجهاز أو انتهاء العلاقة الوظيفية</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58929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الإرشادات، وإقرار المستخدم عند التسجيل</a:t>
            </a:r>
          </a:p>
        </p:txBody>
      </p:sp>
      <p:sp>
        <p:nvSpPr>
          <p:cNvPr id="51" name="Rule 50"/>
          <p:cNvSpPr/>
          <p:nvPr/>
        </p:nvSpPr>
        <p:spPr>
          <a:xfrm>
            <a:off x="3864769" y="4160242"/>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58929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إرشادات مختصرة عند تسجيل الجهاز، ومحتوى ضمن برنامج التوعية ‎1-10‎</a:t>
            </a:r>
          </a:p>
        </p:txBody>
      </p:sp>
      <p:sp>
        <p:nvSpPr>
          <p:cNvPr id="53" name="Rule 52"/>
          <p:cNvSpPr/>
          <p:nvPr/>
        </p:nvSpPr>
        <p:spPr>
          <a:xfrm>
            <a:off x="7374632" y="4160242"/>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58929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التوعية الأمنية للمستخدمين</a:t>
            </a:r>
          </a:p>
        </p:txBody>
      </p:sp>
      <p:sp>
        <p:nvSpPr>
          <p:cNvPr id="55" name="Rule 54"/>
          <p:cNvSpPr/>
          <p:nvPr/>
        </p:nvSpPr>
        <p:spPr>
          <a:xfrm>
            <a:off x="10426700" y="416024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2-6-3-4</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Lightbulb 59" descr="icon049.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7FB2EA"/>
                </a:solidFill>
                <a:latin typeface="IBM Plex Sans Arabic"/>
                <a:ea typeface="IBM Plex Sans Arabic"/>
                <a:cs typeface="IBM Plex Sans Arabic"/>
              </a:rPr>
              <a:t>نصيحة عملية</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على الجهاز الشخصي يشمل المسح بيانات الجهة فقط؛ وضّح ذلك للمستخدم في الإقرار قبل التسجيل.</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90670" y="812800"/>
            <a:ext cx="1888530"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‎2-6‎ · أمن الأجهزة المحمولة</a:t>
            </a:r>
          </a:p>
        </p:txBody>
      </p:sp>
      <p:sp>
        <p:nvSpPr>
          <p:cNvPr id="4" name="Text 3"/>
          <p:cNvSpPr txBox="1"/>
          <p:nvPr/>
        </p:nvSpPr>
        <p:spPr>
          <a:xfrm>
            <a:off x="7967480"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تشفير القرص الكامل</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442523"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2-6-3-1</a:t>
            </a:r>
          </a:p>
        </p:txBody>
      </p:sp>
      <p:sp>
        <p:nvSpPr>
          <p:cNvPr id="23" name="Text box 22"/>
          <p:cNvSpPr/>
          <p:nvPr/>
        </p:nvSpPr>
        <p:spPr>
          <a:xfrm>
            <a:off x="7561064"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2-8-3-3</a:t>
            </a:r>
          </a:p>
        </p:txBody>
      </p:sp>
      <p:sp>
        <p:nvSpPr>
          <p:cNvPr id="24" name="Text box 23"/>
          <p:cNvSpPr/>
          <p:nvPr/>
        </p:nvSpPr>
        <p:spPr>
          <a:xfrm>
            <a:off x="10561241" y="2190552"/>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2-8-3-2</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خيار «Encrypt my data» لتشفير القرص كاملاً عند التثبيت.</a:t>
            </a:r>
          </a:p>
        </p:txBody>
      </p:sp>
      <p:sp>
        <p:nvSpPr>
          <p:cNvPr id="29" name="Box 28"/>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عبارة مرور تُطلب عند كل تشغيل للجهاز.</a:t>
            </a:r>
          </a:p>
        </p:txBody>
      </p:sp>
      <p:sp>
        <p:nvSpPr>
          <p:cNvPr id="32" name="Box 31"/>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بلا عبارة المرور أو مفتاح الاستعادة لا تُقرأ البيانات.</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تقرير من نظام الإدارة بنسبة الأجهزة المشفرة مقابل سجل الأصول.</a:t>
            </a:r>
          </a:p>
        </p:txBody>
      </p:sp>
      <p:pic>
        <p:nvPicPr>
          <p:cNvPr id="39" name="Icon CheckCircle 38" descr="icon043.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الخوارزمية ضمن المعايير الوطنية للتشفير.</a:t>
            </a:r>
          </a:p>
        </p:txBody>
      </p:sp>
      <p:pic>
        <p:nvPicPr>
          <p:cNvPr id="41" name="Icon CheckCircle 40" descr="icon043.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أين تُحفظ مفاتيح الاستعادة ومن يصل إليها.</a:t>
            </a:r>
          </a:p>
        </p:txBody>
      </p:sp>
      <p:sp>
        <p:nvSpPr>
          <p:cNvPr id="43" name="Box 42"/>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23483"/>
            <a:ext cx="190500" cy="190500"/>
          </a:xfrm>
          <a:prstGeom prst="rect">
            <a:avLst/>
          </a:prstGeom>
        </p:spPr>
      </p:pic>
      <p:sp>
        <p:nvSpPr>
          <p:cNvPr id="45" name="Text 44"/>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لقطة جهاز واحد لا تثبت تشفير بقية الأجهزة؛ الإثبات تقرير من نظام الإدارة مقابل سجل الأصول.</a:t>
            </a:r>
          </a:p>
        </p:txBody>
      </p:sp>
      <p:sp>
        <p:nvSpPr>
          <p:cNvPr id="46" name="Box 45"/>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7" name="Picture 46" descr="disk-encryption-zoom.png"/>
          <p:cNvPicPr>
            <a:picLocks noChangeAspect="1"/>
          </p:cNvPicPr>
          <p:nvPr/>
        </p:nvPicPr>
        <p:blipFill>
          <a:blip r:embed="rId5"/>
          <a:stretch>
            <a:fillRect/>
          </a:stretch>
        </p:blipFill>
        <p:spPr>
          <a:xfrm>
            <a:off x="1036027" y="1954411"/>
            <a:ext cx="5065346" cy="3098800"/>
          </a:xfrm>
          <a:prstGeom prst="rect">
            <a:avLst/>
          </a:prstGeom>
        </p:spPr>
      </p:pic>
      <p:sp>
        <p:nvSpPr>
          <p:cNvPr id="48" name="Text 47"/>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Fedora Documentation contributors · مقطع مكبّر · CC ‎BY-SA‎ 4.0 · المصدر: docs.fedoraproject.org</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5" name="Box 5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7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1979414"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2577028"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‎2-7‎ حماية البيانات والمعلومات</a:t>
            </a:r>
          </a:p>
        </p:txBody>
      </p:sp>
      <p:sp>
        <p:nvSpPr>
          <p:cNvPr id="15" name="Box 14"/>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16" name="Text 15"/>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17" name="Text 16"/>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ضمان سرية بيانات الجهة وسلامتها ودقتها وتوافرها وفق المتطلبات التشريعية والتنظيمية.</a:t>
            </a:r>
          </a:p>
        </p:txBody>
      </p:sp>
      <p:sp>
        <p:nvSpPr>
          <p:cNvPr id="18" name="Box 17"/>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19" name="Box 18"/>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0" name="Icon Warning 19" descr="icon039.png"/>
          <p:cNvPicPr>
            <a:picLocks noChangeAspect="1"/>
          </p:cNvPicPr>
          <p:nvPr/>
        </p:nvPicPr>
        <p:blipFill>
          <a:blip r:embed="rId2"/>
          <a:stretch>
            <a:fillRect/>
          </a:stretch>
        </p:blipFill>
        <p:spPr>
          <a:xfrm>
            <a:off x="3724275" y="2938661"/>
            <a:ext cx="209550" cy="209550"/>
          </a:xfrm>
          <a:prstGeom prst="rect">
            <a:avLst/>
          </a:prstGeom>
        </p:spPr>
      </p:pic>
      <p:sp>
        <p:nvSpPr>
          <p:cNvPr id="21" name="Text 20"/>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2" name="Text 21"/>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ملف «سري» يُرسل بالبريد العادي إلى جهة خارجية، أو يُترك في مجلد مشترك مفتوح للجميع.</a:t>
            </a:r>
          </a:p>
        </p:txBody>
      </p:sp>
      <p:sp>
        <p:nvSpPr>
          <p:cNvPr id="23" name="Box 22"/>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Home 24" descr="icon040.png"/>
          <p:cNvPicPr>
            <a:picLocks noChangeAspect="1"/>
          </p:cNvPicPr>
          <p:nvPr/>
        </p:nvPicPr>
        <p:blipFill>
          <a:blip r:embed="rId3"/>
          <a:stretch>
            <a:fillRect/>
          </a:stretch>
        </p:blipFill>
        <p:spPr>
          <a:xfrm>
            <a:off x="7305675" y="2938661"/>
            <a:ext cx="209550" cy="209550"/>
          </a:xfrm>
          <a:prstGeom prst="rect">
            <a:avLst/>
          </a:prstGeom>
        </p:spPr>
      </p:pic>
      <p:sp>
        <p:nvSpPr>
          <p:cNvPr id="26" name="Text 25"/>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27" name="Text 26"/>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المراسلات في الجهة: العادي يُرسل بالبريد، والسري في ظرف مختوم يُسلَّم باليد.</a:t>
            </a:r>
          </a:p>
        </p:txBody>
      </p:sp>
      <p:sp>
        <p:nvSpPr>
          <p:cNvPr id="28" name="Box 27"/>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Lightbulb 29" descr="icon041.png"/>
          <p:cNvPicPr>
            <a:picLocks noChangeAspect="1"/>
          </p:cNvPicPr>
          <p:nvPr/>
        </p:nvPicPr>
        <p:blipFill>
          <a:blip r:embed="rId4"/>
          <a:stretch>
            <a:fillRect/>
          </a:stretch>
        </p:blipFill>
        <p:spPr>
          <a:xfrm>
            <a:off x="10887075" y="2938661"/>
            <a:ext cx="209550" cy="209550"/>
          </a:xfrm>
          <a:prstGeom prst="rect">
            <a:avLst/>
          </a:prstGeom>
        </p:spPr>
      </p:pic>
      <p:sp>
        <p:nvSpPr>
          <p:cNvPr id="31" name="Text 30"/>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2" name="Text 31"/>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البيانات بحسب درجة حساسيتها: كلما ارتفع التصنيف زادت القيود على من يطّلع، وكيف تُخزَّن وتُنقل وتُشارك وتُتلف.</a:t>
            </a:r>
          </a:p>
        </p:txBody>
      </p:sp>
      <p:sp>
        <p:nvSpPr>
          <p:cNvPr id="33" name="Rule 32"/>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4" name="Text 33"/>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مستوى التصنيف</a:t>
            </a:r>
          </a:p>
        </p:txBody>
      </p:sp>
      <p:sp>
        <p:nvSpPr>
          <p:cNvPr id="35" name="Text 34"/>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درجة حساسية البيانات</a:t>
            </a:r>
          </a:p>
        </p:txBody>
      </p:sp>
      <p:sp>
        <p:nvSpPr>
          <p:cNvPr id="36" name="Rule 35"/>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37" name="Text 36"/>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قواعد التعامل</a:t>
            </a:r>
          </a:p>
        </p:txBody>
      </p:sp>
      <p:sp>
        <p:nvSpPr>
          <p:cNvPr id="38" name="Text 37"/>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ما يُسمح به لكل مستوى</a:t>
            </a:r>
          </a:p>
        </p:txBody>
      </p:sp>
      <p:sp>
        <p:nvSpPr>
          <p:cNvPr id="39" name="Rule 38"/>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0" name="Text 39"/>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منع التسرب</a:t>
            </a:r>
          </a:p>
        </p:txBody>
      </p:sp>
      <p:sp>
        <p:nvSpPr>
          <p:cNvPr id="41" name="Text 40"/>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تقنية تمنع خروج البيانات الحساسة</a:t>
            </a:r>
          </a:p>
        </p:txBody>
      </p:sp>
      <p:sp>
        <p:nvSpPr>
          <p:cNvPr id="42" name="Text 41"/>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3" name="Box 42"/>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5" name="Box 44"/>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6" name="Box 45"/>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7" name="Box 46"/>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48" name="Box 47"/>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Box 49"/>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1" name="Box 50"/>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2" name="Text 51"/>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199959" y="812800"/>
            <a:ext cx="2179241"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‎2-7‎ · حماية البيانات والمعلومات</a:t>
            </a:r>
          </a:p>
        </p:txBody>
      </p:sp>
      <p:sp>
        <p:nvSpPr>
          <p:cNvPr id="4" name="Text 3"/>
          <p:cNvSpPr txBox="1"/>
          <p:nvPr/>
        </p:nvSpPr>
        <p:spPr>
          <a:xfrm>
            <a:off x="7676769"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1979414"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2545655"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2590105" y="894060"/>
            <a:ext cx="127000" cy="127000"/>
          </a:xfrm>
          <a:prstGeom prst="rect">
            <a:avLst/>
          </a:prstGeom>
        </p:spPr>
      </p:pic>
      <p:sp>
        <p:nvSpPr>
          <p:cNvPr id="8" name="Text 7"/>
          <p:cNvSpPr txBox="1"/>
          <p:nvPr/>
        </p:nvSpPr>
        <p:spPr>
          <a:xfrm>
            <a:off x="2005449"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1798439"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815975" y="821035"/>
            <a:ext cx="928489"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1487289"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1512689"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842010"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a:t>
            </a:r>
          </a:p>
        </p:txBody>
      </p:sp>
      <p:sp>
        <p:nvSpPr>
          <p:cNvPr id="14" name="Text 1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حماية البيانات: ثلاثة ضوابط مبنية على التصنيف</a:t>
            </a:r>
          </a:p>
        </p:txBody>
      </p:sp>
      <p:sp>
        <p:nvSpPr>
          <p:cNvPr id="15" name="Rule 14"/>
          <p:cNvSpPr/>
          <p:nvPr/>
        </p:nvSpPr>
        <p:spPr>
          <a:xfrm>
            <a:off x="812800" y="2193131"/>
            <a:ext cx="2746772" cy="19050"/>
          </a:xfrm>
          <a:prstGeom prst="rect">
            <a:avLst/>
          </a:prstGeom>
          <a:solidFill>
            <a:srgbClr val="1D5B9E"/>
          </a:solidFill>
          <a:ln>
            <a:noFill/>
          </a:ln>
        </p:spPr>
        <p:txBody>
          <a:bodyPr rtlCol="0" anchor="ctr"/>
          <a:lstStyle/>
          <a:p>
            <a:pPr algn="ctr"/>
          </a:p>
        </p:txBody>
      </p:sp>
      <p:sp>
        <p:nvSpPr>
          <p:cNvPr id="16" name="Text 15"/>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17" name="Rule 16"/>
          <p:cNvSpPr/>
          <p:nvPr/>
        </p:nvSpPr>
        <p:spPr>
          <a:xfrm>
            <a:off x="3559572" y="2193131"/>
            <a:ext cx="3204666" cy="19050"/>
          </a:xfrm>
          <a:prstGeom prst="rect">
            <a:avLst/>
          </a:prstGeom>
          <a:solidFill>
            <a:srgbClr val="1D5B9E"/>
          </a:solidFill>
          <a:ln>
            <a:noFill/>
          </a:ln>
        </p:spPr>
        <p:txBody>
          <a:bodyPr rtlCol="0" anchor="ctr"/>
          <a:lstStyle/>
          <a:p>
            <a:pPr algn="ctr"/>
          </a:p>
        </p:txBody>
      </p:sp>
      <p:sp>
        <p:nvSpPr>
          <p:cNvPr id="18" name="Text 17"/>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19" name="Rule 18"/>
          <p:cNvSpPr/>
          <p:nvPr/>
        </p:nvSpPr>
        <p:spPr>
          <a:xfrm>
            <a:off x="6764238" y="2193131"/>
            <a:ext cx="3662462" cy="19050"/>
          </a:xfrm>
          <a:prstGeom prst="rect">
            <a:avLst/>
          </a:prstGeom>
          <a:solidFill>
            <a:srgbClr val="1D5B9E"/>
          </a:solidFill>
          <a:ln>
            <a:noFill/>
          </a:ln>
        </p:spPr>
        <p:txBody>
          <a:bodyPr rtlCol="0" anchor="ctr"/>
          <a:lstStyle/>
          <a:p>
            <a:pPr algn="ctr"/>
          </a:p>
        </p:txBody>
      </p:sp>
      <p:sp>
        <p:nvSpPr>
          <p:cNvPr id="20" name="Text 19"/>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1" name="Rule 20"/>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2" name="Text 21"/>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3" name="Box 22"/>
          <p:cNvSpPr/>
          <p:nvPr/>
        </p:nvSpPr>
        <p:spPr>
          <a:xfrm>
            <a:off x="812800" y="2212181"/>
            <a:ext cx="2746772" cy="835521"/>
          </a:xfrm>
          <a:prstGeom prst="rect">
            <a:avLst/>
          </a:prstGeom>
          <a:solidFill>
            <a:srgbClr val="E1EAF4"/>
          </a:solidFill>
          <a:ln>
            <a:noFill/>
          </a:ln>
        </p:spPr>
        <p:txBody>
          <a:bodyPr rtlCol="0" anchor="ctr"/>
          <a:lstStyle/>
          <a:p>
            <a:pPr algn="ctr"/>
          </a:p>
        </p:txBody>
      </p:sp>
      <p:sp>
        <p:nvSpPr>
          <p:cNvPr id="24" name="Rule 23"/>
          <p:cNvSpPr/>
          <p:nvPr/>
        </p:nvSpPr>
        <p:spPr>
          <a:xfrm>
            <a:off x="812800" y="3041352"/>
            <a:ext cx="2746772" cy="6350"/>
          </a:xfrm>
          <a:prstGeom prst="rect">
            <a:avLst/>
          </a:prstGeom>
          <a:solidFill>
            <a:srgbClr val="DDD7CA"/>
          </a:solidFill>
          <a:ln>
            <a:noFill/>
          </a:ln>
        </p:spPr>
        <p:txBody>
          <a:bodyPr rtlCol="0" anchor="ctr"/>
          <a:lstStyle/>
          <a:p>
            <a:pPr algn="ctr"/>
          </a:p>
        </p:txBody>
      </p:sp>
      <p:sp>
        <p:nvSpPr>
          <p:cNvPr id="25" name="Text 24"/>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 وجدول قواعد التعامل لكل مستوى</a:t>
            </a:r>
          </a:p>
        </p:txBody>
      </p:sp>
      <p:sp>
        <p:nvSpPr>
          <p:cNvPr id="26" name="Rule 25"/>
          <p:cNvSpPr/>
          <p:nvPr/>
        </p:nvSpPr>
        <p:spPr>
          <a:xfrm>
            <a:off x="3559572" y="3041352"/>
            <a:ext cx="3204666" cy="6350"/>
          </a:xfrm>
          <a:prstGeom prst="rect">
            <a:avLst/>
          </a:prstGeom>
          <a:solidFill>
            <a:srgbClr val="DDD7CA"/>
          </a:solidFill>
          <a:ln>
            <a:noFill/>
          </a:ln>
        </p:spPr>
        <p:txBody>
          <a:bodyPr rtlCol="0" anchor="ctr"/>
          <a:lstStyle/>
          <a:p>
            <a:pPr algn="ctr"/>
          </a:p>
        </p:txBody>
      </p:sp>
      <p:sp>
        <p:nvSpPr>
          <p:cNvPr id="27" name="Text 26"/>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بقواعد لكل مستوى تصنيف، متوائمة مع الأنظمة الوطنية لحماية البيانات</a:t>
            </a:r>
          </a:p>
        </p:txBody>
      </p:sp>
      <p:sp>
        <p:nvSpPr>
          <p:cNvPr id="28" name="Rule 27"/>
          <p:cNvSpPr/>
          <p:nvPr/>
        </p:nvSpPr>
        <p:spPr>
          <a:xfrm>
            <a:off x="6764238" y="3041352"/>
            <a:ext cx="3662462" cy="6350"/>
          </a:xfrm>
          <a:prstGeom prst="rect">
            <a:avLst/>
          </a:prstGeom>
          <a:solidFill>
            <a:srgbClr val="DDD7CA"/>
          </a:solidFill>
          <a:ln>
            <a:noFill/>
          </a:ln>
        </p:spPr>
        <p:txBody>
          <a:bodyPr rtlCol="0" anchor="ctr"/>
          <a:lstStyle/>
          <a:p>
            <a:pPr algn="ctr"/>
          </a:p>
        </p:txBody>
      </p:sp>
      <p:sp>
        <p:nvSpPr>
          <p:cNvPr id="29" name="Text 28"/>
          <p:cNvSpPr txBox="1"/>
          <p:nvPr/>
        </p:nvSpPr>
        <p:spPr>
          <a:xfrm>
            <a:off x="6789638" y="2286349"/>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حماية البيانات والتعامل معها وتوثيقها واعتمادها وفق المتطلبات</a:t>
            </a:r>
          </a:p>
        </p:txBody>
      </p:sp>
      <p:sp>
        <p:nvSpPr>
          <p:cNvPr id="30" name="Rule 29"/>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1" name="Text 30"/>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2-7-1</a:t>
            </a:r>
          </a:p>
        </p:txBody>
      </p:sp>
      <p:sp>
        <p:nvSpPr>
          <p:cNvPr id="32" name="Text 31"/>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3" name="Box 32"/>
          <p:cNvSpPr/>
          <p:nvPr/>
        </p:nvSpPr>
        <p:spPr>
          <a:xfrm>
            <a:off x="812800" y="3047702"/>
            <a:ext cx="2746772" cy="651470"/>
          </a:xfrm>
          <a:prstGeom prst="rect">
            <a:avLst/>
          </a:prstGeom>
          <a:solidFill>
            <a:srgbClr val="E1EAF4"/>
          </a:solidFill>
          <a:ln>
            <a:noFill/>
          </a:ln>
        </p:spPr>
        <p:txBody>
          <a:bodyPr rtlCol="0" anchor="ctr"/>
          <a:lstStyle/>
          <a:p>
            <a:pPr algn="ctr"/>
          </a:p>
        </p:txBody>
      </p:sp>
      <p:sp>
        <p:nvSpPr>
          <p:cNvPr id="34" name="Rule 33"/>
          <p:cNvSpPr/>
          <p:nvPr/>
        </p:nvSpPr>
        <p:spPr>
          <a:xfrm>
            <a:off x="812800" y="3692823"/>
            <a:ext cx="2746772" cy="6350"/>
          </a:xfrm>
          <a:prstGeom prst="rect">
            <a:avLst/>
          </a:prstGeom>
          <a:solidFill>
            <a:srgbClr val="DDD7CA"/>
          </a:solidFill>
          <a:ln>
            <a:noFill/>
          </a:ln>
        </p:spPr>
        <p:txBody>
          <a:bodyPr rtlCol="0" anchor="ctr"/>
          <a:lstStyle/>
          <a:p>
            <a:pPr algn="ctr"/>
          </a:p>
        </p:txBody>
      </p:sp>
      <p:sp>
        <p:nvSpPr>
          <p:cNvPr id="35" name="Text 34"/>
          <p:cNvSpPr txBox="1"/>
          <p:nvPr/>
        </p:nvSpPr>
        <p:spPr>
          <a:xfrm>
            <a:off x="865017" y="312187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بيانات مصنفة وضوابطها المطبقة، وإعدادات منع التسرب</a:t>
            </a:r>
          </a:p>
        </p:txBody>
      </p:sp>
      <p:sp>
        <p:nvSpPr>
          <p:cNvPr id="36" name="Rule 35"/>
          <p:cNvSpPr/>
          <p:nvPr/>
        </p:nvSpPr>
        <p:spPr>
          <a:xfrm>
            <a:off x="3559572" y="3692823"/>
            <a:ext cx="3204666" cy="6350"/>
          </a:xfrm>
          <a:prstGeom prst="rect">
            <a:avLst/>
          </a:prstGeom>
          <a:solidFill>
            <a:srgbClr val="DDD7CA"/>
          </a:solidFill>
          <a:ln>
            <a:noFill/>
          </a:ln>
        </p:spPr>
        <p:txBody>
          <a:bodyPr rtlCol="0" anchor="ctr"/>
          <a:lstStyle/>
          <a:p>
            <a:pPr algn="ctr"/>
          </a:p>
        </p:txBody>
      </p:sp>
      <p:sp>
        <p:nvSpPr>
          <p:cNvPr id="37" name="Text 36"/>
          <p:cNvSpPr txBox="1"/>
          <p:nvPr/>
        </p:nvSpPr>
        <p:spPr>
          <a:xfrm>
            <a:off x="3598052" y="312187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ضوابط تقنية حسب المستوى: تقييد الوصول، والتشفير، ومنع تسرب البيانات، والترميز</a:t>
            </a:r>
          </a:p>
        </p:txBody>
      </p:sp>
      <p:sp>
        <p:nvSpPr>
          <p:cNvPr id="38" name="Rule 37"/>
          <p:cNvSpPr/>
          <p:nvPr/>
        </p:nvSpPr>
        <p:spPr>
          <a:xfrm>
            <a:off x="6764238" y="3692823"/>
            <a:ext cx="3662462" cy="6350"/>
          </a:xfrm>
          <a:prstGeom prst="rect">
            <a:avLst/>
          </a:prstGeom>
          <a:solidFill>
            <a:srgbClr val="DDD7CA"/>
          </a:solidFill>
          <a:ln>
            <a:noFill/>
          </a:ln>
        </p:spPr>
        <p:txBody>
          <a:bodyPr rtlCol="0" anchor="ctr"/>
          <a:lstStyle/>
          <a:p>
            <a:pPr algn="ctr"/>
          </a:p>
        </p:txBody>
      </p:sp>
      <p:sp>
        <p:nvSpPr>
          <p:cNvPr id="39" name="Text 38"/>
          <p:cNvSpPr txBox="1"/>
          <p:nvPr/>
        </p:nvSpPr>
        <p:spPr>
          <a:xfrm>
            <a:off x="6789638" y="312187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 بحسب مستوى تصنيف البيانات</a:t>
            </a:r>
          </a:p>
        </p:txBody>
      </p:sp>
      <p:sp>
        <p:nvSpPr>
          <p:cNvPr id="40" name="Rule 39"/>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1" name="Text 40"/>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2-7-2</a:t>
            </a:r>
          </a:p>
        </p:txBody>
      </p:sp>
      <p:sp>
        <p:nvSpPr>
          <p:cNvPr id="42" name="Text 41"/>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3" name="Box 42"/>
          <p:cNvSpPr/>
          <p:nvPr/>
        </p:nvSpPr>
        <p:spPr>
          <a:xfrm>
            <a:off x="812800" y="3699173"/>
            <a:ext cx="2746772" cy="835521"/>
          </a:xfrm>
          <a:prstGeom prst="rect">
            <a:avLst/>
          </a:prstGeom>
          <a:solidFill>
            <a:srgbClr val="E1EAF4"/>
          </a:solidFill>
          <a:ln>
            <a:noFill/>
          </a:ln>
        </p:spPr>
        <p:txBody>
          <a:bodyPr rtlCol="0" anchor="ctr"/>
          <a:lstStyle/>
          <a:p>
            <a:pPr algn="ctr"/>
          </a:p>
        </p:txBody>
      </p:sp>
      <p:sp>
        <p:nvSpPr>
          <p:cNvPr id="44" name="Rule 43"/>
          <p:cNvSpPr/>
          <p:nvPr/>
        </p:nvSpPr>
        <p:spPr>
          <a:xfrm>
            <a:off x="812800" y="4528344"/>
            <a:ext cx="2746772" cy="6350"/>
          </a:xfrm>
          <a:prstGeom prst="rect">
            <a:avLst/>
          </a:prstGeom>
          <a:solidFill>
            <a:srgbClr val="DDD7CA"/>
          </a:solidFill>
          <a:ln>
            <a:noFill/>
          </a:ln>
        </p:spPr>
        <p:txBody>
          <a:bodyPr rtlCol="0" anchor="ctr"/>
          <a:lstStyle/>
          <a:p>
            <a:pPr algn="ctr"/>
          </a:p>
        </p:txBody>
      </p:sp>
      <p:sp>
        <p:nvSpPr>
          <p:cNvPr id="45" name="Text 44"/>
          <p:cNvSpPr txBox="1"/>
          <p:nvPr/>
        </p:nvSpPr>
        <p:spPr>
          <a:xfrm>
            <a:off x="838200" y="3773341"/>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 العينة</a:t>
            </a:r>
          </a:p>
        </p:txBody>
      </p:sp>
      <p:sp>
        <p:nvSpPr>
          <p:cNvPr id="46" name="Rule 45"/>
          <p:cNvSpPr/>
          <p:nvPr/>
        </p:nvSpPr>
        <p:spPr>
          <a:xfrm>
            <a:off x="3559572" y="4528344"/>
            <a:ext cx="3204666" cy="6350"/>
          </a:xfrm>
          <a:prstGeom prst="rect">
            <a:avLst/>
          </a:prstGeom>
          <a:solidFill>
            <a:srgbClr val="DDD7CA"/>
          </a:solidFill>
          <a:ln>
            <a:noFill/>
          </a:ln>
        </p:spPr>
        <p:txBody>
          <a:bodyPr rtlCol="0" anchor="ctr"/>
          <a:lstStyle/>
          <a:p>
            <a:pPr algn="ctr"/>
          </a:p>
        </p:txBody>
      </p:sp>
      <p:sp>
        <p:nvSpPr>
          <p:cNvPr id="47" name="Text 46"/>
          <p:cNvSpPr txBox="1"/>
          <p:nvPr/>
        </p:nvSpPr>
        <p:spPr>
          <a:xfrm>
            <a:off x="3598052" y="377334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عينة من مستودعات البيانات مقابل قواعد مستواها</a:t>
            </a:r>
          </a:p>
        </p:txBody>
      </p:sp>
      <p:sp>
        <p:nvSpPr>
          <p:cNvPr id="48" name="Rule 47"/>
          <p:cNvSpPr/>
          <p:nvPr/>
        </p:nvSpPr>
        <p:spPr>
          <a:xfrm>
            <a:off x="6764238" y="4528344"/>
            <a:ext cx="3662462" cy="6350"/>
          </a:xfrm>
          <a:prstGeom prst="rect">
            <a:avLst/>
          </a:prstGeom>
          <a:solidFill>
            <a:srgbClr val="DDD7CA"/>
          </a:solidFill>
          <a:ln>
            <a:noFill/>
          </a:ln>
        </p:spPr>
        <p:txBody>
          <a:bodyPr rtlCol="0" anchor="ctr"/>
          <a:lstStyle/>
          <a:p>
            <a:pPr algn="ctr"/>
          </a:p>
        </p:txBody>
      </p:sp>
      <p:sp>
        <p:nvSpPr>
          <p:cNvPr id="49" name="Text 48"/>
          <p:cNvSpPr txBox="1"/>
          <p:nvPr/>
        </p:nvSpPr>
        <p:spPr>
          <a:xfrm>
            <a:off x="6789638" y="3773341"/>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50" name="Rule 49"/>
          <p:cNvSpPr/>
          <p:nvPr/>
        </p:nvSpPr>
        <p:spPr>
          <a:xfrm>
            <a:off x="10426700" y="4528344"/>
            <a:ext cx="952500" cy="6350"/>
          </a:xfrm>
          <a:prstGeom prst="rect">
            <a:avLst/>
          </a:prstGeom>
          <a:solidFill>
            <a:srgbClr val="DDD7CA"/>
          </a:solidFill>
          <a:ln>
            <a:noFill/>
          </a:ln>
        </p:spPr>
        <p:txBody>
          <a:bodyPr rtlCol="0" anchor="ctr"/>
          <a:lstStyle/>
          <a:p>
            <a:pPr algn="ctr"/>
          </a:p>
        </p:txBody>
      </p:sp>
      <p:sp>
        <p:nvSpPr>
          <p:cNvPr id="51" name="Text 50"/>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2-7-3</a:t>
            </a:r>
          </a:p>
        </p:txBody>
      </p:sp>
      <p:sp>
        <p:nvSpPr>
          <p:cNvPr id="52" name="Text 51"/>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3" name="Text 52"/>
          <p:cNvSpPr txBox="1"/>
          <p:nvPr/>
        </p:nvSpPr>
        <p:spPr>
          <a:xfrm>
            <a:off x="0" y="518853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لكل مستوى تصنيف حدّد</a:t>
            </a:r>
          </a:p>
        </p:txBody>
      </p:sp>
      <p:sp>
        <p:nvSpPr>
          <p:cNvPr id="54" name="Text box 53"/>
          <p:cNvSpPr/>
          <p:nvPr/>
        </p:nvSpPr>
        <p:spPr>
          <a:xfrm>
            <a:off x="10618688" y="5517555"/>
            <a:ext cx="75733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من يطّلع</a:t>
            </a:r>
          </a:p>
        </p:txBody>
      </p:sp>
      <p:sp>
        <p:nvSpPr>
          <p:cNvPr id="55" name="Text box 54"/>
          <p:cNvSpPr/>
          <p:nvPr/>
        </p:nvSpPr>
        <p:spPr>
          <a:xfrm>
            <a:off x="9757271" y="5517555"/>
            <a:ext cx="76616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أين يُخزَّن</a:t>
            </a:r>
          </a:p>
        </p:txBody>
      </p:sp>
      <p:sp>
        <p:nvSpPr>
          <p:cNvPr id="56" name="Text box 55"/>
          <p:cNvSpPr/>
          <p:nvPr/>
        </p:nvSpPr>
        <p:spPr>
          <a:xfrm>
            <a:off x="8860631" y="5517555"/>
            <a:ext cx="80139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كيف يُنقل</a:t>
            </a:r>
          </a:p>
        </p:txBody>
      </p:sp>
      <p:sp>
        <p:nvSpPr>
          <p:cNvPr id="57" name="Text box 56"/>
          <p:cNvSpPr/>
          <p:nvPr/>
        </p:nvSpPr>
        <p:spPr>
          <a:xfrm>
            <a:off x="7863483" y="5517555"/>
            <a:ext cx="90189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كيف يُشارَك</a:t>
            </a:r>
          </a:p>
        </p:txBody>
      </p:sp>
      <p:sp>
        <p:nvSpPr>
          <p:cNvPr id="58" name="Text box 57"/>
          <p:cNvSpPr/>
          <p:nvPr/>
        </p:nvSpPr>
        <p:spPr>
          <a:xfrm>
            <a:off x="6946205" y="5517555"/>
            <a:ext cx="82202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كيف يُتلف</a:t>
            </a:r>
          </a:p>
        </p:txBody>
      </p:sp>
      <p:sp>
        <p:nvSpPr>
          <p:cNvPr id="59" name="Text 5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0" name="Box 5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3" name="Box 6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4" name="Box 63"/>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5" name="Box 64"/>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Box 6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Box 6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9" name="Text 6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8 من 8</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‎2-8‎ التشفير</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الاستخدام السليم والفعال للتشفير لحماية الأصول المعلوماتية الإلكترونية للجهة.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بيانات حساسة تُنقل بلا تشفير، أو تشفير قديم ضعيف، أو مفتاح محفوظ في ملف نصي بجانب البيانات.</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الخزنة: قوتها لا تفيد إن تركت مفتاحها معلقاً على بابها.</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استخدام التشفير بشكل صحيح وفق المعايير الوطنية للتشفير، لحماية البيانات أثناء نقلها وتخزينها، مع إدارة آمنة لمفاتيح التشفير.</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المعايير الوطنية للتشفير</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ما تعتمده الهيئة من خوارزميات وأطوال</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الشهادة الرقمية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تثبت هوية الموقع وتشفر الاتصال</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إدارة المفاتيح</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توليد المفاتيح وحفظها وتدويرها</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34427" y="812800"/>
            <a:ext cx="1044773"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‎2-8‎ · التشفير</a:t>
            </a:r>
          </a:p>
        </p:txBody>
      </p:sp>
      <p:sp>
        <p:nvSpPr>
          <p:cNvPr id="4" name="Text 3"/>
          <p:cNvSpPr txBox="1"/>
          <p:nvPr/>
        </p:nvSpPr>
        <p:spPr>
          <a:xfrm>
            <a:off x="881123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التشفير: المتطلبات والمعايير الوطنية</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والمعيار المعتمدان</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0169" y="2286349"/>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ومعيار تشفير مبنيان على المعايير الوطنية للتشفير</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التشفير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3121870"/>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جرد التشفير، وإعدادات عينة من الأنظمة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جرد استخدامات التشفير: الشهادات والبروتوكولات والمفاتيح، وتطبيق المعيار عليها</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متطلبات التشفير</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72430"/>
          </a:xfrm>
          <a:prstGeom prst="rect">
            <a:avLst/>
          </a:prstGeom>
          <a:solidFill>
            <a:srgbClr val="E1EAF4"/>
          </a:solidFill>
          <a:ln>
            <a:noFill/>
          </a:ln>
        </p:spPr>
        <p:txBody>
          <a:bodyPr rtlCol="0" anchor="ctr"/>
          <a:lstStyle/>
          <a:p>
            <a:pPr algn="ctr"/>
          </a:p>
        </p:txBody>
      </p:sp>
      <p:sp>
        <p:nvSpPr>
          <p:cNvPr id="49" name="Rule 48"/>
          <p:cNvSpPr/>
          <p:nvPr/>
        </p:nvSpPr>
        <p:spPr>
          <a:xfrm>
            <a:off x="812800" y="456525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جدول يربط فئات البيانات والأنظمة بمستويات التشفير ومرجعيتها</a:t>
            </a:r>
          </a:p>
        </p:txBody>
      </p:sp>
      <p:sp>
        <p:nvSpPr>
          <p:cNvPr id="51" name="Rule 50"/>
          <p:cNvSpPr/>
          <p:nvPr/>
        </p:nvSpPr>
        <p:spPr>
          <a:xfrm>
            <a:off x="3864769" y="456525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تحديد مستوى التشفير لكل فئة وفق المعايير الوطنية وطبيعة البيانات وتقييم المخاطر</a:t>
            </a:r>
          </a:p>
        </p:txBody>
      </p:sp>
      <p:sp>
        <p:nvSpPr>
          <p:cNvPr id="53" name="Rule 52"/>
          <p:cNvSpPr/>
          <p:nvPr/>
        </p:nvSpPr>
        <p:spPr>
          <a:xfrm>
            <a:off x="7374632" y="456525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تشمل المتطلبات على الأقل ما في المعايير الوطنية للتشفير، بالمستوى المناسب للحساسية والمخاطر</a:t>
            </a:r>
          </a:p>
        </p:txBody>
      </p:sp>
      <p:sp>
        <p:nvSpPr>
          <p:cNvPr id="55" name="Rule 54"/>
          <p:cNvSpPr/>
          <p:nvPr/>
        </p:nvSpPr>
        <p:spPr>
          <a:xfrm>
            <a:off x="10426700" y="456525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2-8-3</a:t>
            </a:r>
          </a:p>
        </p:txBody>
      </p:sp>
      <p:sp>
        <p:nvSpPr>
          <p:cNvPr id="57" name="Text 56"/>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 · وطني</a:t>
            </a:r>
          </a:p>
        </p:txBody>
      </p:sp>
      <p:sp>
        <p:nvSpPr>
          <p:cNvPr id="58" name="Box 57"/>
          <p:cNvSpPr/>
          <p:nvPr/>
        </p:nvSpPr>
        <p:spPr>
          <a:xfrm>
            <a:off x="812800" y="457160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40077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4577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61" name="Rule 60"/>
          <p:cNvSpPr/>
          <p:nvPr/>
        </p:nvSpPr>
        <p:spPr>
          <a:xfrm>
            <a:off x="3864769" y="540077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64577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الجرد والخوارزميات مقابل المعايير السارية</a:t>
            </a:r>
          </a:p>
        </p:txBody>
      </p:sp>
      <p:sp>
        <p:nvSpPr>
          <p:cNvPr id="63" name="Rule 62"/>
          <p:cNvSpPr/>
          <p:nvPr/>
        </p:nvSpPr>
        <p:spPr>
          <a:xfrm>
            <a:off x="7374632" y="540077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64577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426700" y="540077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66247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2-8-4</a:t>
            </a:r>
          </a:p>
        </p:txBody>
      </p:sp>
      <p:sp>
        <p:nvSpPr>
          <p:cNvPr id="67" name="Text 66"/>
          <p:cNvSpPr txBox="1"/>
          <p:nvPr/>
        </p:nvSpPr>
        <p:spPr>
          <a:xfrm>
            <a:off x="10515600" y="486800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74" name="Box 7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34427" y="812800"/>
            <a:ext cx="1044773"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‎2-8‎ · التشفير</a:t>
            </a:r>
          </a:p>
        </p:txBody>
      </p:sp>
      <p:sp>
        <p:nvSpPr>
          <p:cNvPr id="4" name="Text 3"/>
          <p:cNvSpPr txBox="1"/>
          <p:nvPr/>
        </p:nvSpPr>
        <p:spPr>
          <a:xfrm>
            <a:off x="881123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المعايير والمفاتيح والبيانات</a:t>
            </a:r>
          </a:p>
        </p:txBody>
      </p:sp>
      <p:sp>
        <p:nvSpPr>
          <p:cNvPr id="20" name="Rule 19"/>
          <p:cNvSpPr/>
          <p:nvPr/>
        </p:nvSpPr>
        <p:spPr>
          <a:xfrm>
            <a:off x="812800" y="2193131"/>
            <a:ext cx="27467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1D5B9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1D5B9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القائمة المعتمدة، وفحص يثبت تعطيل البروتوكولات الضعيفة</a:t>
            </a:r>
          </a:p>
        </p:txBody>
      </p:sp>
      <p:sp>
        <p:nvSpPr>
          <p:cNvPr id="31" name="Rule 30"/>
          <p:cNvSpPr/>
          <p:nvPr/>
        </p:nvSpPr>
        <p:spPr>
          <a:xfrm>
            <a:off x="3559572" y="285730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معتمدة بالخوارزميات وأطوال المفاتيح والبروتوكولات المسموحة والممنوعة</a:t>
            </a:r>
          </a:p>
        </p:txBody>
      </p:sp>
      <p:sp>
        <p:nvSpPr>
          <p:cNvPr id="33" name="Rule 32"/>
          <p:cNvSpPr/>
          <p:nvPr/>
        </p:nvSpPr>
        <p:spPr>
          <a:xfrm>
            <a:off x="6764238" y="285730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معايير أنظمة وحلول التشفير المعتمدة وقيودها التقنية والتنظيمية</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2-8-3-1</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746772"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293782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الإجراء المعتمد، وسجل المفاتيح والشهادات بتواريخ انتهائها وتدويرها</a:t>
            </a:r>
          </a:p>
        </p:txBody>
      </p:sp>
      <p:sp>
        <p:nvSpPr>
          <p:cNvPr id="41" name="Rule 40"/>
          <p:cNvSpPr/>
          <p:nvPr/>
        </p:nvSpPr>
        <p:spPr>
          <a:xfrm>
            <a:off x="3559572" y="3508772"/>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293782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إجراء لدورة الحياة: توليد وتخزين وتوزيع وتدوير وإلغاء وإتلاف، ووحدات أمن عتادية للمفاتيح الحساسة</a:t>
            </a:r>
          </a:p>
        </p:txBody>
      </p:sp>
      <p:sp>
        <p:nvSpPr>
          <p:cNvPr id="43" name="Rule 42"/>
          <p:cNvSpPr/>
          <p:nvPr/>
        </p:nvSpPr>
        <p:spPr>
          <a:xfrm>
            <a:off x="6764238" y="3508772"/>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2937820"/>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الإدارة الآمنة لمفاتيح التشفير خلال دورة حياتها</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2-8-3-2</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2746772" cy="872430"/>
          </a:xfrm>
          <a:prstGeom prst="rect">
            <a:avLst/>
          </a:prstGeom>
          <a:solidFill>
            <a:srgbClr val="E1EAF4"/>
          </a:solidFill>
          <a:ln>
            <a:noFill/>
          </a:ln>
        </p:spPr>
        <p:txBody>
          <a:bodyPr rtlCol="0" anchor="ctr"/>
          <a:lstStyle/>
          <a:p>
            <a:pPr algn="ctr"/>
          </a:p>
        </p:txBody>
      </p:sp>
      <p:sp>
        <p:nvSpPr>
          <p:cNvPr id="49" name="Rule 48"/>
          <p:cNvSpPr/>
          <p:nvPr/>
        </p:nvSpPr>
        <p:spPr>
          <a:xfrm>
            <a:off x="812800" y="4381202"/>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358929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التشفير لعينة أنظمة، مقابل تصنيف بياناتها</a:t>
            </a:r>
          </a:p>
        </p:txBody>
      </p:sp>
      <p:sp>
        <p:nvSpPr>
          <p:cNvPr id="51" name="Rule 50"/>
          <p:cNvSpPr/>
          <p:nvPr/>
        </p:nvSpPr>
        <p:spPr>
          <a:xfrm>
            <a:off x="3559572" y="4381202"/>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58929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تشفير القنوات للخدمات والتكاملات، وتشفير قواعد البيانات والأقراص والنسخ للبيانات المصنفة</a:t>
            </a:r>
          </a:p>
        </p:txBody>
      </p:sp>
      <p:sp>
        <p:nvSpPr>
          <p:cNvPr id="53" name="Rule 52"/>
          <p:cNvSpPr/>
          <p:nvPr/>
        </p:nvSpPr>
        <p:spPr>
          <a:xfrm>
            <a:off x="6764238" y="4381202"/>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589290"/>
            <a:ext cx="3510062"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تشفير البيانات أثناء النقل والتخزين والمعالجة بناءً على تصنيفها وحسب المتطلبات التشريعية والتنظيمية ذات العلاقة</a:t>
            </a:r>
          </a:p>
        </p:txBody>
      </p:sp>
      <p:sp>
        <p:nvSpPr>
          <p:cNvPr id="55" name="Rule 54"/>
          <p:cNvSpPr/>
          <p:nvPr/>
        </p:nvSpPr>
        <p:spPr>
          <a:xfrm>
            <a:off x="10426700" y="4381202"/>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60599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2-8-3-3</a:t>
            </a:r>
          </a:p>
        </p:txBody>
      </p:sp>
      <p:sp>
        <p:nvSpPr>
          <p:cNvPr id="57" name="Text 56"/>
          <p:cNvSpPr txBox="1"/>
          <p:nvPr/>
        </p:nvSpPr>
        <p:spPr>
          <a:xfrm>
            <a:off x="10462260" y="381152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Warning 59" descr="icon032.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خطأ شائع</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شهادة منتهية أو بروتوكول قديم مفعّل من أكثر الملاحظات شيوعاً، ويكشفهما فحص خارجي في دقائق.</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69" name="Box 6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70" name="Box 6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34427" y="812800"/>
            <a:ext cx="1044773"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‎2-8‎ · التشفير</a:t>
            </a:r>
          </a:p>
        </p:txBody>
      </p:sp>
      <p:sp>
        <p:nvSpPr>
          <p:cNvPr id="4" name="Text 3"/>
          <p:cNvSpPr txBox="1"/>
          <p:nvPr/>
        </p:nvSpPr>
        <p:spPr>
          <a:xfrm>
            <a:off x="881123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05 · التعزيز (1)</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الاتصال المشفر وشهادته</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442523"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2-8-3-1</a:t>
            </a:r>
          </a:p>
        </p:txBody>
      </p:sp>
      <p:sp>
        <p:nvSpPr>
          <p:cNvPr id="23" name="Text box 22"/>
          <p:cNvSpPr/>
          <p:nvPr/>
        </p:nvSpPr>
        <p:spPr>
          <a:xfrm>
            <a:off x="7561064"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2-8-3-2</a:t>
            </a:r>
          </a:p>
        </p:txBody>
      </p:sp>
      <p:sp>
        <p:nvSpPr>
          <p:cNvPr id="24" name="Text box 23"/>
          <p:cNvSpPr/>
          <p:nvPr/>
        </p:nvSpPr>
        <p:spPr>
          <a:xfrm>
            <a:off x="10469860" y="2190552"/>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2-15-3-3</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القفل وhttps: الاتصال بالموقع مشفر بشهادة رقمية.</a:t>
            </a:r>
          </a:p>
        </p:txBody>
      </p:sp>
      <p:sp>
        <p:nvSpPr>
          <p:cNvPr id="29" name="Box 28"/>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الضغط على القفل يعرض الجهة المصدرة وتاريخ انتهاء الشهادة.</a:t>
            </a:r>
          </a:p>
        </p:txBody>
      </p:sp>
      <p:sp>
        <p:nvSpPr>
          <p:cNvPr id="32" name="Box 31"/>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القفل لا يكشف قوة الإعدادات؛ ذلك يحتاج فحصاً متخصصاً.</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شهادات بتواريخ الانتهاء، فلا تنتهي شهادة دون علم.</a:t>
            </a:r>
          </a:p>
        </p:txBody>
      </p:sp>
      <p:pic>
        <p:nvPicPr>
          <p:cNvPr id="39" name="Icon CheckCircle 38" descr="icon043.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البروتوكولات والخوارزميات ضمن المعايير الوطنية للتشفير.</a:t>
            </a:r>
          </a:p>
        </p:txBody>
      </p:sp>
      <p:pic>
        <p:nvPicPr>
          <p:cNvPr id="41" name="Icon CheckCircle 40" descr="icon043.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فحصاً خارجياً لكل الخدمات المواجهة للإنترنت، لا موقعاً واحداً.</a:t>
            </a:r>
          </a:p>
        </p:txBody>
      </p:sp>
      <p:sp>
        <p:nvSpPr>
          <p:cNvPr id="43" name="Box 42"/>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23483"/>
            <a:ext cx="190500" cy="190500"/>
          </a:xfrm>
          <a:prstGeom prst="rect">
            <a:avLst/>
          </a:prstGeom>
        </p:spPr>
      </p:pic>
      <p:sp>
        <p:nvSpPr>
          <p:cNvPr id="45" name="Text 44"/>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القفل يوضح اتصالاً مشفراً لموقع واحد، ولا يثبت قوة الإعدادات ولا إدارة دورة حياة الشهادات.</a:t>
            </a:r>
          </a:p>
        </p:txBody>
      </p:sp>
      <p:pic>
        <p:nvPicPr>
          <p:cNvPr id="46" name="Picture 45" descr="tls-certificate.jpg"/>
          <p:cNvPicPr>
            <a:picLocks noChangeAspect="1"/>
          </p:cNvPicPr>
          <p:nvPr/>
        </p:nvPicPr>
        <p:blipFill>
          <a:blip r:embed="rId5"/>
          <a:srcRect l="3076" r="3076"/>
          <a:stretch>
            <a:fillRect/>
          </a:stretch>
        </p:blipFill>
        <p:spPr>
          <a:xfrm>
            <a:off x="812800" y="1852811"/>
            <a:ext cx="5511800" cy="3302000"/>
          </a:xfrm>
          <a:prstGeom prst="roundRect">
            <a:avLst>
              <a:gd name="adj" fmla="val 3462"/>
            </a:avLst>
          </a:prstGeom>
        </p:spPr>
      </p:pic>
      <p:sp>
        <p:nvSpPr>
          <p:cNvPr id="47" name="Text 46"/>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Santeri Viinamäki · CC ‎BY-SA‎ 4.0 · المصدر: Wikimedia Commons</a:t>
            </a:r>
          </a:p>
        </p:txBody>
      </p:sp>
      <p:sp>
        <p:nvSpPr>
          <p:cNvPr id="48" name="Text 4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49" name="Box 4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3" name="Box 52"/>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Text 5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75105" y="812800"/>
            <a:ext cx="1804095"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تمرين 5 · ثنائي · 20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هل يثبت هذا الدليل الامتثال؟</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E1EAF4"/>
          </a:solidFill>
          <a:ln>
            <a:noFill/>
          </a:ln>
        </p:spPr>
        <p:txBody>
          <a:bodyPr rtlCol="0" anchor="ctr"/>
          <a:lstStyle/>
          <a:p>
            <a:pPr algn="ctr"/>
          </a:p>
        </p:txBody>
      </p:sp>
      <p:pic>
        <p:nvPicPr>
          <p:cNvPr id="7" name="Icon Tool 6" descr="icon05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دليل: ما الضابط، وهل يثبت الامتثال كاملاً، وما الناقص، وما الإجراء التالي؟</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1D5B9E"/>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سجل DMARC للنطاق الرئيسي بسياسة المراقبة فقط منذ سنتين.</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1D5B9E"/>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وحدة إدارة الحماية: 1,180 جهازاً محمياً. سجل الأصول: 1,420 جهازاً.</a:t>
            </a:r>
          </a:p>
        </p:txBody>
      </p:sp>
      <p:sp>
        <p:nvSpPr>
          <p:cNvPr id="17" name="Box 16"/>
          <p:cNvSpPr/>
          <p:nvPr/>
        </p:nvSpPr>
        <p:spPr>
          <a:xfrm>
            <a:off x="815975" y="3468886"/>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679627"/>
            <a:ext cx="317500" cy="317500"/>
          </a:xfrm>
          <a:prstGeom prst="roundRect">
            <a:avLst>
              <a:gd name="adj" fmla="val 50000"/>
            </a:avLst>
          </a:prstGeom>
          <a:solidFill>
            <a:srgbClr val="1D5B9E"/>
          </a:solidFill>
          <a:ln>
            <a:noFill/>
          </a:ln>
        </p:spPr>
        <p:txBody>
          <a:bodyPr rtlCol="0" anchor="ctr"/>
          <a:lstStyle/>
          <a:p>
            <a:pPr algn="ctr"/>
          </a:p>
        </p:txBody>
      </p:sp>
      <p:sp>
        <p:nvSpPr>
          <p:cNvPr id="19" name="Text 18"/>
          <p:cNvSpPr txBox="1"/>
          <p:nvPr/>
        </p:nvSpPr>
        <p:spPr>
          <a:xfrm>
            <a:off x="5589865" y="3767136"/>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89001"/>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لاسلكي الموظفين مربوط بالشبكة الداخلية، ولا يوجد تقييم مخاطر.</a:t>
            </a:r>
          </a:p>
        </p:txBody>
      </p:sp>
      <p:sp>
        <p:nvSpPr>
          <p:cNvPr id="21" name="Box 20"/>
          <p:cNvSpPr/>
          <p:nvPr/>
        </p:nvSpPr>
        <p:spPr>
          <a:xfrm>
            <a:off x="6175375" y="3468886"/>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679627"/>
            <a:ext cx="317500" cy="317500"/>
          </a:xfrm>
          <a:prstGeom prst="roundRect">
            <a:avLst>
              <a:gd name="adj" fmla="val 50000"/>
            </a:avLst>
          </a:prstGeom>
          <a:solidFill>
            <a:srgbClr val="1D5B9E"/>
          </a:solidFill>
          <a:ln>
            <a:noFill/>
          </a:ln>
        </p:spPr>
        <p:txBody>
          <a:bodyPr rtlCol="0" anchor="ctr"/>
          <a:lstStyle/>
          <a:p>
            <a:pPr algn="ctr"/>
          </a:p>
        </p:txBody>
      </p:sp>
      <p:sp>
        <p:nvSpPr>
          <p:cNvPr id="23" name="Text 22"/>
          <p:cNvSpPr txBox="1"/>
          <p:nvPr/>
        </p:nvSpPr>
        <p:spPr>
          <a:xfrm>
            <a:off x="10949662" y="3767136"/>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211062" y="3569343"/>
            <a:ext cx="4552188"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التحقق متعدد العوامل مفعّل على الشبكة الافتراضية الخاصة، ولا يشمل حسابات مديري الخوادم.</a:t>
            </a:r>
          </a:p>
        </p:txBody>
      </p:sp>
      <p:sp>
        <p:nvSpPr>
          <p:cNvPr id="25" name="Box 24"/>
          <p:cNvSpPr/>
          <p:nvPr/>
        </p:nvSpPr>
        <p:spPr>
          <a:xfrm>
            <a:off x="815975" y="4341217"/>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551958"/>
            <a:ext cx="317500" cy="3175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5587980" y="4639467"/>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561332"/>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ملفات مصنفة «سري» تُرسل بالبريد إلى جهات خارجية دون تشفير.</a:t>
            </a:r>
          </a:p>
        </p:txBody>
      </p:sp>
      <p:sp>
        <p:nvSpPr>
          <p:cNvPr id="29" name="Box 28"/>
          <p:cNvSpPr/>
          <p:nvPr/>
        </p:nvSpPr>
        <p:spPr>
          <a:xfrm>
            <a:off x="6175375" y="4341217"/>
            <a:ext cx="5200650" cy="738981"/>
          </a:xfrm>
          <a:prstGeom prst="roundRect">
            <a:avLst>
              <a:gd name="adj" fmla="val 1533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551958"/>
            <a:ext cx="317500" cy="317500"/>
          </a:xfrm>
          <a:prstGeom prst="roundRect">
            <a:avLst>
              <a:gd name="adj" fmla="val 50000"/>
            </a:avLst>
          </a:prstGeom>
          <a:solidFill>
            <a:srgbClr val="1D5B9E"/>
          </a:solidFill>
          <a:ln>
            <a:noFill/>
          </a:ln>
        </p:spPr>
        <p:txBody>
          <a:bodyPr rtlCol="0" anchor="ctr"/>
          <a:lstStyle/>
          <a:p>
            <a:pPr algn="ctr"/>
          </a:p>
        </p:txBody>
      </p:sp>
      <p:sp>
        <p:nvSpPr>
          <p:cNvPr id="31" name="Text 30"/>
          <p:cNvSpPr txBox="1"/>
          <p:nvPr/>
        </p:nvSpPr>
        <p:spPr>
          <a:xfrm>
            <a:off x="10947777" y="4639467"/>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211062" y="4441674"/>
            <a:ext cx="4552188"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بين منطقة المستخدمين ومنطقة الخوادم قاعدة جدار ناري تسمح بكل شيء.</a:t>
            </a:r>
          </a:p>
        </p:txBody>
      </p:sp>
      <p:sp>
        <p:nvSpPr>
          <p:cNvPr id="33" name="Text 3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34" name="Box 3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8" name="Box 37"/>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39" name="Box 38"/>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40" name="Box 3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Text 4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حل التمرين 5</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ماذا يثبت كل دليل، وما الناقص</a:t>
            </a:r>
          </a:p>
        </p:txBody>
      </p:sp>
      <p:graphicFrame>
        <p:nvGraphicFramePr>
          <p:cNvPr id="5" name="Table 4"/>
          <p:cNvGraphicFramePr>
            <a:graphicFrameLocks noGrp="1"/>
          </p:cNvGraphicFramePr>
          <p:nvPr/>
        </p:nvGraphicFramePr>
        <p:xfrm>
          <a:off x="815975" y="1855986"/>
          <a:ext cx="10560050" cy="2337097"/>
        </p:xfrm>
        <a:graphic>
          <a:graphicData uri="http://schemas.openxmlformats.org/drawingml/2006/table">
            <a:tbl>
              <a:tblPr firstRow="0" bandRow="0" lastRow="0" firstCol="0" lastCol="0" bandCol="0">
                <a:tableStyleId>{2D5ABB26-0587-4C30-8999-92F81FD0307C}</a:tableStyleId>
              </a:tblPr>
              <a:tblGrid>
                <a:gridCol w="4224020"/>
                <a:gridCol w="3801745"/>
                <a:gridCol w="1900555"/>
                <a:gridCol w="63373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الإجراء التالي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الحكم والناقص</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مطابقة القائمتين، ثم تثبيت الحماية أو تصحيح السجل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جزئي: 240 جهازاً بلا حماية، أو سجل غير دقيق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2-3-3-1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مراجعة تقارير DMARC، ثم التدرج إلى العزل أو الرفض</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منشور، لكنه لا يمنع انتحال النطاق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2-4-3-5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حصر الحسابات المميزة وتفعيل التحقق لها، مع تقييم الأثر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جزئي: الحسابات المميزة مشمولة صراحة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2-2-3-2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مخاطر شامل ومعالجة موثقة، أو عزل اللاسلكي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ممتثل: الربط مشروط بتقييم المخاطر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2-5-3-4</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قواعد بالحد الأدنى بين المناطق، ومراجعة دورية لها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تقسيم شكلي بلا عزل فعلي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2-5-3-1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تشفير إلزامي لما يُرسل خارجياً، وضوابط لمنع التسرب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خلاف قواعد التعامل والتشفير أثناء النقل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1D5B9E"/>
                          </a:solidFill>
                          <a:latin typeface="IBM Plex Mono"/>
                          <a:ea typeface="IBM Plex Mono"/>
                          <a:cs typeface="IBM Plex Mono"/>
                        </a:rPr>
                        <a:t>2-7-2 · 2-8-3-3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05 · التعزيز (1)</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1" name="Box 10"/>
          <p:cNvSpPr/>
          <p:nvPr/>
        </p:nvSpPr>
        <p:spPr>
          <a:xfrm>
            <a:off x="2032000" y="6313190"/>
            <a:ext cx="279400" cy="63500"/>
          </a:xfrm>
          <a:prstGeom prst="roundRect">
            <a:avLst>
              <a:gd name="adj" fmla="val 50000"/>
            </a:avLst>
          </a:prstGeom>
          <a:solidFill>
            <a:srgbClr val="1D5B9E"/>
          </a:solidFill>
          <a:ln>
            <a:noFill/>
          </a:ln>
        </p:spPr>
        <p:txBody>
          <a:bodyPr rtlCol="0" anchor="ctr"/>
          <a:lstStyle/>
          <a:p>
            <a:pPr algn="ctr"/>
          </a:p>
        </p:txBody>
      </p:sp>
      <p:sp>
        <p:nvSpPr>
          <p:cNvPr id="12" name="Box 11"/>
          <p:cNvSpPr/>
          <p:nvPr/>
        </p:nvSpPr>
        <p:spPr>
          <a:xfrm>
            <a:off x="1854200" y="6313190"/>
            <a:ext cx="139700" cy="63500"/>
          </a:xfrm>
          <a:prstGeom prst="roundRect">
            <a:avLst>
              <a:gd name="adj" fmla="val 50000"/>
            </a:avLst>
          </a:prstGeom>
          <a:solidFill>
            <a:srgbClr val="DDD7CA"/>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7FB2EA"/>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8575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8369697" y="285750"/>
            <a:ext cx="38020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160617" y="285750"/>
            <a:ext cx="1145580" cy="264120"/>
          </a:xfrm>
          <a:prstGeom prst="roundRect">
            <a:avLst>
              <a:gd name="adj" fmla="val 50000"/>
            </a:avLst>
          </a:prstGeom>
          <a:solidFill>
            <a:srgbClr val="7FB2EA"/>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06 · التعزيز (2)</a:t>
            </a:r>
          </a:p>
        </p:txBody>
      </p:sp>
      <p:sp>
        <p:nvSpPr>
          <p:cNvPr id="10" name="Text box 9"/>
          <p:cNvSpPr/>
          <p:nvPr/>
        </p:nvSpPr>
        <p:spPr>
          <a:xfrm>
            <a:off x="6713637" y="282575"/>
            <a:ext cx="38030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6255841"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798344"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29291" y="899795"/>
            <a:ext cx="2449909"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7FB2EA"/>
                </a:solidFill>
                <a:latin typeface="Alexandria"/>
                <a:ea typeface="Alexandria"/>
                <a:cs typeface="Alexandria"/>
              </a:rPr>
              <a:t>06</a:t>
            </a:r>
          </a:p>
        </p:txBody>
      </p:sp>
      <p:sp>
        <p:nvSpPr>
          <p:cNvPr id="14" name="Text 13"/>
          <p:cNvSpPr txBox="1"/>
          <p:nvPr/>
        </p:nvSpPr>
        <p:spPr>
          <a:xfrm>
            <a:off x="126905" y="1000629"/>
            <a:ext cx="925958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7FB2EA"/>
                </a:solidFill>
                <a:latin typeface="IBM Plex Sans Arabic"/>
                <a:ea typeface="IBM Plex Sans Arabic"/>
                <a:cs typeface="IBM Plex Sans Arabic"/>
              </a:rPr>
              <a:t>الوحدة 06 · المكون الأساسي 2</a:t>
            </a:r>
          </a:p>
        </p:txBody>
      </p:sp>
      <p:sp>
        <p:nvSpPr>
          <p:cNvPr id="15" name="Text 14"/>
          <p:cNvSpPr txBox="1"/>
          <p:nvPr/>
        </p:nvSpPr>
        <p:spPr>
          <a:xfrm>
            <a:off x="126905" y="1342898"/>
            <a:ext cx="9259586"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تعزيز الأمن السيبراني (2)</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الاكتشاف والاستجابة والتعافي: كيف نعرف أن لدينا ثغرة أو هجوماً، وكيف نتعامل معه، وكيف نستعيد.</a:t>
            </a:r>
          </a:p>
        </p:txBody>
      </p:sp>
      <p:sp>
        <p:nvSpPr>
          <p:cNvPr id="17" name="Rule 16"/>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2-10</a:t>
            </a:r>
          </a:p>
        </p:txBody>
      </p:sp>
      <p:sp>
        <p:nvSpPr>
          <p:cNvPr id="19" name="Text 18"/>
          <p:cNvSpPr txBox="1"/>
          <p:nvPr/>
        </p:nvSpPr>
        <p:spPr>
          <a:xfrm>
            <a:off x="1405354" y="450473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إدارة الثغرات</a:t>
            </a:r>
          </a:p>
        </p:txBody>
      </p:sp>
      <p:sp>
        <p:nvSpPr>
          <p:cNvPr id="20" name="Text 19"/>
          <p:cNvSpPr txBox="1"/>
          <p:nvPr/>
        </p:nvSpPr>
        <p:spPr>
          <a:xfrm>
            <a:off x="8128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120</a:t>
            </a:r>
          </a:p>
        </p:txBody>
      </p:sp>
      <p:sp>
        <p:nvSpPr>
          <p:cNvPr id="21" name="Rule 20"/>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2-9</a:t>
            </a:r>
          </a:p>
        </p:txBody>
      </p:sp>
      <p:sp>
        <p:nvSpPr>
          <p:cNvPr id="23" name="Text 22"/>
          <p:cNvSpPr txBox="1"/>
          <p:nvPr/>
        </p:nvSpPr>
        <p:spPr>
          <a:xfrm>
            <a:off x="6840954" y="450473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النسخ الاحتياطية</a:t>
            </a:r>
          </a:p>
        </p:txBody>
      </p:sp>
      <p:sp>
        <p:nvSpPr>
          <p:cNvPr id="24" name="Text 23"/>
          <p:cNvSpPr txBox="1"/>
          <p:nvPr/>
        </p:nvSpPr>
        <p:spPr>
          <a:xfrm>
            <a:off x="62484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115</a:t>
            </a:r>
          </a:p>
        </p:txBody>
      </p:sp>
      <p:sp>
        <p:nvSpPr>
          <p:cNvPr id="25" name="Rule 24"/>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2-12</a:t>
            </a:r>
          </a:p>
        </p:txBody>
      </p:sp>
      <p:sp>
        <p:nvSpPr>
          <p:cNvPr id="27" name="Text 26"/>
          <p:cNvSpPr txBox="1"/>
          <p:nvPr/>
        </p:nvSpPr>
        <p:spPr>
          <a:xfrm>
            <a:off x="1405354" y="493266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السجلات والمراقبة</a:t>
            </a:r>
          </a:p>
        </p:txBody>
      </p:sp>
      <p:sp>
        <p:nvSpPr>
          <p:cNvPr id="28" name="Text 27"/>
          <p:cNvSpPr txBox="1"/>
          <p:nvPr/>
        </p:nvSpPr>
        <p:spPr>
          <a:xfrm>
            <a:off x="8128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128</a:t>
            </a:r>
          </a:p>
        </p:txBody>
      </p:sp>
      <p:sp>
        <p:nvSpPr>
          <p:cNvPr id="29" name="Rule 28"/>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2-11</a:t>
            </a:r>
          </a:p>
        </p:txBody>
      </p:sp>
      <p:sp>
        <p:nvSpPr>
          <p:cNvPr id="31" name="Text 30"/>
          <p:cNvSpPr txBox="1"/>
          <p:nvPr/>
        </p:nvSpPr>
        <p:spPr>
          <a:xfrm>
            <a:off x="6840954" y="493266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اختبار الاختراق</a:t>
            </a:r>
          </a:p>
        </p:txBody>
      </p:sp>
      <p:sp>
        <p:nvSpPr>
          <p:cNvPr id="32" name="Text 31"/>
          <p:cNvSpPr txBox="1"/>
          <p:nvPr/>
        </p:nvSpPr>
        <p:spPr>
          <a:xfrm>
            <a:off x="62484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124</a:t>
            </a:r>
          </a:p>
        </p:txBody>
      </p:sp>
      <p:sp>
        <p:nvSpPr>
          <p:cNvPr id="33" name="Rule 32"/>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2-14</a:t>
            </a:r>
          </a:p>
        </p:txBody>
      </p:sp>
      <p:sp>
        <p:nvSpPr>
          <p:cNvPr id="35" name="Text 34"/>
          <p:cNvSpPr txBox="1"/>
          <p:nvPr/>
        </p:nvSpPr>
        <p:spPr>
          <a:xfrm>
            <a:off x="1405354" y="536059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الأمن المادي</a:t>
            </a:r>
          </a:p>
        </p:txBody>
      </p:sp>
      <p:sp>
        <p:nvSpPr>
          <p:cNvPr id="36" name="Text 35"/>
          <p:cNvSpPr txBox="1"/>
          <p:nvPr/>
        </p:nvSpPr>
        <p:spPr>
          <a:xfrm>
            <a:off x="8128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137</a:t>
            </a:r>
          </a:p>
        </p:txBody>
      </p:sp>
      <p:sp>
        <p:nvSpPr>
          <p:cNvPr id="37" name="Rule 36"/>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2-13</a:t>
            </a:r>
          </a:p>
        </p:txBody>
      </p:sp>
      <p:sp>
        <p:nvSpPr>
          <p:cNvPr id="39" name="Text 38"/>
          <p:cNvSpPr txBox="1"/>
          <p:nvPr/>
        </p:nvSpPr>
        <p:spPr>
          <a:xfrm>
            <a:off x="6840954" y="536059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الحوادث والتهديدات</a:t>
            </a:r>
          </a:p>
        </p:txBody>
      </p:sp>
      <p:sp>
        <p:nvSpPr>
          <p:cNvPr id="40" name="Text 39"/>
          <p:cNvSpPr txBox="1"/>
          <p:nvPr/>
        </p:nvSpPr>
        <p:spPr>
          <a:xfrm>
            <a:off x="62484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133</a:t>
            </a:r>
          </a:p>
        </p:txBody>
      </p:sp>
      <p:sp>
        <p:nvSpPr>
          <p:cNvPr id="41" name="Rule 40"/>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FB2EA"/>
                </a:solidFill>
                <a:latin typeface="IBM Plex Mono"/>
                <a:ea typeface="IBM Plex Mono"/>
                <a:cs typeface="IBM Plex Mono"/>
              </a:rPr>
              <a:t>2-15</a:t>
            </a:r>
          </a:p>
        </p:txBody>
      </p:sp>
      <p:sp>
        <p:nvSpPr>
          <p:cNvPr id="43" name="Text 42"/>
          <p:cNvSpPr txBox="1"/>
          <p:nvPr/>
        </p:nvSpPr>
        <p:spPr>
          <a:xfrm>
            <a:off x="6840954" y="578852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تطبيقات الويب</a:t>
            </a:r>
          </a:p>
        </p:txBody>
      </p:sp>
      <p:sp>
        <p:nvSpPr>
          <p:cNvPr id="44" name="Text 43"/>
          <p:cNvSpPr txBox="1"/>
          <p:nvPr/>
        </p:nvSpPr>
        <p:spPr>
          <a:xfrm>
            <a:off x="62484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143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1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‎2-9‎ إدارة النسخ الاحتياطية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بيانات الجهة ومعلوماتها والإعدادات التقنية لأنظمتها وتطبيقاتها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هجوم فدية يشفّر الأنظمة والنسخ المتصلة بها معاً، فلا تجد الجهة ما تستعيده.</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الإطار الاحتياطي في السيارة: لا يكفي أنه في الصندوق، بل يجب أن تتأكد أنه منفوخ وصالح قبل أن تحتاجه.</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نسخ البيانات والإعدادات المهمة بانتظام، وحفظ نسخة لا يصل إليها المهاجم، واختبار الاستعادة دورياً للتأكد أنها تعمل.</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اختبار الاستعادة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استرجاع فعلي للتأكد أن النسخة تعمل</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النسخة المعزولة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نسخة لا يصل إليها المهاجم</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RTO و RPO</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أهداف زمن الاستعادة وفقد البيانات</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76482" y="812800"/>
            <a:ext cx="190271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‎2-9‎ · إدارة النسخ الاحتياطية</a:t>
            </a:r>
          </a:p>
        </p:txBody>
      </p:sp>
      <p:sp>
        <p:nvSpPr>
          <p:cNvPr id="4" name="Text 3"/>
          <p:cNvSpPr txBox="1"/>
          <p:nvPr/>
        </p:nvSpPr>
        <p:spPr>
          <a:xfrm>
            <a:off x="7953292"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النسخ الاحتياطية: المتطلبات والتطبيق والنطاق</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E1EAF4"/>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النطاق والتكرار ومدد الاحتفاظ وأهداف الاستعادة لكل فئة من الأصول</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النسخ والاستعادة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مهام النسخ ونسب نجاحها لفترة، وإعدادات النسخة المعزولة</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مهام مجدولة حسب السياسة، ومراقبة نجاحها، ونسخة معزولة أو غير قابلة للتعديل</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E1EAF4"/>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نتيجة المطابقة: لكل أصل حساس مهمة نسخ</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مطابقة الأصول الحساسة في سجل الأصول مع قائمة مهام النسخ</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نطاق النسخ يغطي الأصول المعلوماتية والتقنية الحساسة</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3051969" cy="835521"/>
          </a:xfrm>
          <a:prstGeom prst="rect">
            <a:avLst/>
          </a:prstGeom>
          <a:solidFill>
            <a:srgbClr val="E1EAF4"/>
          </a:solidFill>
          <a:ln>
            <a:noFill/>
          </a:ln>
        </p:spPr>
        <p:txBody>
          <a:bodyPr rtlCol="0" anchor="ctr"/>
          <a:lstStyle/>
          <a:p>
            <a:pPr algn="ctr"/>
          </a:p>
        </p:txBody>
      </p:sp>
      <p:sp>
        <p:nvSpPr>
          <p:cNvPr id="59" name="Rule 58"/>
          <p:cNvSpPr/>
          <p:nvPr/>
        </p:nvSpPr>
        <p:spPr>
          <a:xfrm>
            <a:off x="812800" y="51798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ونتائجه</a:t>
            </a:r>
          </a:p>
        </p:txBody>
      </p:sp>
      <p:sp>
        <p:nvSpPr>
          <p:cNvPr id="61" name="Rule 60"/>
          <p:cNvSpPr/>
          <p:nvPr/>
        </p:nvSpPr>
        <p:spPr>
          <a:xfrm>
            <a:off x="3864769" y="51798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42481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السياسة، ونسب النجاح، ونتائج اختبارات الاستعادة</a:t>
            </a:r>
          </a:p>
        </p:txBody>
      </p:sp>
      <p:sp>
        <p:nvSpPr>
          <p:cNvPr id="63" name="Rule 62"/>
          <p:cNvSpPr/>
          <p:nvPr/>
        </p:nvSpPr>
        <p:spPr>
          <a:xfrm>
            <a:off x="7374632" y="51798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17690" y="442481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متطلبات الأمن السيبراني لإدارة النسخ الاحتياطية</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التطبيق</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76482" y="812800"/>
            <a:ext cx="190271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‎2-9‎ · إدارة النسخ الاحتياطية</a:t>
            </a:r>
          </a:p>
        </p:txBody>
      </p:sp>
      <p:sp>
        <p:nvSpPr>
          <p:cNvPr id="4" name="Text 3"/>
          <p:cNvSpPr txBox="1"/>
          <p:nvPr/>
        </p:nvSpPr>
        <p:spPr>
          <a:xfrm>
            <a:off x="7953292"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الاستعادة السريعة واختبارها</a:t>
            </a:r>
          </a:p>
        </p:txBody>
      </p:sp>
      <p:sp>
        <p:nvSpPr>
          <p:cNvPr id="20" name="Rule 19"/>
          <p:cNvSpPr/>
          <p:nvPr/>
        </p:nvSpPr>
        <p:spPr>
          <a:xfrm>
            <a:off x="812800" y="2193131"/>
            <a:ext cx="3051969"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1D5B9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1D5B9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1D5B9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55861" y="2286349"/>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إجراءات الاستعادة، وأهدافها المعتمدة، والزمن الفعلي في الاختبارات</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أهداف استعادة لكل نظام حساس، وإجراءات موثقة، ونسخ جاهزة خارج نطاق أي حادثة</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القدرة على الاستعادة السريعة للبيانات والأنظمة بعد الحوادث السيبرانية</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اختبار الاستعادة بتواريخها ونتائجها ومعالجة الإخفاقات</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اختبار دورية تغطي عينة متغيرة من الأنظمة الحساسة، مع توثيق كل اختبار</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293782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الفحص الدوري لفعالية استعادة النسخ</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2-9-3-3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Text 47"/>
          <p:cNvSpPr txBox="1"/>
          <p:nvPr/>
        </p:nvSpPr>
        <p:spPr>
          <a:xfrm>
            <a:off x="0" y="518853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محضر اختبار الاستعادة الجيد يتضمن</a:t>
            </a:r>
          </a:p>
        </p:txBody>
      </p:sp>
      <p:sp>
        <p:nvSpPr>
          <p:cNvPr id="49" name="Text box 48"/>
          <p:cNvSpPr/>
          <p:nvPr/>
        </p:nvSpPr>
        <p:spPr>
          <a:xfrm>
            <a:off x="10212983" y="5517555"/>
            <a:ext cx="116304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النظام المستعاد</a:t>
            </a:r>
          </a:p>
        </p:txBody>
      </p:sp>
      <p:sp>
        <p:nvSpPr>
          <p:cNvPr id="50" name="Text box 49"/>
          <p:cNvSpPr/>
          <p:nvPr/>
        </p:nvSpPr>
        <p:spPr>
          <a:xfrm>
            <a:off x="9129216" y="5517555"/>
            <a:ext cx="98851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تاريخ النسخة</a:t>
            </a:r>
          </a:p>
        </p:txBody>
      </p:sp>
      <p:sp>
        <p:nvSpPr>
          <p:cNvPr id="51" name="Text box 50"/>
          <p:cNvSpPr/>
          <p:nvPr/>
        </p:nvSpPr>
        <p:spPr>
          <a:xfrm>
            <a:off x="8081665" y="5517555"/>
            <a:ext cx="95230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تاريخ الاختبار</a:t>
            </a:r>
          </a:p>
        </p:txBody>
      </p:sp>
      <p:sp>
        <p:nvSpPr>
          <p:cNvPr id="52" name="Text box 51"/>
          <p:cNvSpPr/>
          <p:nvPr/>
        </p:nvSpPr>
        <p:spPr>
          <a:xfrm>
            <a:off x="6655594" y="5517555"/>
            <a:ext cx="1330821"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الزمن مقابل الهدف</a:t>
            </a:r>
          </a:p>
        </p:txBody>
      </p:sp>
      <p:sp>
        <p:nvSpPr>
          <p:cNvPr id="53" name="Text box 52"/>
          <p:cNvSpPr/>
          <p:nvPr/>
        </p:nvSpPr>
        <p:spPr>
          <a:xfrm>
            <a:off x="4845745" y="5517555"/>
            <a:ext cx="171459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التحقق من سلامة البيانات</a:t>
            </a:r>
          </a:p>
        </p:txBody>
      </p:sp>
      <p:sp>
        <p:nvSpPr>
          <p:cNvPr id="54" name="Text box 53"/>
          <p:cNvSpPr/>
          <p:nvPr/>
        </p:nvSpPr>
        <p:spPr>
          <a:xfrm>
            <a:off x="3331666" y="5517555"/>
            <a:ext cx="141882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المشكلات ومعالجتها</a:t>
            </a:r>
          </a:p>
        </p:txBody>
      </p:sp>
      <p:sp>
        <p:nvSpPr>
          <p:cNvPr id="55" name="Text box 54"/>
          <p:cNvSpPr/>
          <p:nvPr/>
        </p:nvSpPr>
        <p:spPr>
          <a:xfrm>
            <a:off x="2084288" y="5517555"/>
            <a:ext cx="115212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المنفذ والمعتمد</a:t>
            </a:r>
          </a:p>
        </p:txBody>
      </p:sp>
      <p:sp>
        <p:nvSpPr>
          <p:cNvPr id="56" name="Text 5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7" name="Box 5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8" name="Box 5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9" name="Box 5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1" name="Box 6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2" name="Box 61"/>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63" name="Box 6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4" name="Box 6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5" name="Box 6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Text 6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76482" y="812800"/>
            <a:ext cx="190271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‎2-9‎ · إدارة النسخ الاحتياطية</a:t>
            </a:r>
          </a:p>
        </p:txBody>
      </p:sp>
      <p:sp>
        <p:nvSpPr>
          <p:cNvPr id="4" name="Text 3"/>
          <p:cNvSpPr txBox="1"/>
          <p:nvPr/>
        </p:nvSpPr>
        <p:spPr>
          <a:xfrm>
            <a:off x="7953292"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النسخ المتاحة للاستعادة</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625483" y="1852811"/>
            <a:ext cx="63500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2-9-2</a:t>
            </a:r>
          </a:p>
        </p:txBody>
      </p:sp>
      <p:sp>
        <p:nvSpPr>
          <p:cNvPr id="23" name="Text box 22"/>
          <p:cNvSpPr/>
          <p:nvPr/>
        </p:nvSpPr>
        <p:spPr>
          <a:xfrm>
            <a:off x="7744023"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2-9-3-1</a:t>
            </a:r>
          </a:p>
        </p:txBody>
      </p:sp>
      <p:sp>
        <p:nvSpPr>
          <p:cNvPr id="24" name="Text 23"/>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5" name="Box 24"/>
          <p:cNvSpPr/>
          <p:nvPr/>
        </p:nvSpPr>
        <p:spPr>
          <a:xfrm>
            <a:off x="11125200" y="2518172"/>
            <a:ext cx="254000" cy="254000"/>
          </a:xfrm>
          <a:prstGeom prst="roundRect">
            <a:avLst>
              <a:gd name="adj" fmla="val 50000"/>
            </a:avLst>
          </a:prstGeom>
          <a:solidFill>
            <a:srgbClr val="1D5B9E"/>
          </a:solidFill>
          <a:ln>
            <a:noFill/>
          </a:ln>
        </p:spPr>
        <p:txBody>
          <a:bodyPr rtlCol="0" anchor="ctr"/>
          <a:lstStyle/>
          <a:p>
            <a:pPr algn="ctr"/>
          </a:p>
        </p:txBody>
      </p:sp>
      <p:sp>
        <p:nvSpPr>
          <p:cNvPr id="26" name="Text 25"/>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7" name="Text 26"/>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ملف محدد، وله نسخ متعددة محفوظة في برنامج النسخ.</a:t>
            </a:r>
          </a:p>
        </p:txBody>
      </p:sp>
      <p:sp>
        <p:nvSpPr>
          <p:cNvPr id="28" name="Box 27"/>
          <p:cNvSpPr/>
          <p:nvPr/>
        </p:nvSpPr>
        <p:spPr>
          <a:xfrm>
            <a:off x="11125200" y="2835672"/>
            <a:ext cx="254000" cy="254000"/>
          </a:xfrm>
          <a:prstGeom prst="roundRect">
            <a:avLst>
              <a:gd name="adj" fmla="val 50000"/>
            </a:avLst>
          </a:prstGeom>
          <a:solidFill>
            <a:srgbClr val="1D5B9E"/>
          </a:solidFill>
          <a:ln>
            <a:noFill/>
          </a:ln>
        </p:spPr>
        <p:txBody>
          <a:bodyPr rtlCol="0" anchor="ctr"/>
          <a:lstStyle/>
          <a:p>
            <a:pPr algn="ctr"/>
          </a:p>
        </p:txBody>
      </p:sp>
      <p:sp>
        <p:nvSpPr>
          <p:cNvPr id="29" name="Text 28"/>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0" name="Text 29"/>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لكل نسخة تاريخ ووقت، فيظهر انتظام مهام النسخ.</a:t>
            </a:r>
          </a:p>
        </p:txBody>
      </p:sp>
      <p:sp>
        <p:nvSpPr>
          <p:cNvPr id="31" name="Box 30"/>
          <p:cNvSpPr/>
          <p:nvPr/>
        </p:nvSpPr>
        <p:spPr>
          <a:xfrm>
            <a:off x="11125200" y="3153172"/>
            <a:ext cx="254000" cy="254000"/>
          </a:xfrm>
          <a:prstGeom prst="roundRect">
            <a:avLst>
              <a:gd name="adj" fmla="val 50000"/>
            </a:avLst>
          </a:prstGeom>
          <a:solidFill>
            <a:srgbClr val="1D5B9E"/>
          </a:solidFill>
          <a:ln>
            <a:noFill/>
          </a:ln>
        </p:spPr>
        <p:txBody>
          <a:bodyPr rtlCol="0" anchor="ctr"/>
          <a:lstStyle/>
          <a:p>
            <a:pPr algn="ctr"/>
          </a:p>
        </p:txBody>
      </p:sp>
      <p:sp>
        <p:nvSpPr>
          <p:cNvPr id="32" name="Text 31"/>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3" name="Text 32"/>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حجم كل نسخة وبصمة تحقق (Checksum) لسلامتها.</a:t>
            </a:r>
          </a:p>
        </p:txBody>
      </p:sp>
      <p:sp>
        <p:nvSpPr>
          <p:cNvPr id="34" name="Rule 33"/>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5" name="Text 34"/>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6" name="Icon CheckCircle 35" descr="icon043.png"/>
          <p:cNvPicPr>
            <a:picLocks noChangeAspect="1"/>
          </p:cNvPicPr>
          <p:nvPr/>
        </p:nvPicPr>
        <p:blipFill>
          <a:blip r:embed="rId3"/>
          <a:stretch>
            <a:fillRect/>
          </a:stretch>
        </p:blipFill>
        <p:spPr>
          <a:xfrm>
            <a:off x="11150600" y="3880842"/>
            <a:ext cx="203200" cy="203200"/>
          </a:xfrm>
          <a:prstGeom prst="rect">
            <a:avLst/>
          </a:prstGeom>
        </p:spPr>
      </p:pic>
      <p:sp>
        <p:nvSpPr>
          <p:cNvPr id="37" name="Text 36"/>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نسب نجاح المهام لفترة كاملة، ومتابعة كل فشل.</a:t>
            </a:r>
          </a:p>
        </p:txBody>
      </p:sp>
      <p:pic>
        <p:nvPicPr>
          <p:cNvPr id="38" name="Icon CheckCircle 37" descr="icon043.png"/>
          <p:cNvPicPr>
            <a:picLocks noChangeAspect="1"/>
          </p:cNvPicPr>
          <p:nvPr/>
        </p:nvPicPr>
        <p:blipFill>
          <a:blip r:embed="rId3"/>
          <a:stretch>
            <a:fillRect/>
          </a:stretch>
        </p:blipFill>
        <p:spPr>
          <a:xfrm>
            <a:off x="11150600" y="4185642"/>
            <a:ext cx="203200" cy="203200"/>
          </a:xfrm>
          <a:prstGeom prst="rect">
            <a:avLst/>
          </a:prstGeom>
        </p:spPr>
      </p:pic>
      <p:sp>
        <p:nvSpPr>
          <p:cNvPr id="39" name="Text 38"/>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كل أصل حساس في سجل الأصول له مهمة نسخ.</a:t>
            </a:r>
          </a:p>
        </p:txBody>
      </p:sp>
      <p:pic>
        <p:nvPicPr>
          <p:cNvPr id="40" name="Icon CheckCircle 39" descr="icon043.png"/>
          <p:cNvPicPr>
            <a:picLocks noChangeAspect="1"/>
          </p:cNvPicPr>
          <p:nvPr/>
        </p:nvPicPr>
        <p:blipFill>
          <a:blip r:embed="rId3"/>
          <a:stretch>
            <a:fillRect/>
          </a:stretch>
        </p:blipFill>
        <p:spPr>
          <a:xfrm>
            <a:off x="11150600" y="4490442"/>
            <a:ext cx="203200" cy="203200"/>
          </a:xfrm>
          <a:prstGeom prst="rect">
            <a:avLst/>
          </a:prstGeom>
        </p:spPr>
      </p:pic>
      <p:sp>
        <p:nvSpPr>
          <p:cNvPr id="41" name="Text 40"/>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وجود نسخة معزولة أو غير قابلة للتعديل.</a:t>
            </a:r>
          </a:p>
        </p:txBody>
      </p:sp>
      <p:sp>
        <p:nvSpPr>
          <p:cNvPr id="42" name="Box 41"/>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3" name="Icon Warning 42" descr="icon028.png"/>
          <p:cNvPicPr>
            <a:picLocks noChangeAspect="1"/>
          </p:cNvPicPr>
          <p:nvPr/>
        </p:nvPicPr>
        <p:blipFill>
          <a:blip r:embed="rId4"/>
          <a:stretch>
            <a:fillRect/>
          </a:stretch>
        </p:blipFill>
        <p:spPr>
          <a:xfrm>
            <a:off x="11074400" y="5311180"/>
            <a:ext cx="190500" cy="190500"/>
          </a:xfrm>
          <a:prstGeom prst="rect">
            <a:avLst/>
          </a:prstGeom>
        </p:spPr>
      </p:pic>
      <p:sp>
        <p:nvSpPr>
          <p:cNvPr id="44" name="Text 43"/>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نسخ متعددة لملف واحد توضح انتظام النسخ، ولا تثبت شمول كل الأصول الحساسة ولا نجاح الاستعادة.</a:t>
            </a:r>
          </a:p>
        </p:txBody>
      </p:sp>
      <p:sp>
        <p:nvSpPr>
          <p:cNvPr id="45" name="Box 44"/>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6" name="Picture 45" descr="backup.png"/>
          <p:cNvPicPr>
            <a:picLocks noChangeAspect="1"/>
          </p:cNvPicPr>
          <p:nvPr/>
        </p:nvPicPr>
        <p:blipFill>
          <a:blip r:embed="rId5"/>
          <a:stretch>
            <a:fillRect/>
          </a:stretch>
        </p:blipFill>
        <p:spPr>
          <a:xfrm>
            <a:off x="914400" y="2078957"/>
            <a:ext cx="5308600" cy="2849709"/>
          </a:xfrm>
          <a:prstGeom prst="rect">
            <a:avLst/>
          </a:prstGeom>
        </p:spPr>
      </p:pic>
      <p:sp>
        <p:nvSpPr>
          <p:cNvPr id="47" name="Text 46"/>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Bareos GmbH &amp; Co. KG · مقتطعة · CC ‎BY-SA‎ 4.0 · المصدر: Wikimedia Commons</a:t>
            </a:r>
          </a:p>
        </p:txBody>
      </p:sp>
      <p:sp>
        <p:nvSpPr>
          <p:cNvPr id="48" name="Text 4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9" name="Box 4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3" name="Box 5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4" name="Box 5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5" name="Box 5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Text 5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476482" y="812800"/>
            <a:ext cx="190271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‎2-9‎ · إدارة النسخ الاحتياطية</a:t>
            </a:r>
          </a:p>
        </p:txBody>
      </p:sp>
      <p:sp>
        <p:nvSpPr>
          <p:cNvPr id="4" name="Text 3"/>
          <p:cNvSpPr txBox="1"/>
          <p:nvPr/>
        </p:nvSpPr>
        <p:spPr>
          <a:xfrm>
            <a:off x="7953292"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محضر اختبار استعادة</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206184"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2-9-3-3</a:t>
            </a:r>
          </a:p>
        </p:txBody>
      </p:sp>
      <p:sp>
        <p:nvSpPr>
          <p:cNvPr id="23" name="Text box 22"/>
          <p:cNvSpPr/>
          <p:nvPr/>
        </p:nvSpPr>
        <p:spPr>
          <a:xfrm>
            <a:off x="7324725" y="1852811"/>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2-9-3-2</a:t>
            </a:r>
          </a:p>
        </p:txBody>
      </p:sp>
      <p:sp>
        <p:nvSpPr>
          <p:cNvPr id="24" name="Text 23"/>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5" name="Box 24"/>
          <p:cNvSpPr/>
          <p:nvPr/>
        </p:nvSpPr>
        <p:spPr>
          <a:xfrm>
            <a:off x="11125200" y="2518172"/>
            <a:ext cx="254000" cy="254000"/>
          </a:xfrm>
          <a:prstGeom prst="roundRect">
            <a:avLst>
              <a:gd name="adj" fmla="val 50000"/>
            </a:avLst>
          </a:prstGeom>
          <a:solidFill>
            <a:srgbClr val="1D5B9E"/>
          </a:solidFill>
          <a:ln>
            <a:noFill/>
          </a:ln>
        </p:spPr>
        <p:txBody>
          <a:bodyPr rtlCol="0" anchor="ctr"/>
          <a:lstStyle/>
          <a:p>
            <a:pPr algn="ctr"/>
          </a:p>
        </p:txBody>
      </p:sp>
      <p:sp>
        <p:nvSpPr>
          <p:cNvPr id="26" name="Text 25"/>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7" name="Text 26"/>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استعادة نظام كامل، لا ملف واحد.</a:t>
            </a:r>
          </a:p>
        </p:txBody>
      </p:sp>
      <p:sp>
        <p:nvSpPr>
          <p:cNvPr id="28" name="Box 27"/>
          <p:cNvSpPr/>
          <p:nvPr/>
        </p:nvSpPr>
        <p:spPr>
          <a:xfrm>
            <a:off x="11125200" y="2835672"/>
            <a:ext cx="254000" cy="254000"/>
          </a:xfrm>
          <a:prstGeom prst="roundRect">
            <a:avLst>
              <a:gd name="adj" fmla="val 50000"/>
            </a:avLst>
          </a:prstGeom>
          <a:solidFill>
            <a:srgbClr val="1D5B9E"/>
          </a:solidFill>
          <a:ln>
            <a:noFill/>
          </a:ln>
        </p:spPr>
        <p:txBody>
          <a:bodyPr rtlCol="0" anchor="ctr"/>
          <a:lstStyle/>
          <a:p>
            <a:pPr algn="ctr"/>
          </a:p>
        </p:txBody>
      </p:sp>
      <p:sp>
        <p:nvSpPr>
          <p:cNvPr id="29" name="Text 28"/>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0" name="Text 29"/>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الزمن الفعلي مقارنة بالهدف المعتمد.</a:t>
            </a:r>
          </a:p>
        </p:txBody>
      </p:sp>
      <p:sp>
        <p:nvSpPr>
          <p:cNvPr id="31" name="Box 30"/>
          <p:cNvSpPr/>
          <p:nvPr/>
        </p:nvSpPr>
        <p:spPr>
          <a:xfrm>
            <a:off x="11125200" y="3153172"/>
            <a:ext cx="254000" cy="254000"/>
          </a:xfrm>
          <a:prstGeom prst="roundRect">
            <a:avLst>
              <a:gd name="adj" fmla="val 50000"/>
            </a:avLst>
          </a:prstGeom>
          <a:solidFill>
            <a:srgbClr val="1D5B9E"/>
          </a:solidFill>
          <a:ln>
            <a:noFill/>
          </a:ln>
        </p:spPr>
        <p:txBody>
          <a:bodyPr rtlCol="0" anchor="ctr"/>
          <a:lstStyle/>
          <a:p>
            <a:pPr algn="ctr"/>
          </a:p>
        </p:txBody>
      </p:sp>
      <p:sp>
        <p:nvSpPr>
          <p:cNvPr id="32" name="Text 31"/>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3" name="Text 32"/>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تحقق من سلامة البيانات، ومشكلة اكتُشفت وعولجت.</a:t>
            </a:r>
          </a:p>
        </p:txBody>
      </p:sp>
      <p:sp>
        <p:nvSpPr>
          <p:cNvPr id="34" name="Rule 33"/>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5" name="Text 34"/>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6" name="Icon CheckCircle 35" descr="icon043.png"/>
          <p:cNvPicPr>
            <a:picLocks noChangeAspect="1"/>
          </p:cNvPicPr>
          <p:nvPr/>
        </p:nvPicPr>
        <p:blipFill>
          <a:blip r:embed="rId3"/>
          <a:stretch>
            <a:fillRect/>
          </a:stretch>
        </p:blipFill>
        <p:spPr>
          <a:xfrm>
            <a:off x="11150600" y="3880842"/>
            <a:ext cx="203200" cy="203200"/>
          </a:xfrm>
          <a:prstGeom prst="rect">
            <a:avLst/>
          </a:prstGeom>
        </p:spPr>
      </p:pic>
      <p:sp>
        <p:nvSpPr>
          <p:cNvPr id="37" name="Text 36"/>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محاضر لعدة فترات، بعينة متغيرة من الأنظمة الحساسة.</a:t>
            </a:r>
          </a:p>
        </p:txBody>
      </p:sp>
      <p:pic>
        <p:nvPicPr>
          <p:cNvPr id="38" name="Icon CheckCircle 37" descr="icon043.png"/>
          <p:cNvPicPr>
            <a:picLocks noChangeAspect="1"/>
          </p:cNvPicPr>
          <p:nvPr/>
        </p:nvPicPr>
        <p:blipFill>
          <a:blip r:embed="rId3"/>
          <a:stretch>
            <a:fillRect/>
          </a:stretch>
        </p:blipFill>
        <p:spPr>
          <a:xfrm>
            <a:off x="11150600" y="4185642"/>
            <a:ext cx="203200" cy="203200"/>
          </a:xfrm>
          <a:prstGeom prst="rect">
            <a:avLst/>
          </a:prstGeom>
        </p:spPr>
      </p:pic>
      <p:sp>
        <p:nvSpPr>
          <p:cNvPr id="39" name="Text 38"/>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النسخة المستعادة من موقع خارج نطاق أي حادثة.</a:t>
            </a:r>
          </a:p>
        </p:txBody>
      </p:sp>
      <p:pic>
        <p:nvPicPr>
          <p:cNvPr id="40" name="Icon CheckCircle 39" descr="icon043.png"/>
          <p:cNvPicPr>
            <a:picLocks noChangeAspect="1"/>
          </p:cNvPicPr>
          <p:nvPr/>
        </p:nvPicPr>
        <p:blipFill>
          <a:blip r:embed="rId3"/>
          <a:stretch>
            <a:fillRect/>
          </a:stretch>
        </p:blipFill>
        <p:spPr>
          <a:xfrm>
            <a:off x="11150600" y="4490442"/>
            <a:ext cx="203200" cy="203200"/>
          </a:xfrm>
          <a:prstGeom prst="rect">
            <a:avLst/>
          </a:prstGeom>
        </p:spPr>
      </p:pic>
      <p:sp>
        <p:nvSpPr>
          <p:cNvPr id="41" name="Text 40"/>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معالجة كل إخفاق في الاختبارات السابقة.</a:t>
            </a:r>
          </a:p>
        </p:txBody>
      </p:sp>
      <p:sp>
        <p:nvSpPr>
          <p:cNvPr id="42" name="Box 41"/>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3" name="Icon Warning 42" descr="icon028.png"/>
          <p:cNvPicPr>
            <a:picLocks noChangeAspect="1"/>
          </p:cNvPicPr>
          <p:nvPr/>
        </p:nvPicPr>
        <p:blipFill>
          <a:blip r:embed="rId4"/>
          <a:stretch>
            <a:fillRect/>
          </a:stretch>
        </p:blipFill>
        <p:spPr>
          <a:xfrm>
            <a:off x="11074400" y="5311180"/>
            <a:ext cx="190500" cy="190500"/>
          </a:xfrm>
          <a:prstGeom prst="rect">
            <a:avLst/>
          </a:prstGeom>
        </p:spPr>
      </p:pic>
      <p:sp>
        <p:nvSpPr>
          <p:cNvPr id="44" name="Text 43"/>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المحضر يثبت نجاح استعادة نظام واحد في تاريخه، ولا يثبت قابلية استعادة بقية الأنظمة الحساسة.</a:t>
            </a:r>
          </a:p>
        </p:txBody>
      </p:sp>
      <p:sp>
        <p:nvSpPr>
          <p:cNvPr id="45" name="Box 44"/>
          <p:cNvSpPr/>
          <p:nvPr/>
        </p:nvSpPr>
        <p:spPr>
          <a:xfrm>
            <a:off x="815975" y="1855986"/>
            <a:ext cx="5556250" cy="3626545"/>
          </a:xfrm>
          <a:prstGeom prst="roundRect">
            <a:avLst>
              <a:gd name="adj" fmla="val 2097"/>
            </a:avLst>
          </a:prstGeom>
          <a:solidFill>
            <a:srgbClr val="FBFAF7"/>
          </a:solidFill>
          <a:ln w="6350">
            <a:solidFill>
              <a:srgbClr val="DDD7CA"/>
            </a:solidFill>
          </a:ln>
        </p:spPr>
        <p:txBody>
          <a:bodyPr rtlCol="0" anchor="ctr"/>
          <a:lstStyle/>
          <a:p>
            <a:pPr algn="ctr"/>
          </a:p>
        </p:txBody>
      </p:sp>
      <p:sp>
        <p:nvSpPr>
          <p:cNvPr id="46" name="Text 45"/>
          <p:cNvSpPr txBox="1"/>
          <p:nvPr/>
        </p:nvSpPr>
        <p:spPr>
          <a:xfrm>
            <a:off x="1267361" y="2025206"/>
            <a:ext cx="4885789"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محضر اختبار استعادة · نظام الموارد البشرية</a:t>
            </a:r>
          </a:p>
        </p:txBody>
      </p:sp>
      <p:sp>
        <p:nvSpPr>
          <p:cNvPr id="47" name="Text box 46"/>
          <p:cNvSpPr/>
          <p:nvPr/>
        </p:nvSpPr>
        <p:spPr>
          <a:xfrm>
            <a:off x="1041400" y="2043311"/>
            <a:ext cx="479921" cy="261541"/>
          </a:xfrm>
          <a:prstGeom prst="roundRect">
            <a:avLst>
              <a:gd name="adj" fmla="val 23154"/>
            </a:avLst>
          </a:prstGeom>
          <a:noFill/>
          <a:ln w="12700">
            <a:solidFill>
              <a:srgbClr val="22704E"/>
            </a:solidFill>
          </a:ln>
        </p:spPr>
        <p:txBody>
          <a:bodyPr rtlCol="0" anchor="ctr" wrap="square" tIns="0" rIns="77513" bIns="32004" lIns="0" anchorCtr="0">
            <a:noAutofit/>
          </a:bodyPr>
          <a:lstStyle/>
          <a:p>
            <a:pPr algn="r" rtl="1">
              <a:lnSpc>
                <a:spcPts val="1560"/>
              </a:lnSpc>
              <a:spcBef>
                <a:spcPts val="0"/>
              </a:spcBef>
              <a:spcAft>
                <a:spcPts val="0"/>
              </a:spcAft>
            </a:pPr>
            <a:r>
              <a:rPr sz="1200" b="1" i="0">
                <a:solidFill>
                  <a:srgbClr val="22704E"/>
                </a:solidFill>
                <a:latin typeface="IBM Plex Sans Arabic"/>
                <a:ea typeface="IBM Plex Sans Arabic"/>
                <a:cs typeface="IBM Plex Sans Arabic"/>
              </a:rPr>
              <a:t>ناجح</a:t>
            </a:r>
          </a:p>
        </p:txBody>
      </p:sp>
      <p:sp>
        <p:nvSpPr>
          <p:cNvPr id="48" name="Rule 47"/>
          <p:cNvSpPr/>
          <p:nvPr/>
        </p:nvSpPr>
        <p:spPr>
          <a:xfrm>
            <a:off x="1035050" y="2669282"/>
            <a:ext cx="5118100" cy="6350"/>
          </a:xfrm>
          <a:prstGeom prst="rect">
            <a:avLst/>
          </a:prstGeom>
          <a:solidFill>
            <a:srgbClr val="DDD7CA"/>
          </a:solidFill>
          <a:ln>
            <a:noFill/>
          </a:ln>
        </p:spPr>
        <p:txBody>
          <a:bodyPr rtlCol="0" anchor="ctr"/>
          <a:lstStyle/>
          <a:p>
            <a:pPr algn="ctr"/>
          </a:p>
        </p:txBody>
      </p:sp>
      <p:sp>
        <p:nvSpPr>
          <p:cNvPr id="49" name="Text 48"/>
          <p:cNvSpPr txBox="1"/>
          <p:nvPr/>
        </p:nvSpPr>
        <p:spPr>
          <a:xfrm>
            <a:off x="4982210" y="240569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تاريخ الاختبار</a:t>
            </a:r>
          </a:p>
        </p:txBody>
      </p:sp>
      <p:sp>
        <p:nvSpPr>
          <p:cNvPr id="50" name="Text 49"/>
          <p:cNvSpPr txBox="1"/>
          <p:nvPr/>
        </p:nvSpPr>
        <p:spPr>
          <a:xfrm>
            <a:off x="1035050" y="2405690"/>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‎2026-09-21‎</a:t>
            </a:r>
          </a:p>
        </p:txBody>
      </p:sp>
      <p:sp>
        <p:nvSpPr>
          <p:cNvPr id="51" name="Rule 50"/>
          <p:cNvSpPr/>
          <p:nvPr/>
        </p:nvSpPr>
        <p:spPr>
          <a:xfrm>
            <a:off x="1035050" y="3033712"/>
            <a:ext cx="5118100" cy="6350"/>
          </a:xfrm>
          <a:prstGeom prst="rect">
            <a:avLst/>
          </a:prstGeom>
          <a:solidFill>
            <a:srgbClr val="DDD7CA"/>
          </a:solidFill>
          <a:ln>
            <a:noFill/>
          </a:ln>
        </p:spPr>
        <p:txBody>
          <a:bodyPr rtlCol="0" anchor="ctr"/>
          <a:lstStyle/>
          <a:p>
            <a:pPr algn="ctr"/>
          </a:p>
        </p:txBody>
      </p:sp>
      <p:sp>
        <p:nvSpPr>
          <p:cNvPr id="52" name="Text 51"/>
          <p:cNvSpPr txBox="1"/>
          <p:nvPr/>
        </p:nvSpPr>
        <p:spPr>
          <a:xfrm>
            <a:off x="4978837" y="2770120"/>
            <a:ext cx="117431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النسخة المستعادة</a:t>
            </a:r>
          </a:p>
        </p:txBody>
      </p:sp>
      <p:sp>
        <p:nvSpPr>
          <p:cNvPr id="53" name="Text 52"/>
          <p:cNvSpPr txBox="1"/>
          <p:nvPr/>
        </p:nvSpPr>
        <p:spPr>
          <a:xfrm>
            <a:off x="1035050" y="2770120"/>
            <a:ext cx="3933627"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‎2026-09-20‎ · نسخة ليلية من الموقع المعزول</a:t>
            </a:r>
          </a:p>
        </p:txBody>
      </p:sp>
      <p:sp>
        <p:nvSpPr>
          <p:cNvPr id="54" name="Rule 53"/>
          <p:cNvSpPr/>
          <p:nvPr/>
        </p:nvSpPr>
        <p:spPr>
          <a:xfrm>
            <a:off x="1035050" y="3398143"/>
            <a:ext cx="5118100" cy="6350"/>
          </a:xfrm>
          <a:prstGeom prst="rect">
            <a:avLst/>
          </a:prstGeom>
          <a:solidFill>
            <a:srgbClr val="DDD7CA"/>
          </a:solidFill>
          <a:ln>
            <a:noFill/>
          </a:ln>
        </p:spPr>
        <p:txBody>
          <a:bodyPr rtlCol="0" anchor="ctr"/>
          <a:lstStyle/>
          <a:p>
            <a:pPr algn="ctr"/>
          </a:p>
        </p:txBody>
      </p:sp>
      <p:sp>
        <p:nvSpPr>
          <p:cNvPr id="55" name="Text 54"/>
          <p:cNvSpPr txBox="1"/>
          <p:nvPr/>
        </p:nvSpPr>
        <p:spPr>
          <a:xfrm>
            <a:off x="4982210" y="313455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الهدف المعتمد</a:t>
            </a:r>
          </a:p>
        </p:txBody>
      </p:sp>
      <p:sp>
        <p:nvSpPr>
          <p:cNvPr id="56" name="Text 55"/>
          <p:cNvSpPr txBox="1"/>
          <p:nvPr/>
        </p:nvSpPr>
        <p:spPr>
          <a:xfrm>
            <a:off x="1035050" y="3134550"/>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استعادة خلال 4 ساعات</a:t>
            </a:r>
          </a:p>
        </p:txBody>
      </p:sp>
      <p:sp>
        <p:nvSpPr>
          <p:cNvPr id="57" name="Rule 56"/>
          <p:cNvSpPr/>
          <p:nvPr/>
        </p:nvSpPr>
        <p:spPr>
          <a:xfrm>
            <a:off x="1035050" y="3762573"/>
            <a:ext cx="5118100" cy="6350"/>
          </a:xfrm>
          <a:prstGeom prst="rect">
            <a:avLst/>
          </a:prstGeom>
          <a:solidFill>
            <a:srgbClr val="DDD7CA"/>
          </a:solidFill>
          <a:ln>
            <a:noFill/>
          </a:ln>
        </p:spPr>
        <p:txBody>
          <a:bodyPr rtlCol="0" anchor="ctr"/>
          <a:lstStyle/>
          <a:p>
            <a:pPr algn="ctr"/>
          </a:p>
        </p:txBody>
      </p:sp>
      <p:sp>
        <p:nvSpPr>
          <p:cNvPr id="58" name="Text 57"/>
          <p:cNvSpPr txBox="1"/>
          <p:nvPr/>
        </p:nvSpPr>
        <p:spPr>
          <a:xfrm>
            <a:off x="4982210" y="3498981"/>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الزمن الفعلي</a:t>
            </a:r>
          </a:p>
        </p:txBody>
      </p:sp>
      <p:sp>
        <p:nvSpPr>
          <p:cNvPr id="59" name="Text 58"/>
          <p:cNvSpPr txBox="1"/>
          <p:nvPr/>
        </p:nvSpPr>
        <p:spPr>
          <a:xfrm>
            <a:off x="1035050" y="3498981"/>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3 ساعات و10 دقائق</a:t>
            </a:r>
          </a:p>
        </p:txBody>
      </p:sp>
      <p:sp>
        <p:nvSpPr>
          <p:cNvPr id="60" name="Rule 59"/>
          <p:cNvSpPr/>
          <p:nvPr/>
        </p:nvSpPr>
        <p:spPr>
          <a:xfrm>
            <a:off x="1035050" y="4127004"/>
            <a:ext cx="5118100" cy="6350"/>
          </a:xfrm>
          <a:prstGeom prst="rect">
            <a:avLst/>
          </a:prstGeom>
          <a:solidFill>
            <a:srgbClr val="DDD7CA"/>
          </a:solidFill>
          <a:ln>
            <a:noFill/>
          </a:ln>
        </p:spPr>
        <p:txBody>
          <a:bodyPr rtlCol="0" anchor="ctr"/>
          <a:lstStyle/>
          <a:p>
            <a:pPr algn="ctr"/>
          </a:p>
        </p:txBody>
      </p:sp>
      <p:sp>
        <p:nvSpPr>
          <p:cNvPr id="61" name="Text 60"/>
          <p:cNvSpPr txBox="1"/>
          <p:nvPr/>
        </p:nvSpPr>
        <p:spPr>
          <a:xfrm>
            <a:off x="4982210" y="3863411"/>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سلامة البيانات</a:t>
            </a:r>
          </a:p>
        </p:txBody>
      </p:sp>
      <p:sp>
        <p:nvSpPr>
          <p:cNvPr id="62" name="Text 61"/>
          <p:cNvSpPr txBox="1"/>
          <p:nvPr/>
        </p:nvSpPr>
        <p:spPr>
          <a:xfrm>
            <a:off x="1035050" y="3863411"/>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مطابقة عدد السجلات، ومراجعة عينة من 50 سجلاً</a:t>
            </a:r>
          </a:p>
        </p:txBody>
      </p:sp>
      <p:sp>
        <p:nvSpPr>
          <p:cNvPr id="63" name="Box 62"/>
          <p:cNvSpPr/>
          <p:nvPr/>
        </p:nvSpPr>
        <p:spPr>
          <a:xfrm>
            <a:off x="6102350" y="4290814"/>
            <a:ext cx="50800" cy="50800"/>
          </a:xfrm>
          <a:prstGeom prst="roundRect">
            <a:avLst>
              <a:gd name="adj" fmla="val 50000"/>
            </a:avLst>
          </a:prstGeom>
          <a:solidFill>
            <a:srgbClr val="465264"/>
          </a:solidFill>
          <a:ln>
            <a:noFill/>
          </a:ln>
        </p:spPr>
        <p:txBody>
          <a:bodyPr rtlCol="0" anchor="ctr"/>
          <a:lstStyle/>
          <a:p>
            <a:pPr algn="ctr"/>
          </a:p>
        </p:txBody>
      </p:sp>
      <p:sp>
        <p:nvSpPr>
          <p:cNvPr id="64" name="Text 63"/>
          <p:cNvSpPr txBox="1"/>
          <p:nvPr/>
        </p:nvSpPr>
        <p:spPr>
          <a:xfrm>
            <a:off x="838200" y="4185932"/>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مشكلة: كلمة مرور حساب الخدمة غير محدثة في الإجراء، وصُححت</a:t>
            </a:r>
          </a:p>
        </p:txBody>
      </p:sp>
      <p:sp>
        <p:nvSpPr>
          <p:cNvPr id="65" name="Box 64"/>
          <p:cNvSpPr/>
          <p:nvPr/>
        </p:nvSpPr>
        <p:spPr>
          <a:xfrm>
            <a:off x="6102350" y="4554934"/>
            <a:ext cx="50800" cy="50800"/>
          </a:xfrm>
          <a:prstGeom prst="roundRect">
            <a:avLst>
              <a:gd name="adj" fmla="val 50000"/>
            </a:avLst>
          </a:prstGeom>
          <a:solidFill>
            <a:srgbClr val="465264"/>
          </a:solidFill>
          <a:ln>
            <a:noFill/>
          </a:ln>
        </p:spPr>
        <p:txBody>
          <a:bodyPr rtlCol="0" anchor="ctr"/>
          <a:lstStyle/>
          <a:p>
            <a:pPr algn="ctr"/>
          </a:p>
        </p:txBody>
      </p:sp>
      <p:sp>
        <p:nvSpPr>
          <p:cNvPr id="66" name="Text 65"/>
          <p:cNvSpPr txBox="1"/>
          <p:nvPr/>
        </p:nvSpPr>
        <p:spPr>
          <a:xfrm>
            <a:off x="838200" y="4450052"/>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النتيجة: ناجح ضمن الهدف المعتمد</a:t>
            </a:r>
          </a:p>
        </p:txBody>
      </p:sp>
      <p:sp>
        <p:nvSpPr>
          <p:cNvPr id="67" name="Rule 66"/>
          <p:cNvSpPr/>
          <p:nvPr/>
        </p:nvSpPr>
        <p:spPr>
          <a:xfrm>
            <a:off x="3708400" y="4801295"/>
            <a:ext cx="2444750" cy="12700"/>
          </a:xfrm>
          <a:prstGeom prst="rect">
            <a:avLst/>
          </a:prstGeom>
          <a:solidFill>
            <a:srgbClr val="132033"/>
          </a:solidFill>
          <a:ln>
            <a:noFill/>
          </a:ln>
        </p:spPr>
        <p:txBody>
          <a:bodyPr rtlCol="0" anchor="ctr"/>
          <a:lstStyle/>
          <a:p>
            <a:pPr algn="ctr"/>
          </a:p>
        </p:txBody>
      </p:sp>
      <p:sp>
        <p:nvSpPr>
          <p:cNvPr id="68" name="Text 67"/>
          <p:cNvSpPr txBox="1"/>
          <p:nvPr/>
        </p:nvSpPr>
        <p:spPr>
          <a:xfrm>
            <a:off x="3708400" y="4844983"/>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المنفذ</a:t>
            </a:r>
          </a:p>
        </p:txBody>
      </p:sp>
      <p:sp>
        <p:nvSpPr>
          <p:cNvPr id="69" name="Text 68"/>
          <p:cNvSpPr txBox="1"/>
          <p:nvPr/>
        </p:nvSpPr>
        <p:spPr>
          <a:xfrm>
            <a:off x="3708400" y="5076063"/>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مهندس الأنظمة</a:t>
            </a:r>
          </a:p>
        </p:txBody>
      </p:sp>
      <p:sp>
        <p:nvSpPr>
          <p:cNvPr id="70" name="Rule 69"/>
          <p:cNvSpPr/>
          <p:nvPr/>
        </p:nvSpPr>
        <p:spPr>
          <a:xfrm>
            <a:off x="1035050" y="4801295"/>
            <a:ext cx="2444750" cy="12700"/>
          </a:xfrm>
          <a:prstGeom prst="rect">
            <a:avLst/>
          </a:prstGeom>
          <a:solidFill>
            <a:srgbClr val="132033"/>
          </a:solidFill>
          <a:ln>
            <a:noFill/>
          </a:ln>
        </p:spPr>
        <p:txBody>
          <a:bodyPr rtlCol="0" anchor="ctr"/>
          <a:lstStyle/>
          <a:p>
            <a:pPr algn="ctr"/>
          </a:p>
        </p:txBody>
      </p:sp>
      <p:sp>
        <p:nvSpPr>
          <p:cNvPr id="71" name="Text 70"/>
          <p:cNvSpPr txBox="1"/>
          <p:nvPr/>
        </p:nvSpPr>
        <p:spPr>
          <a:xfrm>
            <a:off x="1035050" y="4844983"/>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المعتمد</a:t>
            </a:r>
          </a:p>
        </p:txBody>
      </p:sp>
      <p:sp>
        <p:nvSpPr>
          <p:cNvPr id="72" name="Text 71"/>
          <p:cNvSpPr txBox="1"/>
          <p:nvPr/>
        </p:nvSpPr>
        <p:spPr>
          <a:xfrm>
            <a:off x="1035050" y="5076063"/>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مدير تقنية المعلومات</a:t>
            </a:r>
          </a:p>
        </p:txBody>
      </p:sp>
      <p:sp>
        <p:nvSpPr>
          <p:cNvPr id="73" name="Text 72"/>
          <p:cNvSpPr txBox="1"/>
          <p:nvPr/>
        </p:nvSpPr>
        <p:spPr>
          <a:xfrm>
            <a:off x="367792" y="5550983"/>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74" name="Text 7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75" name="Box 7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6" name="Box 7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7" name="Box 7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8" name="Box 7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9" name="Box 78"/>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80" name="Box 79"/>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81" name="Box 80"/>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82" name="Box 8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83" name="Box 8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84" name="Text 8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2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‎2-10‎ إدارة الثغرات</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اكتشاف الثغرات التقنية في الوقت المناسب ومعالجتها بفعالية، لمنع استغلالها أو تقليل احتماله وأثره.</a:t>
            </a:r>
          </a:p>
        </p:txBody>
      </p:sp>
      <p:sp>
        <p:nvSpPr>
          <p:cNvPr id="23" name="Box 22"/>
          <p:cNvSpPr/>
          <p:nvPr/>
        </p:nvSpPr>
        <p:spPr>
          <a:xfrm>
            <a:off x="8159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ثغرة معروفة منذ أشهر بلا إصلاح على خادم مواجه للإنترنت: أسهل طريق يسلكه المهاجمون.</a:t>
            </a:r>
          </a:p>
        </p:txBody>
      </p:sp>
      <p:sp>
        <p:nvSpPr>
          <p:cNvPr id="28" name="Box 27"/>
          <p:cNvSpPr/>
          <p:nvPr/>
        </p:nvSpPr>
        <p:spPr>
          <a:xfrm>
            <a:off x="43973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فحص المبنى بحثاً عن الشقوق والتسربات: تفحص بانتظام، وتصلح الأخطر أولاً قبل أن يتسع.</a:t>
            </a:r>
          </a:p>
        </p:txBody>
      </p:sp>
      <p:sp>
        <p:nvSpPr>
          <p:cNvPr id="33" name="Box 32"/>
          <p:cNvSpPr/>
          <p:nvPr/>
        </p:nvSpPr>
        <p:spPr>
          <a:xfrm>
            <a:off x="7978775" y="2659261"/>
            <a:ext cx="3397250" cy="2135188"/>
          </a:xfrm>
          <a:prstGeom prst="roundRect">
            <a:avLst>
              <a:gd name="adj" fmla="val 5930"/>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957262"/>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البحث الدوري عن نقاط الضعف المعروفة في الأنظمة، وترتيبها حسب خطورتها، وإصلاحها في مدد محددة، ومتابعة الثغرات الجديدة من مصادر موثوقة.</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الثغرة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ضعف في نظام يمكن استغلاله</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CVSS</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مقياس خطورة من 0 إلى 10</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مدة المعالجة</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الأيام المسموحة لإصلاح كل مستوى</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42314" y="812800"/>
            <a:ext cx="143688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‎2-10‎ · إدارة الثغرات</a:t>
            </a:r>
          </a:p>
        </p:txBody>
      </p:sp>
      <p:sp>
        <p:nvSpPr>
          <p:cNvPr id="4" name="Text 3"/>
          <p:cNvSpPr txBox="1"/>
          <p:nvPr/>
        </p:nvSpPr>
        <p:spPr>
          <a:xfrm>
            <a:off x="841912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إدارة الثغرات: المتطلبات والفحص الدوري</a:t>
            </a:r>
          </a:p>
        </p:txBody>
      </p:sp>
      <p:sp>
        <p:nvSpPr>
          <p:cNvPr id="20" name="Rule 19"/>
          <p:cNvSpPr/>
          <p:nvPr/>
        </p:nvSpPr>
        <p:spPr>
          <a:xfrm>
            <a:off x="812800" y="2193131"/>
            <a:ext cx="2995513"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4311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08313" y="2193131"/>
            <a:ext cx="3444974" cy="19050"/>
          </a:xfrm>
          <a:prstGeom prst="rect">
            <a:avLst/>
          </a:prstGeom>
          <a:solidFill>
            <a:srgbClr val="1D5B9E"/>
          </a:solidFill>
          <a:ln>
            <a:noFill/>
          </a:ln>
        </p:spPr>
        <p:txBody>
          <a:bodyPr rtlCol="0" anchor="ctr"/>
          <a:lstStyle/>
          <a:p>
            <a:pPr algn="ctr"/>
          </a:p>
        </p:txBody>
      </p:sp>
      <p:sp>
        <p:nvSpPr>
          <p:cNvPr id="23" name="Text 22"/>
          <p:cNvSpPr txBox="1"/>
          <p:nvPr/>
        </p:nvSpPr>
        <p:spPr>
          <a:xfrm>
            <a:off x="3833713" y="1892689"/>
            <a:ext cx="329257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253288" y="2193131"/>
            <a:ext cx="2995612" cy="19050"/>
          </a:xfrm>
          <a:prstGeom prst="rect">
            <a:avLst/>
          </a:prstGeom>
          <a:solidFill>
            <a:srgbClr val="1D5B9E"/>
          </a:solidFill>
          <a:ln>
            <a:noFill/>
          </a:ln>
        </p:spPr>
        <p:txBody>
          <a:bodyPr rtlCol="0" anchor="ctr"/>
          <a:lstStyle/>
          <a:p>
            <a:pPr algn="ctr"/>
          </a:p>
        </p:txBody>
      </p:sp>
      <p:sp>
        <p:nvSpPr>
          <p:cNvPr id="25" name="Text 24"/>
          <p:cNvSpPr txBox="1"/>
          <p:nvPr/>
        </p:nvSpPr>
        <p:spPr>
          <a:xfrm>
            <a:off x="7278688" y="1892689"/>
            <a:ext cx="28432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995513"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995513"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 بجدول مدد المعالجة</a:t>
            </a:r>
          </a:p>
        </p:txBody>
      </p:sp>
      <p:sp>
        <p:nvSpPr>
          <p:cNvPr id="31" name="Rule 30"/>
          <p:cNvSpPr/>
          <p:nvPr/>
        </p:nvSpPr>
        <p:spPr>
          <a:xfrm>
            <a:off x="3808313" y="2857302"/>
            <a:ext cx="3444974" cy="6350"/>
          </a:xfrm>
          <a:prstGeom prst="rect">
            <a:avLst/>
          </a:prstGeom>
          <a:solidFill>
            <a:srgbClr val="DDD7CA"/>
          </a:solidFill>
          <a:ln>
            <a:noFill/>
          </a:ln>
        </p:spPr>
        <p:txBody>
          <a:bodyPr rtlCol="0" anchor="ctr"/>
          <a:lstStyle/>
          <a:p>
            <a:pPr algn="ctr"/>
          </a:p>
        </p:txBody>
      </p:sp>
      <p:sp>
        <p:nvSpPr>
          <p:cNvPr id="32" name="Text 31"/>
          <p:cNvSpPr txBox="1"/>
          <p:nvPr/>
        </p:nvSpPr>
        <p:spPr>
          <a:xfrm>
            <a:off x="3839584" y="2286349"/>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النطاق وتكرار الفحص ومستويات الخطورة ومدة المعالجة لكل مستوى</a:t>
            </a:r>
          </a:p>
        </p:txBody>
      </p:sp>
      <p:sp>
        <p:nvSpPr>
          <p:cNvPr id="33" name="Rule 32"/>
          <p:cNvSpPr/>
          <p:nvPr/>
        </p:nvSpPr>
        <p:spPr>
          <a:xfrm>
            <a:off x="7253288" y="2857302"/>
            <a:ext cx="2995612" cy="6350"/>
          </a:xfrm>
          <a:prstGeom prst="rect">
            <a:avLst/>
          </a:prstGeom>
          <a:solidFill>
            <a:srgbClr val="DDD7CA"/>
          </a:solidFill>
          <a:ln>
            <a:noFill/>
          </a:ln>
        </p:spPr>
        <p:txBody>
          <a:bodyPr rtlCol="0" anchor="ctr"/>
          <a:lstStyle/>
          <a:p>
            <a:pPr algn="ctr"/>
          </a:p>
        </p:txBody>
      </p:sp>
      <p:sp>
        <p:nvSpPr>
          <p:cNvPr id="34" name="Text 33"/>
          <p:cNvSpPr txBox="1"/>
          <p:nvPr/>
        </p:nvSpPr>
        <p:spPr>
          <a:xfrm>
            <a:off x="7298039" y="2286349"/>
            <a:ext cx="282386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إدارة الثغرات وتوثيقها واعتمادها</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2-10-1</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2863652"/>
            <a:ext cx="2995513"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995513" cy="6350"/>
          </a:xfrm>
          <a:prstGeom prst="rect">
            <a:avLst/>
          </a:prstGeom>
          <a:solidFill>
            <a:srgbClr val="DDD7CA"/>
          </a:solidFill>
          <a:ln>
            <a:noFill/>
          </a:ln>
        </p:spPr>
        <p:txBody>
          <a:bodyPr rtlCol="0" anchor="ctr"/>
          <a:lstStyle/>
          <a:p>
            <a:pPr algn="ctr"/>
          </a:p>
        </p:txBody>
      </p:sp>
      <p:sp>
        <p:nvSpPr>
          <p:cNvPr id="40" name="Text 39"/>
          <p:cNvSpPr txBox="1"/>
          <p:nvPr/>
        </p:nvSpPr>
        <p:spPr>
          <a:xfrm>
            <a:off x="857555" y="293782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الفحص، وتذاكر المعالجة، ونسب الالتزام بالمدد</a:t>
            </a:r>
          </a:p>
        </p:txBody>
      </p:sp>
      <p:sp>
        <p:nvSpPr>
          <p:cNvPr id="41" name="Rule 40"/>
          <p:cNvSpPr/>
          <p:nvPr/>
        </p:nvSpPr>
        <p:spPr>
          <a:xfrm>
            <a:off x="3808313" y="3508772"/>
            <a:ext cx="3444974" cy="6350"/>
          </a:xfrm>
          <a:prstGeom prst="rect">
            <a:avLst/>
          </a:prstGeom>
          <a:solidFill>
            <a:srgbClr val="DDD7CA"/>
          </a:solidFill>
          <a:ln>
            <a:noFill/>
          </a:ln>
        </p:spPr>
        <p:txBody>
          <a:bodyPr rtlCol="0" anchor="ctr"/>
          <a:lstStyle/>
          <a:p>
            <a:pPr algn="ctr"/>
          </a:p>
        </p:txBody>
      </p:sp>
      <p:sp>
        <p:nvSpPr>
          <p:cNvPr id="42" name="Text 41"/>
          <p:cNvSpPr txBox="1"/>
          <p:nvPr/>
        </p:nvSpPr>
        <p:spPr>
          <a:xfrm>
            <a:off x="3839584" y="293782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أداة فحص تغطي كل الأصول، وسير عمل من الاكتشاف إلى الإغلاق في نظام تذاكر</a:t>
            </a:r>
          </a:p>
        </p:txBody>
      </p:sp>
      <p:sp>
        <p:nvSpPr>
          <p:cNvPr id="43" name="Rule 42"/>
          <p:cNvSpPr/>
          <p:nvPr/>
        </p:nvSpPr>
        <p:spPr>
          <a:xfrm>
            <a:off x="7253288" y="3508772"/>
            <a:ext cx="2995612" cy="6350"/>
          </a:xfrm>
          <a:prstGeom prst="rect">
            <a:avLst/>
          </a:prstGeom>
          <a:solidFill>
            <a:srgbClr val="DDD7CA"/>
          </a:solidFill>
          <a:ln>
            <a:noFill/>
          </a:ln>
        </p:spPr>
        <p:txBody>
          <a:bodyPr rtlCol="0" anchor="ctr"/>
          <a:lstStyle/>
          <a:p>
            <a:pPr algn="ctr"/>
          </a:p>
        </p:txBody>
      </p:sp>
      <p:sp>
        <p:nvSpPr>
          <p:cNvPr id="44" name="Text 43"/>
          <p:cNvSpPr txBox="1"/>
          <p:nvPr/>
        </p:nvSpPr>
        <p:spPr>
          <a:xfrm>
            <a:off x="7278688" y="293782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248900"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2-10-2</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515122"/>
            <a:ext cx="2995513"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2995513" cy="6350"/>
          </a:xfrm>
          <a:prstGeom prst="rect">
            <a:avLst/>
          </a:prstGeom>
          <a:solidFill>
            <a:srgbClr val="DDD7CA"/>
          </a:solidFill>
          <a:ln>
            <a:noFill/>
          </a:ln>
        </p:spPr>
        <p:txBody>
          <a:bodyPr rtlCol="0" anchor="ctr"/>
          <a:lstStyle/>
          <a:p>
            <a:pPr algn="ctr"/>
          </a:p>
        </p:txBody>
      </p:sp>
      <p:sp>
        <p:nvSpPr>
          <p:cNvPr id="50" name="Text 49"/>
          <p:cNvSpPr txBox="1"/>
          <p:nvPr/>
        </p:nvSpPr>
        <p:spPr>
          <a:xfrm>
            <a:off x="857555" y="358929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جدول الفحص، وتقارير لفترات متتالية، ونسبة التغطية مقابل سجل الأصول</a:t>
            </a:r>
          </a:p>
        </p:txBody>
      </p:sp>
      <p:sp>
        <p:nvSpPr>
          <p:cNvPr id="51" name="Rule 50"/>
          <p:cNvSpPr/>
          <p:nvPr/>
        </p:nvSpPr>
        <p:spPr>
          <a:xfrm>
            <a:off x="3808313" y="4160242"/>
            <a:ext cx="3444974" cy="6350"/>
          </a:xfrm>
          <a:prstGeom prst="rect">
            <a:avLst/>
          </a:prstGeom>
          <a:solidFill>
            <a:srgbClr val="DDD7CA"/>
          </a:solidFill>
          <a:ln>
            <a:noFill/>
          </a:ln>
        </p:spPr>
        <p:txBody>
          <a:bodyPr rtlCol="0" anchor="ctr"/>
          <a:lstStyle/>
          <a:p>
            <a:pPr algn="ctr"/>
          </a:p>
        </p:txBody>
      </p:sp>
      <p:sp>
        <p:nvSpPr>
          <p:cNvPr id="52" name="Text 51"/>
          <p:cNvSpPr txBox="1"/>
          <p:nvPr/>
        </p:nvSpPr>
        <p:spPr>
          <a:xfrm>
            <a:off x="3839584" y="358929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فحص مجدول بصلاحيات دخول للأنظمة الداخلية، وفحص خارجي للخدمات المواجهة للإنترنت</a:t>
            </a:r>
          </a:p>
        </p:txBody>
      </p:sp>
      <p:sp>
        <p:nvSpPr>
          <p:cNvPr id="53" name="Rule 52"/>
          <p:cNvSpPr/>
          <p:nvPr/>
        </p:nvSpPr>
        <p:spPr>
          <a:xfrm>
            <a:off x="7253288" y="4160242"/>
            <a:ext cx="2995612" cy="6350"/>
          </a:xfrm>
          <a:prstGeom prst="rect">
            <a:avLst/>
          </a:prstGeom>
          <a:solidFill>
            <a:srgbClr val="DDD7CA"/>
          </a:solidFill>
          <a:ln>
            <a:noFill/>
          </a:ln>
        </p:spPr>
        <p:txBody>
          <a:bodyPr rtlCol="0" anchor="ctr"/>
          <a:lstStyle/>
          <a:p>
            <a:pPr algn="ctr"/>
          </a:p>
        </p:txBody>
      </p:sp>
      <p:sp>
        <p:nvSpPr>
          <p:cNvPr id="54" name="Text 53"/>
          <p:cNvSpPr txBox="1"/>
          <p:nvPr/>
        </p:nvSpPr>
        <p:spPr>
          <a:xfrm>
            <a:off x="7278688" y="358929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تقييم الثغرات واكتشافها دورياً</a:t>
            </a:r>
          </a:p>
        </p:txBody>
      </p:sp>
      <p:sp>
        <p:nvSpPr>
          <p:cNvPr id="55" name="Rule 54"/>
          <p:cNvSpPr/>
          <p:nvPr/>
        </p:nvSpPr>
        <p:spPr>
          <a:xfrm>
            <a:off x="10248900" y="416024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840"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2-10-3-1</a:t>
            </a:r>
          </a:p>
        </p:txBody>
      </p:sp>
      <p:sp>
        <p:nvSpPr>
          <p:cNvPr id="57" name="Text 56"/>
          <p:cNvSpPr txBox="1"/>
          <p:nvPr/>
        </p:nvSpPr>
        <p:spPr>
          <a:xfrm>
            <a:off x="10284460"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166592"/>
            <a:ext cx="2995513" cy="629841"/>
          </a:xfrm>
          <a:prstGeom prst="rect">
            <a:avLst/>
          </a:prstGeom>
          <a:solidFill>
            <a:srgbClr val="E1EAF4"/>
          </a:solidFill>
          <a:ln>
            <a:noFill/>
          </a:ln>
        </p:spPr>
        <p:txBody>
          <a:bodyPr rtlCol="0" anchor="ctr"/>
          <a:lstStyle/>
          <a:p>
            <a:pPr algn="ctr"/>
          </a:p>
        </p:txBody>
      </p:sp>
      <p:sp>
        <p:nvSpPr>
          <p:cNvPr id="59" name="Rule 58"/>
          <p:cNvSpPr/>
          <p:nvPr/>
        </p:nvSpPr>
        <p:spPr>
          <a:xfrm>
            <a:off x="812800" y="4790083"/>
            <a:ext cx="2995513"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24076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ومؤشراته</a:t>
            </a:r>
          </a:p>
        </p:txBody>
      </p:sp>
      <p:sp>
        <p:nvSpPr>
          <p:cNvPr id="61" name="Rule 60"/>
          <p:cNvSpPr/>
          <p:nvPr/>
        </p:nvSpPr>
        <p:spPr>
          <a:xfrm>
            <a:off x="3808313" y="4790083"/>
            <a:ext cx="3444974" cy="6350"/>
          </a:xfrm>
          <a:prstGeom prst="rect">
            <a:avLst/>
          </a:prstGeom>
          <a:solidFill>
            <a:srgbClr val="DDD7CA"/>
          </a:solidFill>
          <a:ln>
            <a:noFill/>
          </a:ln>
        </p:spPr>
        <p:txBody>
          <a:bodyPr rtlCol="0" anchor="ctr"/>
          <a:lstStyle/>
          <a:p>
            <a:pPr algn="ctr"/>
          </a:p>
        </p:txBody>
      </p:sp>
      <p:sp>
        <p:nvSpPr>
          <p:cNvPr id="62" name="Text 61"/>
          <p:cNvSpPr txBox="1"/>
          <p:nvPr/>
        </p:nvSpPr>
        <p:spPr>
          <a:xfrm>
            <a:off x="3833713" y="4240760"/>
            <a:ext cx="329257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السياسة، ونسب التغطية، ومتوسط زمن المعالجة</a:t>
            </a:r>
          </a:p>
        </p:txBody>
      </p:sp>
      <p:sp>
        <p:nvSpPr>
          <p:cNvPr id="63" name="Rule 62"/>
          <p:cNvSpPr/>
          <p:nvPr/>
        </p:nvSpPr>
        <p:spPr>
          <a:xfrm>
            <a:off x="7253288" y="4790083"/>
            <a:ext cx="2995612" cy="6350"/>
          </a:xfrm>
          <a:prstGeom prst="rect">
            <a:avLst/>
          </a:prstGeom>
          <a:solidFill>
            <a:srgbClr val="DDD7CA"/>
          </a:solidFill>
          <a:ln>
            <a:noFill/>
          </a:ln>
        </p:spPr>
        <p:txBody>
          <a:bodyPr rtlCol="0" anchor="ctr"/>
          <a:lstStyle/>
          <a:p>
            <a:pPr algn="ctr"/>
          </a:p>
        </p:txBody>
      </p:sp>
      <p:sp>
        <p:nvSpPr>
          <p:cNvPr id="64" name="Text 63"/>
          <p:cNvSpPr txBox="1"/>
          <p:nvPr/>
        </p:nvSpPr>
        <p:spPr>
          <a:xfrm>
            <a:off x="7278688" y="424076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248900" y="4790083"/>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840" y="425746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2-10-4</a:t>
            </a:r>
          </a:p>
        </p:txBody>
      </p:sp>
      <p:sp>
        <p:nvSpPr>
          <p:cNvPr id="67" name="Text 66"/>
          <p:cNvSpPr txBox="1"/>
          <p:nvPr/>
        </p:nvSpPr>
        <p:spPr>
          <a:xfrm>
            <a:off x="10284460" y="446299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42314" y="812800"/>
            <a:ext cx="143688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‎2-10‎ · إدارة الثغرات</a:t>
            </a:r>
          </a:p>
        </p:txBody>
      </p:sp>
      <p:sp>
        <p:nvSpPr>
          <p:cNvPr id="4" name="Text 3"/>
          <p:cNvSpPr txBox="1"/>
          <p:nvPr/>
        </p:nvSpPr>
        <p:spPr>
          <a:xfrm>
            <a:off x="841912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التصنيف والمعالجة والتحديثات والمصادر</a:t>
            </a:r>
          </a:p>
        </p:txBody>
      </p:sp>
      <p:sp>
        <p:nvSpPr>
          <p:cNvPr id="20" name="Rule 19"/>
          <p:cNvSpPr/>
          <p:nvPr/>
        </p:nvSpPr>
        <p:spPr>
          <a:xfrm>
            <a:off x="812800" y="2193131"/>
            <a:ext cx="2995513"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4311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08313" y="2193131"/>
            <a:ext cx="3444974" cy="19050"/>
          </a:xfrm>
          <a:prstGeom prst="rect">
            <a:avLst/>
          </a:prstGeom>
          <a:solidFill>
            <a:srgbClr val="1D5B9E"/>
          </a:solidFill>
          <a:ln>
            <a:noFill/>
          </a:ln>
        </p:spPr>
        <p:txBody>
          <a:bodyPr rtlCol="0" anchor="ctr"/>
          <a:lstStyle/>
          <a:p>
            <a:pPr algn="ctr"/>
          </a:p>
        </p:txBody>
      </p:sp>
      <p:sp>
        <p:nvSpPr>
          <p:cNvPr id="23" name="Text 22"/>
          <p:cNvSpPr txBox="1"/>
          <p:nvPr/>
        </p:nvSpPr>
        <p:spPr>
          <a:xfrm>
            <a:off x="3833713" y="1892689"/>
            <a:ext cx="329257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253288" y="2193131"/>
            <a:ext cx="2995612" cy="19050"/>
          </a:xfrm>
          <a:prstGeom prst="rect">
            <a:avLst/>
          </a:prstGeom>
          <a:solidFill>
            <a:srgbClr val="1D5B9E"/>
          </a:solidFill>
          <a:ln>
            <a:noFill/>
          </a:ln>
        </p:spPr>
        <p:txBody>
          <a:bodyPr rtlCol="0" anchor="ctr"/>
          <a:lstStyle/>
          <a:p>
            <a:pPr algn="ctr"/>
          </a:p>
        </p:txBody>
      </p:sp>
      <p:sp>
        <p:nvSpPr>
          <p:cNvPr id="25" name="Text 24"/>
          <p:cNvSpPr txBox="1"/>
          <p:nvPr/>
        </p:nvSpPr>
        <p:spPr>
          <a:xfrm>
            <a:off x="7278688" y="1892689"/>
            <a:ext cx="28432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995513"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995513"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معايير التصنيف في السياسة، وتطبيقها في التقارير</a:t>
            </a:r>
          </a:p>
        </p:txBody>
      </p:sp>
      <p:sp>
        <p:nvSpPr>
          <p:cNvPr id="31" name="Rule 30"/>
          <p:cNvSpPr/>
          <p:nvPr/>
        </p:nvSpPr>
        <p:spPr>
          <a:xfrm>
            <a:off x="3808313" y="2857302"/>
            <a:ext cx="3444974" cy="6350"/>
          </a:xfrm>
          <a:prstGeom prst="rect">
            <a:avLst/>
          </a:prstGeom>
          <a:solidFill>
            <a:srgbClr val="DDD7CA"/>
          </a:solidFill>
          <a:ln>
            <a:noFill/>
          </a:ln>
        </p:spPr>
        <p:txBody>
          <a:bodyPr rtlCol="0" anchor="ctr"/>
          <a:lstStyle/>
          <a:p>
            <a:pPr algn="ctr"/>
          </a:p>
        </p:txBody>
      </p:sp>
      <p:sp>
        <p:nvSpPr>
          <p:cNvPr id="32" name="Text 31"/>
          <p:cNvSpPr txBox="1"/>
          <p:nvPr/>
        </p:nvSpPr>
        <p:spPr>
          <a:xfrm>
            <a:off x="3839584" y="2286349"/>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مقياس معتمد مثل CVSS، مع تعديل حسب أهمية الأصل وتعرضه للإنترنت</a:t>
            </a:r>
          </a:p>
        </p:txBody>
      </p:sp>
      <p:sp>
        <p:nvSpPr>
          <p:cNvPr id="33" name="Rule 32"/>
          <p:cNvSpPr/>
          <p:nvPr/>
        </p:nvSpPr>
        <p:spPr>
          <a:xfrm>
            <a:off x="7253288" y="2857302"/>
            <a:ext cx="2995612" cy="6350"/>
          </a:xfrm>
          <a:prstGeom prst="rect">
            <a:avLst/>
          </a:prstGeom>
          <a:solidFill>
            <a:srgbClr val="DDD7CA"/>
          </a:solidFill>
          <a:ln>
            <a:noFill/>
          </a:ln>
        </p:spPr>
        <p:txBody>
          <a:bodyPr rtlCol="0" anchor="ctr"/>
          <a:lstStyle/>
          <a:p>
            <a:pPr algn="ctr"/>
          </a:p>
        </p:txBody>
      </p:sp>
      <p:sp>
        <p:nvSpPr>
          <p:cNvPr id="34" name="Text 33"/>
          <p:cNvSpPr txBox="1"/>
          <p:nvPr/>
        </p:nvSpPr>
        <p:spPr>
          <a:xfrm>
            <a:off x="7278688" y="2286349"/>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تصنيف الثغرات حسب خطورتها</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2-10-3-2</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995513"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995513" cy="6350"/>
          </a:xfrm>
          <a:prstGeom prst="rect">
            <a:avLst/>
          </a:prstGeom>
          <a:solidFill>
            <a:srgbClr val="DDD7CA"/>
          </a:solidFill>
          <a:ln>
            <a:noFill/>
          </a:ln>
        </p:spPr>
        <p:txBody>
          <a:bodyPr rtlCol="0" anchor="ctr"/>
          <a:lstStyle/>
          <a:p>
            <a:pPr algn="ctr"/>
          </a:p>
        </p:txBody>
      </p:sp>
      <p:sp>
        <p:nvSpPr>
          <p:cNvPr id="40" name="Text 39"/>
          <p:cNvSpPr txBox="1"/>
          <p:nvPr/>
        </p:nvSpPr>
        <p:spPr>
          <a:xfrm>
            <a:off x="857555" y="293782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متابعة المعالجة، وسجل الاستثناءات المعتمدة</a:t>
            </a:r>
          </a:p>
        </p:txBody>
      </p:sp>
      <p:sp>
        <p:nvSpPr>
          <p:cNvPr id="41" name="Rule 40"/>
          <p:cNvSpPr/>
          <p:nvPr/>
        </p:nvSpPr>
        <p:spPr>
          <a:xfrm>
            <a:off x="3808313" y="3508772"/>
            <a:ext cx="3444974" cy="6350"/>
          </a:xfrm>
          <a:prstGeom prst="rect">
            <a:avLst/>
          </a:prstGeom>
          <a:solidFill>
            <a:srgbClr val="DDD7CA"/>
          </a:solidFill>
          <a:ln>
            <a:noFill/>
          </a:ln>
        </p:spPr>
        <p:txBody>
          <a:bodyPr rtlCol="0" anchor="ctr"/>
          <a:lstStyle/>
          <a:p>
            <a:pPr algn="ctr"/>
          </a:p>
        </p:txBody>
      </p:sp>
      <p:sp>
        <p:nvSpPr>
          <p:cNvPr id="42" name="Text 41"/>
          <p:cNvSpPr txBox="1"/>
          <p:nvPr/>
        </p:nvSpPr>
        <p:spPr>
          <a:xfrm>
            <a:off x="3839584" y="293782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مدة معالجة لكل مستوى، واستثناء بقبول مخاطر معتمد وضوابط بديلة</a:t>
            </a:r>
          </a:p>
        </p:txBody>
      </p:sp>
      <p:sp>
        <p:nvSpPr>
          <p:cNvPr id="43" name="Rule 42"/>
          <p:cNvSpPr/>
          <p:nvPr/>
        </p:nvSpPr>
        <p:spPr>
          <a:xfrm>
            <a:off x="7253288" y="3508772"/>
            <a:ext cx="2995612" cy="6350"/>
          </a:xfrm>
          <a:prstGeom prst="rect">
            <a:avLst/>
          </a:prstGeom>
          <a:solidFill>
            <a:srgbClr val="DDD7CA"/>
          </a:solidFill>
          <a:ln>
            <a:noFill/>
          </a:ln>
        </p:spPr>
        <p:txBody>
          <a:bodyPr rtlCol="0" anchor="ctr"/>
          <a:lstStyle/>
          <a:p>
            <a:pPr algn="ctr"/>
          </a:p>
        </p:txBody>
      </p:sp>
      <p:sp>
        <p:nvSpPr>
          <p:cNvPr id="44" name="Text 43"/>
          <p:cNvSpPr txBox="1"/>
          <p:nvPr/>
        </p:nvSpPr>
        <p:spPr>
          <a:xfrm>
            <a:off x="7298039" y="2937820"/>
            <a:ext cx="282386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معالجة الثغرات حسب تصنيفها والمخاطر المرتبطة بها</a:t>
            </a:r>
          </a:p>
        </p:txBody>
      </p:sp>
      <p:sp>
        <p:nvSpPr>
          <p:cNvPr id="45" name="Rule 44"/>
          <p:cNvSpPr/>
          <p:nvPr/>
        </p:nvSpPr>
        <p:spPr>
          <a:xfrm>
            <a:off x="10248900"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2-10-3-3</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2995513" cy="872430"/>
          </a:xfrm>
          <a:prstGeom prst="rect">
            <a:avLst/>
          </a:prstGeom>
          <a:solidFill>
            <a:srgbClr val="E1EAF4"/>
          </a:solidFill>
          <a:ln>
            <a:noFill/>
          </a:ln>
        </p:spPr>
        <p:txBody>
          <a:bodyPr rtlCol="0" anchor="ctr"/>
          <a:lstStyle/>
          <a:p>
            <a:pPr algn="ctr"/>
          </a:p>
        </p:txBody>
      </p:sp>
      <p:sp>
        <p:nvSpPr>
          <p:cNvPr id="49" name="Rule 48"/>
          <p:cNvSpPr/>
          <p:nvPr/>
        </p:nvSpPr>
        <p:spPr>
          <a:xfrm>
            <a:off x="812800" y="4381202"/>
            <a:ext cx="2995513" cy="6350"/>
          </a:xfrm>
          <a:prstGeom prst="rect">
            <a:avLst/>
          </a:prstGeom>
          <a:solidFill>
            <a:srgbClr val="DDD7CA"/>
          </a:solidFill>
          <a:ln>
            <a:noFill/>
          </a:ln>
        </p:spPr>
        <p:txBody>
          <a:bodyPr rtlCol="0" anchor="ctr"/>
          <a:lstStyle/>
          <a:p>
            <a:pPr algn="ctr"/>
          </a:p>
        </p:txBody>
      </p:sp>
      <p:sp>
        <p:nvSpPr>
          <p:cNvPr id="50" name="Text 49"/>
          <p:cNvSpPr txBox="1"/>
          <p:nvPr/>
        </p:nvSpPr>
        <p:spPr>
          <a:xfrm>
            <a:off x="857555" y="358929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اختبار التحديثات قبل الإنتاج، وطلبات التغيير المرتبطة</a:t>
            </a:r>
          </a:p>
        </p:txBody>
      </p:sp>
      <p:sp>
        <p:nvSpPr>
          <p:cNvPr id="51" name="Rule 50"/>
          <p:cNvSpPr/>
          <p:nvPr/>
        </p:nvSpPr>
        <p:spPr>
          <a:xfrm>
            <a:off x="3808313" y="4381202"/>
            <a:ext cx="3444974" cy="6350"/>
          </a:xfrm>
          <a:prstGeom prst="rect">
            <a:avLst/>
          </a:prstGeom>
          <a:solidFill>
            <a:srgbClr val="DDD7CA"/>
          </a:solidFill>
          <a:ln>
            <a:noFill/>
          </a:ln>
        </p:spPr>
        <p:txBody>
          <a:bodyPr rtlCol="0" anchor="ctr"/>
          <a:lstStyle/>
          <a:p>
            <a:pPr algn="ctr"/>
          </a:p>
        </p:txBody>
      </p:sp>
      <p:sp>
        <p:nvSpPr>
          <p:cNvPr id="52" name="Text 51"/>
          <p:cNvSpPr txBox="1"/>
          <p:nvPr/>
        </p:nvSpPr>
        <p:spPr>
          <a:xfrm>
            <a:off x="3839584" y="358929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اختبار التحديث في بيئة غير إنتاجية، ثم نشره وفق إدارة التغيير</a:t>
            </a:r>
          </a:p>
        </p:txBody>
      </p:sp>
      <p:sp>
        <p:nvSpPr>
          <p:cNvPr id="53" name="Rule 52"/>
          <p:cNvSpPr/>
          <p:nvPr/>
        </p:nvSpPr>
        <p:spPr>
          <a:xfrm>
            <a:off x="7253288" y="4381202"/>
            <a:ext cx="2995612" cy="6350"/>
          </a:xfrm>
          <a:prstGeom prst="rect">
            <a:avLst/>
          </a:prstGeom>
          <a:solidFill>
            <a:srgbClr val="DDD7CA"/>
          </a:solidFill>
          <a:ln>
            <a:noFill/>
          </a:ln>
        </p:spPr>
        <p:txBody>
          <a:bodyPr rtlCol="0" anchor="ctr"/>
          <a:lstStyle/>
          <a:p>
            <a:pPr algn="ctr"/>
          </a:p>
        </p:txBody>
      </p:sp>
      <p:sp>
        <p:nvSpPr>
          <p:cNvPr id="54" name="Text 53"/>
          <p:cNvSpPr txBox="1"/>
          <p:nvPr/>
        </p:nvSpPr>
        <p:spPr>
          <a:xfrm>
            <a:off x="7298039" y="3589290"/>
            <a:ext cx="2823861"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إدارة التحديثات للمعالجة، مع التحقق من سلامتها وفعاليتها في بيئة غير إنتاجية قبل التطبيق</a:t>
            </a:r>
          </a:p>
        </p:txBody>
      </p:sp>
      <p:sp>
        <p:nvSpPr>
          <p:cNvPr id="55" name="Rule 54"/>
          <p:cNvSpPr/>
          <p:nvPr/>
        </p:nvSpPr>
        <p:spPr>
          <a:xfrm>
            <a:off x="10248900" y="438120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840"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2-10-3-4</a:t>
            </a:r>
          </a:p>
        </p:txBody>
      </p:sp>
      <p:sp>
        <p:nvSpPr>
          <p:cNvPr id="57" name="Text 56"/>
          <p:cNvSpPr txBox="1"/>
          <p:nvPr/>
        </p:nvSpPr>
        <p:spPr>
          <a:xfrm>
            <a:off x="10284460"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87552"/>
            <a:ext cx="2995513" cy="651470"/>
          </a:xfrm>
          <a:prstGeom prst="rect">
            <a:avLst/>
          </a:prstGeom>
          <a:solidFill>
            <a:srgbClr val="E1EAF4"/>
          </a:solidFill>
          <a:ln>
            <a:noFill/>
          </a:ln>
        </p:spPr>
        <p:txBody>
          <a:bodyPr rtlCol="0" anchor="ctr"/>
          <a:lstStyle/>
          <a:p>
            <a:pPr algn="ctr"/>
          </a:p>
        </p:txBody>
      </p:sp>
      <p:sp>
        <p:nvSpPr>
          <p:cNvPr id="59" name="Rule 58"/>
          <p:cNvSpPr/>
          <p:nvPr/>
        </p:nvSpPr>
        <p:spPr>
          <a:xfrm>
            <a:off x="812800" y="5032673"/>
            <a:ext cx="2995513" cy="6350"/>
          </a:xfrm>
          <a:prstGeom prst="rect">
            <a:avLst/>
          </a:prstGeom>
          <a:solidFill>
            <a:srgbClr val="DDD7CA"/>
          </a:solidFill>
          <a:ln>
            <a:noFill/>
          </a:ln>
        </p:spPr>
        <p:txBody>
          <a:bodyPr rtlCol="0" anchor="ctr"/>
          <a:lstStyle/>
          <a:p>
            <a:pPr algn="ctr"/>
          </a:p>
        </p:txBody>
      </p:sp>
      <p:sp>
        <p:nvSpPr>
          <p:cNvPr id="60" name="Text 59"/>
          <p:cNvSpPr txBox="1"/>
          <p:nvPr/>
        </p:nvSpPr>
        <p:spPr>
          <a:xfrm>
            <a:off x="857555" y="446172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الاشتراكات، وسجل التنبيهات المستلمة والإجراء المتخذ</a:t>
            </a:r>
          </a:p>
        </p:txBody>
      </p:sp>
      <p:sp>
        <p:nvSpPr>
          <p:cNvPr id="61" name="Rule 60"/>
          <p:cNvSpPr/>
          <p:nvPr/>
        </p:nvSpPr>
        <p:spPr>
          <a:xfrm>
            <a:off x="3808313" y="5032673"/>
            <a:ext cx="3444974" cy="6350"/>
          </a:xfrm>
          <a:prstGeom prst="rect">
            <a:avLst/>
          </a:prstGeom>
          <a:solidFill>
            <a:srgbClr val="DDD7CA"/>
          </a:solidFill>
          <a:ln>
            <a:noFill/>
          </a:ln>
        </p:spPr>
        <p:txBody>
          <a:bodyPr rtlCol="0" anchor="ctr"/>
          <a:lstStyle/>
          <a:p>
            <a:pPr algn="ctr"/>
          </a:p>
        </p:txBody>
      </p:sp>
      <p:sp>
        <p:nvSpPr>
          <p:cNvPr id="62" name="Text 61"/>
          <p:cNvSpPr txBox="1"/>
          <p:nvPr/>
        </p:nvSpPr>
        <p:spPr>
          <a:xfrm>
            <a:off x="3839584" y="446172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اشتراك في تنبيهات الجهات الوطنية والموردين، وإجراء لتقييم كل تنبيه</a:t>
            </a:r>
          </a:p>
        </p:txBody>
      </p:sp>
      <p:sp>
        <p:nvSpPr>
          <p:cNvPr id="63" name="Rule 62"/>
          <p:cNvSpPr/>
          <p:nvPr/>
        </p:nvSpPr>
        <p:spPr>
          <a:xfrm>
            <a:off x="7253288" y="5032673"/>
            <a:ext cx="2995612" cy="6350"/>
          </a:xfrm>
          <a:prstGeom prst="rect">
            <a:avLst/>
          </a:prstGeom>
          <a:solidFill>
            <a:srgbClr val="DDD7CA"/>
          </a:solidFill>
          <a:ln>
            <a:noFill/>
          </a:ln>
        </p:spPr>
        <p:txBody>
          <a:bodyPr rtlCol="0" anchor="ctr"/>
          <a:lstStyle/>
          <a:p>
            <a:pPr algn="ctr"/>
          </a:p>
        </p:txBody>
      </p:sp>
      <p:sp>
        <p:nvSpPr>
          <p:cNvPr id="64" name="Text 63"/>
          <p:cNvSpPr txBox="1"/>
          <p:nvPr/>
        </p:nvSpPr>
        <p:spPr>
          <a:xfrm>
            <a:off x="7298039" y="4461720"/>
            <a:ext cx="282386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التواصل والاشتراك مع مصادر موثوقة للثغرات الجديدة</a:t>
            </a:r>
          </a:p>
        </p:txBody>
      </p:sp>
      <p:sp>
        <p:nvSpPr>
          <p:cNvPr id="65" name="Rule 64"/>
          <p:cNvSpPr/>
          <p:nvPr/>
        </p:nvSpPr>
        <p:spPr>
          <a:xfrm>
            <a:off x="10248900" y="5032673"/>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840" y="447842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2-10-3-5</a:t>
            </a:r>
          </a:p>
        </p:txBody>
      </p:sp>
      <p:sp>
        <p:nvSpPr>
          <p:cNvPr id="67" name="Text 66"/>
          <p:cNvSpPr txBox="1"/>
          <p:nvPr/>
        </p:nvSpPr>
        <p:spPr>
          <a:xfrm>
            <a:off x="10284460" y="46839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42314" y="812800"/>
            <a:ext cx="143688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‎2-10‎ · إدارة الثغرات</a:t>
            </a:r>
          </a:p>
        </p:txBody>
      </p:sp>
      <p:sp>
        <p:nvSpPr>
          <p:cNvPr id="4" name="Text 3"/>
          <p:cNvSpPr txBox="1"/>
          <p:nvPr/>
        </p:nvSpPr>
        <p:spPr>
          <a:xfrm>
            <a:off x="8419124"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تقرير فحص الثغرات</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51143"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2-10-3-1</a:t>
            </a:r>
          </a:p>
        </p:txBody>
      </p:sp>
      <p:sp>
        <p:nvSpPr>
          <p:cNvPr id="23" name="Text box 22"/>
          <p:cNvSpPr/>
          <p:nvPr/>
        </p:nvSpPr>
        <p:spPr>
          <a:xfrm>
            <a:off x="7378303"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2-10-3-2</a:t>
            </a:r>
          </a:p>
        </p:txBody>
      </p:sp>
      <p:sp>
        <p:nvSpPr>
          <p:cNvPr id="24" name="Text box 23"/>
          <p:cNvSpPr/>
          <p:nvPr/>
        </p:nvSpPr>
        <p:spPr>
          <a:xfrm>
            <a:off x="10469860" y="2190552"/>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2-10-3-3</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مقطع مكبّر: عدد الثغرات الحرجة والعالية في لحظة الفحص.</a:t>
            </a:r>
          </a:p>
        </p:txBody>
      </p:sp>
      <p:sp>
        <p:nvSpPr>
          <p:cNvPr id="29" name="Box 28"/>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أكثر الثغرات انتشاراً بمعرّفها العالمي (CVE) وعدد الأنظمة المصابة.</a:t>
            </a:r>
          </a:p>
        </p:txBody>
      </p:sp>
      <p:sp>
        <p:nvSpPr>
          <p:cNvPr id="32" name="Box 31"/>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أنظمة التشغيل الأكثر تأثراً.</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تقارير متتالية لفترات مختلفة تظهر الاتجاه.</a:t>
            </a:r>
          </a:p>
        </p:txBody>
      </p:sp>
      <p:pic>
        <p:nvPicPr>
          <p:cNvPr id="39" name="Icon CheckCircle 38" descr="icon043.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نسبة الأصول المفحوصة مقابل سجل الأصول.</a:t>
            </a:r>
          </a:p>
        </p:txBody>
      </p:sp>
      <p:pic>
        <p:nvPicPr>
          <p:cNvPr id="41" name="Icon CheckCircle 40" descr="icon043.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تذاكر معالجة بمدد تطابق السياسة، وقبول مخاطر لما تأخر.</a:t>
            </a:r>
          </a:p>
        </p:txBody>
      </p:sp>
      <p:sp>
        <p:nvSpPr>
          <p:cNvPr id="43" name="Box 42"/>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23483"/>
            <a:ext cx="190500" cy="190500"/>
          </a:xfrm>
          <a:prstGeom prst="rect">
            <a:avLst/>
          </a:prstGeom>
        </p:spPr>
      </p:pic>
      <p:sp>
        <p:nvSpPr>
          <p:cNvPr id="45" name="Text 44"/>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لوحة توضيحية من بيئة تجريبية؛ تقرير واحد يثبت فحصاً حدث، ولا يثبت تغطية الأصول ولا معالجة الثغرات.</a:t>
            </a:r>
          </a:p>
        </p:txBody>
      </p:sp>
      <p:sp>
        <p:nvSpPr>
          <p:cNvPr id="46" name="Box 45"/>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7" name="Picture 46" descr="vuln-scan-zoom.png"/>
          <p:cNvPicPr>
            <a:picLocks noChangeAspect="1"/>
          </p:cNvPicPr>
          <p:nvPr/>
        </p:nvPicPr>
        <p:blipFill>
          <a:blip r:embed="rId5"/>
          <a:stretch>
            <a:fillRect/>
          </a:stretch>
        </p:blipFill>
        <p:spPr>
          <a:xfrm>
            <a:off x="914400" y="2342555"/>
            <a:ext cx="5308600" cy="2322512"/>
          </a:xfrm>
          <a:prstGeom prst="rect">
            <a:avLst/>
          </a:prstGeom>
        </p:spPr>
      </p:pic>
      <p:sp>
        <p:nvSpPr>
          <p:cNvPr id="48" name="Text 47"/>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Wazuh, Inc. · مقطع مكبّر · ‎GPL-2.0‎+ · المصدر: GitHub · ‎wazuh/wazuh-documentation‎</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5" name="Box 54"/>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3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‎2-11‎ اختبار الاختراق</a:t>
            </a:r>
          </a:p>
        </p:txBody>
      </p:sp>
      <p:sp>
        <p:nvSpPr>
          <p:cNvPr id="20" name="Box 19"/>
          <p:cNvSpPr/>
          <p:nvPr/>
        </p:nvSpPr>
        <p:spPr>
          <a:xfrm>
            <a:off x="815975" y="1881386"/>
            <a:ext cx="10560050" cy="800100"/>
          </a:xfrm>
          <a:prstGeom prst="roundRect">
            <a:avLst>
              <a:gd name="adj" fmla="val 15748"/>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تقييم مدى فعالية قدرات الدفاع لدى الجهة، بمحاكاة أساليب الهجوم الحقيقية وتقنياته، لاكتشاف نقاط ضعف غير معروفة قد تؤدي إلى اختراق الجهة.</a:t>
            </a:r>
          </a:p>
        </p:txBody>
      </p:sp>
      <p:sp>
        <p:nvSpPr>
          <p:cNvPr id="23" name="Box 22"/>
          <p:cNvSpPr/>
          <p:nvPr/>
        </p:nvSpPr>
        <p:spPr>
          <a:xfrm>
            <a:off x="815975" y="2916436"/>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3110111"/>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3195836"/>
            <a:ext cx="209550" cy="209550"/>
          </a:xfrm>
          <a:prstGeom prst="rect">
            <a:avLst/>
          </a:prstGeom>
        </p:spPr>
      </p:pic>
      <p:sp>
        <p:nvSpPr>
          <p:cNvPr id="26" name="Text 25"/>
          <p:cNvSpPr txBox="1"/>
          <p:nvPr/>
        </p:nvSpPr>
        <p:spPr>
          <a:xfrm>
            <a:off x="838200" y="3547023"/>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870968"/>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تطبيق جوال أو بوابة دخول عن بعد لم تُختبر قط، فيكتشف المهاجم ثغرتها قبلك.</a:t>
            </a:r>
          </a:p>
        </p:txBody>
      </p:sp>
      <p:sp>
        <p:nvSpPr>
          <p:cNvPr id="28" name="Box 27"/>
          <p:cNvSpPr/>
          <p:nvPr/>
        </p:nvSpPr>
        <p:spPr>
          <a:xfrm>
            <a:off x="4397375" y="2916436"/>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3110111"/>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3195836"/>
            <a:ext cx="209550" cy="209550"/>
          </a:xfrm>
          <a:prstGeom prst="rect">
            <a:avLst/>
          </a:prstGeom>
        </p:spPr>
      </p:pic>
      <p:sp>
        <p:nvSpPr>
          <p:cNvPr id="31" name="Text 30"/>
          <p:cNvSpPr txBox="1"/>
          <p:nvPr/>
        </p:nvSpPr>
        <p:spPr>
          <a:xfrm>
            <a:off x="4419600" y="3547023"/>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870968"/>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تكليف خبير أقفال بمحاولة دخول بيتك بإذنك: يكشف لك الطريق قبل أن يكتشفه اللص.</a:t>
            </a:r>
          </a:p>
        </p:txBody>
      </p:sp>
      <p:sp>
        <p:nvSpPr>
          <p:cNvPr id="33" name="Box 32"/>
          <p:cNvSpPr/>
          <p:nvPr/>
        </p:nvSpPr>
        <p:spPr>
          <a:xfrm>
            <a:off x="7978775" y="2916436"/>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3110111"/>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3195836"/>
            <a:ext cx="209550" cy="209550"/>
          </a:xfrm>
          <a:prstGeom prst="rect">
            <a:avLst/>
          </a:prstGeom>
        </p:spPr>
      </p:pic>
      <p:sp>
        <p:nvSpPr>
          <p:cNvPr id="36" name="Text 35"/>
          <p:cNvSpPr txBox="1"/>
          <p:nvPr/>
        </p:nvSpPr>
        <p:spPr>
          <a:xfrm>
            <a:off x="8001000" y="3547023"/>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870968"/>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تكليف مختصين بمهاجمة خدمات الجهة المتاحة عبر الإنترنت بشكل مصرح ومنظم، لاكتشاف ما يمكن أن يستغله مهاجم حقيقي.</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نطاق الاختبار</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الأنظمة المسموح باختبارها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قواعد الاشتباك</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حدود الاختبار وتوقيته وموافقاته</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إعادة الاختبار</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التأكد من إغلاق الثغرات بعد إصلاحها</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849644" y="812800"/>
            <a:ext cx="152955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‎2-11‎ · اختبار الاختراق</a:t>
            </a:r>
          </a:p>
        </p:txBody>
      </p:sp>
      <p:sp>
        <p:nvSpPr>
          <p:cNvPr id="4" name="Text 3"/>
          <p:cNvSpPr txBox="1"/>
          <p:nvPr/>
        </p:nvSpPr>
        <p:spPr>
          <a:xfrm>
            <a:off x="832645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اختبار الاختراق: المتطلبات والتطبيق والنطاق</a:t>
            </a:r>
          </a:p>
        </p:txBody>
      </p:sp>
      <p:sp>
        <p:nvSpPr>
          <p:cNvPr id="20" name="Rule 19"/>
          <p:cNvSpPr/>
          <p:nvPr/>
        </p:nvSpPr>
        <p:spPr>
          <a:xfrm>
            <a:off x="812800" y="2193131"/>
            <a:ext cx="26959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435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08772" y="2193131"/>
            <a:ext cx="3145334" cy="19050"/>
          </a:xfrm>
          <a:prstGeom prst="rect">
            <a:avLst/>
          </a:prstGeom>
          <a:solidFill>
            <a:srgbClr val="1D5B9E"/>
          </a:solidFill>
          <a:ln>
            <a:noFill/>
          </a:ln>
        </p:spPr>
        <p:txBody>
          <a:bodyPr rtlCol="0" anchor="ctr"/>
          <a:lstStyle/>
          <a:p>
            <a:pPr algn="ctr"/>
          </a:p>
        </p:txBody>
      </p:sp>
      <p:sp>
        <p:nvSpPr>
          <p:cNvPr id="23" name="Text 22"/>
          <p:cNvSpPr txBox="1"/>
          <p:nvPr/>
        </p:nvSpPr>
        <p:spPr>
          <a:xfrm>
            <a:off x="3534172" y="1892689"/>
            <a:ext cx="29929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654105" y="2193131"/>
            <a:ext cx="3594695" cy="19050"/>
          </a:xfrm>
          <a:prstGeom prst="rect">
            <a:avLst/>
          </a:prstGeom>
          <a:solidFill>
            <a:srgbClr val="1D5B9E"/>
          </a:solidFill>
          <a:ln>
            <a:noFill/>
          </a:ln>
        </p:spPr>
        <p:txBody>
          <a:bodyPr rtlCol="0" anchor="ctr"/>
          <a:lstStyle/>
          <a:p>
            <a:pPr algn="ctr"/>
          </a:p>
        </p:txBody>
      </p:sp>
      <p:sp>
        <p:nvSpPr>
          <p:cNvPr id="25" name="Text 24"/>
          <p:cNvSpPr txBox="1"/>
          <p:nvPr/>
        </p:nvSpPr>
        <p:spPr>
          <a:xfrm>
            <a:off x="6679505" y="1892689"/>
            <a:ext cx="344229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801"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361"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695972"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695972"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5435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508772" y="2857302"/>
            <a:ext cx="3145334" cy="6350"/>
          </a:xfrm>
          <a:prstGeom prst="rect">
            <a:avLst/>
          </a:prstGeom>
          <a:solidFill>
            <a:srgbClr val="DDD7CA"/>
          </a:solidFill>
          <a:ln>
            <a:noFill/>
          </a:ln>
        </p:spPr>
        <p:txBody>
          <a:bodyPr rtlCol="0" anchor="ctr"/>
          <a:lstStyle/>
          <a:p>
            <a:pPr algn="ctr"/>
          </a:p>
        </p:txBody>
      </p:sp>
      <p:sp>
        <p:nvSpPr>
          <p:cNvPr id="32" name="Text 31"/>
          <p:cNvSpPr txBox="1"/>
          <p:nvPr/>
        </p:nvSpPr>
        <p:spPr>
          <a:xfrm>
            <a:off x="3549032" y="2286349"/>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النطاق والتكرار والمنهجية ومؤهلات المختبرين وقواعد الاشتباك</a:t>
            </a:r>
          </a:p>
        </p:txBody>
      </p:sp>
      <p:sp>
        <p:nvSpPr>
          <p:cNvPr id="33" name="Rule 32"/>
          <p:cNvSpPr/>
          <p:nvPr/>
        </p:nvSpPr>
        <p:spPr>
          <a:xfrm>
            <a:off x="6654105" y="2857302"/>
            <a:ext cx="3594695" cy="6350"/>
          </a:xfrm>
          <a:prstGeom prst="rect">
            <a:avLst/>
          </a:prstGeom>
          <a:solidFill>
            <a:srgbClr val="DDD7CA"/>
          </a:solidFill>
          <a:ln>
            <a:noFill/>
          </a:ln>
        </p:spPr>
        <p:txBody>
          <a:bodyPr rtlCol="0" anchor="ctr"/>
          <a:lstStyle/>
          <a:p>
            <a:pPr algn="ctr"/>
          </a:p>
        </p:txBody>
      </p:sp>
      <p:sp>
        <p:nvSpPr>
          <p:cNvPr id="34" name="Text 33"/>
          <p:cNvSpPr txBox="1"/>
          <p:nvPr/>
        </p:nvSpPr>
        <p:spPr>
          <a:xfrm>
            <a:off x="6679505" y="2286349"/>
            <a:ext cx="344229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248801"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741"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2-11-1</a:t>
            </a:r>
          </a:p>
        </p:txBody>
      </p:sp>
      <p:sp>
        <p:nvSpPr>
          <p:cNvPr id="37" name="Text 36"/>
          <p:cNvSpPr txBox="1"/>
          <p:nvPr/>
        </p:nvSpPr>
        <p:spPr>
          <a:xfrm>
            <a:off x="10284361"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2863652"/>
            <a:ext cx="2695972"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695972" cy="6350"/>
          </a:xfrm>
          <a:prstGeom prst="rect">
            <a:avLst/>
          </a:prstGeom>
          <a:solidFill>
            <a:srgbClr val="DDD7CA"/>
          </a:solidFill>
          <a:ln>
            <a:noFill/>
          </a:ln>
        </p:spPr>
        <p:txBody>
          <a:bodyPr rtlCol="0" anchor="ctr"/>
          <a:lstStyle/>
          <a:p>
            <a:pPr algn="ctr"/>
          </a:p>
        </p:txBody>
      </p:sp>
      <p:sp>
        <p:nvSpPr>
          <p:cNvPr id="40" name="Text 39"/>
          <p:cNvSpPr txBox="1"/>
          <p:nvPr/>
        </p:nvSpPr>
        <p:spPr>
          <a:xfrm>
            <a:off x="866541" y="2937820"/>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خطاب التفويض، وتقارير الاختبار، وخطة معالجة النتائج</a:t>
            </a:r>
          </a:p>
        </p:txBody>
      </p:sp>
      <p:sp>
        <p:nvSpPr>
          <p:cNvPr id="41" name="Rule 40"/>
          <p:cNvSpPr/>
          <p:nvPr/>
        </p:nvSpPr>
        <p:spPr>
          <a:xfrm>
            <a:off x="3508772" y="3508772"/>
            <a:ext cx="3145334" cy="6350"/>
          </a:xfrm>
          <a:prstGeom prst="rect">
            <a:avLst/>
          </a:prstGeom>
          <a:solidFill>
            <a:srgbClr val="DDD7CA"/>
          </a:solidFill>
          <a:ln>
            <a:noFill/>
          </a:ln>
        </p:spPr>
        <p:txBody>
          <a:bodyPr rtlCol="0" anchor="ctr"/>
          <a:lstStyle/>
          <a:p>
            <a:pPr algn="ctr"/>
          </a:p>
        </p:txBody>
      </p:sp>
      <p:sp>
        <p:nvSpPr>
          <p:cNvPr id="42" name="Text 41"/>
          <p:cNvSpPr txBox="1"/>
          <p:nvPr/>
        </p:nvSpPr>
        <p:spPr>
          <a:xfrm>
            <a:off x="3549032" y="2937820"/>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اختبارات من فريق مؤهل مستقل، بخطاب تفويض وقواعد اشتباك موقعة</a:t>
            </a:r>
          </a:p>
        </p:txBody>
      </p:sp>
      <p:sp>
        <p:nvSpPr>
          <p:cNvPr id="43" name="Rule 42"/>
          <p:cNvSpPr/>
          <p:nvPr/>
        </p:nvSpPr>
        <p:spPr>
          <a:xfrm>
            <a:off x="6654105" y="3508772"/>
            <a:ext cx="3594695" cy="6350"/>
          </a:xfrm>
          <a:prstGeom prst="rect">
            <a:avLst/>
          </a:prstGeom>
          <a:solidFill>
            <a:srgbClr val="DDD7CA"/>
          </a:solidFill>
          <a:ln>
            <a:noFill/>
          </a:ln>
        </p:spPr>
        <p:txBody>
          <a:bodyPr rtlCol="0" anchor="ctr"/>
          <a:lstStyle/>
          <a:p>
            <a:pPr algn="ctr"/>
          </a:p>
        </p:txBody>
      </p:sp>
      <p:sp>
        <p:nvSpPr>
          <p:cNvPr id="44" name="Text 43"/>
          <p:cNvSpPr txBox="1"/>
          <p:nvPr/>
        </p:nvSpPr>
        <p:spPr>
          <a:xfrm>
            <a:off x="6679505" y="2937820"/>
            <a:ext cx="344229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تنفيذ عمليات اختبار الاختراق في الجهة</a:t>
            </a:r>
          </a:p>
        </p:txBody>
      </p:sp>
      <p:sp>
        <p:nvSpPr>
          <p:cNvPr id="45" name="Rule 44"/>
          <p:cNvSpPr/>
          <p:nvPr/>
        </p:nvSpPr>
        <p:spPr>
          <a:xfrm>
            <a:off x="10248801"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741"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2-11-2</a:t>
            </a:r>
          </a:p>
        </p:txBody>
      </p:sp>
      <p:sp>
        <p:nvSpPr>
          <p:cNvPr id="47" name="Text 46"/>
          <p:cNvSpPr txBox="1"/>
          <p:nvPr/>
        </p:nvSpPr>
        <p:spPr>
          <a:xfrm>
            <a:off x="10284361"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515122"/>
            <a:ext cx="2695972" cy="872430"/>
          </a:xfrm>
          <a:prstGeom prst="rect">
            <a:avLst/>
          </a:prstGeom>
          <a:solidFill>
            <a:srgbClr val="E1EAF4"/>
          </a:solidFill>
          <a:ln>
            <a:noFill/>
          </a:ln>
        </p:spPr>
        <p:txBody>
          <a:bodyPr rtlCol="0" anchor="ctr"/>
          <a:lstStyle/>
          <a:p>
            <a:pPr algn="ctr"/>
          </a:p>
        </p:txBody>
      </p:sp>
      <p:sp>
        <p:nvSpPr>
          <p:cNvPr id="49" name="Rule 48"/>
          <p:cNvSpPr/>
          <p:nvPr/>
        </p:nvSpPr>
        <p:spPr>
          <a:xfrm>
            <a:off x="812800" y="4381202"/>
            <a:ext cx="2695972" cy="6350"/>
          </a:xfrm>
          <a:prstGeom prst="rect">
            <a:avLst/>
          </a:prstGeom>
          <a:solidFill>
            <a:srgbClr val="DDD7CA"/>
          </a:solidFill>
          <a:ln>
            <a:noFill/>
          </a:ln>
        </p:spPr>
        <p:txBody>
          <a:bodyPr rtlCol="0" anchor="ctr"/>
          <a:lstStyle/>
          <a:p>
            <a:pPr algn="ctr"/>
          </a:p>
        </p:txBody>
      </p:sp>
      <p:sp>
        <p:nvSpPr>
          <p:cNvPr id="50" name="Text 49"/>
          <p:cNvSpPr txBox="1"/>
          <p:nvPr/>
        </p:nvSpPr>
        <p:spPr>
          <a:xfrm>
            <a:off x="866541" y="3589290"/>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النطاق مطابقة لقائمة الأصول المواجهة للإنترنت</a:t>
            </a:r>
          </a:p>
        </p:txBody>
      </p:sp>
      <p:sp>
        <p:nvSpPr>
          <p:cNvPr id="51" name="Rule 50"/>
          <p:cNvSpPr/>
          <p:nvPr/>
        </p:nvSpPr>
        <p:spPr>
          <a:xfrm>
            <a:off x="3508772" y="4381202"/>
            <a:ext cx="3145334" cy="6350"/>
          </a:xfrm>
          <a:prstGeom prst="rect">
            <a:avLst/>
          </a:prstGeom>
          <a:solidFill>
            <a:srgbClr val="DDD7CA"/>
          </a:solidFill>
          <a:ln>
            <a:noFill/>
          </a:ln>
        </p:spPr>
        <p:txBody>
          <a:bodyPr rtlCol="0" anchor="ctr"/>
          <a:lstStyle/>
          <a:p>
            <a:pPr algn="ctr"/>
          </a:p>
        </p:txBody>
      </p:sp>
      <p:sp>
        <p:nvSpPr>
          <p:cNvPr id="52" name="Text 51"/>
          <p:cNvSpPr txBox="1"/>
          <p:nvPr/>
        </p:nvSpPr>
        <p:spPr>
          <a:xfrm>
            <a:off x="3549032" y="3589290"/>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استخراج النطاق من سجل الأصول ومطابقته مع فحص خارجي يكتشف ما لم يُسجل</a:t>
            </a:r>
          </a:p>
        </p:txBody>
      </p:sp>
      <p:sp>
        <p:nvSpPr>
          <p:cNvPr id="53" name="Rule 52"/>
          <p:cNvSpPr/>
          <p:nvPr/>
        </p:nvSpPr>
        <p:spPr>
          <a:xfrm>
            <a:off x="6654105" y="4381202"/>
            <a:ext cx="3594695" cy="6350"/>
          </a:xfrm>
          <a:prstGeom prst="rect">
            <a:avLst/>
          </a:prstGeom>
          <a:solidFill>
            <a:srgbClr val="DDD7CA"/>
          </a:solidFill>
          <a:ln>
            <a:noFill/>
          </a:ln>
        </p:spPr>
        <p:txBody>
          <a:bodyPr rtlCol="0" anchor="ctr"/>
          <a:lstStyle/>
          <a:p>
            <a:pPr algn="ctr"/>
          </a:p>
        </p:txBody>
      </p:sp>
      <p:sp>
        <p:nvSpPr>
          <p:cNvPr id="54" name="Text 53"/>
          <p:cNvSpPr txBox="1"/>
          <p:nvPr/>
        </p:nvSpPr>
        <p:spPr>
          <a:xfrm>
            <a:off x="6680885" y="3589290"/>
            <a:ext cx="3440916"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النطاق: كل الخدمات المقدمة عبر الإنترنت ومكوناتها: البنية، والمواقع، وتطبيقات الويب والجوال، والبريد، والدخول عن بعد</a:t>
            </a:r>
          </a:p>
        </p:txBody>
      </p:sp>
      <p:sp>
        <p:nvSpPr>
          <p:cNvPr id="55" name="Rule 54"/>
          <p:cNvSpPr/>
          <p:nvPr/>
        </p:nvSpPr>
        <p:spPr>
          <a:xfrm>
            <a:off x="10248801" y="438120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741"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2-11-3-1</a:t>
            </a:r>
          </a:p>
        </p:txBody>
      </p:sp>
      <p:sp>
        <p:nvSpPr>
          <p:cNvPr id="57" name="Text 56"/>
          <p:cNvSpPr txBox="1"/>
          <p:nvPr/>
        </p:nvSpPr>
        <p:spPr>
          <a:xfrm>
            <a:off x="10284361"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Text 5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9" name="Box 5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3" name="Box 6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4" name="Box 6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65" name="Box 6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6" name="Box 6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Text 6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849644" y="812800"/>
            <a:ext cx="152955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‎2-11‎ · اختبار الاختراق</a:t>
            </a:r>
          </a:p>
        </p:txBody>
      </p:sp>
      <p:sp>
        <p:nvSpPr>
          <p:cNvPr id="4" name="Text 3"/>
          <p:cNvSpPr txBox="1"/>
          <p:nvPr/>
        </p:nvSpPr>
        <p:spPr>
          <a:xfrm>
            <a:off x="832645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اختبار الاختراق: الدورية والمراجعة</a:t>
            </a:r>
          </a:p>
        </p:txBody>
      </p:sp>
      <p:sp>
        <p:nvSpPr>
          <p:cNvPr id="20" name="Rule 19"/>
          <p:cNvSpPr/>
          <p:nvPr/>
        </p:nvSpPr>
        <p:spPr>
          <a:xfrm>
            <a:off x="812800" y="2193131"/>
            <a:ext cx="2995513"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4311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08313" y="2193131"/>
            <a:ext cx="3444974" cy="19050"/>
          </a:xfrm>
          <a:prstGeom prst="rect">
            <a:avLst/>
          </a:prstGeom>
          <a:solidFill>
            <a:srgbClr val="1D5B9E"/>
          </a:solidFill>
          <a:ln>
            <a:noFill/>
          </a:ln>
        </p:spPr>
        <p:txBody>
          <a:bodyPr rtlCol="0" anchor="ctr"/>
          <a:lstStyle/>
          <a:p>
            <a:pPr algn="ctr"/>
          </a:p>
        </p:txBody>
      </p:sp>
      <p:sp>
        <p:nvSpPr>
          <p:cNvPr id="23" name="Text 22"/>
          <p:cNvSpPr txBox="1"/>
          <p:nvPr/>
        </p:nvSpPr>
        <p:spPr>
          <a:xfrm>
            <a:off x="3833713" y="1892689"/>
            <a:ext cx="329257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253288" y="2193131"/>
            <a:ext cx="2995612" cy="19050"/>
          </a:xfrm>
          <a:prstGeom prst="rect">
            <a:avLst/>
          </a:prstGeom>
          <a:solidFill>
            <a:srgbClr val="1D5B9E"/>
          </a:solidFill>
          <a:ln>
            <a:noFill/>
          </a:ln>
        </p:spPr>
        <p:txBody>
          <a:bodyPr rtlCol="0" anchor="ctr"/>
          <a:lstStyle/>
          <a:p>
            <a:pPr algn="ctr"/>
          </a:p>
        </p:txBody>
      </p:sp>
      <p:sp>
        <p:nvSpPr>
          <p:cNvPr id="25" name="Text 24"/>
          <p:cNvSpPr txBox="1"/>
          <p:nvPr/>
        </p:nvSpPr>
        <p:spPr>
          <a:xfrm>
            <a:off x="7278688" y="1892689"/>
            <a:ext cx="28432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995513"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995513"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لدورات متتالية، وتقارير إعادة الاختبار</a:t>
            </a:r>
          </a:p>
        </p:txBody>
      </p:sp>
      <p:sp>
        <p:nvSpPr>
          <p:cNvPr id="31" name="Rule 30"/>
          <p:cNvSpPr/>
          <p:nvPr/>
        </p:nvSpPr>
        <p:spPr>
          <a:xfrm>
            <a:off x="3808313" y="2857302"/>
            <a:ext cx="3444974" cy="6350"/>
          </a:xfrm>
          <a:prstGeom prst="rect">
            <a:avLst/>
          </a:prstGeom>
          <a:solidFill>
            <a:srgbClr val="DDD7CA"/>
          </a:solidFill>
          <a:ln>
            <a:noFill/>
          </a:ln>
        </p:spPr>
        <p:txBody>
          <a:bodyPr rtlCol="0" anchor="ctr"/>
          <a:lstStyle/>
          <a:p>
            <a:pPr algn="ctr"/>
          </a:p>
        </p:txBody>
      </p:sp>
      <p:sp>
        <p:nvSpPr>
          <p:cNvPr id="32" name="Text 31"/>
          <p:cNvSpPr txBox="1"/>
          <p:nvPr/>
        </p:nvSpPr>
        <p:spPr>
          <a:xfrm>
            <a:off x="3839584" y="2286349"/>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جدول دوري معتمد، وإعادة اختبار بعد المعالجة وبعد التغييرات الجوهرية</a:t>
            </a:r>
          </a:p>
        </p:txBody>
      </p:sp>
      <p:sp>
        <p:nvSpPr>
          <p:cNvPr id="33" name="Rule 32"/>
          <p:cNvSpPr/>
          <p:nvPr/>
        </p:nvSpPr>
        <p:spPr>
          <a:xfrm>
            <a:off x="7253288" y="2857302"/>
            <a:ext cx="2995612" cy="6350"/>
          </a:xfrm>
          <a:prstGeom prst="rect">
            <a:avLst/>
          </a:prstGeom>
          <a:solidFill>
            <a:srgbClr val="DDD7CA"/>
          </a:solidFill>
          <a:ln>
            <a:noFill/>
          </a:ln>
        </p:spPr>
        <p:txBody>
          <a:bodyPr rtlCol="0" anchor="ctr"/>
          <a:lstStyle/>
          <a:p>
            <a:pPr algn="ctr"/>
          </a:p>
        </p:txBody>
      </p:sp>
      <p:sp>
        <p:nvSpPr>
          <p:cNvPr id="34" name="Text 33"/>
          <p:cNvSpPr txBox="1"/>
          <p:nvPr/>
        </p:nvSpPr>
        <p:spPr>
          <a:xfrm>
            <a:off x="7278688" y="2286349"/>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إجراء الاختبارات دورياً</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2-11-3-2</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995513" cy="629841"/>
          </a:xfrm>
          <a:prstGeom prst="rect">
            <a:avLst/>
          </a:prstGeom>
          <a:solidFill>
            <a:srgbClr val="E1EAF4"/>
          </a:solidFill>
          <a:ln>
            <a:noFill/>
          </a:ln>
        </p:spPr>
        <p:txBody>
          <a:bodyPr rtlCol="0" anchor="ctr"/>
          <a:lstStyle/>
          <a:p>
            <a:pPr algn="ctr"/>
          </a:p>
        </p:txBody>
      </p:sp>
      <p:sp>
        <p:nvSpPr>
          <p:cNvPr id="39" name="Rule 38"/>
          <p:cNvSpPr/>
          <p:nvPr/>
        </p:nvSpPr>
        <p:spPr>
          <a:xfrm>
            <a:off x="812800" y="3487142"/>
            <a:ext cx="2995513"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293782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41" name="Rule 40"/>
          <p:cNvSpPr/>
          <p:nvPr/>
        </p:nvSpPr>
        <p:spPr>
          <a:xfrm>
            <a:off x="3808313" y="3487142"/>
            <a:ext cx="3444974" cy="6350"/>
          </a:xfrm>
          <a:prstGeom prst="rect">
            <a:avLst/>
          </a:prstGeom>
          <a:solidFill>
            <a:srgbClr val="DDD7CA"/>
          </a:solidFill>
          <a:ln>
            <a:noFill/>
          </a:ln>
        </p:spPr>
        <p:txBody>
          <a:bodyPr rtlCol="0" anchor="ctr"/>
          <a:lstStyle/>
          <a:p>
            <a:pPr algn="ctr"/>
          </a:p>
        </p:txBody>
      </p:sp>
      <p:sp>
        <p:nvSpPr>
          <p:cNvPr id="42" name="Text 41"/>
          <p:cNvSpPr txBox="1"/>
          <p:nvPr/>
        </p:nvSpPr>
        <p:spPr>
          <a:xfrm>
            <a:off x="3833713" y="2937820"/>
            <a:ext cx="329257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النطاق والتكرار ونسب إغلاق النتائج</a:t>
            </a:r>
          </a:p>
        </p:txBody>
      </p:sp>
      <p:sp>
        <p:nvSpPr>
          <p:cNvPr id="43" name="Rule 42"/>
          <p:cNvSpPr/>
          <p:nvPr/>
        </p:nvSpPr>
        <p:spPr>
          <a:xfrm>
            <a:off x="7253288" y="3487142"/>
            <a:ext cx="2995612" cy="6350"/>
          </a:xfrm>
          <a:prstGeom prst="rect">
            <a:avLst/>
          </a:prstGeom>
          <a:solidFill>
            <a:srgbClr val="DDD7CA"/>
          </a:solidFill>
          <a:ln>
            <a:noFill/>
          </a:ln>
        </p:spPr>
        <p:txBody>
          <a:bodyPr rtlCol="0" anchor="ctr"/>
          <a:lstStyle/>
          <a:p>
            <a:pPr algn="ctr"/>
          </a:p>
        </p:txBody>
      </p:sp>
      <p:sp>
        <p:nvSpPr>
          <p:cNvPr id="44" name="Text 43"/>
          <p:cNvSpPr txBox="1"/>
          <p:nvPr/>
        </p:nvSpPr>
        <p:spPr>
          <a:xfrm>
            <a:off x="7278688" y="293782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45" name="Rule 44"/>
          <p:cNvSpPr/>
          <p:nvPr/>
        </p:nvSpPr>
        <p:spPr>
          <a:xfrm>
            <a:off x="10248900" y="348714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2-11-4</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48" name="Box 4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49" name="Box 4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50" name="Icon Warning 49" descr="icon032.png"/>
          <p:cNvPicPr>
            <a:picLocks noChangeAspect="1"/>
          </p:cNvPicPr>
          <p:nvPr/>
        </p:nvPicPr>
        <p:blipFill>
          <a:blip r:embed="rId3"/>
          <a:stretch>
            <a:fillRect/>
          </a:stretch>
        </p:blipFill>
        <p:spPr>
          <a:xfrm>
            <a:off x="10864850" y="5329932"/>
            <a:ext cx="215900" cy="215900"/>
          </a:xfrm>
          <a:prstGeom prst="rect">
            <a:avLst/>
          </a:prstGeom>
        </p:spPr>
      </p:pic>
      <p:sp>
        <p:nvSpPr>
          <p:cNvPr id="51" name="Text 5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خطأ شائع</a:t>
            </a:r>
          </a:p>
        </p:txBody>
      </p:sp>
      <p:sp>
        <p:nvSpPr>
          <p:cNvPr id="52" name="Text 5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نطاق أضيق من الواقع: اختبار الموقع الرئيسي وإغفال تطبيق الجوال أو بوابة الدخول عن بعد. ابدأ من فحص خارجي يكشف كل ما هو مكشوف فعلاً.</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8" name="Box 5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9" name="Box 58"/>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849644" y="812800"/>
            <a:ext cx="1529556"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‎2-11‎ · اختبار الاختراق</a:t>
            </a:r>
          </a:p>
        </p:txBody>
      </p:sp>
      <p:sp>
        <p:nvSpPr>
          <p:cNvPr id="4" name="Text 3"/>
          <p:cNvSpPr txBox="1"/>
          <p:nvPr/>
        </p:nvSpPr>
        <p:spPr>
          <a:xfrm>
            <a:off x="832645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فحص المنافذ المكشوفة للإنترنت</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51143"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2-11-3-1</a:t>
            </a:r>
          </a:p>
        </p:txBody>
      </p:sp>
      <p:sp>
        <p:nvSpPr>
          <p:cNvPr id="23" name="Text box 22"/>
          <p:cNvSpPr/>
          <p:nvPr/>
        </p:nvSpPr>
        <p:spPr>
          <a:xfrm>
            <a:off x="7561163" y="1852811"/>
            <a:ext cx="72648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2-11-2</a:t>
            </a:r>
          </a:p>
        </p:txBody>
      </p:sp>
      <p:sp>
        <p:nvSpPr>
          <p:cNvPr id="24" name="Text box 23"/>
          <p:cNvSpPr/>
          <p:nvPr/>
        </p:nvSpPr>
        <p:spPr>
          <a:xfrm>
            <a:off x="10561241" y="2190552"/>
            <a:ext cx="817959"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2-5-3-5</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أمر الفحص والعنوان المفحوص في أعلى الأداة.</a:t>
            </a:r>
          </a:p>
        </p:txBody>
      </p:sp>
      <p:sp>
        <p:nvSpPr>
          <p:cNvPr id="29" name="Box 28"/>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المنافذ المفتوحة والخدمة التي تعمل على كل منفذ.</a:t>
            </a:r>
          </a:p>
        </p:txBody>
      </p:sp>
      <p:sp>
        <p:nvSpPr>
          <p:cNvPr id="32" name="Box 31"/>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فحص كهذا يساعد في حصر ما هو مكشوف قبل تحديد نطاق الاختبار.</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نطاق الاختبار يشمل كل ما كشفه الفحص الخارجي.</a:t>
            </a:r>
          </a:p>
        </p:txBody>
      </p:sp>
      <p:pic>
        <p:nvPicPr>
          <p:cNvPr id="39" name="Icon CheckCircle 38" descr="icon043.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خطاب تفويض وقواعد اشتباك موقعة قبل الاختبار.</a:t>
            </a:r>
          </a:p>
        </p:txBody>
      </p:sp>
      <p:pic>
        <p:nvPicPr>
          <p:cNvPr id="41" name="Icon CheckCircle 40" descr="icon043.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تقرير الاختبار مع خطة معالجة وإعادة اختبار.</a:t>
            </a:r>
          </a:p>
        </p:txBody>
      </p:sp>
      <p:sp>
        <p:nvSpPr>
          <p:cNvPr id="43" name="Box 42"/>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23483"/>
            <a:ext cx="190500" cy="190500"/>
          </a:xfrm>
          <a:prstGeom prst="rect">
            <a:avLst/>
          </a:prstGeom>
        </p:spPr>
      </p:pic>
      <p:sp>
        <p:nvSpPr>
          <p:cNvPr id="45" name="Text 44"/>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صورة توضيحية لفحص منافذ: جزء من حصر النطاق، ولا تثبت تنفيذ اختبار اختراق ولا معالجة نتائجه.</a:t>
            </a:r>
          </a:p>
        </p:txBody>
      </p:sp>
      <p:sp>
        <p:nvSpPr>
          <p:cNvPr id="46" name="Box 45"/>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7" name="Picture 46" descr="port-scan-zoom.png"/>
          <p:cNvPicPr>
            <a:picLocks noChangeAspect="1"/>
          </p:cNvPicPr>
          <p:nvPr/>
        </p:nvPicPr>
        <p:blipFill>
          <a:blip r:embed="rId5"/>
          <a:stretch>
            <a:fillRect/>
          </a:stretch>
        </p:blipFill>
        <p:spPr>
          <a:xfrm>
            <a:off x="1194619" y="1954411"/>
            <a:ext cx="4748161" cy="3098800"/>
          </a:xfrm>
          <a:prstGeom prst="rect">
            <a:avLst/>
          </a:prstGeom>
        </p:spPr>
      </p:pic>
      <p:sp>
        <p:nvSpPr>
          <p:cNvPr id="48" name="Text 47"/>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Am088 · Zenmap · مقطع مكبّر · ‎GPL-2.0‎+ · المصدر: Wikimedia Commons</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5" name="Box 54"/>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4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‎2-12‎ إدارة سجلات الأحداث ومراقبة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جمع السجلات وتحليلها ومراقبتها في الوقت المناسب، للاكتشاف الاستباقي للهجمات وإدارتها بفعالية.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المهاجم داخل الشبكة أسابيع دون أن يلاحظه أحد، وحين تقع الحادثة لا توجد سجلات تكشف ما حدث.</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كاميرات المراقبة مع حارس يشاهدها: الكاميرا وحدها تسجل، والحارس هو من يكتشف ويتصرف.</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تسجيل ما يحدث في الأنظمة المهمة، وجمعه في منصة مركزية تراقبه باستمرار وتنبه عند المشبوه، والاحتفاظ بالسجلات 12 شهراً على الأقل.</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SIEM</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منصة جمع السجلات وتحليلها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حالة الاستخدام</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قاعدة تحوّل السجلات إلى تنبيه</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مدة الاحتفاظ</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12 شهراً على الأقل</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064302" y="812800"/>
            <a:ext cx="33148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‎2-12‎ · إدارة سجلات الأحداث ومراقبة الأمن السيبراني</a:t>
            </a:r>
          </a:p>
        </p:txBody>
      </p:sp>
      <p:sp>
        <p:nvSpPr>
          <p:cNvPr id="4" name="Text 3"/>
          <p:cNvSpPr txBox="1"/>
          <p:nvPr/>
        </p:nvSpPr>
        <p:spPr>
          <a:xfrm>
            <a:off x="654111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السجلات والمراقبة: المتطلبات والأصول الحساسة</a:t>
            </a:r>
          </a:p>
        </p:txBody>
      </p:sp>
      <p:sp>
        <p:nvSpPr>
          <p:cNvPr id="20" name="Rule 19"/>
          <p:cNvSpPr/>
          <p:nvPr/>
        </p:nvSpPr>
        <p:spPr>
          <a:xfrm>
            <a:off x="812800" y="2193131"/>
            <a:ext cx="2995513"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4311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08313" y="2193131"/>
            <a:ext cx="3444974" cy="19050"/>
          </a:xfrm>
          <a:prstGeom prst="rect">
            <a:avLst/>
          </a:prstGeom>
          <a:solidFill>
            <a:srgbClr val="1D5B9E"/>
          </a:solidFill>
          <a:ln>
            <a:noFill/>
          </a:ln>
        </p:spPr>
        <p:txBody>
          <a:bodyPr rtlCol="0" anchor="ctr"/>
          <a:lstStyle/>
          <a:p>
            <a:pPr algn="ctr"/>
          </a:p>
        </p:txBody>
      </p:sp>
      <p:sp>
        <p:nvSpPr>
          <p:cNvPr id="23" name="Text 22"/>
          <p:cNvSpPr txBox="1"/>
          <p:nvPr/>
        </p:nvSpPr>
        <p:spPr>
          <a:xfrm>
            <a:off x="3833713" y="1892689"/>
            <a:ext cx="329257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253288" y="2193131"/>
            <a:ext cx="2995612" cy="19050"/>
          </a:xfrm>
          <a:prstGeom prst="rect">
            <a:avLst/>
          </a:prstGeom>
          <a:solidFill>
            <a:srgbClr val="1D5B9E"/>
          </a:solidFill>
          <a:ln>
            <a:noFill/>
          </a:ln>
        </p:spPr>
        <p:txBody>
          <a:bodyPr rtlCol="0" anchor="ctr"/>
          <a:lstStyle/>
          <a:p>
            <a:pPr algn="ctr"/>
          </a:p>
        </p:txBody>
      </p:sp>
      <p:sp>
        <p:nvSpPr>
          <p:cNvPr id="25" name="Text 24"/>
          <p:cNvSpPr txBox="1"/>
          <p:nvPr/>
        </p:nvSpPr>
        <p:spPr>
          <a:xfrm>
            <a:off x="7278688" y="1892689"/>
            <a:ext cx="28432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995513"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995513"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08313" y="2857302"/>
            <a:ext cx="3444974" cy="6350"/>
          </a:xfrm>
          <a:prstGeom prst="rect">
            <a:avLst/>
          </a:prstGeom>
          <a:solidFill>
            <a:srgbClr val="DDD7CA"/>
          </a:solidFill>
          <a:ln>
            <a:noFill/>
          </a:ln>
        </p:spPr>
        <p:txBody>
          <a:bodyPr rtlCol="0" anchor="ctr"/>
          <a:lstStyle/>
          <a:p>
            <a:pPr algn="ctr"/>
          </a:p>
        </p:txBody>
      </p:sp>
      <p:sp>
        <p:nvSpPr>
          <p:cNvPr id="32" name="Text 31"/>
          <p:cNvSpPr txBox="1"/>
          <p:nvPr/>
        </p:nvSpPr>
        <p:spPr>
          <a:xfrm>
            <a:off x="3839584" y="2286349"/>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مصادر السجلات وحالات الاستخدام ومدد الاحتفاظ والأدوار</a:t>
            </a:r>
          </a:p>
        </p:txBody>
      </p:sp>
      <p:sp>
        <p:nvSpPr>
          <p:cNvPr id="33" name="Rule 32"/>
          <p:cNvSpPr/>
          <p:nvPr/>
        </p:nvSpPr>
        <p:spPr>
          <a:xfrm>
            <a:off x="7253288" y="2857302"/>
            <a:ext cx="2995612" cy="6350"/>
          </a:xfrm>
          <a:prstGeom prst="rect">
            <a:avLst/>
          </a:prstGeom>
          <a:solidFill>
            <a:srgbClr val="DDD7CA"/>
          </a:solidFill>
          <a:ln>
            <a:noFill/>
          </a:ln>
        </p:spPr>
        <p:txBody>
          <a:bodyPr rtlCol="0" anchor="ctr"/>
          <a:lstStyle/>
          <a:p>
            <a:pPr algn="ctr"/>
          </a:p>
        </p:txBody>
      </p:sp>
      <p:sp>
        <p:nvSpPr>
          <p:cNvPr id="34" name="Text 33"/>
          <p:cNvSpPr txBox="1"/>
          <p:nvPr/>
        </p:nvSpPr>
        <p:spPr>
          <a:xfrm>
            <a:off x="7278688" y="2286349"/>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2-12-1</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2863652"/>
            <a:ext cx="2995513"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995513" cy="6350"/>
          </a:xfrm>
          <a:prstGeom prst="rect">
            <a:avLst/>
          </a:prstGeom>
          <a:solidFill>
            <a:srgbClr val="DDD7CA"/>
          </a:solidFill>
          <a:ln>
            <a:noFill/>
          </a:ln>
        </p:spPr>
        <p:txBody>
          <a:bodyPr rtlCol="0" anchor="ctr"/>
          <a:lstStyle/>
          <a:p>
            <a:pPr algn="ctr"/>
          </a:p>
        </p:txBody>
      </p:sp>
      <p:sp>
        <p:nvSpPr>
          <p:cNvPr id="40" name="Text 39"/>
          <p:cNvSpPr txBox="1"/>
          <p:nvPr/>
        </p:nvSpPr>
        <p:spPr>
          <a:xfrm>
            <a:off x="857555" y="293782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المصادر المربوطة، وحالات الاستخدام المفعلة</a:t>
            </a:r>
          </a:p>
        </p:txBody>
      </p:sp>
      <p:sp>
        <p:nvSpPr>
          <p:cNvPr id="41" name="Rule 40"/>
          <p:cNvSpPr/>
          <p:nvPr/>
        </p:nvSpPr>
        <p:spPr>
          <a:xfrm>
            <a:off x="3808313" y="3508772"/>
            <a:ext cx="3444974" cy="6350"/>
          </a:xfrm>
          <a:prstGeom prst="rect">
            <a:avLst/>
          </a:prstGeom>
          <a:solidFill>
            <a:srgbClr val="DDD7CA"/>
          </a:solidFill>
          <a:ln>
            <a:noFill/>
          </a:ln>
        </p:spPr>
        <p:txBody>
          <a:bodyPr rtlCol="0" anchor="ctr"/>
          <a:lstStyle/>
          <a:p>
            <a:pPr algn="ctr"/>
          </a:p>
        </p:txBody>
      </p:sp>
      <p:sp>
        <p:nvSpPr>
          <p:cNvPr id="42" name="Text 41"/>
          <p:cNvSpPr txBox="1"/>
          <p:nvPr/>
        </p:nvSpPr>
        <p:spPr>
          <a:xfrm>
            <a:off x="3839584" y="293782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منصة مركزية لإدارة الأحداث، ومراقبة من مركز عمليات داخلي أو مُدار</a:t>
            </a:r>
          </a:p>
        </p:txBody>
      </p:sp>
      <p:sp>
        <p:nvSpPr>
          <p:cNvPr id="43" name="Rule 42"/>
          <p:cNvSpPr/>
          <p:nvPr/>
        </p:nvSpPr>
        <p:spPr>
          <a:xfrm>
            <a:off x="7253288" y="3508772"/>
            <a:ext cx="2995612" cy="6350"/>
          </a:xfrm>
          <a:prstGeom prst="rect">
            <a:avLst/>
          </a:prstGeom>
          <a:solidFill>
            <a:srgbClr val="DDD7CA"/>
          </a:solidFill>
          <a:ln>
            <a:noFill/>
          </a:ln>
        </p:spPr>
        <p:txBody>
          <a:bodyPr rtlCol="0" anchor="ctr"/>
          <a:lstStyle/>
          <a:p>
            <a:pPr algn="ctr"/>
          </a:p>
        </p:txBody>
      </p:sp>
      <p:sp>
        <p:nvSpPr>
          <p:cNvPr id="44" name="Text 43"/>
          <p:cNvSpPr txBox="1"/>
          <p:nvPr/>
        </p:nvSpPr>
        <p:spPr>
          <a:xfrm>
            <a:off x="7278688" y="293782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248900"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2-12-2</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515122"/>
            <a:ext cx="2995513"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2995513" cy="6350"/>
          </a:xfrm>
          <a:prstGeom prst="rect">
            <a:avLst/>
          </a:prstGeom>
          <a:solidFill>
            <a:srgbClr val="DDD7CA"/>
          </a:solidFill>
          <a:ln>
            <a:noFill/>
          </a:ln>
        </p:spPr>
        <p:txBody>
          <a:bodyPr rtlCol="0" anchor="ctr"/>
          <a:lstStyle/>
          <a:p>
            <a:pPr algn="ctr"/>
          </a:p>
        </p:txBody>
      </p:sp>
      <p:sp>
        <p:nvSpPr>
          <p:cNvPr id="50" name="Text 49"/>
          <p:cNvSpPr txBox="1"/>
          <p:nvPr/>
        </p:nvSpPr>
        <p:spPr>
          <a:xfrm>
            <a:off x="857555" y="358929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مطابقة الأصول الحساسة في السجل مع المصادر المربوطة بالمنصة</a:t>
            </a:r>
          </a:p>
        </p:txBody>
      </p:sp>
      <p:sp>
        <p:nvSpPr>
          <p:cNvPr id="51" name="Rule 50"/>
          <p:cNvSpPr/>
          <p:nvPr/>
        </p:nvSpPr>
        <p:spPr>
          <a:xfrm>
            <a:off x="3808313" y="4160242"/>
            <a:ext cx="3444974" cy="6350"/>
          </a:xfrm>
          <a:prstGeom prst="rect">
            <a:avLst/>
          </a:prstGeom>
          <a:solidFill>
            <a:srgbClr val="DDD7CA"/>
          </a:solidFill>
          <a:ln>
            <a:noFill/>
          </a:ln>
        </p:spPr>
        <p:txBody>
          <a:bodyPr rtlCol="0" anchor="ctr"/>
          <a:lstStyle/>
          <a:p>
            <a:pPr algn="ctr"/>
          </a:p>
        </p:txBody>
      </p:sp>
      <p:sp>
        <p:nvSpPr>
          <p:cNvPr id="52" name="Text 51"/>
          <p:cNvSpPr txBox="1"/>
          <p:nvPr/>
        </p:nvSpPr>
        <p:spPr>
          <a:xfrm>
            <a:off x="3839584" y="358929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تفعيل السجلات على كل أصل حساس وربطها بالمنصة، ومراقبة انقطاع أي مصدر</a:t>
            </a:r>
          </a:p>
        </p:txBody>
      </p:sp>
      <p:sp>
        <p:nvSpPr>
          <p:cNvPr id="53" name="Rule 52"/>
          <p:cNvSpPr/>
          <p:nvPr/>
        </p:nvSpPr>
        <p:spPr>
          <a:xfrm>
            <a:off x="7253288" y="4160242"/>
            <a:ext cx="2995612" cy="6350"/>
          </a:xfrm>
          <a:prstGeom prst="rect">
            <a:avLst/>
          </a:prstGeom>
          <a:solidFill>
            <a:srgbClr val="DDD7CA"/>
          </a:solidFill>
          <a:ln>
            <a:noFill/>
          </a:ln>
        </p:spPr>
        <p:txBody>
          <a:bodyPr rtlCol="0" anchor="ctr"/>
          <a:lstStyle/>
          <a:p>
            <a:pPr algn="ctr"/>
          </a:p>
        </p:txBody>
      </p:sp>
      <p:sp>
        <p:nvSpPr>
          <p:cNvPr id="54" name="Text 53"/>
          <p:cNvSpPr txBox="1"/>
          <p:nvPr/>
        </p:nvSpPr>
        <p:spPr>
          <a:xfrm>
            <a:off x="7298039" y="3589290"/>
            <a:ext cx="282386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تفعيل سجلات الأحداث للأصول المعلوماتية الحساسة</a:t>
            </a:r>
          </a:p>
        </p:txBody>
      </p:sp>
      <p:sp>
        <p:nvSpPr>
          <p:cNvPr id="55" name="Rule 54"/>
          <p:cNvSpPr/>
          <p:nvPr/>
        </p:nvSpPr>
        <p:spPr>
          <a:xfrm>
            <a:off x="10248900" y="416024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840"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2-12-3-1</a:t>
            </a:r>
          </a:p>
        </p:txBody>
      </p:sp>
      <p:sp>
        <p:nvSpPr>
          <p:cNvPr id="57" name="Text 56"/>
          <p:cNvSpPr txBox="1"/>
          <p:nvPr/>
        </p:nvSpPr>
        <p:spPr>
          <a:xfrm>
            <a:off x="10284460"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166592"/>
            <a:ext cx="2995513" cy="651470"/>
          </a:xfrm>
          <a:prstGeom prst="rect">
            <a:avLst/>
          </a:prstGeom>
          <a:solidFill>
            <a:srgbClr val="E1EAF4"/>
          </a:solidFill>
          <a:ln>
            <a:noFill/>
          </a:ln>
        </p:spPr>
        <p:txBody>
          <a:bodyPr rtlCol="0" anchor="ctr"/>
          <a:lstStyle/>
          <a:p>
            <a:pPr algn="ctr"/>
          </a:p>
        </p:txBody>
      </p:sp>
      <p:sp>
        <p:nvSpPr>
          <p:cNvPr id="59" name="Rule 58"/>
          <p:cNvSpPr/>
          <p:nvPr/>
        </p:nvSpPr>
        <p:spPr>
          <a:xfrm>
            <a:off x="812800" y="4811712"/>
            <a:ext cx="2995513"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24076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ومؤشراته</a:t>
            </a:r>
          </a:p>
        </p:txBody>
      </p:sp>
      <p:sp>
        <p:nvSpPr>
          <p:cNvPr id="61" name="Rule 60"/>
          <p:cNvSpPr/>
          <p:nvPr/>
        </p:nvSpPr>
        <p:spPr>
          <a:xfrm>
            <a:off x="3808313" y="4811712"/>
            <a:ext cx="3444974" cy="6350"/>
          </a:xfrm>
          <a:prstGeom prst="rect">
            <a:avLst/>
          </a:prstGeom>
          <a:solidFill>
            <a:srgbClr val="DDD7CA"/>
          </a:solidFill>
          <a:ln>
            <a:noFill/>
          </a:ln>
        </p:spPr>
        <p:txBody>
          <a:bodyPr rtlCol="0" anchor="ctr"/>
          <a:lstStyle/>
          <a:p>
            <a:pPr algn="ctr"/>
          </a:p>
        </p:txBody>
      </p:sp>
      <p:sp>
        <p:nvSpPr>
          <p:cNvPr id="62" name="Text 61"/>
          <p:cNvSpPr txBox="1"/>
          <p:nvPr/>
        </p:nvSpPr>
        <p:spPr>
          <a:xfrm>
            <a:off x="3839584" y="424076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التغطية وحالات الاستخدام وزمن الاستجابة للتنبيهات</a:t>
            </a:r>
          </a:p>
        </p:txBody>
      </p:sp>
      <p:sp>
        <p:nvSpPr>
          <p:cNvPr id="63" name="Rule 62"/>
          <p:cNvSpPr/>
          <p:nvPr/>
        </p:nvSpPr>
        <p:spPr>
          <a:xfrm>
            <a:off x="7253288" y="4811712"/>
            <a:ext cx="2995612" cy="6350"/>
          </a:xfrm>
          <a:prstGeom prst="rect">
            <a:avLst/>
          </a:prstGeom>
          <a:solidFill>
            <a:srgbClr val="DDD7CA"/>
          </a:solidFill>
          <a:ln>
            <a:noFill/>
          </a:ln>
        </p:spPr>
        <p:txBody>
          <a:bodyPr rtlCol="0" anchor="ctr"/>
          <a:lstStyle/>
          <a:p>
            <a:pPr algn="ctr"/>
          </a:p>
        </p:txBody>
      </p:sp>
      <p:sp>
        <p:nvSpPr>
          <p:cNvPr id="64" name="Text 63"/>
          <p:cNvSpPr txBox="1"/>
          <p:nvPr/>
        </p:nvSpPr>
        <p:spPr>
          <a:xfrm>
            <a:off x="7278688" y="424076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248900" y="4811712"/>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840" y="425746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2-12-4</a:t>
            </a:r>
          </a:p>
        </p:txBody>
      </p:sp>
      <p:sp>
        <p:nvSpPr>
          <p:cNvPr id="67" name="Text 66"/>
          <p:cNvSpPr txBox="1"/>
          <p:nvPr/>
        </p:nvSpPr>
        <p:spPr>
          <a:xfrm>
            <a:off x="10284460" y="446299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064302" y="812800"/>
            <a:ext cx="33148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‎2-12‎ · إدارة سجلات الأحداث ومراقبة الأمن السيبراني</a:t>
            </a:r>
          </a:p>
        </p:txBody>
      </p:sp>
      <p:sp>
        <p:nvSpPr>
          <p:cNvPr id="4" name="Text 3"/>
          <p:cNvSpPr txBox="1"/>
          <p:nvPr/>
        </p:nvSpPr>
        <p:spPr>
          <a:xfrm>
            <a:off x="654111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الحسابات المميزة والمراقبة والاحتفاظ</a:t>
            </a:r>
          </a:p>
        </p:txBody>
      </p:sp>
      <p:sp>
        <p:nvSpPr>
          <p:cNvPr id="20" name="Rule 19"/>
          <p:cNvSpPr/>
          <p:nvPr/>
        </p:nvSpPr>
        <p:spPr>
          <a:xfrm>
            <a:off x="812800" y="2193131"/>
            <a:ext cx="2995513"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4311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08313" y="2193131"/>
            <a:ext cx="3444974" cy="19050"/>
          </a:xfrm>
          <a:prstGeom prst="rect">
            <a:avLst/>
          </a:prstGeom>
          <a:solidFill>
            <a:srgbClr val="1D5B9E"/>
          </a:solidFill>
          <a:ln>
            <a:noFill/>
          </a:ln>
        </p:spPr>
        <p:txBody>
          <a:bodyPr rtlCol="0" anchor="ctr"/>
          <a:lstStyle/>
          <a:p>
            <a:pPr algn="ctr"/>
          </a:p>
        </p:txBody>
      </p:sp>
      <p:sp>
        <p:nvSpPr>
          <p:cNvPr id="23" name="Text 22"/>
          <p:cNvSpPr txBox="1"/>
          <p:nvPr/>
        </p:nvSpPr>
        <p:spPr>
          <a:xfrm>
            <a:off x="3833713" y="1892689"/>
            <a:ext cx="329257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253288" y="2193131"/>
            <a:ext cx="2995612" cy="19050"/>
          </a:xfrm>
          <a:prstGeom prst="rect">
            <a:avLst/>
          </a:prstGeom>
          <a:solidFill>
            <a:srgbClr val="1D5B9E"/>
          </a:solidFill>
          <a:ln>
            <a:noFill/>
          </a:ln>
        </p:spPr>
        <p:txBody>
          <a:bodyPr rtlCol="0" anchor="ctr"/>
          <a:lstStyle/>
          <a:p>
            <a:pPr algn="ctr"/>
          </a:p>
        </p:txBody>
      </p:sp>
      <p:sp>
        <p:nvSpPr>
          <p:cNvPr id="25" name="Text 24"/>
          <p:cNvSpPr txBox="1"/>
          <p:nvPr/>
        </p:nvSpPr>
        <p:spPr>
          <a:xfrm>
            <a:off x="7278688" y="1892689"/>
            <a:ext cx="28432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995513"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995513" cy="6350"/>
          </a:xfrm>
          <a:prstGeom prst="rect">
            <a:avLst/>
          </a:prstGeom>
          <a:solidFill>
            <a:srgbClr val="DDD7CA"/>
          </a:solidFill>
          <a:ln>
            <a:noFill/>
          </a:ln>
        </p:spPr>
        <p:txBody>
          <a:bodyPr rtlCol="0" anchor="ctr"/>
          <a:lstStyle/>
          <a:p>
            <a:pPr algn="ctr"/>
          </a:p>
        </p:txBody>
      </p:sp>
      <p:sp>
        <p:nvSpPr>
          <p:cNvPr id="30" name="Text 29"/>
          <p:cNvSpPr txBox="1"/>
          <p:nvPr/>
        </p:nvSpPr>
        <p:spPr>
          <a:xfrm>
            <a:off x="857555" y="2286349"/>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أحداث لحسابات مميزة ودخول عن بعد ظاهرة في المنصة</a:t>
            </a:r>
          </a:p>
        </p:txBody>
      </p:sp>
      <p:sp>
        <p:nvSpPr>
          <p:cNvPr id="31" name="Rule 30"/>
          <p:cNvSpPr/>
          <p:nvPr/>
        </p:nvSpPr>
        <p:spPr>
          <a:xfrm>
            <a:off x="3808313" y="2857302"/>
            <a:ext cx="3444974" cy="6350"/>
          </a:xfrm>
          <a:prstGeom prst="rect">
            <a:avLst/>
          </a:prstGeom>
          <a:solidFill>
            <a:srgbClr val="DDD7CA"/>
          </a:solidFill>
          <a:ln>
            <a:noFill/>
          </a:ln>
        </p:spPr>
        <p:txBody>
          <a:bodyPr rtlCol="0" anchor="ctr"/>
          <a:lstStyle/>
          <a:p>
            <a:pPr algn="ctr"/>
          </a:p>
        </p:txBody>
      </p:sp>
      <p:sp>
        <p:nvSpPr>
          <p:cNvPr id="32" name="Text 31"/>
          <p:cNvSpPr txBox="1"/>
          <p:nvPr/>
        </p:nvSpPr>
        <p:spPr>
          <a:xfrm>
            <a:off x="3839584" y="2286349"/>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إرسال سجلات الدليل النشط وإدارة الصلاحيات والدخول عن بعد للمنصة، بحالات استخدام لها</a:t>
            </a:r>
          </a:p>
        </p:txBody>
      </p:sp>
      <p:sp>
        <p:nvSpPr>
          <p:cNvPr id="33" name="Rule 32"/>
          <p:cNvSpPr/>
          <p:nvPr/>
        </p:nvSpPr>
        <p:spPr>
          <a:xfrm>
            <a:off x="7253288" y="2857302"/>
            <a:ext cx="2995612" cy="6350"/>
          </a:xfrm>
          <a:prstGeom prst="rect">
            <a:avLst/>
          </a:prstGeom>
          <a:solidFill>
            <a:srgbClr val="DDD7CA"/>
          </a:solidFill>
          <a:ln>
            <a:noFill/>
          </a:ln>
        </p:spPr>
        <p:txBody>
          <a:bodyPr rtlCol="0" anchor="ctr"/>
          <a:lstStyle/>
          <a:p>
            <a:pPr algn="ctr"/>
          </a:p>
        </p:txBody>
      </p:sp>
      <p:sp>
        <p:nvSpPr>
          <p:cNvPr id="34" name="Text 33"/>
          <p:cNvSpPr txBox="1"/>
          <p:nvPr/>
        </p:nvSpPr>
        <p:spPr>
          <a:xfrm>
            <a:off x="7298039" y="2286349"/>
            <a:ext cx="282386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تفعيل السجلات للحسابات ذات الصلاحيات الهامة والحساسة، ولأحداث الدخول عن بعد</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2-12-3-2</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995513"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995513"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293782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المعمارية، وقائمة المصادر</a:t>
            </a:r>
          </a:p>
        </p:txBody>
      </p:sp>
      <p:sp>
        <p:nvSpPr>
          <p:cNvPr id="41" name="Rule 40"/>
          <p:cNvSpPr/>
          <p:nvPr/>
        </p:nvSpPr>
        <p:spPr>
          <a:xfrm>
            <a:off x="3808313" y="3508772"/>
            <a:ext cx="3444974" cy="6350"/>
          </a:xfrm>
          <a:prstGeom prst="rect">
            <a:avLst/>
          </a:prstGeom>
          <a:solidFill>
            <a:srgbClr val="DDD7CA"/>
          </a:solidFill>
          <a:ln>
            <a:noFill/>
          </a:ln>
        </p:spPr>
        <p:txBody>
          <a:bodyPr rtlCol="0" anchor="ctr"/>
          <a:lstStyle/>
          <a:p>
            <a:pPr algn="ctr"/>
          </a:p>
        </p:txBody>
      </p:sp>
      <p:sp>
        <p:nvSpPr>
          <p:cNvPr id="42" name="Text 41"/>
          <p:cNvSpPr txBox="1"/>
          <p:nvPr/>
        </p:nvSpPr>
        <p:spPr>
          <a:xfrm>
            <a:off x="3833713" y="2937820"/>
            <a:ext cx="329257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اختيار المنصة وتوثيق معمارية الجمع والتخزين</a:t>
            </a:r>
          </a:p>
        </p:txBody>
      </p:sp>
      <p:sp>
        <p:nvSpPr>
          <p:cNvPr id="43" name="Rule 42"/>
          <p:cNvSpPr/>
          <p:nvPr/>
        </p:nvSpPr>
        <p:spPr>
          <a:xfrm>
            <a:off x="7253288" y="3508772"/>
            <a:ext cx="2995612" cy="6350"/>
          </a:xfrm>
          <a:prstGeom prst="rect">
            <a:avLst/>
          </a:prstGeom>
          <a:solidFill>
            <a:srgbClr val="DDD7CA"/>
          </a:solidFill>
          <a:ln>
            <a:noFill/>
          </a:ln>
        </p:spPr>
        <p:txBody>
          <a:bodyPr rtlCol="0" anchor="ctr"/>
          <a:lstStyle/>
          <a:p>
            <a:pPr algn="ctr"/>
          </a:p>
        </p:txBody>
      </p:sp>
      <p:sp>
        <p:nvSpPr>
          <p:cNvPr id="44" name="Text 43"/>
          <p:cNvSpPr txBox="1"/>
          <p:nvPr/>
        </p:nvSpPr>
        <p:spPr>
          <a:xfrm>
            <a:off x="7298039" y="2937820"/>
            <a:ext cx="282386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تقنيات إدارة الأحداث (SIEM) اللازمة لجمع السجلات</a:t>
            </a:r>
          </a:p>
        </p:txBody>
      </p:sp>
      <p:sp>
        <p:nvSpPr>
          <p:cNvPr id="45" name="Rule 44"/>
          <p:cNvSpPr/>
          <p:nvPr/>
        </p:nvSpPr>
        <p:spPr>
          <a:xfrm>
            <a:off x="10248900"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2-12-3-3</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2995513"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2995513" cy="6350"/>
          </a:xfrm>
          <a:prstGeom prst="rect">
            <a:avLst/>
          </a:prstGeom>
          <a:solidFill>
            <a:srgbClr val="DDD7CA"/>
          </a:solidFill>
          <a:ln>
            <a:noFill/>
          </a:ln>
        </p:spPr>
        <p:txBody>
          <a:bodyPr rtlCol="0" anchor="ctr"/>
          <a:lstStyle/>
          <a:p>
            <a:pPr algn="ctr"/>
          </a:p>
        </p:txBody>
      </p:sp>
      <p:sp>
        <p:nvSpPr>
          <p:cNvPr id="50" name="Text 49"/>
          <p:cNvSpPr txBox="1"/>
          <p:nvPr/>
        </p:nvSpPr>
        <p:spPr>
          <a:xfrm>
            <a:off x="857555" y="358929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جداول المناوبة أو عقد الخدمة، وتذاكر تنبيهات معالجة لفترات مختلفة</a:t>
            </a:r>
          </a:p>
        </p:txBody>
      </p:sp>
      <p:sp>
        <p:nvSpPr>
          <p:cNvPr id="51" name="Rule 50"/>
          <p:cNvSpPr/>
          <p:nvPr/>
        </p:nvSpPr>
        <p:spPr>
          <a:xfrm>
            <a:off x="3808313" y="4160242"/>
            <a:ext cx="3444974" cy="6350"/>
          </a:xfrm>
          <a:prstGeom prst="rect">
            <a:avLst/>
          </a:prstGeom>
          <a:solidFill>
            <a:srgbClr val="DDD7CA"/>
          </a:solidFill>
          <a:ln>
            <a:noFill/>
          </a:ln>
        </p:spPr>
        <p:txBody>
          <a:bodyPr rtlCol="0" anchor="ctr"/>
          <a:lstStyle/>
          <a:p>
            <a:pPr algn="ctr"/>
          </a:p>
        </p:txBody>
      </p:sp>
      <p:sp>
        <p:nvSpPr>
          <p:cNvPr id="52" name="Text 51"/>
          <p:cNvSpPr txBox="1"/>
          <p:nvPr/>
        </p:nvSpPr>
        <p:spPr>
          <a:xfrm>
            <a:off x="3839584" y="358929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مراقبة مستمرة بتغطية تحددها السياسة، داخلياً أو عبر مركز مُدار داخل المملكة، مع فرز وتصعيد</a:t>
            </a:r>
          </a:p>
        </p:txBody>
      </p:sp>
      <p:sp>
        <p:nvSpPr>
          <p:cNvPr id="53" name="Rule 52"/>
          <p:cNvSpPr/>
          <p:nvPr/>
        </p:nvSpPr>
        <p:spPr>
          <a:xfrm>
            <a:off x="7253288" y="4160242"/>
            <a:ext cx="2995612" cy="6350"/>
          </a:xfrm>
          <a:prstGeom prst="rect">
            <a:avLst/>
          </a:prstGeom>
          <a:solidFill>
            <a:srgbClr val="DDD7CA"/>
          </a:solidFill>
          <a:ln>
            <a:noFill/>
          </a:ln>
        </p:spPr>
        <p:txBody>
          <a:bodyPr rtlCol="0" anchor="ctr"/>
          <a:lstStyle/>
          <a:p>
            <a:pPr algn="ctr"/>
          </a:p>
        </p:txBody>
      </p:sp>
      <p:sp>
        <p:nvSpPr>
          <p:cNvPr id="54" name="Text 53"/>
          <p:cNvSpPr txBox="1"/>
          <p:nvPr/>
        </p:nvSpPr>
        <p:spPr>
          <a:xfrm>
            <a:off x="7278688" y="358929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المراقبة المستمرة لسجلات الأحداث</a:t>
            </a:r>
          </a:p>
        </p:txBody>
      </p:sp>
      <p:sp>
        <p:nvSpPr>
          <p:cNvPr id="55" name="Rule 54"/>
          <p:cNvSpPr/>
          <p:nvPr/>
        </p:nvSpPr>
        <p:spPr>
          <a:xfrm>
            <a:off x="10248900" y="416024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840"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2-12-3-4</a:t>
            </a:r>
          </a:p>
        </p:txBody>
      </p:sp>
      <p:sp>
        <p:nvSpPr>
          <p:cNvPr id="57" name="Text 56"/>
          <p:cNvSpPr txBox="1"/>
          <p:nvPr/>
        </p:nvSpPr>
        <p:spPr>
          <a:xfrm>
            <a:off x="10284460"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166592"/>
            <a:ext cx="2995513" cy="835521"/>
          </a:xfrm>
          <a:prstGeom prst="rect">
            <a:avLst/>
          </a:prstGeom>
          <a:solidFill>
            <a:srgbClr val="E1EAF4"/>
          </a:solidFill>
          <a:ln>
            <a:noFill/>
          </a:ln>
        </p:spPr>
        <p:txBody>
          <a:bodyPr rtlCol="0" anchor="ctr"/>
          <a:lstStyle/>
          <a:p>
            <a:pPr algn="ctr"/>
          </a:p>
        </p:txBody>
      </p:sp>
      <p:sp>
        <p:nvSpPr>
          <p:cNvPr id="59" name="Rule 58"/>
          <p:cNvSpPr/>
          <p:nvPr/>
        </p:nvSpPr>
        <p:spPr>
          <a:xfrm>
            <a:off x="812800" y="4995763"/>
            <a:ext cx="2995513"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24076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 الاحتفاظ، وأقدم سجل متاح للاستعلام</a:t>
            </a:r>
          </a:p>
        </p:txBody>
      </p:sp>
      <p:sp>
        <p:nvSpPr>
          <p:cNvPr id="61" name="Rule 60"/>
          <p:cNvSpPr/>
          <p:nvPr/>
        </p:nvSpPr>
        <p:spPr>
          <a:xfrm>
            <a:off x="3808313" y="4995763"/>
            <a:ext cx="3444974" cy="6350"/>
          </a:xfrm>
          <a:prstGeom prst="rect">
            <a:avLst/>
          </a:prstGeom>
          <a:solidFill>
            <a:srgbClr val="DDD7CA"/>
          </a:solidFill>
          <a:ln>
            <a:noFill/>
          </a:ln>
        </p:spPr>
        <p:txBody>
          <a:bodyPr rtlCol="0" anchor="ctr"/>
          <a:lstStyle/>
          <a:p>
            <a:pPr algn="ctr"/>
          </a:p>
        </p:txBody>
      </p:sp>
      <p:sp>
        <p:nvSpPr>
          <p:cNvPr id="62" name="Text 61"/>
          <p:cNvSpPr txBox="1"/>
          <p:nvPr/>
        </p:nvSpPr>
        <p:spPr>
          <a:xfrm>
            <a:off x="3839584" y="424076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إعداد الاحتفاظ في المنصة أو الأرشيف، وتخطيط السعة اللازمة</a:t>
            </a:r>
          </a:p>
        </p:txBody>
      </p:sp>
      <p:sp>
        <p:nvSpPr>
          <p:cNvPr id="63" name="Rule 62"/>
          <p:cNvSpPr/>
          <p:nvPr/>
        </p:nvSpPr>
        <p:spPr>
          <a:xfrm>
            <a:off x="7253288" y="4995763"/>
            <a:ext cx="2995612" cy="6350"/>
          </a:xfrm>
          <a:prstGeom prst="rect">
            <a:avLst/>
          </a:prstGeom>
          <a:solidFill>
            <a:srgbClr val="DDD7CA"/>
          </a:solidFill>
          <a:ln>
            <a:noFill/>
          </a:ln>
        </p:spPr>
        <p:txBody>
          <a:bodyPr rtlCol="0" anchor="ctr"/>
          <a:lstStyle/>
          <a:p>
            <a:pPr algn="ctr"/>
          </a:p>
        </p:txBody>
      </p:sp>
      <p:sp>
        <p:nvSpPr>
          <p:cNvPr id="64" name="Text 63"/>
          <p:cNvSpPr txBox="1"/>
          <p:nvPr/>
        </p:nvSpPr>
        <p:spPr>
          <a:xfrm>
            <a:off x="7278688" y="424076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الاحتفاظ بالسجلات 12 شهراً على الأقل</a:t>
            </a:r>
          </a:p>
        </p:txBody>
      </p:sp>
      <p:sp>
        <p:nvSpPr>
          <p:cNvPr id="65" name="Rule 64"/>
          <p:cNvSpPr/>
          <p:nvPr/>
        </p:nvSpPr>
        <p:spPr>
          <a:xfrm>
            <a:off x="10248900" y="4995763"/>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840" y="425746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2-12-3-5</a:t>
            </a:r>
          </a:p>
        </p:txBody>
      </p:sp>
      <p:sp>
        <p:nvSpPr>
          <p:cNvPr id="67" name="Text 66"/>
          <p:cNvSpPr txBox="1"/>
          <p:nvPr/>
        </p:nvSpPr>
        <p:spPr>
          <a:xfrm>
            <a:off x="10337800" y="4462990"/>
            <a:ext cx="9144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 · مدة محددة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064302" y="812800"/>
            <a:ext cx="33148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‎2-12‎ · إدارة سجلات الأحداث ومراقبة الأمن السيبراني</a:t>
            </a:r>
          </a:p>
        </p:txBody>
      </p:sp>
      <p:sp>
        <p:nvSpPr>
          <p:cNvPr id="4" name="Text 3"/>
          <p:cNvSpPr txBox="1"/>
          <p:nvPr/>
        </p:nvSpPr>
        <p:spPr>
          <a:xfrm>
            <a:off x="654111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لوحة منصة المراقبة</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534003" y="1852811"/>
            <a:ext cx="72648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2-12-2</a:t>
            </a:r>
          </a:p>
        </p:txBody>
      </p:sp>
      <p:sp>
        <p:nvSpPr>
          <p:cNvPr id="23" name="Text box 22"/>
          <p:cNvSpPr/>
          <p:nvPr/>
        </p:nvSpPr>
        <p:spPr>
          <a:xfrm>
            <a:off x="7561163"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2-12-3-4</a:t>
            </a:r>
          </a:p>
        </p:txBody>
      </p:sp>
      <p:sp>
        <p:nvSpPr>
          <p:cNvPr id="24" name="Text box 23"/>
          <p:cNvSpPr/>
          <p:nvPr/>
        </p:nvSpPr>
        <p:spPr>
          <a:xfrm>
            <a:off x="10469860" y="2190552"/>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2-12-3-5</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مقطع مكبّر من لوحة منصة تجمع الأحداث من مصادر متعددة.</a:t>
            </a:r>
          </a:p>
        </p:txBody>
      </p:sp>
      <p:sp>
        <p:nvSpPr>
          <p:cNvPr id="29" name="Box 28"/>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توزيع التنبيهات حسب أساليب الهجوم في إطار MITRE ATT&amp;CK.</a:t>
            </a:r>
          </a:p>
        </p:txBody>
      </p:sp>
      <p:sp>
        <p:nvSpPr>
          <p:cNvPr id="32" name="Box 31"/>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اللوحة الكاملة تعرض أيضاً حجم التنبيهات عبر الزمن ولكل جهاز.</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المصادر المربوطة مقابل الأصول الحساسة.</a:t>
            </a:r>
          </a:p>
        </p:txBody>
      </p:sp>
      <p:pic>
        <p:nvPicPr>
          <p:cNvPr id="39" name="Icon CheckCircle 38" descr="icon043.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حالات استخدام مفعلة، وتذاكر معالجة لتنبيهات حقيقية.</a:t>
            </a:r>
          </a:p>
        </p:txBody>
      </p:sp>
      <p:pic>
        <p:nvPicPr>
          <p:cNvPr id="41" name="Icon CheckCircle 40" descr="icon043.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إعداد الاحتفاظ، وإمكانية الاستعلام عن حدث قبل 11 شهراً.</a:t>
            </a:r>
          </a:p>
        </p:txBody>
      </p:sp>
      <p:sp>
        <p:nvSpPr>
          <p:cNvPr id="43" name="Box 42"/>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23483"/>
            <a:ext cx="190500" cy="190500"/>
          </a:xfrm>
          <a:prstGeom prst="rect">
            <a:avLst/>
          </a:prstGeom>
        </p:spPr>
      </p:pic>
      <p:sp>
        <p:nvSpPr>
          <p:cNvPr id="45" name="Text 44"/>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لوحة توضيحية؛ لا تثبت ربط كل الأصول الحساسة، ولا الاحتفاظ 12 شهراً، ولا الاستجابة للتنبيهات.</a:t>
            </a:r>
          </a:p>
        </p:txBody>
      </p:sp>
      <p:sp>
        <p:nvSpPr>
          <p:cNvPr id="46" name="Box 45"/>
          <p:cNvSpPr/>
          <p:nvPr/>
        </p:nvSpPr>
        <p:spPr>
          <a:xfrm>
            <a:off x="812800" y="1852811"/>
            <a:ext cx="5511800" cy="3302000"/>
          </a:xfrm>
          <a:prstGeom prst="roundRect">
            <a:avLst>
              <a:gd name="adj" fmla="val 3461"/>
            </a:avLst>
          </a:prstGeom>
          <a:solidFill>
            <a:srgbClr val="0E1A2B"/>
          </a:solidFill>
          <a:ln>
            <a:noFill/>
          </a:ln>
        </p:spPr>
        <p:txBody>
          <a:bodyPr rtlCol="0" anchor="ctr"/>
          <a:lstStyle/>
          <a:p>
            <a:pPr algn="ctr"/>
          </a:p>
        </p:txBody>
      </p:sp>
      <p:pic>
        <p:nvPicPr>
          <p:cNvPr id="47" name="Picture 46" descr="siem-dashboard-zoom.png"/>
          <p:cNvPicPr>
            <a:picLocks noChangeAspect="1"/>
          </p:cNvPicPr>
          <p:nvPr/>
        </p:nvPicPr>
        <p:blipFill>
          <a:blip r:embed="rId5"/>
          <a:stretch>
            <a:fillRect/>
          </a:stretch>
        </p:blipFill>
        <p:spPr>
          <a:xfrm>
            <a:off x="1577827" y="1954411"/>
            <a:ext cx="3981746" cy="3098800"/>
          </a:xfrm>
          <a:prstGeom prst="rect">
            <a:avLst/>
          </a:prstGeom>
        </p:spPr>
      </p:pic>
      <p:sp>
        <p:nvSpPr>
          <p:cNvPr id="48" name="Text 47"/>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Wazuh, Inc. · مقطع مكبّر · ‎GPL-2.0‎+ · المصدر: GitHub · ‎wazuh/wazuh-documentation‎</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5" name="Box 54"/>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064302" y="812800"/>
            <a:ext cx="33148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‎2-12‎ · إدارة سجلات الأحداث ومراقبة الأمن السيبراني</a:t>
            </a:r>
          </a:p>
        </p:txBody>
      </p:sp>
      <p:sp>
        <p:nvSpPr>
          <p:cNvPr id="4" name="Text 3"/>
          <p:cNvSpPr txBox="1"/>
          <p:nvPr/>
        </p:nvSpPr>
        <p:spPr>
          <a:xfrm>
            <a:off x="6541111"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2</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تغطية مصادر السجلات</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114804"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2-12-3-1</a:t>
            </a:r>
          </a:p>
        </p:txBody>
      </p:sp>
      <p:sp>
        <p:nvSpPr>
          <p:cNvPr id="23" name="Text box 22"/>
          <p:cNvSpPr/>
          <p:nvPr/>
        </p:nvSpPr>
        <p:spPr>
          <a:xfrm>
            <a:off x="7141964"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2-12-3-2</a:t>
            </a:r>
          </a:p>
        </p:txBody>
      </p:sp>
      <p:sp>
        <p:nvSpPr>
          <p:cNvPr id="24" name="Text 23"/>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5" name="Box 24"/>
          <p:cNvSpPr/>
          <p:nvPr/>
        </p:nvSpPr>
        <p:spPr>
          <a:xfrm>
            <a:off x="11125200" y="2518172"/>
            <a:ext cx="254000" cy="254000"/>
          </a:xfrm>
          <a:prstGeom prst="roundRect">
            <a:avLst>
              <a:gd name="adj" fmla="val 50000"/>
            </a:avLst>
          </a:prstGeom>
          <a:solidFill>
            <a:srgbClr val="1D5B9E"/>
          </a:solidFill>
          <a:ln>
            <a:noFill/>
          </a:ln>
        </p:spPr>
        <p:txBody>
          <a:bodyPr rtlCol="0" anchor="ctr"/>
          <a:lstStyle/>
          <a:p>
            <a:pPr algn="ctr"/>
          </a:p>
        </p:txBody>
      </p:sp>
      <p:sp>
        <p:nvSpPr>
          <p:cNvPr id="26" name="Text 25"/>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7" name="Text 26"/>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أصل حساس، وهل سجلاته مربوطة بالمنصة.</a:t>
            </a:r>
          </a:p>
        </p:txBody>
      </p:sp>
      <p:sp>
        <p:nvSpPr>
          <p:cNvPr id="28" name="Box 27"/>
          <p:cNvSpPr/>
          <p:nvPr/>
        </p:nvSpPr>
        <p:spPr>
          <a:xfrm>
            <a:off x="11125200" y="2835672"/>
            <a:ext cx="254000" cy="254000"/>
          </a:xfrm>
          <a:prstGeom prst="roundRect">
            <a:avLst>
              <a:gd name="adj" fmla="val 50000"/>
            </a:avLst>
          </a:prstGeom>
          <a:solidFill>
            <a:srgbClr val="1D5B9E"/>
          </a:solidFill>
          <a:ln>
            <a:noFill/>
          </a:ln>
        </p:spPr>
        <p:txBody>
          <a:bodyPr rtlCol="0" anchor="ctr"/>
          <a:lstStyle/>
          <a:p>
            <a:pPr algn="ctr"/>
          </a:p>
        </p:txBody>
      </p:sp>
      <p:sp>
        <p:nvSpPr>
          <p:cNvPr id="29" name="Text 28"/>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0" name="Text 29"/>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وقت آخر حدث وصل من كل مصدر.</a:t>
            </a:r>
          </a:p>
        </p:txBody>
      </p:sp>
      <p:sp>
        <p:nvSpPr>
          <p:cNvPr id="31" name="Box 30"/>
          <p:cNvSpPr/>
          <p:nvPr/>
        </p:nvSpPr>
        <p:spPr>
          <a:xfrm>
            <a:off x="11125200" y="3153172"/>
            <a:ext cx="254000" cy="254000"/>
          </a:xfrm>
          <a:prstGeom prst="roundRect">
            <a:avLst>
              <a:gd name="adj" fmla="val 50000"/>
            </a:avLst>
          </a:prstGeom>
          <a:solidFill>
            <a:srgbClr val="1D5B9E"/>
          </a:solidFill>
          <a:ln>
            <a:noFill/>
          </a:ln>
        </p:spPr>
        <p:txBody>
          <a:bodyPr rtlCol="0" anchor="ctr"/>
          <a:lstStyle/>
          <a:p>
            <a:pPr algn="ctr"/>
          </a:p>
        </p:txBody>
      </p:sp>
      <p:sp>
        <p:nvSpPr>
          <p:cNvPr id="32" name="Text 31"/>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3" name="Text 32"/>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مصدر متوقف منذ شهرين دون أن ينتبه أحد، ومصدر لم يُربط.</a:t>
            </a:r>
          </a:p>
        </p:txBody>
      </p:sp>
      <p:sp>
        <p:nvSpPr>
          <p:cNvPr id="34" name="Rule 33"/>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5" name="Text 34"/>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6" name="Icon CheckCircle 35" descr="icon043.png"/>
          <p:cNvPicPr>
            <a:picLocks noChangeAspect="1"/>
          </p:cNvPicPr>
          <p:nvPr/>
        </p:nvPicPr>
        <p:blipFill>
          <a:blip r:embed="rId3"/>
          <a:stretch>
            <a:fillRect/>
          </a:stretch>
        </p:blipFill>
        <p:spPr>
          <a:xfrm>
            <a:off x="11150600" y="3880842"/>
            <a:ext cx="203200" cy="203200"/>
          </a:xfrm>
          <a:prstGeom prst="rect">
            <a:avLst/>
          </a:prstGeom>
        </p:spPr>
      </p:pic>
      <p:sp>
        <p:nvSpPr>
          <p:cNvPr id="37" name="Text 36"/>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قائمة الأصول الحساسة مأخوذة من سجل الأصول.</a:t>
            </a:r>
          </a:p>
        </p:txBody>
      </p:sp>
      <p:pic>
        <p:nvPicPr>
          <p:cNvPr id="38" name="Icon CheckCircle 37" descr="icon043.png"/>
          <p:cNvPicPr>
            <a:picLocks noChangeAspect="1"/>
          </p:cNvPicPr>
          <p:nvPr/>
        </p:nvPicPr>
        <p:blipFill>
          <a:blip r:embed="rId3"/>
          <a:stretch>
            <a:fillRect/>
          </a:stretch>
        </p:blipFill>
        <p:spPr>
          <a:xfrm>
            <a:off x="11150600" y="4185642"/>
            <a:ext cx="203200" cy="203200"/>
          </a:xfrm>
          <a:prstGeom prst="rect">
            <a:avLst/>
          </a:prstGeom>
        </p:spPr>
      </p:pic>
      <p:sp>
        <p:nvSpPr>
          <p:cNvPr id="39" name="Text 38"/>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تنبيهاً آلياً عند انقطاع أي مصدر.</a:t>
            </a:r>
          </a:p>
        </p:txBody>
      </p:sp>
      <p:pic>
        <p:nvPicPr>
          <p:cNvPr id="40" name="Icon CheckCircle 39" descr="icon043.png"/>
          <p:cNvPicPr>
            <a:picLocks noChangeAspect="1"/>
          </p:cNvPicPr>
          <p:nvPr/>
        </p:nvPicPr>
        <p:blipFill>
          <a:blip r:embed="rId3"/>
          <a:stretch>
            <a:fillRect/>
          </a:stretch>
        </p:blipFill>
        <p:spPr>
          <a:xfrm>
            <a:off x="11150600" y="4490442"/>
            <a:ext cx="203200" cy="203200"/>
          </a:xfrm>
          <a:prstGeom prst="rect">
            <a:avLst/>
          </a:prstGeom>
        </p:spPr>
      </p:pic>
      <p:sp>
        <p:nvSpPr>
          <p:cNvPr id="41" name="Text 40"/>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الحسابات المميزة والدخول عن بعد مشمولة كما ينص ‎2-12-3-2‎.</a:t>
            </a:r>
          </a:p>
        </p:txBody>
      </p:sp>
      <p:sp>
        <p:nvSpPr>
          <p:cNvPr id="42" name="Box 41"/>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3" name="Icon Warning 42" descr="icon028.png"/>
          <p:cNvPicPr>
            <a:picLocks noChangeAspect="1"/>
          </p:cNvPicPr>
          <p:nvPr/>
        </p:nvPicPr>
        <p:blipFill>
          <a:blip r:embed="rId4"/>
          <a:stretch>
            <a:fillRect/>
          </a:stretch>
        </p:blipFill>
        <p:spPr>
          <a:xfrm>
            <a:off x="11074400" y="5311180"/>
            <a:ext cx="190500" cy="190500"/>
          </a:xfrm>
          <a:prstGeom prst="rect">
            <a:avLst/>
          </a:prstGeom>
        </p:spPr>
      </p:pic>
      <p:sp>
        <p:nvSpPr>
          <p:cNvPr id="44" name="Text 43"/>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القائمة تثبت حالة الربط في تاريخها، ولا تثبت جودة الأحداث المرسلة ولا مراقبتها فعلياً.</a:t>
            </a:r>
          </a:p>
        </p:txBody>
      </p:sp>
      <p:sp>
        <p:nvSpPr>
          <p:cNvPr id="45" name="Box 44"/>
          <p:cNvSpPr/>
          <p:nvPr/>
        </p:nvSpPr>
        <p:spPr>
          <a:xfrm>
            <a:off x="815975" y="1855986"/>
            <a:ext cx="5556250" cy="2528689"/>
          </a:xfrm>
          <a:prstGeom prst="roundRect">
            <a:avLst>
              <a:gd name="adj" fmla="val 4007"/>
            </a:avLst>
          </a:prstGeom>
          <a:solidFill>
            <a:srgbClr val="FBFAF7"/>
          </a:solidFill>
          <a:ln w="6350">
            <a:solidFill>
              <a:srgbClr val="DDD7CA"/>
            </a:solidFill>
          </a:ln>
        </p:spPr>
        <p:txBody>
          <a:bodyPr rtlCol="0" anchor="ctr"/>
          <a:lstStyle/>
          <a:p>
            <a:pPr algn="ctr"/>
          </a:p>
        </p:txBody>
      </p:sp>
      <p:sp>
        <p:nvSpPr>
          <p:cNvPr id="46" name="Box 45"/>
          <p:cNvSpPr/>
          <p:nvPr/>
        </p:nvSpPr>
        <p:spPr>
          <a:xfrm>
            <a:off x="819150" y="1859161"/>
            <a:ext cx="55499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7" name="Box 46"/>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8" name="Box 47"/>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49" name="Box 48"/>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50" name="Text 49"/>
          <p:cNvSpPr txBox="1"/>
          <p:nvPr/>
        </p:nvSpPr>
        <p:spPr>
          <a:xfrm>
            <a:off x="2594451" y="1919359"/>
            <a:ext cx="3647599"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مطابقة الأصول الحساسة بمصادر السجلات · ‎2026-09-30‎</a:t>
            </a:r>
          </a:p>
        </p:txBody>
      </p:sp>
      <p:graphicFrame>
        <p:nvGraphicFramePr>
          <p:cNvPr id="51" name="Table 50"/>
          <p:cNvGraphicFramePr>
            <a:graphicFrameLocks noGrp="1"/>
          </p:cNvGraphicFramePr>
          <p:nvPr/>
        </p:nvGraphicFramePr>
        <p:xfrm>
          <a:off x="962025" y="2339777"/>
          <a:ext cx="5264150" cy="1911546"/>
        </p:xfrm>
        <a:graphic>
          <a:graphicData uri="http://schemas.openxmlformats.org/drawingml/2006/table">
            <a:tbl>
              <a:tblPr firstRow="0" bandRow="0" lastRow="0" firstCol="0" lastCol="0" bandCol="0">
                <a:tableStyleId>{2D5ABB26-0587-4C30-8999-92F81FD0307C}</a:tableStyleId>
              </a:tblPr>
              <a:tblGrid>
                <a:gridCol w="1894840"/>
                <a:gridCol w="1263650"/>
                <a:gridCol w="210566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آخر حدث مستلم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مربوط بالمنصة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المصدر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قبل دقيقتين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الدليل النشط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قبل 5 دقائق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بوابة الشبكة الافتراضية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متوقف منذ 63 يوماً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قاعدة بيانات الرواتب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قبل دقيقة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الجدار الناري الخارجي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لم يُربط بعد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نظام الصلاحيات المميزة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52" name="Text 51"/>
          <p:cNvSpPr txBox="1"/>
          <p:nvPr/>
        </p:nvSpPr>
        <p:spPr>
          <a:xfrm>
            <a:off x="367792" y="4453128"/>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8" name="Box 5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9" name="Box 58"/>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60" name="Box 5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5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‎2-13‎ إدارة حوادث وتهديدات الأمن السيبراني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اكتشاف الحوادث في الوقت المناسب وإدارتها بفعالية، والتعامل الاستباقي مع التهديدات، وفق الأمر السامي 37140.</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ارتباك وقت الهجوم: لا أحد يعرف من يقرر فصل الأنظمة، ويتأخر إبلاغ الهيئة فيتسع الضرر.</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خطة الإخلاء والإطفاء في المبنى: كل شخص يعرف دوره مسبقاً، ولا يُرتجل شيء وقت الحريق.</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الاستعداد للحوادث السيبرانية والتعامل معها: خطط استجابة، وتصنيف للحادثة، وتصعيد، وإبلاغ الهيئة، ومشاركة معلومات التهديدات.</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دليل الاستجابة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خطوات محددة لكل نوع حادثة</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التصعيد</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رفع الحادثة لمن يملك القرار</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تمرين المحاكاة</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اختبار الخطة على سيناريو افتراضي</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454926" y="812800"/>
            <a:ext cx="292427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‎2-13‎ · إدارة حوادث وتهديدات الأمن السيبراني</a:t>
            </a:r>
          </a:p>
        </p:txBody>
      </p:sp>
      <p:sp>
        <p:nvSpPr>
          <p:cNvPr id="4" name="Text 3"/>
          <p:cNvSpPr txBox="1"/>
          <p:nvPr/>
        </p:nvSpPr>
        <p:spPr>
          <a:xfrm>
            <a:off x="693173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الحوادث: المتطلبات والخطط والتصعيد</a:t>
            </a:r>
          </a:p>
        </p:txBody>
      </p:sp>
      <p:sp>
        <p:nvSpPr>
          <p:cNvPr id="20" name="Rule 19"/>
          <p:cNvSpPr/>
          <p:nvPr/>
        </p:nvSpPr>
        <p:spPr>
          <a:xfrm>
            <a:off x="812800" y="2193131"/>
            <a:ext cx="3145334"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9929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958134" y="2193131"/>
            <a:ext cx="3744516" cy="19050"/>
          </a:xfrm>
          <a:prstGeom prst="rect">
            <a:avLst/>
          </a:prstGeom>
          <a:solidFill>
            <a:srgbClr val="1D5B9E"/>
          </a:solidFill>
          <a:ln>
            <a:noFill/>
          </a:ln>
        </p:spPr>
        <p:txBody>
          <a:bodyPr rtlCol="0" anchor="ctr"/>
          <a:lstStyle/>
          <a:p>
            <a:pPr algn="ctr"/>
          </a:p>
        </p:txBody>
      </p:sp>
      <p:sp>
        <p:nvSpPr>
          <p:cNvPr id="23" name="Text 22"/>
          <p:cNvSpPr txBox="1"/>
          <p:nvPr/>
        </p:nvSpPr>
        <p:spPr>
          <a:xfrm>
            <a:off x="3983534" y="1892689"/>
            <a:ext cx="35921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702649" y="2193131"/>
            <a:ext cx="2546251" cy="19050"/>
          </a:xfrm>
          <a:prstGeom prst="rect">
            <a:avLst/>
          </a:prstGeom>
          <a:solidFill>
            <a:srgbClr val="1D5B9E"/>
          </a:solidFill>
          <a:ln>
            <a:noFill/>
          </a:ln>
        </p:spPr>
        <p:txBody>
          <a:bodyPr rtlCol="0" anchor="ctr"/>
          <a:lstStyle/>
          <a:p>
            <a:pPr algn="ctr"/>
          </a:p>
        </p:txBody>
      </p:sp>
      <p:sp>
        <p:nvSpPr>
          <p:cNvPr id="25" name="Text 24"/>
          <p:cNvSpPr txBox="1"/>
          <p:nvPr/>
        </p:nvSpPr>
        <p:spPr>
          <a:xfrm>
            <a:off x="7728049" y="1892689"/>
            <a:ext cx="2393851"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145334"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3145334"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99293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والإجراءات المعتمدة</a:t>
            </a:r>
          </a:p>
        </p:txBody>
      </p:sp>
      <p:sp>
        <p:nvSpPr>
          <p:cNvPr id="31" name="Rule 30"/>
          <p:cNvSpPr/>
          <p:nvPr/>
        </p:nvSpPr>
        <p:spPr>
          <a:xfrm>
            <a:off x="3958134" y="2857302"/>
            <a:ext cx="3744516" cy="6350"/>
          </a:xfrm>
          <a:prstGeom prst="rect">
            <a:avLst/>
          </a:prstGeom>
          <a:solidFill>
            <a:srgbClr val="DDD7CA"/>
          </a:solidFill>
          <a:ln>
            <a:noFill/>
          </a:ln>
        </p:spPr>
        <p:txBody>
          <a:bodyPr rtlCol="0" anchor="ctr"/>
          <a:lstStyle/>
          <a:p>
            <a:pPr algn="ctr"/>
          </a:p>
        </p:txBody>
      </p:sp>
      <p:sp>
        <p:nvSpPr>
          <p:cNvPr id="32" name="Text 31"/>
          <p:cNvSpPr txBox="1"/>
          <p:nvPr/>
        </p:nvSpPr>
        <p:spPr>
          <a:xfrm>
            <a:off x="3983534" y="2286349"/>
            <a:ext cx="359211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وإجراءات تغطي دورة الحادثة من الاكتشاف إلى الدروس المستفادة</a:t>
            </a:r>
          </a:p>
        </p:txBody>
      </p:sp>
      <p:sp>
        <p:nvSpPr>
          <p:cNvPr id="33" name="Rule 32"/>
          <p:cNvSpPr/>
          <p:nvPr/>
        </p:nvSpPr>
        <p:spPr>
          <a:xfrm>
            <a:off x="7702649" y="2857302"/>
            <a:ext cx="2546251" cy="6350"/>
          </a:xfrm>
          <a:prstGeom prst="rect">
            <a:avLst/>
          </a:prstGeom>
          <a:solidFill>
            <a:srgbClr val="DDD7CA"/>
          </a:solidFill>
          <a:ln>
            <a:noFill/>
          </a:ln>
        </p:spPr>
        <p:txBody>
          <a:bodyPr rtlCol="0" anchor="ctr"/>
          <a:lstStyle/>
          <a:p>
            <a:pPr algn="ctr"/>
          </a:p>
        </p:txBody>
      </p:sp>
      <p:sp>
        <p:nvSpPr>
          <p:cNvPr id="34" name="Text 33"/>
          <p:cNvSpPr txBox="1"/>
          <p:nvPr/>
        </p:nvSpPr>
        <p:spPr>
          <a:xfrm>
            <a:off x="7728049" y="2286349"/>
            <a:ext cx="2393851"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2-13-1</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2863652"/>
            <a:ext cx="3145334"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3145334"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2937820"/>
            <a:ext cx="299293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الحوادث وتقاريرها لفترة</a:t>
            </a:r>
          </a:p>
        </p:txBody>
      </p:sp>
      <p:sp>
        <p:nvSpPr>
          <p:cNvPr id="41" name="Rule 40"/>
          <p:cNvSpPr/>
          <p:nvPr/>
        </p:nvSpPr>
        <p:spPr>
          <a:xfrm>
            <a:off x="3958134" y="3508772"/>
            <a:ext cx="3744516" cy="6350"/>
          </a:xfrm>
          <a:prstGeom prst="rect">
            <a:avLst/>
          </a:prstGeom>
          <a:solidFill>
            <a:srgbClr val="DDD7CA"/>
          </a:solidFill>
          <a:ln>
            <a:noFill/>
          </a:ln>
        </p:spPr>
        <p:txBody>
          <a:bodyPr rtlCol="0" anchor="ctr"/>
          <a:lstStyle/>
          <a:p>
            <a:pPr algn="ctr"/>
          </a:p>
        </p:txBody>
      </p:sp>
      <p:sp>
        <p:nvSpPr>
          <p:cNvPr id="42" name="Text 41"/>
          <p:cNvSpPr txBox="1"/>
          <p:nvPr/>
        </p:nvSpPr>
        <p:spPr>
          <a:xfrm>
            <a:off x="3983534" y="2937820"/>
            <a:ext cx="359211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فريق استجابة محدد الأدوار، وسجل حوادث، وأدوات للتحقيق وجمع الأدلة</a:t>
            </a:r>
          </a:p>
        </p:txBody>
      </p:sp>
      <p:sp>
        <p:nvSpPr>
          <p:cNvPr id="43" name="Rule 42"/>
          <p:cNvSpPr/>
          <p:nvPr/>
        </p:nvSpPr>
        <p:spPr>
          <a:xfrm>
            <a:off x="7702649" y="3508772"/>
            <a:ext cx="2546251" cy="6350"/>
          </a:xfrm>
          <a:prstGeom prst="rect">
            <a:avLst/>
          </a:prstGeom>
          <a:solidFill>
            <a:srgbClr val="DDD7CA"/>
          </a:solidFill>
          <a:ln>
            <a:noFill/>
          </a:ln>
        </p:spPr>
        <p:txBody>
          <a:bodyPr rtlCol="0" anchor="ctr"/>
          <a:lstStyle/>
          <a:p>
            <a:pPr algn="ctr"/>
          </a:p>
        </p:txBody>
      </p:sp>
      <p:sp>
        <p:nvSpPr>
          <p:cNvPr id="44" name="Text 43"/>
          <p:cNvSpPr txBox="1"/>
          <p:nvPr/>
        </p:nvSpPr>
        <p:spPr>
          <a:xfrm>
            <a:off x="7728049" y="2937820"/>
            <a:ext cx="2393851"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248900"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2-13-2</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515122"/>
            <a:ext cx="3145334"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3145334" cy="6350"/>
          </a:xfrm>
          <a:prstGeom prst="rect">
            <a:avLst/>
          </a:prstGeom>
          <a:solidFill>
            <a:srgbClr val="DDD7CA"/>
          </a:solidFill>
          <a:ln>
            <a:noFill/>
          </a:ln>
        </p:spPr>
        <p:txBody>
          <a:bodyPr rtlCol="0" anchor="ctr"/>
          <a:lstStyle/>
          <a:p>
            <a:pPr algn="ctr"/>
          </a:p>
        </p:txBody>
      </p:sp>
      <p:sp>
        <p:nvSpPr>
          <p:cNvPr id="50" name="Text 49"/>
          <p:cNvSpPr txBox="1"/>
          <p:nvPr/>
        </p:nvSpPr>
        <p:spPr>
          <a:xfrm>
            <a:off x="853060" y="3589290"/>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الخطط وأدلة الاستجابة، ومصفوفة التصعيد، وتقارير تمارين المحاكاة</a:t>
            </a:r>
          </a:p>
        </p:txBody>
      </p:sp>
      <p:sp>
        <p:nvSpPr>
          <p:cNvPr id="51" name="Rule 50"/>
          <p:cNvSpPr/>
          <p:nvPr/>
        </p:nvSpPr>
        <p:spPr>
          <a:xfrm>
            <a:off x="3958134" y="4160242"/>
            <a:ext cx="3744516" cy="6350"/>
          </a:xfrm>
          <a:prstGeom prst="rect">
            <a:avLst/>
          </a:prstGeom>
          <a:solidFill>
            <a:srgbClr val="DDD7CA"/>
          </a:solidFill>
          <a:ln>
            <a:noFill/>
          </a:ln>
        </p:spPr>
        <p:txBody>
          <a:bodyPr rtlCol="0" anchor="ctr"/>
          <a:lstStyle/>
          <a:p>
            <a:pPr algn="ctr"/>
          </a:p>
        </p:txBody>
      </p:sp>
      <p:sp>
        <p:nvSpPr>
          <p:cNvPr id="52" name="Text 51"/>
          <p:cNvSpPr txBox="1"/>
          <p:nvPr/>
        </p:nvSpPr>
        <p:spPr>
          <a:xfrm>
            <a:off x="3983534" y="3589290"/>
            <a:ext cx="359211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أدلة استجابة لأهم السيناريوهات كالفدية والتصيد والتسرب، ومصفوفة تصعيد بالأسماء، وتمارين محاكاة</a:t>
            </a:r>
          </a:p>
        </p:txBody>
      </p:sp>
      <p:sp>
        <p:nvSpPr>
          <p:cNvPr id="53" name="Rule 52"/>
          <p:cNvSpPr/>
          <p:nvPr/>
        </p:nvSpPr>
        <p:spPr>
          <a:xfrm>
            <a:off x="7702649" y="4160242"/>
            <a:ext cx="2546251" cy="6350"/>
          </a:xfrm>
          <a:prstGeom prst="rect">
            <a:avLst/>
          </a:prstGeom>
          <a:solidFill>
            <a:srgbClr val="DDD7CA"/>
          </a:solidFill>
          <a:ln>
            <a:noFill/>
          </a:ln>
        </p:spPr>
        <p:txBody>
          <a:bodyPr rtlCol="0" anchor="ctr"/>
          <a:lstStyle/>
          <a:p>
            <a:pPr algn="ctr"/>
          </a:p>
        </p:txBody>
      </p:sp>
      <p:sp>
        <p:nvSpPr>
          <p:cNvPr id="54" name="Text 53"/>
          <p:cNvSpPr txBox="1"/>
          <p:nvPr/>
        </p:nvSpPr>
        <p:spPr>
          <a:xfrm>
            <a:off x="7760882" y="3589290"/>
            <a:ext cx="236101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خطط الاستجابة للحوادث وإجراءات التصعيد</a:t>
            </a:r>
          </a:p>
        </p:txBody>
      </p:sp>
      <p:sp>
        <p:nvSpPr>
          <p:cNvPr id="55" name="Rule 54"/>
          <p:cNvSpPr/>
          <p:nvPr/>
        </p:nvSpPr>
        <p:spPr>
          <a:xfrm>
            <a:off x="10248900" y="416024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840"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2-13-3-1</a:t>
            </a:r>
          </a:p>
        </p:txBody>
      </p:sp>
      <p:sp>
        <p:nvSpPr>
          <p:cNvPr id="57" name="Text 56"/>
          <p:cNvSpPr txBox="1"/>
          <p:nvPr/>
        </p:nvSpPr>
        <p:spPr>
          <a:xfrm>
            <a:off x="10284460"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166592"/>
            <a:ext cx="3145334" cy="629841"/>
          </a:xfrm>
          <a:prstGeom prst="rect">
            <a:avLst/>
          </a:prstGeom>
          <a:solidFill>
            <a:srgbClr val="E1EAF4"/>
          </a:solidFill>
          <a:ln>
            <a:noFill/>
          </a:ln>
        </p:spPr>
        <p:txBody>
          <a:bodyPr rtlCol="0" anchor="ctr"/>
          <a:lstStyle/>
          <a:p>
            <a:pPr algn="ctr"/>
          </a:p>
        </p:txBody>
      </p:sp>
      <p:sp>
        <p:nvSpPr>
          <p:cNvPr id="59" name="Rule 58"/>
          <p:cNvSpPr/>
          <p:nvPr/>
        </p:nvSpPr>
        <p:spPr>
          <a:xfrm>
            <a:off x="812800" y="4790083"/>
            <a:ext cx="3145334"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240760"/>
            <a:ext cx="299293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تقارير الدروس المستفادة والمراجعة</a:t>
            </a:r>
          </a:p>
        </p:txBody>
      </p:sp>
      <p:sp>
        <p:nvSpPr>
          <p:cNvPr id="61" name="Rule 60"/>
          <p:cNvSpPr/>
          <p:nvPr/>
        </p:nvSpPr>
        <p:spPr>
          <a:xfrm>
            <a:off x="3958134" y="4790083"/>
            <a:ext cx="3744516" cy="6350"/>
          </a:xfrm>
          <a:prstGeom prst="rect">
            <a:avLst/>
          </a:prstGeom>
          <a:solidFill>
            <a:srgbClr val="DDD7CA"/>
          </a:solidFill>
          <a:ln>
            <a:noFill/>
          </a:ln>
        </p:spPr>
        <p:txBody>
          <a:bodyPr rtlCol="0" anchor="ctr"/>
          <a:lstStyle/>
          <a:p>
            <a:pPr algn="ctr"/>
          </a:p>
        </p:txBody>
      </p:sp>
      <p:sp>
        <p:nvSpPr>
          <p:cNvPr id="62" name="Text 61"/>
          <p:cNvSpPr txBox="1"/>
          <p:nvPr/>
        </p:nvSpPr>
        <p:spPr>
          <a:xfrm>
            <a:off x="3983534" y="4240760"/>
            <a:ext cx="35921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بعد كل حادثة كبيرة، وفي موعد مخطط</a:t>
            </a:r>
          </a:p>
        </p:txBody>
      </p:sp>
      <p:sp>
        <p:nvSpPr>
          <p:cNvPr id="63" name="Rule 62"/>
          <p:cNvSpPr/>
          <p:nvPr/>
        </p:nvSpPr>
        <p:spPr>
          <a:xfrm>
            <a:off x="7702649" y="4790083"/>
            <a:ext cx="2546251" cy="6350"/>
          </a:xfrm>
          <a:prstGeom prst="rect">
            <a:avLst/>
          </a:prstGeom>
          <a:solidFill>
            <a:srgbClr val="DDD7CA"/>
          </a:solidFill>
          <a:ln>
            <a:noFill/>
          </a:ln>
        </p:spPr>
        <p:txBody>
          <a:bodyPr rtlCol="0" anchor="ctr"/>
          <a:lstStyle/>
          <a:p>
            <a:pPr algn="ctr"/>
          </a:p>
        </p:txBody>
      </p:sp>
      <p:sp>
        <p:nvSpPr>
          <p:cNvPr id="64" name="Text 63"/>
          <p:cNvSpPr txBox="1"/>
          <p:nvPr/>
        </p:nvSpPr>
        <p:spPr>
          <a:xfrm>
            <a:off x="7728049" y="4240760"/>
            <a:ext cx="2393851"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تطبيق المتطلبات دورياً</a:t>
            </a:r>
          </a:p>
        </p:txBody>
      </p:sp>
      <p:sp>
        <p:nvSpPr>
          <p:cNvPr id="65" name="Rule 64"/>
          <p:cNvSpPr/>
          <p:nvPr/>
        </p:nvSpPr>
        <p:spPr>
          <a:xfrm>
            <a:off x="10248900" y="4790083"/>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840" y="425746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2-13-4</a:t>
            </a:r>
          </a:p>
        </p:txBody>
      </p:sp>
      <p:sp>
        <p:nvSpPr>
          <p:cNvPr id="67" name="Text 66"/>
          <p:cNvSpPr txBox="1"/>
          <p:nvPr/>
        </p:nvSpPr>
        <p:spPr>
          <a:xfrm>
            <a:off x="10284460" y="446299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454926" y="812800"/>
            <a:ext cx="292427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‎2-13‎ · إدارة حوادث وتهديدات الأمن السيبراني</a:t>
            </a:r>
          </a:p>
        </p:txBody>
      </p:sp>
      <p:sp>
        <p:nvSpPr>
          <p:cNvPr id="4" name="Text 3"/>
          <p:cNvSpPr txBox="1"/>
          <p:nvPr/>
        </p:nvSpPr>
        <p:spPr>
          <a:xfrm>
            <a:off x="693173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التصنيف والإبلاغ والمشاركة ومعلومات التهديدات</a:t>
            </a:r>
          </a:p>
        </p:txBody>
      </p:sp>
      <p:sp>
        <p:nvSpPr>
          <p:cNvPr id="20" name="Rule 19"/>
          <p:cNvSpPr/>
          <p:nvPr/>
        </p:nvSpPr>
        <p:spPr>
          <a:xfrm>
            <a:off x="812800" y="2193131"/>
            <a:ext cx="2995513"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4311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08313" y="2193131"/>
            <a:ext cx="3444974" cy="19050"/>
          </a:xfrm>
          <a:prstGeom prst="rect">
            <a:avLst/>
          </a:prstGeom>
          <a:solidFill>
            <a:srgbClr val="1D5B9E"/>
          </a:solidFill>
          <a:ln>
            <a:noFill/>
          </a:ln>
        </p:spPr>
        <p:txBody>
          <a:bodyPr rtlCol="0" anchor="ctr"/>
          <a:lstStyle/>
          <a:p>
            <a:pPr algn="ctr"/>
          </a:p>
        </p:txBody>
      </p:sp>
      <p:sp>
        <p:nvSpPr>
          <p:cNvPr id="23" name="Text 22"/>
          <p:cNvSpPr txBox="1"/>
          <p:nvPr/>
        </p:nvSpPr>
        <p:spPr>
          <a:xfrm>
            <a:off x="3833713" y="1892689"/>
            <a:ext cx="329257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253288" y="2193131"/>
            <a:ext cx="2995612" cy="19050"/>
          </a:xfrm>
          <a:prstGeom prst="rect">
            <a:avLst/>
          </a:prstGeom>
          <a:solidFill>
            <a:srgbClr val="1D5B9E"/>
          </a:solidFill>
          <a:ln>
            <a:noFill/>
          </a:ln>
        </p:spPr>
        <p:txBody>
          <a:bodyPr rtlCol="0" anchor="ctr"/>
          <a:lstStyle/>
          <a:p>
            <a:pPr algn="ctr"/>
          </a:p>
        </p:txBody>
      </p:sp>
      <p:sp>
        <p:nvSpPr>
          <p:cNvPr id="25" name="Text 24"/>
          <p:cNvSpPr txBox="1"/>
          <p:nvPr/>
        </p:nvSpPr>
        <p:spPr>
          <a:xfrm>
            <a:off x="7278688" y="1892689"/>
            <a:ext cx="28432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995513"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995513" cy="6350"/>
          </a:xfrm>
          <a:prstGeom prst="rect">
            <a:avLst/>
          </a:prstGeom>
          <a:solidFill>
            <a:srgbClr val="DDD7CA"/>
          </a:solidFill>
          <a:ln>
            <a:noFill/>
          </a:ln>
        </p:spPr>
        <p:txBody>
          <a:bodyPr rtlCol="0" anchor="ctr"/>
          <a:lstStyle/>
          <a:p>
            <a:pPr algn="ctr"/>
          </a:p>
        </p:txBody>
      </p:sp>
      <p:sp>
        <p:nvSpPr>
          <p:cNvPr id="30" name="Text 29"/>
          <p:cNvSpPr txBox="1"/>
          <p:nvPr/>
        </p:nvSpPr>
        <p:spPr>
          <a:xfrm>
            <a:off x="857555" y="2286349"/>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معايير التصنيف المعتمدة، وتصنيف كل حادثة في السجل</a:t>
            </a:r>
          </a:p>
        </p:txBody>
      </p:sp>
      <p:sp>
        <p:nvSpPr>
          <p:cNvPr id="31" name="Rule 30"/>
          <p:cNvSpPr/>
          <p:nvPr/>
        </p:nvSpPr>
        <p:spPr>
          <a:xfrm>
            <a:off x="3808313" y="2857302"/>
            <a:ext cx="3444974" cy="6350"/>
          </a:xfrm>
          <a:prstGeom prst="rect">
            <a:avLst/>
          </a:prstGeom>
          <a:solidFill>
            <a:srgbClr val="DDD7CA"/>
          </a:solidFill>
          <a:ln>
            <a:noFill/>
          </a:ln>
        </p:spPr>
        <p:txBody>
          <a:bodyPr rtlCol="0" anchor="ctr"/>
          <a:lstStyle/>
          <a:p>
            <a:pPr algn="ctr"/>
          </a:p>
        </p:txBody>
      </p:sp>
      <p:sp>
        <p:nvSpPr>
          <p:cNvPr id="32" name="Text 31"/>
          <p:cNvSpPr txBox="1"/>
          <p:nvPr/>
        </p:nvSpPr>
        <p:spPr>
          <a:xfrm>
            <a:off x="3839584" y="2286349"/>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مستويات خطورة بمعايير واضحة: الأثر على الخدمات والبيانات والانتشار، ترتبط بالتصعيد</a:t>
            </a:r>
          </a:p>
        </p:txBody>
      </p:sp>
      <p:sp>
        <p:nvSpPr>
          <p:cNvPr id="33" name="Rule 32"/>
          <p:cNvSpPr/>
          <p:nvPr/>
        </p:nvSpPr>
        <p:spPr>
          <a:xfrm>
            <a:off x="7253288" y="2857302"/>
            <a:ext cx="2995612" cy="6350"/>
          </a:xfrm>
          <a:prstGeom prst="rect">
            <a:avLst/>
          </a:prstGeom>
          <a:solidFill>
            <a:srgbClr val="DDD7CA"/>
          </a:solidFill>
          <a:ln>
            <a:noFill/>
          </a:ln>
        </p:spPr>
        <p:txBody>
          <a:bodyPr rtlCol="0" anchor="ctr"/>
          <a:lstStyle/>
          <a:p>
            <a:pPr algn="ctr"/>
          </a:p>
        </p:txBody>
      </p:sp>
      <p:sp>
        <p:nvSpPr>
          <p:cNvPr id="34" name="Text 33"/>
          <p:cNvSpPr txBox="1"/>
          <p:nvPr/>
        </p:nvSpPr>
        <p:spPr>
          <a:xfrm>
            <a:off x="7278688" y="2286349"/>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تصنيف الحوادث</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2-13-3-2</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995513"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995513"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293782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إجراء الإبلاغ، وسجل البلاغات المرسلة ومراسلاتها</a:t>
            </a:r>
          </a:p>
        </p:txBody>
      </p:sp>
      <p:sp>
        <p:nvSpPr>
          <p:cNvPr id="41" name="Rule 40"/>
          <p:cNvSpPr/>
          <p:nvPr/>
        </p:nvSpPr>
        <p:spPr>
          <a:xfrm>
            <a:off x="3808313" y="3508772"/>
            <a:ext cx="3444974" cy="6350"/>
          </a:xfrm>
          <a:prstGeom prst="rect">
            <a:avLst/>
          </a:prstGeom>
          <a:solidFill>
            <a:srgbClr val="DDD7CA"/>
          </a:solidFill>
          <a:ln>
            <a:noFill/>
          </a:ln>
        </p:spPr>
        <p:txBody>
          <a:bodyPr rtlCol="0" anchor="ctr"/>
          <a:lstStyle/>
          <a:p>
            <a:pPr algn="ctr"/>
          </a:p>
        </p:txBody>
      </p:sp>
      <p:sp>
        <p:nvSpPr>
          <p:cNvPr id="42" name="Text 41"/>
          <p:cNvSpPr txBox="1"/>
          <p:nvPr/>
        </p:nvSpPr>
        <p:spPr>
          <a:xfrm>
            <a:off x="3839584" y="293782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إجراء يحدد ما يُبلَّغ عنه، ومن يبلغ، والقناة، والمهلة، وفق تعليمات الهيئة</a:t>
            </a:r>
          </a:p>
        </p:txBody>
      </p:sp>
      <p:sp>
        <p:nvSpPr>
          <p:cNvPr id="43" name="Rule 42"/>
          <p:cNvSpPr/>
          <p:nvPr/>
        </p:nvSpPr>
        <p:spPr>
          <a:xfrm>
            <a:off x="7253288" y="3508772"/>
            <a:ext cx="2995612" cy="6350"/>
          </a:xfrm>
          <a:prstGeom prst="rect">
            <a:avLst/>
          </a:prstGeom>
          <a:solidFill>
            <a:srgbClr val="DDD7CA"/>
          </a:solidFill>
          <a:ln>
            <a:noFill/>
          </a:ln>
        </p:spPr>
        <p:txBody>
          <a:bodyPr rtlCol="0" anchor="ctr"/>
          <a:lstStyle/>
          <a:p>
            <a:pPr algn="ctr"/>
          </a:p>
        </p:txBody>
      </p:sp>
      <p:sp>
        <p:nvSpPr>
          <p:cNvPr id="44" name="Text 43"/>
          <p:cNvSpPr txBox="1"/>
          <p:nvPr/>
        </p:nvSpPr>
        <p:spPr>
          <a:xfrm>
            <a:off x="7278688" y="293782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إبلاغ الهيئة بالحوادث السيبرانية</a:t>
            </a:r>
          </a:p>
        </p:txBody>
      </p:sp>
      <p:sp>
        <p:nvSpPr>
          <p:cNvPr id="45" name="Rule 44"/>
          <p:cNvSpPr/>
          <p:nvPr/>
        </p:nvSpPr>
        <p:spPr>
          <a:xfrm>
            <a:off x="10248900"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2-13-3-3</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 · وطني</a:t>
            </a:r>
          </a:p>
        </p:txBody>
      </p:sp>
      <p:sp>
        <p:nvSpPr>
          <p:cNvPr id="48" name="Box 47"/>
          <p:cNvSpPr/>
          <p:nvPr/>
        </p:nvSpPr>
        <p:spPr>
          <a:xfrm>
            <a:off x="812800" y="3515122"/>
            <a:ext cx="2995513"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2995513"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58929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المشاركات مع الهيئة</a:t>
            </a:r>
          </a:p>
        </p:txBody>
      </p:sp>
      <p:sp>
        <p:nvSpPr>
          <p:cNvPr id="51" name="Rule 50"/>
          <p:cNvSpPr/>
          <p:nvPr/>
        </p:nvSpPr>
        <p:spPr>
          <a:xfrm>
            <a:off x="3808313" y="4160242"/>
            <a:ext cx="3444974" cy="6350"/>
          </a:xfrm>
          <a:prstGeom prst="rect">
            <a:avLst/>
          </a:prstGeom>
          <a:solidFill>
            <a:srgbClr val="DDD7CA"/>
          </a:solidFill>
          <a:ln>
            <a:noFill/>
          </a:ln>
        </p:spPr>
        <p:txBody>
          <a:bodyPr rtlCol="0" anchor="ctr"/>
          <a:lstStyle/>
          <a:p>
            <a:pPr algn="ctr"/>
          </a:p>
        </p:txBody>
      </p:sp>
      <p:sp>
        <p:nvSpPr>
          <p:cNvPr id="52" name="Text 51"/>
          <p:cNvSpPr txBox="1"/>
          <p:nvPr/>
        </p:nvSpPr>
        <p:spPr>
          <a:xfrm>
            <a:off x="3839584" y="358929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مسؤول محدد وقناة معتمدة، والمشاركة خطوة ضمن إجراء ما بعد الحادثة</a:t>
            </a:r>
          </a:p>
        </p:txBody>
      </p:sp>
      <p:sp>
        <p:nvSpPr>
          <p:cNvPr id="53" name="Rule 52"/>
          <p:cNvSpPr/>
          <p:nvPr/>
        </p:nvSpPr>
        <p:spPr>
          <a:xfrm>
            <a:off x="7253288" y="4160242"/>
            <a:ext cx="2995612" cy="6350"/>
          </a:xfrm>
          <a:prstGeom prst="rect">
            <a:avLst/>
          </a:prstGeom>
          <a:solidFill>
            <a:srgbClr val="DDD7CA"/>
          </a:solidFill>
          <a:ln>
            <a:noFill/>
          </a:ln>
        </p:spPr>
        <p:txBody>
          <a:bodyPr rtlCol="0" anchor="ctr"/>
          <a:lstStyle/>
          <a:p>
            <a:pPr algn="ctr"/>
          </a:p>
        </p:txBody>
      </p:sp>
      <p:sp>
        <p:nvSpPr>
          <p:cNvPr id="54" name="Text 53"/>
          <p:cNvSpPr txBox="1"/>
          <p:nvPr/>
        </p:nvSpPr>
        <p:spPr>
          <a:xfrm>
            <a:off x="7298039" y="3589290"/>
            <a:ext cx="282386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مشاركة التنبيهات ومعلومات التهديدات ومؤشرات الاختراق وتقارير الحوادث مع الهيئة</a:t>
            </a:r>
          </a:p>
        </p:txBody>
      </p:sp>
      <p:sp>
        <p:nvSpPr>
          <p:cNvPr id="55" name="Rule 54"/>
          <p:cNvSpPr/>
          <p:nvPr/>
        </p:nvSpPr>
        <p:spPr>
          <a:xfrm>
            <a:off x="10248900" y="416024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840"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2-13-3-4</a:t>
            </a:r>
          </a:p>
        </p:txBody>
      </p:sp>
      <p:sp>
        <p:nvSpPr>
          <p:cNvPr id="57" name="Text 56"/>
          <p:cNvSpPr txBox="1"/>
          <p:nvPr/>
        </p:nvSpPr>
        <p:spPr>
          <a:xfrm>
            <a:off x="10284460"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 · وطني</a:t>
            </a:r>
          </a:p>
        </p:txBody>
      </p:sp>
      <p:sp>
        <p:nvSpPr>
          <p:cNvPr id="58" name="Box 57"/>
          <p:cNvSpPr/>
          <p:nvPr/>
        </p:nvSpPr>
        <p:spPr>
          <a:xfrm>
            <a:off x="812800" y="4166592"/>
            <a:ext cx="2995513" cy="651470"/>
          </a:xfrm>
          <a:prstGeom prst="rect">
            <a:avLst/>
          </a:prstGeom>
          <a:solidFill>
            <a:srgbClr val="E1EAF4"/>
          </a:solidFill>
          <a:ln>
            <a:noFill/>
          </a:ln>
        </p:spPr>
        <p:txBody>
          <a:bodyPr rtlCol="0" anchor="ctr"/>
          <a:lstStyle/>
          <a:p>
            <a:pPr algn="ctr"/>
          </a:p>
        </p:txBody>
      </p:sp>
      <p:sp>
        <p:nvSpPr>
          <p:cNvPr id="59" name="Rule 58"/>
          <p:cNvSpPr/>
          <p:nvPr/>
        </p:nvSpPr>
        <p:spPr>
          <a:xfrm>
            <a:off x="812800" y="4811712"/>
            <a:ext cx="2995513" cy="6350"/>
          </a:xfrm>
          <a:prstGeom prst="rect">
            <a:avLst/>
          </a:prstGeom>
          <a:solidFill>
            <a:srgbClr val="DDD7CA"/>
          </a:solidFill>
          <a:ln>
            <a:noFill/>
          </a:ln>
        </p:spPr>
        <p:txBody>
          <a:bodyPr rtlCol="0" anchor="ctr"/>
          <a:lstStyle/>
          <a:p>
            <a:pPr algn="ctr"/>
          </a:p>
        </p:txBody>
      </p:sp>
      <p:sp>
        <p:nvSpPr>
          <p:cNvPr id="60" name="Text 59"/>
          <p:cNvSpPr txBox="1"/>
          <p:nvPr/>
        </p:nvSpPr>
        <p:spPr>
          <a:xfrm>
            <a:off x="857555" y="424076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المصادر المشترك فيها، وأمثلة مؤشرات طُبقت في أدوات الحماية</a:t>
            </a:r>
          </a:p>
        </p:txBody>
      </p:sp>
      <p:sp>
        <p:nvSpPr>
          <p:cNvPr id="61" name="Rule 60"/>
          <p:cNvSpPr/>
          <p:nvPr/>
        </p:nvSpPr>
        <p:spPr>
          <a:xfrm>
            <a:off x="3808313" y="4811712"/>
            <a:ext cx="3444974" cy="6350"/>
          </a:xfrm>
          <a:prstGeom prst="rect">
            <a:avLst/>
          </a:prstGeom>
          <a:solidFill>
            <a:srgbClr val="DDD7CA"/>
          </a:solidFill>
          <a:ln>
            <a:noFill/>
          </a:ln>
        </p:spPr>
        <p:txBody>
          <a:bodyPr rtlCol="0" anchor="ctr"/>
          <a:lstStyle/>
          <a:p>
            <a:pPr algn="ctr"/>
          </a:p>
        </p:txBody>
      </p:sp>
      <p:sp>
        <p:nvSpPr>
          <p:cNvPr id="62" name="Text 61"/>
          <p:cNvSpPr txBox="1"/>
          <p:nvPr/>
        </p:nvSpPr>
        <p:spPr>
          <a:xfrm>
            <a:off x="3839584" y="424076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مصادر معلومات تهديدات موثوقة، وتحويل المؤشرات إلى قواعد حجب واكتشاف</a:t>
            </a:r>
          </a:p>
        </p:txBody>
      </p:sp>
      <p:sp>
        <p:nvSpPr>
          <p:cNvPr id="63" name="Rule 62"/>
          <p:cNvSpPr/>
          <p:nvPr/>
        </p:nvSpPr>
        <p:spPr>
          <a:xfrm>
            <a:off x="7253288" y="4811712"/>
            <a:ext cx="2995612" cy="6350"/>
          </a:xfrm>
          <a:prstGeom prst="rect">
            <a:avLst/>
          </a:prstGeom>
          <a:solidFill>
            <a:srgbClr val="DDD7CA"/>
          </a:solidFill>
          <a:ln>
            <a:noFill/>
          </a:ln>
        </p:spPr>
        <p:txBody>
          <a:bodyPr rtlCol="0" anchor="ctr"/>
          <a:lstStyle/>
          <a:p>
            <a:pPr algn="ctr"/>
          </a:p>
        </p:txBody>
      </p:sp>
      <p:sp>
        <p:nvSpPr>
          <p:cNvPr id="64" name="Text 63"/>
          <p:cNvSpPr txBox="1"/>
          <p:nvPr/>
        </p:nvSpPr>
        <p:spPr>
          <a:xfrm>
            <a:off x="7278688" y="424076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جمع معلومات التهديدات والتعامل معها</a:t>
            </a:r>
          </a:p>
        </p:txBody>
      </p:sp>
      <p:sp>
        <p:nvSpPr>
          <p:cNvPr id="65" name="Rule 64"/>
          <p:cNvSpPr/>
          <p:nvPr/>
        </p:nvSpPr>
        <p:spPr>
          <a:xfrm>
            <a:off x="10248900" y="4811712"/>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840" y="425746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2-13-3-5</a:t>
            </a:r>
          </a:p>
        </p:txBody>
      </p:sp>
      <p:sp>
        <p:nvSpPr>
          <p:cNvPr id="67" name="Text 66"/>
          <p:cNvSpPr txBox="1"/>
          <p:nvPr/>
        </p:nvSpPr>
        <p:spPr>
          <a:xfrm>
            <a:off x="10284460" y="446299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8454926" y="812800"/>
            <a:ext cx="292427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‎2-13‎ · إدارة حوادث وتهديدات الأمن السيبراني</a:t>
            </a:r>
          </a:p>
        </p:txBody>
      </p:sp>
      <p:sp>
        <p:nvSpPr>
          <p:cNvPr id="4" name="Text 3"/>
          <p:cNvSpPr txBox="1"/>
          <p:nvPr/>
        </p:nvSpPr>
        <p:spPr>
          <a:xfrm>
            <a:off x="6931735"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تمرين محاكاة للاستجابة</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51143"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2-13-3-1</a:t>
            </a:r>
          </a:p>
        </p:txBody>
      </p:sp>
      <p:sp>
        <p:nvSpPr>
          <p:cNvPr id="23" name="Text box 22"/>
          <p:cNvSpPr/>
          <p:nvPr/>
        </p:nvSpPr>
        <p:spPr>
          <a:xfrm>
            <a:off x="7378303"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2-13-3-2</a:t>
            </a:r>
          </a:p>
        </p:txBody>
      </p:sp>
      <p:sp>
        <p:nvSpPr>
          <p:cNvPr id="24" name="Text box 23"/>
          <p:cNvSpPr/>
          <p:nvPr/>
        </p:nvSpPr>
        <p:spPr>
          <a:xfrm>
            <a:off x="10652720" y="2190552"/>
            <a:ext cx="72648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2-13-4</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فريق من إدارات مختلفة يناقش سيناريو حادثة افتراضية.</a:t>
            </a:r>
          </a:p>
        </p:txBody>
      </p:sp>
      <p:sp>
        <p:nvSpPr>
          <p:cNvPr id="29" name="Box 28"/>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مشارك يمثل دوره في خطة الاستجابة.</a:t>
            </a:r>
          </a:p>
        </p:txBody>
      </p:sp>
      <p:sp>
        <p:nvSpPr>
          <p:cNvPr id="32" name="Box 31"/>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التمرين يكشف ثغرات الخطة قبل الحادثة الحقيقية.</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تقرير التمرين: السيناريو، والحضور، والدروس، والإجراءات.</a:t>
            </a:r>
          </a:p>
        </p:txBody>
      </p:sp>
      <p:pic>
        <p:nvPicPr>
          <p:cNvPr id="39" name="Icon CheckCircle 38" descr="icon043.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تحديث الخطط ومصفوفة التصعيد بناءً على الدروس.</a:t>
            </a:r>
          </a:p>
        </p:txBody>
      </p:sp>
      <p:pic>
        <p:nvPicPr>
          <p:cNvPr id="41" name="Icon CheckCircle 40" descr="icon043.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حوادث حقيقي مصنف، وبلاغات للهيئة عند لزومها.</a:t>
            </a:r>
          </a:p>
        </p:txBody>
      </p:sp>
      <p:sp>
        <p:nvSpPr>
          <p:cNvPr id="43" name="Box 42"/>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23483"/>
            <a:ext cx="190500" cy="190500"/>
          </a:xfrm>
          <a:prstGeom prst="rect">
            <a:avLst/>
          </a:prstGeom>
        </p:spPr>
      </p:pic>
      <p:sp>
        <p:nvSpPr>
          <p:cNvPr id="45" name="Text 44"/>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صورة اجتماع توضح فكرة التمرين فقط؛ إثبات التنفيذ يحتاج تقريراً بالسيناريو والنتائج وإجراءات المتابعة.</a:t>
            </a:r>
          </a:p>
        </p:txBody>
      </p:sp>
      <p:pic>
        <p:nvPicPr>
          <p:cNvPr id="46" name="Picture 45" descr="tabletop-exercise-2.jpg"/>
          <p:cNvPicPr>
            <a:picLocks noChangeAspect="1"/>
          </p:cNvPicPr>
          <p:nvPr/>
        </p:nvPicPr>
        <p:blipFill>
          <a:blip r:embed="rId5"/>
          <a:srcRect t="5052" b="5052"/>
          <a:stretch>
            <a:fillRect/>
          </a:stretch>
        </p:blipFill>
        <p:spPr>
          <a:xfrm>
            <a:off x="812800" y="1852811"/>
            <a:ext cx="5511800" cy="3302000"/>
          </a:xfrm>
          <a:prstGeom prst="roundRect">
            <a:avLst>
              <a:gd name="adj" fmla="val 3462"/>
            </a:avLst>
          </a:prstGeom>
        </p:spPr>
      </p:pic>
      <p:sp>
        <p:nvSpPr>
          <p:cNvPr id="47" name="Text 46"/>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U.S. Army National Guard · Sgt. Yohannes Mogos · ملكية عامة · المصدر: Wikimedia Commons</a:t>
            </a:r>
          </a:p>
        </p:txBody>
      </p:sp>
      <p:sp>
        <p:nvSpPr>
          <p:cNvPr id="48" name="Text 4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9" name="Box 4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3" name="Box 5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4" name="Box 5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5" name="Box 5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Text 5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6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‎2-14‎ الأمن المادي</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الأصول المعلوماتية والتقنية من الوصول المادي غير المصرح به، والفقدان، والسرقة، والتخريب.</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شخص غير مصرح يدخل غرفة الخوادم، أو قرص قديم يُعاد للمورد وعليه بيانات الجهة.</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خزينة البنك: باب مقفل، وقائمة بمن يحق له الدخول، وكاميرا، وسجل لكل دخول.</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الأماكن والمعدات: من يدخل مركز البيانات وغرف الشبكات، وتسجيل الدخول والكاميرات، والإتلاف الآمن للأجهزة والوثائق.</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المنطقة الحساسة</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مكان يحتاج دخولاً مصرحاً</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سجل الدخول</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من دخل ومتى</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الإتلاف الآمن</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إتلاف يمنع استرجاع البيانات</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20486" y="812800"/>
            <a:ext cx="145871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‎2-14‎ · الأمن المادي</a:t>
            </a:r>
          </a:p>
        </p:txBody>
      </p:sp>
      <p:sp>
        <p:nvSpPr>
          <p:cNvPr id="4" name="Text 3"/>
          <p:cNvSpPr txBox="1"/>
          <p:nvPr/>
        </p:nvSpPr>
        <p:spPr>
          <a:xfrm>
            <a:off x="839729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الأمن المادي: المتطلبات والدخول المصرح</a:t>
            </a:r>
          </a:p>
        </p:txBody>
      </p:sp>
      <p:sp>
        <p:nvSpPr>
          <p:cNvPr id="20" name="Rule 19"/>
          <p:cNvSpPr/>
          <p:nvPr/>
        </p:nvSpPr>
        <p:spPr>
          <a:xfrm>
            <a:off x="812800" y="2193131"/>
            <a:ext cx="2396430"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24403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209230" y="2193131"/>
            <a:ext cx="2695972" cy="19050"/>
          </a:xfrm>
          <a:prstGeom prst="rect">
            <a:avLst/>
          </a:prstGeom>
          <a:solidFill>
            <a:srgbClr val="1D5B9E"/>
          </a:solidFill>
          <a:ln>
            <a:noFill/>
          </a:ln>
        </p:spPr>
        <p:txBody>
          <a:bodyPr rtlCol="0" anchor="ctr"/>
          <a:lstStyle/>
          <a:p>
            <a:pPr algn="ctr"/>
          </a:p>
        </p:txBody>
      </p:sp>
      <p:sp>
        <p:nvSpPr>
          <p:cNvPr id="23" name="Text 22"/>
          <p:cNvSpPr txBox="1"/>
          <p:nvPr/>
        </p:nvSpPr>
        <p:spPr>
          <a:xfrm>
            <a:off x="3234630" y="1892689"/>
            <a:ext cx="25435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5905202" y="2193131"/>
            <a:ext cx="4343698" cy="19050"/>
          </a:xfrm>
          <a:prstGeom prst="rect">
            <a:avLst/>
          </a:prstGeom>
          <a:solidFill>
            <a:srgbClr val="1D5B9E"/>
          </a:solidFill>
          <a:ln>
            <a:noFill/>
          </a:ln>
        </p:spPr>
        <p:txBody>
          <a:bodyPr rtlCol="0" anchor="ctr"/>
          <a:lstStyle/>
          <a:p>
            <a:pPr algn="ctr"/>
          </a:p>
        </p:txBody>
      </p:sp>
      <p:sp>
        <p:nvSpPr>
          <p:cNvPr id="25" name="Text 24"/>
          <p:cNvSpPr txBox="1"/>
          <p:nvPr/>
        </p:nvSpPr>
        <p:spPr>
          <a:xfrm>
            <a:off x="5930602" y="1892689"/>
            <a:ext cx="419129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396430"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396430" cy="6350"/>
          </a:xfrm>
          <a:prstGeom prst="rect">
            <a:avLst/>
          </a:prstGeom>
          <a:solidFill>
            <a:srgbClr val="DDD7CA"/>
          </a:solidFill>
          <a:ln>
            <a:noFill/>
          </a:ln>
        </p:spPr>
        <p:txBody>
          <a:bodyPr rtlCol="0" anchor="ctr"/>
          <a:lstStyle/>
          <a:p>
            <a:pPr algn="ctr"/>
          </a:p>
        </p:txBody>
      </p:sp>
      <p:sp>
        <p:nvSpPr>
          <p:cNvPr id="30" name="Text 29"/>
          <p:cNvSpPr txBox="1"/>
          <p:nvPr/>
        </p:nvSpPr>
        <p:spPr>
          <a:xfrm>
            <a:off x="875527" y="2286349"/>
            <a:ext cx="220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وقائمة المناطق الحساسة المعتمدة</a:t>
            </a:r>
          </a:p>
        </p:txBody>
      </p:sp>
      <p:sp>
        <p:nvSpPr>
          <p:cNvPr id="31" name="Rule 30"/>
          <p:cNvSpPr/>
          <p:nvPr/>
        </p:nvSpPr>
        <p:spPr>
          <a:xfrm>
            <a:off x="3209230" y="2857302"/>
            <a:ext cx="2695972" cy="6350"/>
          </a:xfrm>
          <a:prstGeom prst="rect">
            <a:avLst/>
          </a:prstGeom>
          <a:solidFill>
            <a:srgbClr val="DDD7CA"/>
          </a:solidFill>
          <a:ln>
            <a:noFill/>
          </a:ln>
        </p:spPr>
        <p:txBody>
          <a:bodyPr rtlCol="0" anchor="ctr"/>
          <a:lstStyle/>
          <a:p>
            <a:pPr algn="ctr"/>
          </a:p>
        </p:txBody>
      </p:sp>
      <p:sp>
        <p:nvSpPr>
          <p:cNvPr id="32" name="Text 31"/>
          <p:cNvSpPr txBox="1"/>
          <p:nvPr/>
        </p:nvSpPr>
        <p:spPr>
          <a:xfrm>
            <a:off x="3262971" y="2286349"/>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أمن مادي بالتنسيق مع إدارة الأمن والسلامة، تحدد المناطق الحساسة</a:t>
            </a:r>
          </a:p>
        </p:txBody>
      </p:sp>
      <p:sp>
        <p:nvSpPr>
          <p:cNvPr id="33" name="Rule 32"/>
          <p:cNvSpPr/>
          <p:nvPr/>
        </p:nvSpPr>
        <p:spPr>
          <a:xfrm>
            <a:off x="5905202" y="2857302"/>
            <a:ext cx="4343698" cy="6350"/>
          </a:xfrm>
          <a:prstGeom prst="rect">
            <a:avLst/>
          </a:prstGeom>
          <a:solidFill>
            <a:srgbClr val="DDD7CA"/>
          </a:solidFill>
          <a:ln>
            <a:noFill/>
          </a:ln>
        </p:spPr>
        <p:txBody>
          <a:bodyPr rtlCol="0" anchor="ctr"/>
          <a:lstStyle/>
          <a:p>
            <a:pPr algn="ctr"/>
          </a:p>
        </p:txBody>
      </p:sp>
      <p:sp>
        <p:nvSpPr>
          <p:cNvPr id="34" name="Text 33"/>
          <p:cNvSpPr txBox="1"/>
          <p:nvPr/>
        </p:nvSpPr>
        <p:spPr>
          <a:xfrm>
            <a:off x="5930602" y="2286349"/>
            <a:ext cx="419129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2-14-1</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2863652"/>
            <a:ext cx="2396430"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396430" cy="6350"/>
          </a:xfrm>
          <a:prstGeom prst="rect">
            <a:avLst/>
          </a:prstGeom>
          <a:solidFill>
            <a:srgbClr val="DDD7CA"/>
          </a:solidFill>
          <a:ln>
            <a:noFill/>
          </a:ln>
        </p:spPr>
        <p:txBody>
          <a:bodyPr rtlCol="0" anchor="ctr"/>
          <a:lstStyle/>
          <a:p>
            <a:pPr algn="ctr"/>
          </a:p>
        </p:txBody>
      </p:sp>
      <p:sp>
        <p:nvSpPr>
          <p:cNvPr id="40" name="Text 39"/>
          <p:cNvSpPr txBox="1"/>
          <p:nvPr/>
        </p:nvSpPr>
        <p:spPr>
          <a:xfrm>
            <a:off x="875527" y="2937820"/>
            <a:ext cx="220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جولة ميدانية موثقة، وإعدادات أنظمة الدخول</a:t>
            </a:r>
          </a:p>
        </p:txBody>
      </p:sp>
      <p:sp>
        <p:nvSpPr>
          <p:cNvPr id="41" name="Rule 40"/>
          <p:cNvSpPr/>
          <p:nvPr/>
        </p:nvSpPr>
        <p:spPr>
          <a:xfrm>
            <a:off x="3209230" y="3508772"/>
            <a:ext cx="2695972" cy="6350"/>
          </a:xfrm>
          <a:prstGeom prst="rect">
            <a:avLst/>
          </a:prstGeom>
          <a:solidFill>
            <a:srgbClr val="DDD7CA"/>
          </a:solidFill>
          <a:ln>
            <a:noFill/>
          </a:ln>
        </p:spPr>
        <p:txBody>
          <a:bodyPr rtlCol="0" anchor="ctr"/>
          <a:lstStyle/>
          <a:p>
            <a:pPr algn="ctr"/>
          </a:p>
        </p:txBody>
      </p:sp>
      <p:sp>
        <p:nvSpPr>
          <p:cNvPr id="42" name="Text 41"/>
          <p:cNvSpPr txBox="1"/>
          <p:nvPr/>
        </p:nvSpPr>
        <p:spPr>
          <a:xfrm>
            <a:off x="3262971" y="2937820"/>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ضوابط دخول ومراقبة تتدرج حسب حساسية كل منطقة</a:t>
            </a:r>
          </a:p>
        </p:txBody>
      </p:sp>
      <p:sp>
        <p:nvSpPr>
          <p:cNvPr id="43" name="Rule 42"/>
          <p:cNvSpPr/>
          <p:nvPr/>
        </p:nvSpPr>
        <p:spPr>
          <a:xfrm>
            <a:off x="5905202" y="3508772"/>
            <a:ext cx="4343698" cy="6350"/>
          </a:xfrm>
          <a:prstGeom prst="rect">
            <a:avLst/>
          </a:prstGeom>
          <a:solidFill>
            <a:srgbClr val="DDD7CA"/>
          </a:solidFill>
          <a:ln>
            <a:noFill/>
          </a:ln>
        </p:spPr>
        <p:txBody>
          <a:bodyPr rtlCol="0" anchor="ctr"/>
          <a:lstStyle/>
          <a:p>
            <a:pPr algn="ctr"/>
          </a:p>
        </p:txBody>
      </p:sp>
      <p:sp>
        <p:nvSpPr>
          <p:cNvPr id="44" name="Text 43"/>
          <p:cNvSpPr txBox="1"/>
          <p:nvPr/>
        </p:nvSpPr>
        <p:spPr>
          <a:xfrm>
            <a:off x="5930602" y="2937820"/>
            <a:ext cx="419129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248900"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2-14-2</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515122"/>
            <a:ext cx="2396430" cy="1093391"/>
          </a:xfrm>
          <a:prstGeom prst="rect">
            <a:avLst/>
          </a:prstGeom>
          <a:solidFill>
            <a:srgbClr val="E1EAF4"/>
          </a:solidFill>
          <a:ln>
            <a:noFill/>
          </a:ln>
        </p:spPr>
        <p:txBody>
          <a:bodyPr rtlCol="0" anchor="ctr"/>
          <a:lstStyle/>
          <a:p>
            <a:pPr algn="ctr"/>
          </a:p>
        </p:txBody>
      </p:sp>
      <p:sp>
        <p:nvSpPr>
          <p:cNvPr id="49" name="Rule 48"/>
          <p:cNvSpPr/>
          <p:nvPr/>
        </p:nvSpPr>
        <p:spPr>
          <a:xfrm>
            <a:off x="812800" y="4602162"/>
            <a:ext cx="2396430" cy="6350"/>
          </a:xfrm>
          <a:prstGeom prst="rect">
            <a:avLst/>
          </a:prstGeom>
          <a:solidFill>
            <a:srgbClr val="DDD7CA"/>
          </a:solidFill>
          <a:ln>
            <a:noFill/>
          </a:ln>
        </p:spPr>
        <p:txBody>
          <a:bodyPr rtlCol="0" anchor="ctr"/>
          <a:lstStyle/>
          <a:p>
            <a:pPr algn="ctr"/>
          </a:p>
        </p:txBody>
      </p:sp>
      <p:sp>
        <p:nvSpPr>
          <p:cNvPr id="50" name="Text 49"/>
          <p:cNvSpPr txBox="1"/>
          <p:nvPr/>
        </p:nvSpPr>
        <p:spPr>
          <a:xfrm>
            <a:off x="875527" y="3589290"/>
            <a:ext cx="220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قوائم المصرح لهم، ومطابقتها مع صلاحيات نظام الدخول، وسجل الزوار</a:t>
            </a:r>
          </a:p>
        </p:txBody>
      </p:sp>
      <p:sp>
        <p:nvSpPr>
          <p:cNvPr id="51" name="Rule 50"/>
          <p:cNvSpPr/>
          <p:nvPr/>
        </p:nvSpPr>
        <p:spPr>
          <a:xfrm>
            <a:off x="3209230" y="4602162"/>
            <a:ext cx="2695972" cy="6350"/>
          </a:xfrm>
          <a:prstGeom prst="rect">
            <a:avLst/>
          </a:prstGeom>
          <a:solidFill>
            <a:srgbClr val="DDD7CA"/>
          </a:solidFill>
          <a:ln>
            <a:noFill/>
          </a:ln>
        </p:spPr>
        <p:txBody>
          <a:bodyPr rtlCol="0" anchor="ctr"/>
          <a:lstStyle/>
          <a:p>
            <a:pPr algn="ctr"/>
          </a:p>
        </p:txBody>
      </p:sp>
      <p:sp>
        <p:nvSpPr>
          <p:cNvPr id="52" name="Text 51"/>
          <p:cNvSpPr txBox="1"/>
          <p:nvPr/>
        </p:nvSpPr>
        <p:spPr>
          <a:xfrm>
            <a:off x="3262971" y="3589290"/>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معتمدة لكل منطقة، وبطاقات دخول، وتسجيل الزوار ومرافقتهم</a:t>
            </a:r>
          </a:p>
        </p:txBody>
      </p:sp>
      <p:sp>
        <p:nvSpPr>
          <p:cNvPr id="53" name="Rule 52"/>
          <p:cNvSpPr/>
          <p:nvPr/>
        </p:nvSpPr>
        <p:spPr>
          <a:xfrm>
            <a:off x="5905202" y="4602162"/>
            <a:ext cx="4343698" cy="6350"/>
          </a:xfrm>
          <a:prstGeom prst="rect">
            <a:avLst/>
          </a:prstGeom>
          <a:solidFill>
            <a:srgbClr val="DDD7CA"/>
          </a:solidFill>
          <a:ln>
            <a:noFill/>
          </a:ln>
        </p:spPr>
        <p:txBody>
          <a:bodyPr rtlCol="0" anchor="ctr"/>
          <a:lstStyle/>
          <a:p>
            <a:pPr algn="ctr"/>
          </a:p>
        </p:txBody>
      </p:sp>
      <p:sp>
        <p:nvSpPr>
          <p:cNvPr id="54" name="Text 53"/>
          <p:cNvSpPr txBox="1"/>
          <p:nvPr/>
        </p:nvSpPr>
        <p:spPr>
          <a:xfrm>
            <a:off x="5930602" y="3589290"/>
            <a:ext cx="4191298" cy="883841"/>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الدخول المصرح به للأماكن الحساسة، مثل: مركز البيانات، ومركز التعافي من الكوارث، وأماكن معالجة المعلومات الحساسة، ومركز المراقبة الأمنية، وغرف اتصالات الشبكة، ومناطق الإمداد الخاصة بالأجهزة والعتاد التقنية</a:t>
            </a:r>
          </a:p>
        </p:txBody>
      </p:sp>
      <p:sp>
        <p:nvSpPr>
          <p:cNvPr id="55" name="Rule 54"/>
          <p:cNvSpPr/>
          <p:nvPr/>
        </p:nvSpPr>
        <p:spPr>
          <a:xfrm>
            <a:off x="10248900" y="460216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840"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2-14-3-1</a:t>
            </a:r>
          </a:p>
        </p:txBody>
      </p:sp>
      <p:sp>
        <p:nvSpPr>
          <p:cNvPr id="57" name="Text 56"/>
          <p:cNvSpPr txBox="1"/>
          <p:nvPr/>
        </p:nvSpPr>
        <p:spPr>
          <a:xfrm>
            <a:off x="10284460"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608512"/>
            <a:ext cx="2396430" cy="651470"/>
          </a:xfrm>
          <a:prstGeom prst="rect">
            <a:avLst/>
          </a:prstGeom>
          <a:solidFill>
            <a:srgbClr val="E1EAF4"/>
          </a:solidFill>
          <a:ln>
            <a:noFill/>
          </a:ln>
        </p:spPr>
        <p:txBody>
          <a:bodyPr rtlCol="0" anchor="ctr"/>
          <a:lstStyle/>
          <a:p>
            <a:pPr algn="ctr"/>
          </a:p>
        </p:txBody>
      </p:sp>
      <p:sp>
        <p:nvSpPr>
          <p:cNvPr id="59" name="Rule 58"/>
          <p:cNvSpPr/>
          <p:nvPr/>
        </p:nvSpPr>
        <p:spPr>
          <a:xfrm>
            <a:off x="812800" y="5253633"/>
            <a:ext cx="2396430"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682680"/>
            <a:ext cx="224403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61" name="Rule 60"/>
          <p:cNvSpPr/>
          <p:nvPr/>
        </p:nvSpPr>
        <p:spPr>
          <a:xfrm>
            <a:off x="3209230" y="5253633"/>
            <a:ext cx="2695972" cy="6350"/>
          </a:xfrm>
          <a:prstGeom prst="rect">
            <a:avLst/>
          </a:prstGeom>
          <a:solidFill>
            <a:srgbClr val="DDD7CA"/>
          </a:solidFill>
          <a:ln>
            <a:noFill/>
          </a:ln>
        </p:spPr>
        <p:txBody>
          <a:bodyPr rtlCol="0" anchor="ctr"/>
          <a:lstStyle/>
          <a:p>
            <a:pPr algn="ctr"/>
          </a:p>
        </p:txBody>
      </p:sp>
      <p:sp>
        <p:nvSpPr>
          <p:cNvPr id="62" name="Text 61"/>
          <p:cNvSpPr txBox="1"/>
          <p:nvPr/>
        </p:nvSpPr>
        <p:spPr>
          <a:xfrm>
            <a:off x="3262971" y="4682680"/>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المتطلبات، وقوائم المصرح لهم مقابل الحاجة الفعلية</a:t>
            </a:r>
          </a:p>
        </p:txBody>
      </p:sp>
      <p:sp>
        <p:nvSpPr>
          <p:cNvPr id="63" name="Rule 62"/>
          <p:cNvSpPr/>
          <p:nvPr/>
        </p:nvSpPr>
        <p:spPr>
          <a:xfrm>
            <a:off x="5905202" y="5253633"/>
            <a:ext cx="4343698" cy="6350"/>
          </a:xfrm>
          <a:prstGeom prst="rect">
            <a:avLst/>
          </a:prstGeom>
          <a:solidFill>
            <a:srgbClr val="DDD7CA"/>
          </a:solidFill>
          <a:ln>
            <a:noFill/>
          </a:ln>
        </p:spPr>
        <p:txBody>
          <a:bodyPr rtlCol="0" anchor="ctr"/>
          <a:lstStyle/>
          <a:p>
            <a:pPr algn="ctr"/>
          </a:p>
        </p:txBody>
      </p:sp>
      <p:sp>
        <p:nvSpPr>
          <p:cNvPr id="64" name="Text 63"/>
          <p:cNvSpPr txBox="1"/>
          <p:nvPr/>
        </p:nvSpPr>
        <p:spPr>
          <a:xfrm>
            <a:off x="5930602" y="4682680"/>
            <a:ext cx="419129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65" name="Rule 64"/>
          <p:cNvSpPr/>
          <p:nvPr/>
        </p:nvSpPr>
        <p:spPr>
          <a:xfrm>
            <a:off x="10248900" y="5253633"/>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840" y="469938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2-14-4</a:t>
            </a:r>
          </a:p>
        </p:txBody>
      </p:sp>
      <p:sp>
        <p:nvSpPr>
          <p:cNvPr id="67" name="Text 66"/>
          <p:cNvSpPr txBox="1"/>
          <p:nvPr/>
        </p:nvSpPr>
        <p:spPr>
          <a:xfrm>
            <a:off x="10284460" y="4904911"/>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20486" y="812800"/>
            <a:ext cx="145871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‎2-14‎ · الأمن المادي</a:t>
            </a:r>
          </a:p>
        </p:txBody>
      </p:sp>
      <p:sp>
        <p:nvSpPr>
          <p:cNvPr id="4" name="Text 3"/>
          <p:cNvSpPr txBox="1"/>
          <p:nvPr/>
        </p:nvSpPr>
        <p:spPr>
          <a:xfrm>
            <a:off x="839729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السجلات والكاميرات والإتلاف والأجهزة</a:t>
            </a:r>
          </a:p>
        </p:txBody>
      </p:sp>
      <p:sp>
        <p:nvSpPr>
          <p:cNvPr id="20" name="Rule 19"/>
          <p:cNvSpPr/>
          <p:nvPr/>
        </p:nvSpPr>
        <p:spPr>
          <a:xfrm>
            <a:off x="812800" y="2193131"/>
            <a:ext cx="2695972"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5435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508772" y="2193131"/>
            <a:ext cx="3145334" cy="19050"/>
          </a:xfrm>
          <a:prstGeom prst="rect">
            <a:avLst/>
          </a:prstGeom>
          <a:solidFill>
            <a:srgbClr val="1D5B9E"/>
          </a:solidFill>
          <a:ln>
            <a:noFill/>
          </a:ln>
        </p:spPr>
        <p:txBody>
          <a:bodyPr rtlCol="0" anchor="ctr"/>
          <a:lstStyle/>
          <a:p>
            <a:pPr algn="ctr"/>
          </a:p>
        </p:txBody>
      </p:sp>
      <p:sp>
        <p:nvSpPr>
          <p:cNvPr id="23" name="Text 22"/>
          <p:cNvSpPr txBox="1"/>
          <p:nvPr/>
        </p:nvSpPr>
        <p:spPr>
          <a:xfrm>
            <a:off x="3534172" y="1892689"/>
            <a:ext cx="29929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654105" y="2193131"/>
            <a:ext cx="3594695" cy="19050"/>
          </a:xfrm>
          <a:prstGeom prst="rect">
            <a:avLst/>
          </a:prstGeom>
          <a:solidFill>
            <a:srgbClr val="1D5B9E"/>
          </a:solidFill>
          <a:ln>
            <a:noFill/>
          </a:ln>
        </p:spPr>
        <p:txBody>
          <a:bodyPr rtlCol="0" anchor="ctr"/>
          <a:lstStyle/>
          <a:p>
            <a:pPr algn="ctr"/>
          </a:p>
        </p:txBody>
      </p:sp>
      <p:sp>
        <p:nvSpPr>
          <p:cNvPr id="25" name="Text 24"/>
          <p:cNvSpPr txBox="1"/>
          <p:nvPr/>
        </p:nvSpPr>
        <p:spPr>
          <a:xfrm>
            <a:off x="6679505" y="1892689"/>
            <a:ext cx="344229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801"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361"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695972"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695972" cy="6350"/>
          </a:xfrm>
          <a:prstGeom prst="rect">
            <a:avLst/>
          </a:prstGeom>
          <a:solidFill>
            <a:srgbClr val="DDD7CA"/>
          </a:solidFill>
          <a:ln>
            <a:noFill/>
          </a:ln>
        </p:spPr>
        <p:txBody>
          <a:bodyPr rtlCol="0" anchor="ctr"/>
          <a:lstStyle/>
          <a:p>
            <a:pPr algn="ctr"/>
          </a:p>
        </p:txBody>
      </p:sp>
      <p:sp>
        <p:nvSpPr>
          <p:cNvPr id="30" name="Text 29"/>
          <p:cNvSpPr txBox="1"/>
          <p:nvPr/>
        </p:nvSpPr>
        <p:spPr>
          <a:xfrm>
            <a:off x="866541" y="2286349"/>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سجلات الدخول لفترة، ولقطات من نظام المراقبة تثبت التغطية</a:t>
            </a:r>
          </a:p>
        </p:txBody>
      </p:sp>
      <p:sp>
        <p:nvSpPr>
          <p:cNvPr id="31" name="Rule 30"/>
          <p:cNvSpPr/>
          <p:nvPr/>
        </p:nvSpPr>
        <p:spPr>
          <a:xfrm>
            <a:off x="3508772" y="2857302"/>
            <a:ext cx="3145334" cy="6350"/>
          </a:xfrm>
          <a:prstGeom prst="rect">
            <a:avLst/>
          </a:prstGeom>
          <a:solidFill>
            <a:srgbClr val="DDD7CA"/>
          </a:solidFill>
          <a:ln>
            <a:noFill/>
          </a:ln>
        </p:spPr>
        <p:txBody>
          <a:bodyPr rtlCol="0" anchor="ctr"/>
          <a:lstStyle/>
          <a:p>
            <a:pPr algn="ctr"/>
          </a:p>
        </p:txBody>
      </p:sp>
      <p:sp>
        <p:nvSpPr>
          <p:cNvPr id="32" name="Text 31"/>
          <p:cNvSpPr txBox="1"/>
          <p:nvPr/>
        </p:nvSpPr>
        <p:spPr>
          <a:xfrm>
            <a:off x="3549032" y="2286349"/>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تسجيل كل دخول للمناطق الحساسة، وكاميرات تغطي مداخلها</a:t>
            </a:r>
          </a:p>
        </p:txBody>
      </p:sp>
      <p:sp>
        <p:nvSpPr>
          <p:cNvPr id="33" name="Rule 32"/>
          <p:cNvSpPr/>
          <p:nvPr/>
        </p:nvSpPr>
        <p:spPr>
          <a:xfrm>
            <a:off x="6654105" y="2857302"/>
            <a:ext cx="3594695" cy="6350"/>
          </a:xfrm>
          <a:prstGeom prst="rect">
            <a:avLst/>
          </a:prstGeom>
          <a:solidFill>
            <a:srgbClr val="DDD7CA"/>
          </a:solidFill>
          <a:ln>
            <a:noFill/>
          </a:ln>
        </p:spPr>
        <p:txBody>
          <a:bodyPr rtlCol="0" anchor="ctr"/>
          <a:lstStyle/>
          <a:p>
            <a:pPr algn="ctr"/>
          </a:p>
        </p:txBody>
      </p:sp>
      <p:sp>
        <p:nvSpPr>
          <p:cNvPr id="34" name="Text 33"/>
          <p:cNvSpPr txBox="1"/>
          <p:nvPr/>
        </p:nvSpPr>
        <p:spPr>
          <a:xfrm>
            <a:off x="6679505" y="2286349"/>
            <a:ext cx="344229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سجلات الدخول والمراقبة بالكاميرات</a:t>
            </a:r>
          </a:p>
        </p:txBody>
      </p:sp>
      <p:sp>
        <p:nvSpPr>
          <p:cNvPr id="35" name="Rule 34"/>
          <p:cNvSpPr/>
          <p:nvPr/>
        </p:nvSpPr>
        <p:spPr>
          <a:xfrm>
            <a:off x="10248801"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741"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2-14-3-2</a:t>
            </a:r>
          </a:p>
        </p:txBody>
      </p:sp>
      <p:sp>
        <p:nvSpPr>
          <p:cNvPr id="37" name="Text 36"/>
          <p:cNvSpPr txBox="1"/>
          <p:nvPr/>
        </p:nvSpPr>
        <p:spPr>
          <a:xfrm>
            <a:off x="10284361"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695972"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695972" cy="6350"/>
          </a:xfrm>
          <a:prstGeom prst="rect">
            <a:avLst/>
          </a:prstGeom>
          <a:solidFill>
            <a:srgbClr val="DDD7CA"/>
          </a:solidFill>
          <a:ln>
            <a:noFill/>
          </a:ln>
        </p:spPr>
        <p:txBody>
          <a:bodyPr rtlCol="0" anchor="ctr"/>
          <a:lstStyle/>
          <a:p>
            <a:pPr algn="ctr"/>
          </a:p>
        </p:txBody>
      </p:sp>
      <p:sp>
        <p:nvSpPr>
          <p:cNvPr id="40" name="Text 39"/>
          <p:cNvSpPr txBox="1"/>
          <p:nvPr/>
        </p:nvSpPr>
        <p:spPr>
          <a:xfrm>
            <a:off x="866541" y="2937820"/>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صلاحيات الوصول لهذه الأنظمة، وإعداد الاحتفاظ</a:t>
            </a:r>
          </a:p>
        </p:txBody>
      </p:sp>
      <p:sp>
        <p:nvSpPr>
          <p:cNvPr id="41" name="Rule 40"/>
          <p:cNvSpPr/>
          <p:nvPr/>
        </p:nvSpPr>
        <p:spPr>
          <a:xfrm>
            <a:off x="3508772" y="3508772"/>
            <a:ext cx="3145334" cy="6350"/>
          </a:xfrm>
          <a:prstGeom prst="rect">
            <a:avLst/>
          </a:prstGeom>
          <a:solidFill>
            <a:srgbClr val="DDD7CA"/>
          </a:solidFill>
          <a:ln>
            <a:noFill/>
          </a:ln>
        </p:spPr>
        <p:txBody>
          <a:bodyPr rtlCol="0" anchor="ctr"/>
          <a:lstStyle/>
          <a:p>
            <a:pPr algn="ctr"/>
          </a:p>
        </p:txBody>
      </p:sp>
      <p:sp>
        <p:nvSpPr>
          <p:cNvPr id="42" name="Text 41"/>
          <p:cNvSpPr txBox="1"/>
          <p:nvPr/>
        </p:nvSpPr>
        <p:spPr>
          <a:xfrm>
            <a:off x="3549032" y="2937820"/>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تقييد الوصول لأنظمة الدخول والمراقبة، ومدة احتفاظ معتمدة، وحماية من التعديل</a:t>
            </a:r>
          </a:p>
        </p:txBody>
      </p:sp>
      <p:sp>
        <p:nvSpPr>
          <p:cNvPr id="43" name="Rule 42"/>
          <p:cNvSpPr/>
          <p:nvPr/>
        </p:nvSpPr>
        <p:spPr>
          <a:xfrm>
            <a:off x="6654105" y="3508772"/>
            <a:ext cx="3594695" cy="6350"/>
          </a:xfrm>
          <a:prstGeom prst="rect">
            <a:avLst/>
          </a:prstGeom>
          <a:solidFill>
            <a:srgbClr val="DDD7CA"/>
          </a:solidFill>
          <a:ln>
            <a:noFill/>
          </a:ln>
        </p:spPr>
        <p:txBody>
          <a:bodyPr rtlCol="0" anchor="ctr"/>
          <a:lstStyle/>
          <a:p>
            <a:pPr algn="ctr"/>
          </a:p>
        </p:txBody>
      </p:sp>
      <p:sp>
        <p:nvSpPr>
          <p:cNvPr id="44" name="Text 43"/>
          <p:cNvSpPr txBox="1"/>
          <p:nvPr/>
        </p:nvSpPr>
        <p:spPr>
          <a:xfrm>
            <a:off x="6679505" y="2937820"/>
            <a:ext cx="344229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حماية معلومات سجلات الدخول والمراقبة</a:t>
            </a:r>
          </a:p>
        </p:txBody>
      </p:sp>
      <p:sp>
        <p:nvSpPr>
          <p:cNvPr id="45" name="Rule 44"/>
          <p:cNvSpPr/>
          <p:nvPr/>
        </p:nvSpPr>
        <p:spPr>
          <a:xfrm>
            <a:off x="10248801"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741"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2-14-3-3</a:t>
            </a:r>
          </a:p>
        </p:txBody>
      </p:sp>
      <p:sp>
        <p:nvSpPr>
          <p:cNvPr id="47" name="Text 46"/>
          <p:cNvSpPr txBox="1"/>
          <p:nvPr/>
        </p:nvSpPr>
        <p:spPr>
          <a:xfrm>
            <a:off x="10284361"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2695972" cy="872430"/>
          </a:xfrm>
          <a:prstGeom prst="rect">
            <a:avLst/>
          </a:prstGeom>
          <a:solidFill>
            <a:srgbClr val="E1EAF4"/>
          </a:solidFill>
          <a:ln>
            <a:noFill/>
          </a:ln>
        </p:spPr>
        <p:txBody>
          <a:bodyPr rtlCol="0" anchor="ctr"/>
          <a:lstStyle/>
          <a:p>
            <a:pPr algn="ctr"/>
          </a:p>
        </p:txBody>
      </p:sp>
      <p:sp>
        <p:nvSpPr>
          <p:cNvPr id="49" name="Rule 48"/>
          <p:cNvSpPr/>
          <p:nvPr/>
        </p:nvSpPr>
        <p:spPr>
          <a:xfrm>
            <a:off x="812800" y="4381202"/>
            <a:ext cx="2695972" cy="6350"/>
          </a:xfrm>
          <a:prstGeom prst="rect">
            <a:avLst/>
          </a:prstGeom>
          <a:solidFill>
            <a:srgbClr val="DDD7CA"/>
          </a:solidFill>
          <a:ln>
            <a:noFill/>
          </a:ln>
        </p:spPr>
        <p:txBody>
          <a:bodyPr rtlCol="0" anchor="ctr"/>
          <a:lstStyle/>
          <a:p>
            <a:pPr algn="ctr"/>
          </a:p>
        </p:txBody>
      </p:sp>
      <p:sp>
        <p:nvSpPr>
          <p:cNvPr id="50" name="Text 49"/>
          <p:cNvSpPr txBox="1"/>
          <p:nvPr/>
        </p:nvSpPr>
        <p:spPr>
          <a:xfrm>
            <a:off x="866541" y="3589290"/>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الإجراء المعتمد، ومحاضر أو شهادات الإتلاف لعينة أصول</a:t>
            </a:r>
          </a:p>
        </p:txBody>
      </p:sp>
      <p:sp>
        <p:nvSpPr>
          <p:cNvPr id="51" name="Rule 50"/>
          <p:cNvSpPr/>
          <p:nvPr/>
        </p:nvSpPr>
        <p:spPr>
          <a:xfrm>
            <a:off x="3508772" y="4381202"/>
            <a:ext cx="3145334" cy="6350"/>
          </a:xfrm>
          <a:prstGeom prst="rect">
            <a:avLst/>
          </a:prstGeom>
          <a:solidFill>
            <a:srgbClr val="DDD7CA"/>
          </a:solidFill>
          <a:ln>
            <a:noFill/>
          </a:ln>
        </p:spPr>
        <p:txBody>
          <a:bodyPr rtlCol="0" anchor="ctr"/>
          <a:lstStyle/>
          <a:p>
            <a:pPr algn="ctr"/>
          </a:p>
        </p:txBody>
      </p:sp>
      <p:sp>
        <p:nvSpPr>
          <p:cNvPr id="52" name="Text 51"/>
          <p:cNvSpPr txBox="1"/>
          <p:nvPr/>
        </p:nvSpPr>
        <p:spPr>
          <a:xfrm>
            <a:off x="3549032" y="3589290"/>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إتلاف آمن حسب التصنيف، ومحو معتمد قبل إعادة الاستخدام، وتوثيق كل عملية</a:t>
            </a:r>
          </a:p>
        </p:txBody>
      </p:sp>
      <p:sp>
        <p:nvSpPr>
          <p:cNvPr id="53" name="Rule 52"/>
          <p:cNvSpPr/>
          <p:nvPr/>
        </p:nvSpPr>
        <p:spPr>
          <a:xfrm>
            <a:off x="6654105" y="4381202"/>
            <a:ext cx="3594695" cy="6350"/>
          </a:xfrm>
          <a:prstGeom prst="rect">
            <a:avLst/>
          </a:prstGeom>
          <a:solidFill>
            <a:srgbClr val="DDD7CA"/>
          </a:solidFill>
          <a:ln>
            <a:noFill/>
          </a:ln>
        </p:spPr>
        <p:txBody>
          <a:bodyPr rtlCol="0" anchor="ctr"/>
          <a:lstStyle/>
          <a:p>
            <a:pPr algn="ctr"/>
          </a:p>
        </p:txBody>
      </p:sp>
      <p:sp>
        <p:nvSpPr>
          <p:cNvPr id="54" name="Text 53"/>
          <p:cNvSpPr txBox="1"/>
          <p:nvPr/>
        </p:nvSpPr>
        <p:spPr>
          <a:xfrm>
            <a:off x="6680885" y="3589290"/>
            <a:ext cx="3440916"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أمن إتلاف وإعادة استخدام الأصول المادية التي تحوي معلومات مصنفة، وتشمل الوثائق الورقية ووسائط الحفظ والتخزين</a:t>
            </a:r>
          </a:p>
        </p:txBody>
      </p:sp>
      <p:sp>
        <p:nvSpPr>
          <p:cNvPr id="55" name="Rule 54"/>
          <p:cNvSpPr/>
          <p:nvPr/>
        </p:nvSpPr>
        <p:spPr>
          <a:xfrm>
            <a:off x="10248801" y="438120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741"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2-14-3-4</a:t>
            </a:r>
          </a:p>
        </p:txBody>
      </p:sp>
      <p:sp>
        <p:nvSpPr>
          <p:cNvPr id="57" name="Text 56"/>
          <p:cNvSpPr txBox="1"/>
          <p:nvPr/>
        </p:nvSpPr>
        <p:spPr>
          <a:xfrm>
            <a:off x="10284361"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87552"/>
            <a:ext cx="2695972" cy="651470"/>
          </a:xfrm>
          <a:prstGeom prst="rect">
            <a:avLst/>
          </a:prstGeom>
          <a:solidFill>
            <a:srgbClr val="E1EAF4"/>
          </a:solidFill>
          <a:ln>
            <a:noFill/>
          </a:ln>
        </p:spPr>
        <p:txBody>
          <a:bodyPr rtlCol="0" anchor="ctr"/>
          <a:lstStyle/>
          <a:p>
            <a:pPr algn="ctr"/>
          </a:p>
        </p:txBody>
      </p:sp>
      <p:sp>
        <p:nvSpPr>
          <p:cNvPr id="59" name="Rule 58"/>
          <p:cNvSpPr/>
          <p:nvPr/>
        </p:nvSpPr>
        <p:spPr>
          <a:xfrm>
            <a:off x="812800" y="5032673"/>
            <a:ext cx="2695972" cy="6350"/>
          </a:xfrm>
          <a:prstGeom prst="rect">
            <a:avLst/>
          </a:prstGeom>
          <a:solidFill>
            <a:srgbClr val="DDD7CA"/>
          </a:solidFill>
          <a:ln>
            <a:noFill/>
          </a:ln>
        </p:spPr>
        <p:txBody>
          <a:bodyPr rtlCol="0" anchor="ctr"/>
          <a:lstStyle/>
          <a:p>
            <a:pPr algn="ctr"/>
          </a:p>
        </p:txBody>
      </p:sp>
      <p:sp>
        <p:nvSpPr>
          <p:cNvPr id="60" name="Text 59"/>
          <p:cNvSpPr txBox="1"/>
          <p:nvPr/>
        </p:nvSpPr>
        <p:spPr>
          <a:xfrm>
            <a:off x="866541" y="4461720"/>
            <a:ext cx="251523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نماذج إخراج الأجهزة، وسجل الأجهزة خارج المباني</a:t>
            </a:r>
          </a:p>
        </p:txBody>
      </p:sp>
      <p:sp>
        <p:nvSpPr>
          <p:cNvPr id="61" name="Rule 60"/>
          <p:cNvSpPr/>
          <p:nvPr/>
        </p:nvSpPr>
        <p:spPr>
          <a:xfrm>
            <a:off x="3508772" y="5032673"/>
            <a:ext cx="3145334" cy="6350"/>
          </a:xfrm>
          <a:prstGeom prst="rect">
            <a:avLst/>
          </a:prstGeom>
          <a:solidFill>
            <a:srgbClr val="DDD7CA"/>
          </a:solidFill>
          <a:ln>
            <a:noFill/>
          </a:ln>
        </p:spPr>
        <p:txBody>
          <a:bodyPr rtlCol="0" anchor="ctr"/>
          <a:lstStyle/>
          <a:p>
            <a:pPr algn="ctr"/>
          </a:p>
        </p:txBody>
      </p:sp>
      <p:sp>
        <p:nvSpPr>
          <p:cNvPr id="62" name="Text 61"/>
          <p:cNvSpPr txBox="1"/>
          <p:nvPr/>
        </p:nvSpPr>
        <p:spPr>
          <a:xfrm>
            <a:off x="3549032" y="4461720"/>
            <a:ext cx="2978074"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تأمين الأجهزة داخل المباني، وقواعد لإخراجها وحمايتها خارجها</a:t>
            </a:r>
          </a:p>
        </p:txBody>
      </p:sp>
      <p:sp>
        <p:nvSpPr>
          <p:cNvPr id="63" name="Rule 62"/>
          <p:cNvSpPr/>
          <p:nvPr/>
        </p:nvSpPr>
        <p:spPr>
          <a:xfrm>
            <a:off x="6654105" y="5032673"/>
            <a:ext cx="3594695" cy="6350"/>
          </a:xfrm>
          <a:prstGeom prst="rect">
            <a:avLst/>
          </a:prstGeom>
          <a:solidFill>
            <a:srgbClr val="DDD7CA"/>
          </a:solidFill>
          <a:ln>
            <a:noFill/>
          </a:ln>
        </p:spPr>
        <p:txBody>
          <a:bodyPr rtlCol="0" anchor="ctr"/>
          <a:lstStyle/>
          <a:p>
            <a:pPr algn="ctr"/>
          </a:p>
        </p:txBody>
      </p:sp>
      <p:sp>
        <p:nvSpPr>
          <p:cNvPr id="64" name="Text 63"/>
          <p:cNvSpPr txBox="1"/>
          <p:nvPr/>
        </p:nvSpPr>
        <p:spPr>
          <a:xfrm>
            <a:off x="6679505" y="4461720"/>
            <a:ext cx="3442295"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أمن الأجهزة والمعدات داخل مباني الجهة وخارجها</a:t>
            </a:r>
          </a:p>
        </p:txBody>
      </p:sp>
      <p:sp>
        <p:nvSpPr>
          <p:cNvPr id="65" name="Rule 64"/>
          <p:cNvSpPr/>
          <p:nvPr/>
        </p:nvSpPr>
        <p:spPr>
          <a:xfrm>
            <a:off x="10248801" y="5032673"/>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741" y="447842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2-14-3-5</a:t>
            </a:r>
          </a:p>
        </p:txBody>
      </p:sp>
      <p:sp>
        <p:nvSpPr>
          <p:cNvPr id="67" name="Text 66"/>
          <p:cNvSpPr txBox="1"/>
          <p:nvPr/>
        </p:nvSpPr>
        <p:spPr>
          <a:xfrm>
            <a:off x="10284361" y="46839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20486" y="812800"/>
            <a:ext cx="145871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‎2-14‎ · الأمن المادي</a:t>
            </a:r>
          </a:p>
        </p:txBody>
      </p:sp>
      <p:sp>
        <p:nvSpPr>
          <p:cNvPr id="4" name="Text 3"/>
          <p:cNvSpPr txBox="1"/>
          <p:nvPr/>
        </p:nvSpPr>
        <p:spPr>
          <a:xfrm>
            <a:off x="839729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1 من 3</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مثال توضيحي: ضوابط الدخول والمراقبة المادية</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51143"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2-14-3-1</a:t>
            </a:r>
          </a:p>
        </p:txBody>
      </p:sp>
      <p:sp>
        <p:nvSpPr>
          <p:cNvPr id="23" name="Text box 22"/>
          <p:cNvSpPr/>
          <p:nvPr/>
        </p:nvSpPr>
        <p:spPr>
          <a:xfrm>
            <a:off x="7378303"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2-14-3-2</a:t>
            </a:r>
          </a:p>
        </p:txBody>
      </p:sp>
      <p:sp>
        <p:nvSpPr>
          <p:cNvPr id="24" name="Text box 23"/>
          <p:cNvSpPr/>
          <p:nvPr/>
        </p:nvSpPr>
        <p:spPr>
          <a:xfrm>
            <a:off x="10469860" y="2190552"/>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2-14-3-3</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قارئ بطاقات يفتح الباب لحاملي البطاقات المصرح لهم فقط.</a:t>
            </a:r>
          </a:p>
        </p:txBody>
      </p:sp>
      <p:sp>
        <p:nvSpPr>
          <p:cNvPr id="29" name="Box 28"/>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كاميرا تغطي مدخل المنطقة الحساسة.</a:t>
            </a:r>
          </a:p>
        </p:txBody>
      </p:sp>
      <p:sp>
        <p:nvSpPr>
          <p:cNvPr id="32" name="Box 31"/>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كلاهما ينتج سجلاً: من دخل ومتى.</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قائمة المصرح لهم مطابقة لصلاحيات نظام الدخول.</a:t>
            </a:r>
          </a:p>
        </p:txBody>
      </p:sp>
      <p:pic>
        <p:nvPicPr>
          <p:cNvPr id="39" name="Icon CheckCircle 38" descr="icon043.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سجلات الدخول ولقطات تثبت التغطية لفترة.</a:t>
            </a:r>
          </a:p>
        </p:txBody>
      </p:sp>
      <p:pic>
        <p:nvPicPr>
          <p:cNvPr id="41" name="Icon CheckCircle 40" descr="icon043.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حماية هذه السجلات نفسها وتقييد الوصول إليها (‎2-14-3-3‎).</a:t>
            </a:r>
          </a:p>
        </p:txBody>
      </p:sp>
      <p:sp>
        <p:nvSpPr>
          <p:cNvPr id="43" name="Box 42"/>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23483"/>
            <a:ext cx="190500" cy="190500"/>
          </a:xfrm>
          <a:prstGeom prst="rect">
            <a:avLst/>
          </a:prstGeom>
        </p:spPr>
      </p:pic>
      <p:sp>
        <p:nvSpPr>
          <p:cNvPr id="45" name="Text 44"/>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صور لمعدات؛ وجودها لا يثبت أن الصلاحيات مطابقة ولا أن السجلات محفوظة ومحمية. الإثبات في السجلات.</a:t>
            </a:r>
          </a:p>
        </p:txBody>
      </p:sp>
      <p:pic>
        <p:nvPicPr>
          <p:cNvPr id="46" name="Picture 45" descr="access-reader.jpg"/>
          <p:cNvPicPr>
            <a:picLocks noChangeAspect="1"/>
          </p:cNvPicPr>
          <p:nvPr/>
        </p:nvPicPr>
        <p:blipFill>
          <a:blip r:embed="rId5"/>
          <a:srcRect l="19423" r="19423"/>
          <a:stretch>
            <a:fillRect/>
          </a:stretch>
        </p:blipFill>
        <p:spPr>
          <a:xfrm>
            <a:off x="3683000" y="1852811"/>
            <a:ext cx="2692400" cy="3302000"/>
          </a:xfrm>
          <a:prstGeom prst="roundRect">
            <a:avLst>
              <a:gd name="adj" fmla="val 4245"/>
            </a:avLst>
          </a:prstGeom>
        </p:spPr>
      </p:pic>
      <p:pic>
        <p:nvPicPr>
          <p:cNvPr id="47" name="Picture 46" descr="cctv.jpg"/>
          <p:cNvPicPr>
            <a:picLocks noChangeAspect="1"/>
          </p:cNvPicPr>
          <p:nvPr/>
        </p:nvPicPr>
        <p:blipFill>
          <a:blip r:embed="rId6"/>
          <a:srcRect l="27101" r="27101"/>
          <a:stretch>
            <a:fillRect/>
          </a:stretch>
        </p:blipFill>
        <p:spPr>
          <a:xfrm>
            <a:off x="863600" y="1852811"/>
            <a:ext cx="2692400" cy="3302000"/>
          </a:xfrm>
          <a:prstGeom prst="roundRect">
            <a:avLst>
              <a:gd name="adj" fmla="val 4245"/>
            </a:avLst>
          </a:prstGeom>
        </p:spPr>
      </p:pic>
      <p:sp>
        <p:nvSpPr>
          <p:cNvPr id="48" name="Text 47"/>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 توضيحية من الإنترنت، ليست أدلة صادرة عن جهة · Ca.garcia.s · CC ‎BY-SA‎ 4.0 | Kent Madsen · CC ‎BY-SA‎ 2.0 · المصدر: Wikimedia Commons</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5" name="Box 54"/>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6" name="Box 55"/>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Box 56"/>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8" name="Box 57"/>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20486" y="812800"/>
            <a:ext cx="145871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‎2-14‎ · الأمن المادي</a:t>
            </a:r>
          </a:p>
        </p:txBody>
      </p:sp>
      <p:sp>
        <p:nvSpPr>
          <p:cNvPr id="4" name="Text 3"/>
          <p:cNvSpPr txBox="1"/>
          <p:nvPr/>
        </p:nvSpPr>
        <p:spPr>
          <a:xfrm>
            <a:off x="839729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2 من 3</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الإتلاف الآمن: الصورة طريقة، والإثبات سجل</a:t>
            </a:r>
          </a:p>
        </p:txBody>
      </p:sp>
      <p:sp>
        <p:nvSpPr>
          <p:cNvPr id="20" name="Text box 19"/>
          <p:cNvSpPr/>
          <p:nvPr/>
        </p:nvSpPr>
        <p:spPr>
          <a:xfrm>
            <a:off x="10274201" y="1852811"/>
            <a:ext cx="1104999"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صورة توضيحية</a:t>
            </a:r>
          </a:p>
        </p:txBody>
      </p:sp>
      <p:sp>
        <p:nvSpPr>
          <p:cNvPr id="21" name="Text 20"/>
          <p:cNvSpPr txBox="1"/>
          <p:nvPr/>
        </p:nvSpPr>
        <p:spPr>
          <a:xfrm>
            <a:off x="9232543"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51143"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2-14-3-4</a:t>
            </a:r>
          </a:p>
        </p:txBody>
      </p:sp>
      <p:sp>
        <p:nvSpPr>
          <p:cNvPr id="23" name="Text 22"/>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4" name="Box 23"/>
          <p:cNvSpPr/>
          <p:nvPr/>
        </p:nvSpPr>
        <p:spPr>
          <a:xfrm>
            <a:off x="11125200" y="2518172"/>
            <a:ext cx="254000" cy="254000"/>
          </a:xfrm>
          <a:prstGeom prst="roundRect">
            <a:avLst>
              <a:gd name="adj" fmla="val 50000"/>
            </a:avLst>
          </a:prstGeom>
          <a:solidFill>
            <a:srgbClr val="1D5B9E"/>
          </a:solidFill>
          <a:ln>
            <a:noFill/>
          </a:ln>
        </p:spPr>
        <p:txBody>
          <a:bodyPr rtlCol="0" anchor="ctr"/>
          <a:lstStyle/>
          <a:p>
            <a:pPr algn="ctr"/>
          </a:p>
        </p:txBody>
      </p:sp>
      <p:sp>
        <p:nvSpPr>
          <p:cNvPr id="25" name="Text 24"/>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6" name="Text 25"/>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قرص صلب تضرر بإتلاف مادي: مثال على إحدى طرق الإتلاف.</a:t>
            </a:r>
          </a:p>
        </p:txBody>
      </p:sp>
      <p:sp>
        <p:nvSpPr>
          <p:cNvPr id="27" name="Box 26"/>
          <p:cNvSpPr/>
          <p:nvPr/>
        </p:nvSpPr>
        <p:spPr>
          <a:xfrm>
            <a:off x="11125200" y="2835672"/>
            <a:ext cx="254000" cy="254000"/>
          </a:xfrm>
          <a:prstGeom prst="roundRect">
            <a:avLst>
              <a:gd name="adj" fmla="val 50000"/>
            </a:avLst>
          </a:prstGeom>
          <a:solidFill>
            <a:srgbClr val="1D5B9E"/>
          </a:solidFill>
          <a:ln>
            <a:noFill/>
          </a:ln>
        </p:spPr>
        <p:txBody>
          <a:bodyPr rtlCol="0" anchor="ctr"/>
          <a:lstStyle/>
          <a:p>
            <a:pPr algn="ctr"/>
          </a:p>
        </p:txBody>
      </p:sp>
      <p:sp>
        <p:nvSpPr>
          <p:cNvPr id="28" name="Text 27"/>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29" name="Text 28"/>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التلف الظاهر وحده لا يدل على تعذّر استرجاع البيانات.</a:t>
            </a:r>
          </a:p>
        </p:txBody>
      </p:sp>
      <p:sp>
        <p:nvSpPr>
          <p:cNvPr id="30" name="Box 29"/>
          <p:cNvSpPr/>
          <p:nvPr/>
        </p:nvSpPr>
        <p:spPr>
          <a:xfrm>
            <a:off x="11125200" y="3153172"/>
            <a:ext cx="254000" cy="254000"/>
          </a:xfrm>
          <a:prstGeom prst="roundRect">
            <a:avLst>
              <a:gd name="adj" fmla="val 50000"/>
            </a:avLst>
          </a:prstGeom>
          <a:solidFill>
            <a:srgbClr val="1D5B9E"/>
          </a:solidFill>
          <a:ln>
            <a:noFill/>
          </a:ln>
        </p:spPr>
        <p:txBody>
          <a:bodyPr rtlCol="0" anchor="ctr"/>
          <a:lstStyle/>
          <a:p>
            <a:pPr algn="ctr"/>
          </a:p>
        </p:txBody>
      </p:sp>
      <p:sp>
        <p:nvSpPr>
          <p:cNvPr id="31" name="Text 30"/>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2" name="Text 31"/>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الطريقة تُختار حسب تصنيف البيانات ونوع الوسيط.</a:t>
            </a:r>
          </a:p>
        </p:txBody>
      </p:sp>
      <p:sp>
        <p:nvSpPr>
          <p:cNvPr id="33" name="Rule 32"/>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4" name="Text 33"/>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5" name="Icon CheckCircle 34" descr="icon043.png"/>
          <p:cNvPicPr>
            <a:picLocks noChangeAspect="1"/>
          </p:cNvPicPr>
          <p:nvPr/>
        </p:nvPicPr>
        <p:blipFill>
          <a:blip r:embed="rId3"/>
          <a:stretch>
            <a:fillRect/>
          </a:stretch>
        </p:blipFill>
        <p:spPr>
          <a:xfrm>
            <a:off x="11150600" y="3880842"/>
            <a:ext cx="203200" cy="203200"/>
          </a:xfrm>
          <a:prstGeom prst="rect">
            <a:avLst/>
          </a:prstGeom>
        </p:spPr>
      </p:pic>
      <p:sp>
        <p:nvSpPr>
          <p:cNvPr id="36" name="Text 35"/>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إجراءً معتمداً يحدد الطريقة لكل تصنيف ونوع وسيط.</a:t>
            </a:r>
          </a:p>
        </p:txBody>
      </p:sp>
      <p:pic>
        <p:nvPicPr>
          <p:cNvPr id="37" name="Icon CheckCircle 36" descr="icon043.png"/>
          <p:cNvPicPr>
            <a:picLocks noChangeAspect="1"/>
          </p:cNvPicPr>
          <p:nvPr/>
        </p:nvPicPr>
        <p:blipFill>
          <a:blip r:embed="rId3"/>
          <a:stretch>
            <a:fillRect/>
          </a:stretch>
        </p:blipFill>
        <p:spPr>
          <a:xfrm>
            <a:off x="11150600" y="4185642"/>
            <a:ext cx="203200" cy="203200"/>
          </a:xfrm>
          <a:prstGeom prst="rect">
            <a:avLst/>
          </a:prstGeom>
        </p:spPr>
      </p:pic>
      <p:sp>
        <p:nvSpPr>
          <p:cNvPr id="38" name="Text 37"/>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تحققاً من النتيجة بعد التنفيذ، ومن نفّذه وراجعه.</a:t>
            </a:r>
          </a:p>
        </p:txBody>
      </p:sp>
      <p:pic>
        <p:nvPicPr>
          <p:cNvPr id="39" name="Icon CheckCircle 38" descr="icon043.png"/>
          <p:cNvPicPr>
            <a:picLocks noChangeAspect="1"/>
          </p:cNvPicPr>
          <p:nvPr/>
        </p:nvPicPr>
        <p:blipFill>
          <a:blip r:embed="rId3"/>
          <a:stretch>
            <a:fillRect/>
          </a:stretch>
        </p:blipFill>
        <p:spPr>
          <a:xfrm>
            <a:off x="11150600" y="4490442"/>
            <a:ext cx="203200" cy="203200"/>
          </a:xfrm>
          <a:prstGeom prst="rect">
            <a:avLst/>
          </a:prstGeom>
        </p:spPr>
      </p:pic>
      <p:sp>
        <p:nvSpPr>
          <p:cNvPr id="40" name="Text 39"/>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سجلاً أو شهادة تربط العملية بالأصل ورقمه التسلسلي.</a:t>
            </a:r>
          </a:p>
        </p:txBody>
      </p:sp>
      <p:sp>
        <p:nvSpPr>
          <p:cNvPr id="41" name="Box 40"/>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2" name="Icon Warning 41" descr="icon028.png"/>
          <p:cNvPicPr>
            <a:picLocks noChangeAspect="1"/>
          </p:cNvPicPr>
          <p:nvPr/>
        </p:nvPicPr>
        <p:blipFill>
          <a:blip r:embed="rId4"/>
          <a:stretch>
            <a:fillRect/>
          </a:stretch>
        </p:blipFill>
        <p:spPr>
          <a:xfrm>
            <a:off x="11074400" y="5311180"/>
            <a:ext cx="190500" cy="190500"/>
          </a:xfrm>
          <a:prstGeom prst="rect">
            <a:avLst/>
          </a:prstGeom>
        </p:spPr>
      </p:pic>
      <p:sp>
        <p:nvSpPr>
          <p:cNvPr id="43" name="Text 42"/>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الصورة توضح طريقة إتلاف مادي فقط، ولا تثبت تعذّر استرجاع البيانات ولا ارتباط العملية بأصل محدد.</a:t>
            </a:r>
          </a:p>
        </p:txBody>
      </p:sp>
      <p:pic>
        <p:nvPicPr>
          <p:cNvPr id="44" name="Picture 43" descr="drive-destruction.jpg"/>
          <p:cNvPicPr>
            <a:picLocks noChangeAspect="1"/>
          </p:cNvPicPr>
          <p:nvPr/>
        </p:nvPicPr>
        <p:blipFill>
          <a:blip r:embed="rId5"/>
          <a:srcRect t="4957" b="4957"/>
          <a:stretch>
            <a:fillRect/>
          </a:stretch>
        </p:blipFill>
        <p:spPr>
          <a:xfrm>
            <a:off x="812800" y="1852811"/>
            <a:ext cx="5511800" cy="3302000"/>
          </a:xfrm>
          <a:prstGeom prst="roundRect">
            <a:avLst>
              <a:gd name="adj" fmla="val 3462"/>
            </a:avLst>
          </a:prstGeom>
        </p:spPr>
      </p:pic>
      <p:sp>
        <p:nvSpPr>
          <p:cNvPr id="45" name="Text 44"/>
          <p:cNvSpPr txBox="1"/>
          <p:nvPr/>
        </p:nvSpPr>
        <p:spPr>
          <a:xfrm>
            <a:off x="645922" y="5220089"/>
            <a:ext cx="5729478"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صورة توضيحية من الإنترنت، ليست دليلاً صادراً عن جهة · Jaroslaw B (Yarkob) · CC ‎BY-SA‎ 4.0 · المصدر: Wikimedia Commons</a:t>
            </a:r>
          </a:p>
        </p:txBody>
      </p:sp>
      <p:sp>
        <p:nvSpPr>
          <p:cNvPr id="46" name="Text 4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7" name="Box 4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1" name="Box 5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2" name="Box 51"/>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3" name="Box 5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4" name="Box 5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Text 5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920486" y="812800"/>
            <a:ext cx="1458714"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‎2-14‎ · الأمن المادي</a:t>
            </a:r>
          </a:p>
        </p:txBody>
      </p:sp>
      <p:sp>
        <p:nvSpPr>
          <p:cNvPr id="4" name="Text 3"/>
          <p:cNvSpPr txBox="1"/>
          <p:nvPr/>
        </p:nvSpPr>
        <p:spPr>
          <a:xfrm>
            <a:off x="8397296"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2339181"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3054945" y="894060"/>
            <a:ext cx="127000" cy="127000"/>
          </a:xfrm>
          <a:prstGeom prst="rect">
            <a:avLst/>
          </a:prstGeom>
        </p:spPr>
      </p:pic>
      <p:sp>
        <p:nvSpPr>
          <p:cNvPr id="13" name="Text 12"/>
          <p:cNvSpPr txBox="1"/>
          <p:nvPr/>
        </p:nvSpPr>
        <p:spPr>
          <a:xfrm>
            <a:off x="2365216"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2158206"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128825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847056"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872456"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94154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 3 من 3</a:t>
            </a:r>
          </a:p>
        </p:txBody>
      </p:sp>
      <p:sp>
        <p:nvSpPr>
          <p:cNvPr id="19" name="Text 18"/>
          <p:cNvSpPr txBox="1"/>
          <p:nvPr/>
        </p:nvSpPr>
        <p:spPr>
          <a:xfrm>
            <a:off x="495808" y="1175974"/>
            <a:ext cx="10883392" cy="89138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المحو الآمن وإعادة الاستخدام والإتلاف المادي: متى، وكيف تثبته؟</a:t>
            </a:r>
          </a:p>
        </p:txBody>
      </p:sp>
      <p:sp>
        <p:nvSpPr>
          <p:cNvPr id="20" name="Box 19"/>
          <p:cNvSpPr/>
          <p:nvPr/>
        </p:nvSpPr>
        <p:spPr>
          <a:xfrm>
            <a:off x="815975" y="2327077"/>
            <a:ext cx="339725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21" name="Box 20"/>
          <p:cNvSpPr/>
          <p:nvPr/>
        </p:nvSpPr>
        <p:spPr>
          <a:xfrm>
            <a:off x="3638550" y="2520752"/>
            <a:ext cx="381000" cy="381000"/>
          </a:xfrm>
          <a:prstGeom prst="roundRect">
            <a:avLst>
              <a:gd name="adj" fmla="val 26666"/>
            </a:avLst>
          </a:prstGeom>
          <a:solidFill>
            <a:srgbClr val="E1EAF4"/>
          </a:solidFill>
          <a:ln>
            <a:noFill/>
          </a:ln>
        </p:spPr>
        <p:txBody>
          <a:bodyPr rtlCol="0" anchor="ctr"/>
          <a:lstStyle/>
          <a:p>
            <a:pPr algn="ctr"/>
          </a:p>
        </p:txBody>
      </p:sp>
      <p:pic>
        <p:nvPicPr>
          <p:cNvPr id="22" name="Icon Book 21" descr="icon051.png"/>
          <p:cNvPicPr>
            <a:picLocks noChangeAspect="1"/>
          </p:cNvPicPr>
          <p:nvPr/>
        </p:nvPicPr>
        <p:blipFill>
          <a:blip r:embed="rId3"/>
          <a:stretch>
            <a:fillRect/>
          </a:stretch>
        </p:blipFill>
        <p:spPr>
          <a:xfrm>
            <a:off x="3724275" y="2606477"/>
            <a:ext cx="209550" cy="209550"/>
          </a:xfrm>
          <a:prstGeom prst="rect">
            <a:avLst/>
          </a:prstGeom>
        </p:spPr>
      </p:pic>
      <p:sp>
        <p:nvSpPr>
          <p:cNvPr id="23" name="Text 22"/>
          <p:cNvSpPr txBox="1"/>
          <p:nvPr/>
        </p:nvSpPr>
        <p:spPr>
          <a:xfrm>
            <a:off x="838200" y="2957663"/>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الوثائق الورقية</a:t>
            </a:r>
          </a:p>
        </p:txBody>
      </p:sp>
      <p:sp>
        <p:nvSpPr>
          <p:cNvPr id="24" name="Text 23"/>
          <p:cNvSpPr txBox="1"/>
          <p:nvPr/>
        </p:nvSpPr>
        <p:spPr>
          <a:xfrm>
            <a:off x="919353" y="3282752"/>
            <a:ext cx="3100197"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تُتلف بطريقة تناسب تصنيفها، مثل التقطيع المتقاطع بمواصفة معتمدة، مع عهدة حتى لحظة الإتلاف وسجل يثبتها.</a:t>
            </a:r>
          </a:p>
        </p:txBody>
      </p:sp>
      <p:sp>
        <p:nvSpPr>
          <p:cNvPr id="25" name="Box 24"/>
          <p:cNvSpPr/>
          <p:nvPr/>
        </p:nvSpPr>
        <p:spPr>
          <a:xfrm>
            <a:off x="4397375" y="2327077"/>
            <a:ext cx="339725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26" name="Box 25"/>
          <p:cNvSpPr/>
          <p:nvPr/>
        </p:nvSpPr>
        <p:spPr>
          <a:xfrm>
            <a:off x="7219950" y="2520752"/>
            <a:ext cx="381000" cy="381000"/>
          </a:xfrm>
          <a:prstGeom prst="roundRect">
            <a:avLst>
              <a:gd name="adj" fmla="val 26666"/>
            </a:avLst>
          </a:prstGeom>
          <a:solidFill>
            <a:srgbClr val="E1EAF4"/>
          </a:solidFill>
          <a:ln>
            <a:noFill/>
          </a:ln>
        </p:spPr>
        <p:txBody>
          <a:bodyPr rtlCol="0" anchor="ctr"/>
          <a:lstStyle/>
          <a:p>
            <a:pPr algn="ctr"/>
          </a:p>
        </p:txBody>
      </p:sp>
      <p:pic>
        <p:nvPicPr>
          <p:cNvPr id="27" name="Icon Tool 26" descr="icon050.png"/>
          <p:cNvPicPr>
            <a:picLocks noChangeAspect="1"/>
          </p:cNvPicPr>
          <p:nvPr/>
        </p:nvPicPr>
        <p:blipFill>
          <a:blip r:embed="rId4"/>
          <a:stretch>
            <a:fillRect/>
          </a:stretch>
        </p:blipFill>
        <p:spPr>
          <a:xfrm>
            <a:off x="7305675" y="2606477"/>
            <a:ext cx="209550" cy="209550"/>
          </a:xfrm>
          <a:prstGeom prst="rect">
            <a:avLst/>
          </a:prstGeom>
        </p:spPr>
      </p:pic>
      <p:sp>
        <p:nvSpPr>
          <p:cNvPr id="28" name="Text 27"/>
          <p:cNvSpPr txBox="1"/>
          <p:nvPr/>
        </p:nvSpPr>
        <p:spPr>
          <a:xfrm>
            <a:off x="4419600" y="2957663"/>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الإتلاف المادي</a:t>
            </a:r>
          </a:p>
        </p:txBody>
      </p:sp>
      <p:sp>
        <p:nvSpPr>
          <p:cNvPr id="29" name="Text 28"/>
          <p:cNvSpPr txBox="1"/>
          <p:nvPr/>
        </p:nvSpPr>
        <p:spPr>
          <a:xfrm>
            <a:off x="4500753" y="3282752"/>
            <a:ext cx="3100197"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الوسيط لن يُستخدم، أو لا يمكن محوه بثقة: يُتلف بطريقة تجعل الاسترجاع غير ممكن، وفق مواصفة معتمدة لنوعه، ولا يكفي مجرد كسره.</a:t>
            </a:r>
          </a:p>
        </p:txBody>
      </p:sp>
      <p:sp>
        <p:nvSpPr>
          <p:cNvPr id="30" name="Box 29"/>
          <p:cNvSpPr/>
          <p:nvPr/>
        </p:nvSpPr>
        <p:spPr>
          <a:xfrm>
            <a:off x="7978775" y="2327077"/>
            <a:ext cx="3397250" cy="1868488"/>
          </a:xfrm>
          <a:prstGeom prst="roundRect">
            <a:avLst>
              <a:gd name="adj" fmla="val 6773"/>
            </a:avLst>
          </a:prstGeom>
          <a:solidFill>
            <a:srgbClr val="FCFBF8"/>
          </a:solidFill>
          <a:ln w="6350">
            <a:solidFill>
              <a:srgbClr val="DDD7CA"/>
            </a:solidFill>
          </a:ln>
        </p:spPr>
        <p:txBody>
          <a:bodyPr rtlCol="0" anchor="ctr"/>
          <a:lstStyle/>
          <a:p>
            <a:pPr algn="ctr"/>
          </a:p>
        </p:txBody>
      </p:sp>
      <p:sp>
        <p:nvSpPr>
          <p:cNvPr id="31" name="Box 30"/>
          <p:cNvSpPr/>
          <p:nvPr/>
        </p:nvSpPr>
        <p:spPr>
          <a:xfrm>
            <a:off x="10801350" y="2520752"/>
            <a:ext cx="381000" cy="381000"/>
          </a:xfrm>
          <a:prstGeom prst="roundRect">
            <a:avLst>
              <a:gd name="adj" fmla="val 26666"/>
            </a:avLst>
          </a:prstGeom>
          <a:solidFill>
            <a:srgbClr val="E1EAF4"/>
          </a:solidFill>
          <a:ln>
            <a:noFill/>
          </a:ln>
        </p:spPr>
        <p:txBody>
          <a:bodyPr rtlCol="0" anchor="ctr"/>
          <a:lstStyle/>
          <a:p>
            <a:pPr algn="ctr"/>
          </a:p>
        </p:txBody>
      </p:sp>
      <p:pic>
        <p:nvPicPr>
          <p:cNvPr id="32" name="Icon Settings 31" descr="icon052.png"/>
          <p:cNvPicPr>
            <a:picLocks noChangeAspect="1"/>
          </p:cNvPicPr>
          <p:nvPr/>
        </p:nvPicPr>
        <p:blipFill>
          <a:blip r:embed="rId5"/>
          <a:stretch>
            <a:fillRect/>
          </a:stretch>
        </p:blipFill>
        <p:spPr>
          <a:xfrm>
            <a:off x="10887075" y="2606477"/>
            <a:ext cx="209550" cy="209550"/>
          </a:xfrm>
          <a:prstGeom prst="rect">
            <a:avLst/>
          </a:prstGeom>
        </p:spPr>
      </p:pic>
      <p:sp>
        <p:nvSpPr>
          <p:cNvPr id="33" name="Text 32"/>
          <p:cNvSpPr txBox="1"/>
          <p:nvPr/>
        </p:nvSpPr>
        <p:spPr>
          <a:xfrm>
            <a:off x="8001000" y="2957663"/>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المحو الآمن ثم إعادة الاستخدام</a:t>
            </a:r>
          </a:p>
        </p:txBody>
      </p:sp>
      <p:sp>
        <p:nvSpPr>
          <p:cNvPr id="34" name="Text 33"/>
          <p:cNvSpPr txBox="1"/>
          <p:nvPr/>
        </p:nvSpPr>
        <p:spPr>
          <a:xfrm>
            <a:off x="8082153" y="3282752"/>
            <a:ext cx="3100197"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الوسيط سيُعاد استخدامه داخل الجهة أو خارجها: تُمحى البيانات بطريقة تمنع استرجاعها وفق نوع الوسيط وتصنيف البيانات، ثم يُتحقق من النتيجة.</a:t>
            </a:r>
          </a:p>
        </p:txBody>
      </p:sp>
      <p:sp>
        <p:nvSpPr>
          <p:cNvPr id="35" name="Text 34"/>
          <p:cNvSpPr txBox="1"/>
          <p:nvPr/>
        </p:nvSpPr>
        <p:spPr>
          <a:xfrm>
            <a:off x="0" y="440371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أربعة عناصر لإثبات أي عملية إتلاف أو محو:</a:t>
            </a:r>
          </a:p>
        </p:txBody>
      </p:sp>
      <p:sp>
        <p:nvSpPr>
          <p:cNvPr id="36" name="Text box 35"/>
          <p:cNvSpPr/>
          <p:nvPr/>
        </p:nvSpPr>
        <p:spPr>
          <a:xfrm>
            <a:off x="8953500" y="4732734"/>
            <a:ext cx="2422525"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الطريقة مناسبة للتصنيف ونوع الوسيط</a:t>
            </a:r>
          </a:p>
        </p:txBody>
      </p:sp>
      <p:sp>
        <p:nvSpPr>
          <p:cNvPr id="37" name="Text box 36"/>
          <p:cNvSpPr/>
          <p:nvPr/>
        </p:nvSpPr>
        <p:spPr>
          <a:xfrm>
            <a:off x="7251105" y="4732734"/>
            <a:ext cx="1607145"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التنفيذ وفق إجراء معتمد</a:t>
            </a:r>
          </a:p>
        </p:txBody>
      </p:sp>
      <p:sp>
        <p:nvSpPr>
          <p:cNvPr id="38" name="Text box 37"/>
          <p:cNvSpPr/>
          <p:nvPr/>
        </p:nvSpPr>
        <p:spPr>
          <a:xfrm>
            <a:off x="5851327" y="4732734"/>
            <a:ext cx="130452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التحقق من النتيجة</a:t>
            </a:r>
          </a:p>
        </p:txBody>
      </p:sp>
      <p:sp>
        <p:nvSpPr>
          <p:cNvPr id="39" name="Text box 38"/>
          <p:cNvSpPr/>
          <p:nvPr/>
        </p:nvSpPr>
        <p:spPr>
          <a:xfrm>
            <a:off x="2801243" y="4732734"/>
            <a:ext cx="2954834"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سجل أو شهادة مرتبطة بالأصل ورقمه التسلسلي</a:t>
            </a:r>
          </a:p>
        </p:txBody>
      </p:sp>
      <p:sp>
        <p:nvSpPr>
          <p:cNvPr id="40" name="Text 39"/>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1" name="Box 40"/>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2" name="Box 41"/>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3" name="Box 42"/>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5" name="Box 44"/>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6" name="Box 45"/>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47" name="Box 46"/>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Box 47"/>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9" name="Box 48"/>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0" name="Text 49"/>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E1EAF4"/>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مكوّن فرعي جديد · 7 من 7</a:t>
            </a:r>
          </a:p>
        </p:txBody>
      </p:sp>
      <p:sp>
        <p:nvSpPr>
          <p:cNvPr id="4" name="Text 3"/>
          <p:cNvSpPr txBox="1"/>
          <p:nvPr/>
        </p:nvSpPr>
        <p:spPr>
          <a:xfrm>
            <a:off x="7995063"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‎2-15‎ حماية تطبيقات الويب</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1D5B9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تطبيقات الويب الخارجية للجهة من المخاطر السيبرانية.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E1EAF4"/>
          </a:solidFill>
          <a:ln>
            <a:noFill/>
          </a:ln>
        </p:spPr>
        <p:txBody>
          <a:bodyPr rtlCol="0" anchor="ctr"/>
          <a:lstStyle/>
          <a:p>
            <a:pPr algn="ctr"/>
          </a:p>
        </p:txBody>
      </p:sp>
      <p:pic>
        <p:nvPicPr>
          <p:cNvPr id="25" name="Icon Warning 24" descr="icon039.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ثغرة في البوابة الإلكترونية تكشف بيانات المستفيدين لأي شخص على الإنترنت.</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E1EAF4"/>
          </a:solidFill>
          <a:ln>
            <a:noFill/>
          </a:ln>
        </p:spPr>
        <p:txBody>
          <a:bodyPr rtlCol="0" anchor="ctr"/>
          <a:lstStyle/>
          <a:p>
            <a:pPr algn="ctr"/>
          </a:p>
        </p:txBody>
      </p:sp>
      <p:pic>
        <p:nvPicPr>
          <p:cNvPr id="30" name="Icon Home 29" descr="icon040.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واجهة محل على الشارع: الجميع يراها، فتحتاج زجاجاً متيناً وحارساً، ولا تُترك الخزنة خلف الزجاج مباشرة.</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E1EAF4"/>
          </a:solidFill>
          <a:ln>
            <a:noFill/>
          </a:ln>
        </p:spPr>
        <p:txBody>
          <a:bodyPr rtlCol="0" anchor="ctr"/>
          <a:lstStyle/>
          <a:p>
            <a:pPr algn="ctr"/>
          </a:p>
        </p:txBody>
      </p:sp>
      <p:pic>
        <p:nvPicPr>
          <p:cNvPr id="35" name="Icon Lightbulb 34" descr="icon041.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المواقع والبوابات المتاحة للجمهور: جدار حماية للتطبيقات، ومعمارية متعددة المستويات، واتصال مشفر، وتحقق مناسب من المستخدمين.</a:t>
            </a:r>
          </a:p>
        </p:txBody>
      </p:sp>
      <p:sp>
        <p:nvSpPr>
          <p:cNvPr id="38" name="Rule 37"/>
          <p:cNvSpPr/>
          <p:nvPr/>
        </p:nvSpPr>
        <p:spPr>
          <a:xfrm>
            <a:off x="7992566" y="5282009"/>
            <a:ext cx="3386634" cy="19050"/>
          </a:xfrm>
          <a:prstGeom prst="rect">
            <a:avLst/>
          </a:prstGeom>
          <a:solidFill>
            <a:srgbClr val="1D5B9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WAF</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جدار حماية تطبيقات الويب</a:t>
            </a:r>
          </a:p>
        </p:txBody>
      </p:sp>
      <p:sp>
        <p:nvSpPr>
          <p:cNvPr id="41" name="Rule 40"/>
          <p:cNvSpPr/>
          <p:nvPr/>
        </p:nvSpPr>
        <p:spPr>
          <a:xfrm>
            <a:off x="4402733" y="5282009"/>
            <a:ext cx="3386634" cy="19050"/>
          </a:xfrm>
          <a:prstGeom prst="rect">
            <a:avLst/>
          </a:prstGeom>
          <a:solidFill>
            <a:srgbClr val="1D5B9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المعمارية متعددة المستويات</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فصل العرض والتطبيق وقاعدة البيانات</a:t>
            </a:r>
          </a:p>
        </p:txBody>
      </p:sp>
      <p:sp>
        <p:nvSpPr>
          <p:cNvPr id="44" name="Rule 43"/>
          <p:cNvSpPr/>
          <p:nvPr/>
        </p:nvSpPr>
        <p:spPr>
          <a:xfrm>
            <a:off x="812899" y="5282009"/>
            <a:ext cx="3386634" cy="19050"/>
          </a:xfrm>
          <a:prstGeom prst="rect">
            <a:avLst/>
          </a:prstGeom>
          <a:solidFill>
            <a:srgbClr val="1D5B9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HTTPS</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اتصال مشفر بين المستخدم والموقع</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54" name="Box 53"/>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396909" y="812800"/>
            <a:ext cx="1982291"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‎2-15‎ · حماية تطبيقات الويب</a:t>
            </a:r>
          </a:p>
        </p:txBody>
      </p:sp>
      <p:sp>
        <p:nvSpPr>
          <p:cNvPr id="4" name="Text 3"/>
          <p:cNvSpPr txBox="1"/>
          <p:nvPr/>
        </p:nvSpPr>
        <p:spPr>
          <a:xfrm>
            <a:off x="787371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تطبيقات الويب: المتطلبات وجدار الحماية</a:t>
            </a:r>
          </a:p>
        </p:txBody>
      </p:sp>
      <p:sp>
        <p:nvSpPr>
          <p:cNvPr id="20" name="Rule 19"/>
          <p:cNvSpPr/>
          <p:nvPr/>
        </p:nvSpPr>
        <p:spPr>
          <a:xfrm>
            <a:off x="812800" y="2193131"/>
            <a:ext cx="2995513"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4311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08313" y="2193131"/>
            <a:ext cx="3444974" cy="19050"/>
          </a:xfrm>
          <a:prstGeom prst="rect">
            <a:avLst/>
          </a:prstGeom>
          <a:solidFill>
            <a:srgbClr val="1D5B9E"/>
          </a:solidFill>
          <a:ln>
            <a:noFill/>
          </a:ln>
        </p:spPr>
        <p:txBody>
          <a:bodyPr rtlCol="0" anchor="ctr"/>
          <a:lstStyle/>
          <a:p>
            <a:pPr algn="ctr"/>
          </a:p>
        </p:txBody>
      </p:sp>
      <p:sp>
        <p:nvSpPr>
          <p:cNvPr id="23" name="Text 22"/>
          <p:cNvSpPr txBox="1"/>
          <p:nvPr/>
        </p:nvSpPr>
        <p:spPr>
          <a:xfrm>
            <a:off x="3833713" y="1892689"/>
            <a:ext cx="329257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253288" y="2193131"/>
            <a:ext cx="2995612" cy="19050"/>
          </a:xfrm>
          <a:prstGeom prst="rect">
            <a:avLst/>
          </a:prstGeom>
          <a:solidFill>
            <a:srgbClr val="1D5B9E"/>
          </a:solidFill>
          <a:ln>
            <a:noFill/>
          </a:ln>
        </p:spPr>
        <p:txBody>
          <a:bodyPr rtlCol="0" anchor="ctr"/>
          <a:lstStyle/>
          <a:p>
            <a:pPr algn="ctr"/>
          </a:p>
        </p:txBody>
      </p:sp>
      <p:sp>
        <p:nvSpPr>
          <p:cNvPr id="25" name="Text 24"/>
          <p:cNvSpPr txBox="1"/>
          <p:nvPr/>
        </p:nvSpPr>
        <p:spPr>
          <a:xfrm>
            <a:off x="7278688" y="1892689"/>
            <a:ext cx="28432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995513"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995513"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المعيار المعتمد</a:t>
            </a:r>
          </a:p>
        </p:txBody>
      </p:sp>
      <p:sp>
        <p:nvSpPr>
          <p:cNvPr id="31" name="Rule 30"/>
          <p:cNvSpPr/>
          <p:nvPr/>
        </p:nvSpPr>
        <p:spPr>
          <a:xfrm>
            <a:off x="3808313" y="2857302"/>
            <a:ext cx="3444974" cy="6350"/>
          </a:xfrm>
          <a:prstGeom prst="rect">
            <a:avLst/>
          </a:prstGeom>
          <a:solidFill>
            <a:srgbClr val="DDD7CA"/>
          </a:solidFill>
          <a:ln>
            <a:noFill/>
          </a:ln>
        </p:spPr>
        <p:txBody>
          <a:bodyPr rtlCol="0" anchor="ctr"/>
          <a:lstStyle/>
          <a:p>
            <a:pPr algn="ctr"/>
          </a:p>
        </p:txBody>
      </p:sp>
      <p:sp>
        <p:nvSpPr>
          <p:cNvPr id="32" name="Text 31"/>
          <p:cNvSpPr txBox="1"/>
          <p:nvPr/>
        </p:nvSpPr>
        <p:spPr>
          <a:xfrm>
            <a:off x="3839584" y="2286349"/>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معيار لتطبيقات الويب يغطي البنود الخمسة، ويرتبط بالتطوير الآمن في ‎1-6-3‎</a:t>
            </a:r>
          </a:p>
        </p:txBody>
      </p:sp>
      <p:sp>
        <p:nvSpPr>
          <p:cNvPr id="33" name="Rule 32"/>
          <p:cNvSpPr/>
          <p:nvPr/>
        </p:nvSpPr>
        <p:spPr>
          <a:xfrm>
            <a:off x="7253288" y="2857302"/>
            <a:ext cx="2995612" cy="6350"/>
          </a:xfrm>
          <a:prstGeom prst="rect">
            <a:avLst/>
          </a:prstGeom>
          <a:solidFill>
            <a:srgbClr val="DDD7CA"/>
          </a:solidFill>
          <a:ln>
            <a:noFill/>
          </a:ln>
        </p:spPr>
        <p:txBody>
          <a:bodyPr rtlCol="0" anchor="ctr"/>
          <a:lstStyle/>
          <a:p>
            <a:pPr algn="ctr"/>
          </a:p>
        </p:txBody>
      </p:sp>
      <p:sp>
        <p:nvSpPr>
          <p:cNvPr id="34" name="Text 33"/>
          <p:cNvSpPr txBox="1"/>
          <p:nvPr/>
        </p:nvSpPr>
        <p:spPr>
          <a:xfrm>
            <a:off x="7298039" y="2286349"/>
            <a:ext cx="282386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حماية تطبيقات الويب الخارجية وتوثيقها واعتمادها</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2-15-1</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2863652"/>
            <a:ext cx="2995513"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995513"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293782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التطبيقات وحالة امتثال كل منها</a:t>
            </a:r>
          </a:p>
        </p:txBody>
      </p:sp>
      <p:sp>
        <p:nvSpPr>
          <p:cNvPr id="41" name="Rule 40"/>
          <p:cNvSpPr/>
          <p:nvPr/>
        </p:nvSpPr>
        <p:spPr>
          <a:xfrm>
            <a:off x="3808313" y="3508772"/>
            <a:ext cx="3444974" cy="6350"/>
          </a:xfrm>
          <a:prstGeom prst="rect">
            <a:avLst/>
          </a:prstGeom>
          <a:solidFill>
            <a:srgbClr val="DDD7CA"/>
          </a:solidFill>
          <a:ln>
            <a:noFill/>
          </a:ln>
        </p:spPr>
        <p:txBody>
          <a:bodyPr rtlCol="0" anchor="ctr"/>
          <a:lstStyle/>
          <a:p>
            <a:pPr algn="ctr"/>
          </a:p>
        </p:txBody>
      </p:sp>
      <p:sp>
        <p:nvSpPr>
          <p:cNvPr id="42" name="Text 41"/>
          <p:cNvSpPr txBox="1"/>
          <p:nvPr/>
        </p:nvSpPr>
        <p:spPr>
          <a:xfrm>
            <a:off x="3839584" y="293782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حصر كل تطبيقات الويب الخارجية، وتطبيق المعيار على كل منها</a:t>
            </a:r>
          </a:p>
        </p:txBody>
      </p:sp>
      <p:sp>
        <p:nvSpPr>
          <p:cNvPr id="43" name="Rule 42"/>
          <p:cNvSpPr/>
          <p:nvPr/>
        </p:nvSpPr>
        <p:spPr>
          <a:xfrm>
            <a:off x="7253288" y="3508772"/>
            <a:ext cx="2995612" cy="6350"/>
          </a:xfrm>
          <a:prstGeom prst="rect">
            <a:avLst/>
          </a:prstGeom>
          <a:solidFill>
            <a:srgbClr val="DDD7CA"/>
          </a:solidFill>
          <a:ln>
            <a:noFill/>
          </a:ln>
        </p:spPr>
        <p:txBody>
          <a:bodyPr rtlCol="0" anchor="ctr"/>
          <a:lstStyle/>
          <a:p>
            <a:pPr algn="ctr"/>
          </a:p>
        </p:txBody>
      </p:sp>
      <p:sp>
        <p:nvSpPr>
          <p:cNvPr id="44" name="Text 43"/>
          <p:cNvSpPr txBox="1"/>
          <p:nvPr/>
        </p:nvSpPr>
        <p:spPr>
          <a:xfrm>
            <a:off x="7278688" y="293782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248900"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2-15-2</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515122"/>
            <a:ext cx="2995513"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2995513" cy="6350"/>
          </a:xfrm>
          <a:prstGeom prst="rect">
            <a:avLst/>
          </a:prstGeom>
          <a:solidFill>
            <a:srgbClr val="DDD7CA"/>
          </a:solidFill>
          <a:ln>
            <a:noFill/>
          </a:ln>
        </p:spPr>
        <p:txBody>
          <a:bodyPr rtlCol="0" anchor="ctr"/>
          <a:lstStyle/>
          <a:p>
            <a:pPr algn="ctr"/>
          </a:p>
        </p:txBody>
      </p:sp>
      <p:sp>
        <p:nvSpPr>
          <p:cNvPr id="50" name="Text 49"/>
          <p:cNvSpPr txBox="1"/>
          <p:nvPr/>
        </p:nvSpPr>
        <p:spPr>
          <a:xfrm>
            <a:off x="857555" y="3589290"/>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التطبيقات المحمية مقابل كل التطبيقات، وإعدادات وضع المنع</a:t>
            </a:r>
          </a:p>
        </p:txBody>
      </p:sp>
      <p:sp>
        <p:nvSpPr>
          <p:cNvPr id="51" name="Rule 50"/>
          <p:cNvSpPr/>
          <p:nvPr/>
        </p:nvSpPr>
        <p:spPr>
          <a:xfrm>
            <a:off x="3808313" y="4160242"/>
            <a:ext cx="3444974" cy="6350"/>
          </a:xfrm>
          <a:prstGeom prst="rect">
            <a:avLst/>
          </a:prstGeom>
          <a:solidFill>
            <a:srgbClr val="DDD7CA"/>
          </a:solidFill>
          <a:ln>
            <a:noFill/>
          </a:ln>
        </p:spPr>
        <p:txBody>
          <a:bodyPr rtlCol="0" anchor="ctr"/>
          <a:lstStyle/>
          <a:p>
            <a:pPr algn="ctr"/>
          </a:p>
        </p:txBody>
      </p:sp>
      <p:sp>
        <p:nvSpPr>
          <p:cNvPr id="52" name="Text 51"/>
          <p:cNvSpPr txBox="1"/>
          <p:nvPr/>
        </p:nvSpPr>
        <p:spPr>
          <a:xfrm>
            <a:off x="3839584" y="358929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كل تطبيق خارجي خلف جدار حماية بوضع المنع وقواعد محدثة</a:t>
            </a:r>
          </a:p>
        </p:txBody>
      </p:sp>
      <p:sp>
        <p:nvSpPr>
          <p:cNvPr id="53" name="Rule 52"/>
          <p:cNvSpPr/>
          <p:nvPr/>
        </p:nvSpPr>
        <p:spPr>
          <a:xfrm>
            <a:off x="7253288" y="4160242"/>
            <a:ext cx="2995612" cy="6350"/>
          </a:xfrm>
          <a:prstGeom prst="rect">
            <a:avLst/>
          </a:prstGeom>
          <a:solidFill>
            <a:srgbClr val="DDD7CA"/>
          </a:solidFill>
          <a:ln>
            <a:noFill/>
          </a:ln>
        </p:spPr>
        <p:txBody>
          <a:bodyPr rtlCol="0" anchor="ctr"/>
          <a:lstStyle/>
          <a:p>
            <a:pPr algn="ctr"/>
          </a:p>
        </p:txBody>
      </p:sp>
      <p:sp>
        <p:nvSpPr>
          <p:cNvPr id="54" name="Text 53"/>
          <p:cNvSpPr txBox="1"/>
          <p:nvPr/>
        </p:nvSpPr>
        <p:spPr>
          <a:xfrm>
            <a:off x="7278688" y="358929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استخدام جدار حماية تطبيقات الويب (WAF)</a:t>
            </a:r>
          </a:p>
        </p:txBody>
      </p:sp>
      <p:sp>
        <p:nvSpPr>
          <p:cNvPr id="55" name="Rule 54"/>
          <p:cNvSpPr/>
          <p:nvPr/>
        </p:nvSpPr>
        <p:spPr>
          <a:xfrm>
            <a:off x="10248900" y="416024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840"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2-15-3-1</a:t>
            </a:r>
          </a:p>
        </p:txBody>
      </p:sp>
      <p:sp>
        <p:nvSpPr>
          <p:cNvPr id="57" name="Text 56"/>
          <p:cNvSpPr txBox="1"/>
          <p:nvPr/>
        </p:nvSpPr>
        <p:spPr>
          <a:xfrm>
            <a:off x="10284460"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166592"/>
            <a:ext cx="2995513" cy="629841"/>
          </a:xfrm>
          <a:prstGeom prst="rect">
            <a:avLst/>
          </a:prstGeom>
          <a:solidFill>
            <a:srgbClr val="E1EAF4"/>
          </a:solidFill>
          <a:ln>
            <a:noFill/>
          </a:ln>
        </p:spPr>
        <p:txBody>
          <a:bodyPr rtlCol="0" anchor="ctr"/>
          <a:lstStyle/>
          <a:p>
            <a:pPr algn="ctr"/>
          </a:p>
        </p:txBody>
      </p:sp>
      <p:sp>
        <p:nvSpPr>
          <p:cNvPr id="59" name="Rule 58"/>
          <p:cNvSpPr/>
          <p:nvPr/>
        </p:nvSpPr>
        <p:spPr>
          <a:xfrm>
            <a:off x="812800" y="4790083"/>
            <a:ext cx="2995513"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24076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61" name="Rule 60"/>
          <p:cNvSpPr/>
          <p:nvPr/>
        </p:nvSpPr>
        <p:spPr>
          <a:xfrm>
            <a:off x="3808313" y="4790083"/>
            <a:ext cx="3444974" cy="6350"/>
          </a:xfrm>
          <a:prstGeom prst="rect">
            <a:avLst/>
          </a:prstGeom>
          <a:solidFill>
            <a:srgbClr val="DDD7CA"/>
          </a:solidFill>
          <a:ln>
            <a:noFill/>
          </a:ln>
        </p:spPr>
        <p:txBody>
          <a:bodyPr rtlCol="0" anchor="ctr"/>
          <a:lstStyle/>
          <a:p>
            <a:pPr algn="ctr"/>
          </a:p>
        </p:txBody>
      </p:sp>
      <p:sp>
        <p:nvSpPr>
          <p:cNvPr id="62" name="Text 61"/>
          <p:cNvSpPr txBox="1"/>
          <p:nvPr/>
        </p:nvSpPr>
        <p:spPr>
          <a:xfrm>
            <a:off x="3833713" y="4240760"/>
            <a:ext cx="329257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المعيار وحالة امتثال التطبيقات ونتائج اختبارها</a:t>
            </a:r>
          </a:p>
        </p:txBody>
      </p:sp>
      <p:sp>
        <p:nvSpPr>
          <p:cNvPr id="63" name="Rule 62"/>
          <p:cNvSpPr/>
          <p:nvPr/>
        </p:nvSpPr>
        <p:spPr>
          <a:xfrm>
            <a:off x="7253288" y="4790083"/>
            <a:ext cx="2995612" cy="6350"/>
          </a:xfrm>
          <a:prstGeom prst="rect">
            <a:avLst/>
          </a:prstGeom>
          <a:solidFill>
            <a:srgbClr val="DDD7CA"/>
          </a:solidFill>
          <a:ln>
            <a:noFill/>
          </a:ln>
        </p:spPr>
        <p:txBody>
          <a:bodyPr rtlCol="0" anchor="ctr"/>
          <a:lstStyle/>
          <a:p>
            <a:pPr algn="ctr"/>
          </a:p>
        </p:txBody>
      </p:sp>
      <p:sp>
        <p:nvSpPr>
          <p:cNvPr id="64" name="Text 63"/>
          <p:cNvSpPr txBox="1"/>
          <p:nvPr/>
        </p:nvSpPr>
        <p:spPr>
          <a:xfrm>
            <a:off x="7278688" y="424076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65" name="Rule 64"/>
          <p:cNvSpPr/>
          <p:nvPr/>
        </p:nvSpPr>
        <p:spPr>
          <a:xfrm>
            <a:off x="10248900" y="4790083"/>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840" y="425746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2-15-4</a:t>
            </a:r>
          </a:p>
        </p:txBody>
      </p:sp>
      <p:sp>
        <p:nvSpPr>
          <p:cNvPr id="67" name="Text 66"/>
          <p:cNvSpPr txBox="1"/>
          <p:nvPr/>
        </p:nvSpPr>
        <p:spPr>
          <a:xfrm>
            <a:off x="10284460" y="446299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396909" y="812800"/>
            <a:ext cx="1982291"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‎2-15‎ · حماية تطبيقات الويب</a:t>
            </a:r>
          </a:p>
        </p:txBody>
      </p:sp>
      <p:sp>
        <p:nvSpPr>
          <p:cNvPr id="4" name="Text 3"/>
          <p:cNvSpPr txBox="1"/>
          <p:nvPr/>
        </p:nvSpPr>
        <p:spPr>
          <a:xfrm>
            <a:off x="787371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502620"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المعمارية والبروتوكولات والتحقق</a:t>
            </a:r>
          </a:p>
        </p:txBody>
      </p:sp>
      <p:sp>
        <p:nvSpPr>
          <p:cNvPr id="20" name="Rule 19"/>
          <p:cNvSpPr/>
          <p:nvPr/>
        </p:nvSpPr>
        <p:spPr>
          <a:xfrm>
            <a:off x="812800" y="2193131"/>
            <a:ext cx="2995513" cy="19050"/>
          </a:xfrm>
          <a:prstGeom prst="rect">
            <a:avLst/>
          </a:prstGeom>
          <a:solidFill>
            <a:srgbClr val="1D5B9E"/>
          </a:solidFill>
          <a:ln>
            <a:noFill/>
          </a:ln>
        </p:spPr>
        <p:txBody>
          <a:bodyPr rtlCol="0" anchor="ctr"/>
          <a:lstStyle/>
          <a:p>
            <a:pPr algn="ctr"/>
          </a:p>
        </p:txBody>
      </p:sp>
      <p:sp>
        <p:nvSpPr>
          <p:cNvPr id="21" name="Text 20"/>
          <p:cNvSpPr txBox="1"/>
          <p:nvPr/>
        </p:nvSpPr>
        <p:spPr>
          <a:xfrm>
            <a:off x="838200" y="1892689"/>
            <a:ext cx="284311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الدليل</a:t>
            </a:r>
          </a:p>
        </p:txBody>
      </p:sp>
      <p:sp>
        <p:nvSpPr>
          <p:cNvPr id="22" name="Rule 21"/>
          <p:cNvSpPr/>
          <p:nvPr/>
        </p:nvSpPr>
        <p:spPr>
          <a:xfrm>
            <a:off x="3808313" y="2193131"/>
            <a:ext cx="3444974" cy="19050"/>
          </a:xfrm>
          <a:prstGeom prst="rect">
            <a:avLst/>
          </a:prstGeom>
          <a:solidFill>
            <a:srgbClr val="1D5B9E"/>
          </a:solidFill>
          <a:ln>
            <a:noFill/>
          </a:ln>
        </p:spPr>
        <p:txBody>
          <a:bodyPr rtlCol="0" anchor="ctr"/>
          <a:lstStyle/>
          <a:p>
            <a:pPr algn="ctr"/>
          </a:p>
        </p:txBody>
      </p:sp>
      <p:sp>
        <p:nvSpPr>
          <p:cNvPr id="23" name="Text 22"/>
          <p:cNvSpPr txBox="1"/>
          <p:nvPr/>
        </p:nvSpPr>
        <p:spPr>
          <a:xfrm>
            <a:off x="3833713" y="1892689"/>
            <a:ext cx="329257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253288" y="2193131"/>
            <a:ext cx="2995612" cy="19050"/>
          </a:xfrm>
          <a:prstGeom prst="rect">
            <a:avLst/>
          </a:prstGeom>
          <a:solidFill>
            <a:srgbClr val="1D5B9E"/>
          </a:solidFill>
          <a:ln>
            <a:noFill/>
          </a:ln>
        </p:spPr>
        <p:txBody>
          <a:bodyPr rtlCol="0" anchor="ctr"/>
          <a:lstStyle/>
          <a:p>
            <a:pPr algn="ctr"/>
          </a:p>
        </p:txBody>
      </p:sp>
      <p:sp>
        <p:nvSpPr>
          <p:cNvPr id="25" name="Text 24"/>
          <p:cNvSpPr txBox="1"/>
          <p:nvPr/>
        </p:nvSpPr>
        <p:spPr>
          <a:xfrm>
            <a:off x="7278688" y="1892689"/>
            <a:ext cx="284321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248900" y="2193131"/>
            <a:ext cx="1130300" cy="19050"/>
          </a:xfrm>
          <a:prstGeom prst="rect">
            <a:avLst/>
          </a:prstGeom>
          <a:solidFill>
            <a:srgbClr val="1D5B9E"/>
          </a:solidFill>
          <a:ln>
            <a:noFill/>
          </a:ln>
        </p:spPr>
        <p:txBody>
          <a:bodyPr rtlCol="0" anchor="ctr"/>
          <a:lstStyle/>
          <a:p>
            <a:pPr algn="ctr"/>
          </a:p>
        </p:txBody>
      </p:sp>
      <p:sp>
        <p:nvSpPr>
          <p:cNvPr id="27" name="Text 26"/>
          <p:cNvSpPr txBox="1"/>
          <p:nvPr/>
        </p:nvSpPr>
        <p:spPr>
          <a:xfrm>
            <a:off x="10284460" y="1892689"/>
            <a:ext cx="9677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995513" cy="651470"/>
          </a:xfrm>
          <a:prstGeom prst="rect">
            <a:avLst/>
          </a:prstGeom>
          <a:solidFill>
            <a:srgbClr val="E1EAF4"/>
          </a:solidFill>
          <a:ln>
            <a:noFill/>
          </a:ln>
        </p:spPr>
        <p:txBody>
          <a:bodyPr rtlCol="0" anchor="ctr"/>
          <a:lstStyle/>
          <a:p>
            <a:pPr algn="ctr"/>
          </a:p>
        </p:txBody>
      </p:sp>
      <p:sp>
        <p:nvSpPr>
          <p:cNvPr id="29" name="Rule 28"/>
          <p:cNvSpPr/>
          <p:nvPr/>
        </p:nvSpPr>
        <p:spPr>
          <a:xfrm>
            <a:off x="812800" y="2857302"/>
            <a:ext cx="2995513" cy="6350"/>
          </a:xfrm>
          <a:prstGeom prst="rect">
            <a:avLst/>
          </a:prstGeom>
          <a:solidFill>
            <a:srgbClr val="DDD7CA"/>
          </a:solidFill>
          <a:ln>
            <a:noFill/>
          </a:ln>
        </p:spPr>
        <p:txBody>
          <a:bodyPr rtlCol="0" anchor="ctr"/>
          <a:lstStyle/>
          <a:p>
            <a:pPr algn="ctr"/>
          </a:p>
        </p:txBody>
      </p:sp>
      <p:sp>
        <p:nvSpPr>
          <p:cNvPr id="30" name="Text 29"/>
          <p:cNvSpPr txBox="1"/>
          <p:nvPr/>
        </p:nvSpPr>
        <p:spPr>
          <a:xfrm>
            <a:off x="857555" y="2286349"/>
            <a:ext cx="282375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مخطط معمارية كل تطبيق، وقواعد الجدار الناري بين الطبقات</a:t>
            </a:r>
          </a:p>
        </p:txBody>
      </p:sp>
      <p:sp>
        <p:nvSpPr>
          <p:cNvPr id="31" name="Rule 30"/>
          <p:cNvSpPr/>
          <p:nvPr/>
        </p:nvSpPr>
        <p:spPr>
          <a:xfrm>
            <a:off x="3808313" y="2857302"/>
            <a:ext cx="3444974" cy="6350"/>
          </a:xfrm>
          <a:prstGeom prst="rect">
            <a:avLst/>
          </a:prstGeom>
          <a:solidFill>
            <a:srgbClr val="DDD7CA"/>
          </a:solidFill>
          <a:ln>
            <a:noFill/>
          </a:ln>
        </p:spPr>
        <p:txBody>
          <a:bodyPr rtlCol="0" anchor="ctr"/>
          <a:lstStyle/>
          <a:p>
            <a:pPr algn="ctr"/>
          </a:p>
        </p:txBody>
      </p:sp>
      <p:sp>
        <p:nvSpPr>
          <p:cNvPr id="32" name="Text 31"/>
          <p:cNvSpPr txBox="1"/>
          <p:nvPr/>
        </p:nvSpPr>
        <p:spPr>
          <a:xfrm>
            <a:off x="3839584" y="2286349"/>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فصل طبقات العرض والتطبيق وقواعد البيانات في مناطق شبكية مختلفة</a:t>
            </a:r>
          </a:p>
        </p:txBody>
      </p:sp>
      <p:sp>
        <p:nvSpPr>
          <p:cNvPr id="33" name="Rule 32"/>
          <p:cNvSpPr/>
          <p:nvPr/>
        </p:nvSpPr>
        <p:spPr>
          <a:xfrm>
            <a:off x="7253288" y="2857302"/>
            <a:ext cx="2995612" cy="6350"/>
          </a:xfrm>
          <a:prstGeom prst="rect">
            <a:avLst/>
          </a:prstGeom>
          <a:solidFill>
            <a:srgbClr val="DDD7CA"/>
          </a:solidFill>
          <a:ln>
            <a:noFill/>
          </a:ln>
        </p:spPr>
        <p:txBody>
          <a:bodyPr rtlCol="0" anchor="ctr"/>
          <a:lstStyle/>
          <a:p>
            <a:pPr algn="ctr"/>
          </a:p>
        </p:txBody>
      </p:sp>
      <p:sp>
        <p:nvSpPr>
          <p:cNvPr id="34" name="Text 33"/>
          <p:cNvSpPr txBox="1"/>
          <p:nvPr/>
        </p:nvSpPr>
        <p:spPr>
          <a:xfrm>
            <a:off x="7278688" y="2286349"/>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اعتماد مبدأ المعمارية متعددة المستويات</a:t>
            </a:r>
          </a:p>
        </p:txBody>
      </p:sp>
      <p:sp>
        <p:nvSpPr>
          <p:cNvPr id="35" name="Rule 34"/>
          <p:cNvSpPr/>
          <p:nvPr/>
        </p:nvSpPr>
        <p:spPr>
          <a:xfrm>
            <a:off x="10248900" y="2857302"/>
            <a:ext cx="1130300" cy="6350"/>
          </a:xfrm>
          <a:prstGeom prst="rect">
            <a:avLst/>
          </a:prstGeom>
          <a:solidFill>
            <a:srgbClr val="DDD7CA"/>
          </a:solidFill>
          <a:ln>
            <a:noFill/>
          </a:ln>
        </p:spPr>
        <p:txBody>
          <a:bodyPr rtlCol="0" anchor="ctr"/>
          <a:lstStyle/>
          <a:p>
            <a:pPr algn="ctr"/>
          </a:p>
        </p:txBody>
      </p:sp>
      <p:sp>
        <p:nvSpPr>
          <p:cNvPr id="36" name="Text 35"/>
          <p:cNvSpPr txBox="1"/>
          <p:nvPr/>
        </p:nvSpPr>
        <p:spPr>
          <a:xfrm>
            <a:off x="10276840" y="230305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2-15-3-2</a:t>
            </a:r>
          </a:p>
        </p:txBody>
      </p:sp>
      <p:sp>
        <p:nvSpPr>
          <p:cNvPr id="37" name="Text 36"/>
          <p:cNvSpPr txBox="1"/>
          <p:nvPr/>
        </p:nvSpPr>
        <p:spPr>
          <a:xfrm>
            <a:off x="10284460" y="2508579"/>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995513" cy="651470"/>
          </a:xfrm>
          <a:prstGeom prst="rect">
            <a:avLst/>
          </a:prstGeom>
          <a:solidFill>
            <a:srgbClr val="E1EAF4"/>
          </a:solidFill>
          <a:ln>
            <a:noFill/>
          </a:ln>
        </p:spPr>
        <p:txBody>
          <a:bodyPr rtlCol="0" anchor="ctr"/>
          <a:lstStyle/>
          <a:p>
            <a:pPr algn="ctr"/>
          </a:p>
        </p:txBody>
      </p:sp>
      <p:sp>
        <p:nvSpPr>
          <p:cNvPr id="39" name="Rule 38"/>
          <p:cNvSpPr/>
          <p:nvPr/>
        </p:nvSpPr>
        <p:spPr>
          <a:xfrm>
            <a:off x="812800" y="3508772"/>
            <a:ext cx="2995513" cy="6350"/>
          </a:xfrm>
          <a:prstGeom prst="rect">
            <a:avLst/>
          </a:prstGeom>
          <a:solidFill>
            <a:srgbClr val="DDD7CA"/>
          </a:solidFill>
          <a:ln>
            <a:noFill/>
          </a:ln>
        </p:spPr>
        <p:txBody>
          <a:bodyPr rtlCol="0" anchor="ctr"/>
          <a:lstStyle/>
          <a:p>
            <a:pPr algn="ctr"/>
          </a:p>
        </p:txBody>
      </p:sp>
      <p:sp>
        <p:nvSpPr>
          <p:cNvPr id="40" name="Text 39"/>
          <p:cNvSpPr txBox="1"/>
          <p:nvPr/>
        </p:nvSpPr>
        <p:spPr>
          <a:xfrm>
            <a:off x="838200" y="293782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نتيجة فحص خارجي لإعدادات التشفير لكل تطبيق</a:t>
            </a:r>
          </a:p>
        </p:txBody>
      </p:sp>
      <p:sp>
        <p:nvSpPr>
          <p:cNvPr id="41" name="Rule 40"/>
          <p:cNvSpPr/>
          <p:nvPr/>
        </p:nvSpPr>
        <p:spPr>
          <a:xfrm>
            <a:off x="3808313" y="3508772"/>
            <a:ext cx="3444974" cy="6350"/>
          </a:xfrm>
          <a:prstGeom prst="rect">
            <a:avLst/>
          </a:prstGeom>
          <a:solidFill>
            <a:srgbClr val="DDD7CA"/>
          </a:solidFill>
          <a:ln>
            <a:noFill/>
          </a:ln>
        </p:spPr>
        <p:txBody>
          <a:bodyPr rtlCol="0" anchor="ctr"/>
          <a:lstStyle/>
          <a:p>
            <a:pPr algn="ctr"/>
          </a:p>
        </p:txBody>
      </p:sp>
      <p:sp>
        <p:nvSpPr>
          <p:cNvPr id="42" name="Text 41"/>
          <p:cNvSpPr txBox="1"/>
          <p:nvPr/>
        </p:nvSpPr>
        <p:spPr>
          <a:xfrm>
            <a:off x="3839584" y="293782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HTTPS إلزامي مع إعادة توجيه، وإعدادات تشفير وفق المعايير الوطنية للتشفير</a:t>
            </a:r>
          </a:p>
        </p:txBody>
      </p:sp>
      <p:sp>
        <p:nvSpPr>
          <p:cNvPr id="43" name="Rule 42"/>
          <p:cNvSpPr/>
          <p:nvPr/>
        </p:nvSpPr>
        <p:spPr>
          <a:xfrm>
            <a:off x="7253288" y="3508772"/>
            <a:ext cx="2995612" cy="6350"/>
          </a:xfrm>
          <a:prstGeom prst="rect">
            <a:avLst/>
          </a:prstGeom>
          <a:solidFill>
            <a:srgbClr val="DDD7CA"/>
          </a:solidFill>
          <a:ln>
            <a:noFill/>
          </a:ln>
        </p:spPr>
        <p:txBody>
          <a:bodyPr rtlCol="0" anchor="ctr"/>
          <a:lstStyle/>
          <a:p>
            <a:pPr algn="ctr"/>
          </a:p>
        </p:txBody>
      </p:sp>
      <p:sp>
        <p:nvSpPr>
          <p:cNvPr id="44" name="Text 43"/>
          <p:cNvSpPr txBox="1"/>
          <p:nvPr/>
        </p:nvSpPr>
        <p:spPr>
          <a:xfrm>
            <a:off x="7278688" y="293782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استخدام بروتوكولات آمنة مثل HTTPS</a:t>
            </a:r>
          </a:p>
        </p:txBody>
      </p:sp>
      <p:sp>
        <p:nvSpPr>
          <p:cNvPr id="45" name="Rule 44"/>
          <p:cNvSpPr/>
          <p:nvPr/>
        </p:nvSpPr>
        <p:spPr>
          <a:xfrm>
            <a:off x="10248900" y="3508772"/>
            <a:ext cx="1130300" cy="6350"/>
          </a:xfrm>
          <a:prstGeom prst="rect">
            <a:avLst/>
          </a:prstGeom>
          <a:solidFill>
            <a:srgbClr val="DDD7CA"/>
          </a:solidFill>
          <a:ln>
            <a:noFill/>
          </a:ln>
        </p:spPr>
        <p:txBody>
          <a:bodyPr rtlCol="0" anchor="ctr"/>
          <a:lstStyle/>
          <a:p>
            <a:pPr algn="ctr"/>
          </a:p>
        </p:txBody>
      </p:sp>
      <p:sp>
        <p:nvSpPr>
          <p:cNvPr id="46" name="Text 45"/>
          <p:cNvSpPr txBox="1"/>
          <p:nvPr/>
        </p:nvSpPr>
        <p:spPr>
          <a:xfrm>
            <a:off x="10276840" y="295452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2-15-3-3</a:t>
            </a:r>
          </a:p>
        </p:txBody>
      </p:sp>
      <p:sp>
        <p:nvSpPr>
          <p:cNvPr id="47" name="Text 46"/>
          <p:cNvSpPr txBox="1"/>
          <p:nvPr/>
        </p:nvSpPr>
        <p:spPr>
          <a:xfrm>
            <a:off x="10284460" y="316005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12800" y="3515122"/>
            <a:ext cx="2995513" cy="651470"/>
          </a:xfrm>
          <a:prstGeom prst="rect">
            <a:avLst/>
          </a:prstGeom>
          <a:solidFill>
            <a:srgbClr val="E1EAF4"/>
          </a:solidFill>
          <a:ln>
            <a:noFill/>
          </a:ln>
        </p:spPr>
        <p:txBody>
          <a:bodyPr rtlCol="0" anchor="ctr"/>
          <a:lstStyle/>
          <a:p>
            <a:pPr algn="ctr"/>
          </a:p>
        </p:txBody>
      </p:sp>
      <p:sp>
        <p:nvSpPr>
          <p:cNvPr id="49" name="Rule 48"/>
          <p:cNvSpPr/>
          <p:nvPr/>
        </p:nvSpPr>
        <p:spPr>
          <a:xfrm>
            <a:off x="812800" y="4160242"/>
            <a:ext cx="2995513"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58929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رابط السياسة في كل تطبيق</a:t>
            </a:r>
          </a:p>
        </p:txBody>
      </p:sp>
      <p:sp>
        <p:nvSpPr>
          <p:cNvPr id="51" name="Rule 50"/>
          <p:cNvSpPr/>
          <p:nvPr/>
        </p:nvSpPr>
        <p:spPr>
          <a:xfrm>
            <a:off x="3808313" y="4160242"/>
            <a:ext cx="3444974" cy="6350"/>
          </a:xfrm>
          <a:prstGeom prst="rect">
            <a:avLst/>
          </a:prstGeom>
          <a:solidFill>
            <a:srgbClr val="DDD7CA"/>
          </a:solidFill>
          <a:ln>
            <a:noFill/>
          </a:ln>
        </p:spPr>
        <p:txBody>
          <a:bodyPr rtlCol="0" anchor="ctr"/>
          <a:lstStyle/>
          <a:p>
            <a:pPr algn="ctr"/>
          </a:p>
        </p:txBody>
      </p:sp>
      <p:sp>
        <p:nvSpPr>
          <p:cNvPr id="52" name="Text 51"/>
          <p:cNvSpPr txBox="1"/>
          <p:nvPr/>
        </p:nvSpPr>
        <p:spPr>
          <a:xfrm>
            <a:off x="3839584" y="3589290"/>
            <a:ext cx="3286703"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استخدام منشورة في التطبيق، وإرشادات أمان للمستخدمين</a:t>
            </a:r>
          </a:p>
        </p:txBody>
      </p:sp>
      <p:sp>
        <p:nvSpPr>
          <p:cNvPr id="53" name="Rule 52"/>
          <p:cNvSpPr/>
          <p:nvPr/>
        </p:nvSpPr>
        <p:spPr>
          <a:xfrm>
            <a:off x="7253288" y="4160242"/>
            <a:ext cx="2995612" cy="6350"/>
          </a:xfrm>
          <a:prstGeom prst="rect">
            <a:avLst/>
          </a:prstGeom>
          <a:solidFill>
            <a:srgbClr val="DDD7CA"/>
          </a:solidFill>
          <a:ln>
            <a:noFill/>
          </a:ln>
        </p:spPr>
        <p:txBody>
          <a:bodyPr rtlCol="0" anchor="ctr"/>
          <a:lstStyle/>
          <a:p>
            <a:pPr algn="ctr"/>
          </a:p>
        </p:txBody>
      </p:sp>
      <p:sp>
        <p:nvSpPr>
          <p:cNvPr id="54" name="Text 53"/>
          <p:cNvSpPr txBox="1"/>
          <p:nvPr/>
        </p:nvSpPr>
        <p:spPr>
          <a:xfrm>
            <a:off x="7278688" y="3589290"/>
            <a:ext cx="284321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توضيح سياسة الاستخدام الآمن للمستخدمين</a:t>
            </a:r>
          </a:p>
        </p:txBody>
      </p:sp>
      <p:sp>
        <p:nvSpPr>
          <p:cNvPr id="55" name="Rule 54"/>
          <p:cNvSpPr/>
          <p:nvPr/>
        </p:nvSpPr>
        <p:spPr>
          <a:xfrm>
            <a:off x="10248900" y="4160242"/>
            <a:ext cx="1130300" cy="6350"/>
          </a:xfrm>
          <a:prstGeom prst="rect">
            <a:avLst/>
          </a:prstGeom>
          <a:solidFill>
            <a:srgbClr val="DDD7CA"/>
          </a:solidFill>
          <a:ln>
            <a:noFill/>
          </a:ln>
        </p:spPr>
        <p:txBody>
          <a:bodyPr rtlCol="0" anchor="ctr"/>
          <a:lstStyle/>
          <a:p>
            <a:pPr algn="ctr"/>
          </a:p>
        </p:txBody>
      </p:sp>
      <p:sp>
        <p:nvSpPr>
          <p:cNvPr id="56" name="Text 55"/>
          <p:cNvSpPr txBox="1"/>
          <p:nvPr/>
        </p:nvSpPr>
        <p:spPr>
          <a:xfrm>
            <a:off x="10276840" y="3605990"/>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2-15-3-4</a:t>
            </a:r>
          </a:p>
        </p:txBody>
      </p:sp>
      <p:sp>
        <p:nvSpPr>
          <p:cNvPr id="57" name="Text 56"/>
          <p:cNvSpPr txBox="1"/>
          <p:nvPr/>
        </p:nvSpPr>
        <p:spPr>
          <a:xfrm>
            <a:off x="10284460" y="381152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166592"/>
            <a:ext cx="2995513" cy="872430"/>
          </a:xfrm>
          <a:prstGeom prst="rect">
            <a:avLst/>
          </a:prstGeom>
          <a:solidFill>
            <a:srgbClr val="E1EAF4"/>
          </a:solidFill>
          <a:ln>
            <a:noFill/>
          </a:ln>
        </p:spPr>
        <p:txBody>
          <a:bodyPr rtlCol="0" anchor="ctr"/>
          <a:lstStyle/>
          <a:p>
            <a:pPr algn="ctr"/>
          </a:p>
        </p:txBody>
      </p:sp>
      <p:sp>
        <p:nvSpPr>
          <p:cNvPr id="59" name="Rule 58"/>
          <p:cNvSpPr/>
          <p:nvPr/>
        </p:nvSpPr>
        <p:spPr>
          <a:xfrm>
            <a:off x="812800" y="5032673"/>
            <a:ext cx="2995513"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240760"/>
            <a:ext cx="284311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الأثر لكل تطبيق، وإعدادات التحقق المطبقة</a:t>
            </a:r>
          </a:p>
        </p:txBody>
      </p:sp>
      <p:sp>
        <p:nvSpPr>
          <p:cNvPr id="61" name="Rule 60"/>
          <p:cNvSpPr/>
          <p:nvPr/>
        </p:nvSpPr>
        <p:spPr>
          <a:xfrm>
            <a:off x="3808313" y="5032673"/>
            <a:ext cx="3444974" cy="6350"/>
          </a:xfrm>
          <a:prstGeom prst="rect">
            <a:avLst/>
          </a:prstGeom>
          <a:solidFill>
            <a:srgbClr val="DDD7CA"/>
          </a:solidFill>
          <a:ln>
            <a:noFill/>
          </a:ln>
        </p:spPr>
        <p:txBody>
          <a:bodyPr rtlCol="0" anchor="ctr"/>
          <a:lstStyle/>
          <a:p>
            <a:pPr algn="ctr"/>
          </a:p>
        </p:txBody>
      </p:sp>
      <p:sp>
        <p:nvSpPr>
          <p:cNvPr id="62" name="Text 61"/>
          <p:cNvSpPr txBox="1"/>
          <p:nvPr/>
        </p:nvSpPr>
        <p:spPr>
          <a:xfrm>
            <a:off x="3839584" y="4240760"/>
            <a:ext cx="3286703"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أثر لكل تطبيق ثم مستوى التحقق المناسب، كالتحقق متعدد العوامل أو التكامل مع النفاذ الوطني الموحد حيث يناسب</a:t>
            </a:r>
          </a:p>
        </p:txBody>
      </p:sp>
      <p:sp>
        <p:nvSpPr>
          <p:cNvPr id="63" name="Rule 62"/>
          <p:cNvSpPr/>
          <p:nvPr/>
        </p:nvSpPr>
        <p:spPr>
          <a:xfrm>
            <a:off x="7253288" y="5032673"/>
            <a:ext cx="2995612" cy="6350"/>
          </a:xfrm>
          <a:prstGeom prst="rect">
            <a:avLst/>
          </a:prstGeom>
          <a:solidFill>
            <a:srgbClr val="DDD7CA"/>
          </a:solidFill>
          <a:ln>
            <a:noFill/>
          </a:ln>
        </p:spPr>
        <p:txBody>
          <a:bodyPr rtlCol="0" anchor="ctr"/>
          <a:lstStyle/>
          <a:p>
            <a:pPr algn="ctr"/>
          </a:p>
        </p:txBody>
      </p:sp>
      <p:sp>
        <p:nvSpPr>
          <p:cNvPr id="64" name="Text 63"/>
          <p:cNvSpPr txBox="1"/>
          <p:nvPr/>
        </p:nvSpPr>
        <p:spPr>
          <a:xfrm>
            <a:off x="7298039" y="4240760"/>
            <a:ext cx="2823861"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التحقق من هوية المستخدمين بعوامل وتقنيات يحددها تقييم أثر فشل التحقق أو تجاوزه</a:t>
            </a:r>
          </a:p>
        </p:txBody>
      </p:sp>
      <p:sp>
        <p:nvSpPr>
          <p:cNvPr id="65" name="Rule 64"/>
          <p:cNvSpPr/>
          <p:nvPr/>
        </p:nvSpPr>
        <p:spPr>
          <a:xfrm>
            <a:off x="10248900" y="5032673"/>
            <a:ext cx="1130300" cy="6350"/>
          </a:xfrm>
          <a:prstGeom prst="rect">
            <a:avLst/>
          </a:prstGeom>
          <a:solidFill>
            <a:srgbClr val="DDD7CA"/>
          </a:solidFill>
          <a:ln>
            <a:noFill/>
          </a:ln>
        </p:spPr>
        <p:txBody>
          <a:bodyPr rtlCol="0" anchor="ctr"/>
          <a:lstStyle/>
          <a:p>
            <a:pPr algn="ctr"/>
          </a:p>
        </p:txBody>
      </p:sp>
      <p:sp>
        <p:nvSpPr>
          <p:cNvPr id="66" name="Text 65"/>
          <p:cNvSpPr txBox="1"/>
          <p:nvPr/>
        </p:nvSpPr>
        <p:spPr>
          <a:xfrm>
            <a:off x="10276840" y="4257461"/>
            <a:ext cx="9753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1D5B9E"/>
                </a:solidFill>
                <a:latin typeface="IBM Plex Mono"/>
                <a:ea typeface="IBM Plex Mono"/>
                <a:cs typeface="IBM Plex Mono"/>
              </a:rPr>
              <a:t>2-15-3-5</a:t>
            </a:r>
          </a:p>
        </p:txBody>
      </p:sp>
      <p:sp>
        <p:nvSpPr>
          <p:cNvPr id="67" name="Text 66"/>
          <p:cNvSpPr txBox="1"/>
          <p:nvPr/>
        </p:nvSpPr>
        <p:spPr>
          <a:xfrm>
            <a:off x="10284460" y="4462990"/>
            <a:ext cx="9677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75" name="Box 74"/>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396909" y="812800"/>
            <a:ext cx="1982291"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‎2-15‎ · حماية تطبيقات الويب</a:t>
            </a:r>
          </a:p>
        </p:txBody>
      </p:sp>
      <p:sp>
        <p:nvSpPr>
          <p:cNvPr id="4" name="Text 3"/>
          <p:cNvSpPr txBox="1"/>
          <p:nvPr/>
        </p:nvSpPr>
        <p:spPr>
          <a:xfrm>
            <a:off x="7873718" y="827278"/>
            <a:ext cx="140889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06 · التعزيز (2)</a:t>
            </a:r>
          </a:p>
        </p:txBody>
      </p:sp>
      <p:sp>
        <p:nvSpPr>
          <p:cNvPr id="5" name="Box 4"/>
          <p:cNvSpPr/>
          <p:nvPr/>
        </p:nvSpPr>
        <p:spPr>
          <a:xfrm>
            <a:off x="3022898" y="821035"/>
            <a:ext cx="823416"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1D5B9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E1EAF4"/>
          </a:solidFill>
          <a:ln w="6350">
            <a:solidFill>
              <a:srgbClr val="E1EAF4"/>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1D5B9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1D5B9E"/>
          </a:solidFill>
          <a:ln w="6350">
            <a:solidFill>
              <a:srgbClr val="1D5B9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1D5B9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سجل تطبيقات الويب الخارجية</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297664" y="1852811"/>
            <a:ext cx="72648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2-15-2</a:t>
            </a:r>
          </a:p>
        </p:txBody>
      </p:sp>
      <p:sp>
        <p:nvSpPr>
          <p:cNvPr id="23" name="Text box 22"/>
          <p:cNvSpPr/>
          <p:nvPr/>
        </p:nvSpPr>
        <p:spPr>
          <a:xfrm>
            <a:off x="7324824" y="1852811"/>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2-15-3-1</a:t>
            </a:r>
          </a:p>
        </p:txBody>
      </p:sp>
      <p:sp>
        <p:nvSpPr>
          <p:cNvPr id="24" name="Text box 23"/>
          <p:cNvSpPr/>
          <p:nvPr/>
        </p:nvSpPr>
        <p:spPr>
          <a:xfrm>
            <a:off x="10469860" y="2190552"/>
            <a:ext cx="909340" cy="274241"/>
          </a:xfrm>
          <a:prstGeom prst="roundRect">
            <a:avLst>
              <a:gd name="adj" fmla="val 27785"/>
            </a:avLst>
          </a:prstGeom>
          <a:solidFill>
            <a:srgbClr val="E1EAF4"/>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1D5B9E"/>
                </a:solidFill>
                <a:latin typeface="IBM Plex Mono"/>
                <a:ea typeface="IBM Plex Mono"/>
                <a:cs typeface="IBM Plex Mono"/>
              </a:rPr>
              <a:t>2-15-3-5</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تطبيق ويب خارجي، وحالة الضوابط الأساسية عليه.</a:t>
            </a:r>
          </a:p>
        </p:txBody>
      </p:sp>
      <p:sp>
        <p:nvSpPr>
          <p:cNvPr id="29" name="Box 28"/>
          <p:cNvSpPr/>
          <p:nvPr/>
        </p:nvSpPr>
        <p:spPr>
          <a:xfrm>
            <a:off x="11125200" y="3173412"/>
            <a:ext cx="254000" cy="254000"/>
          </a:xfrm>
          <a:prstGeom prst="roundRect">
            <a:avLst>
              <a:gd name="adj" fmla="val 50000"/>
            </a:avLst>
          </a:prstGeom>
          <a:solidFill>
            <a:srgbClr val="1D5B9E"/>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تطبيقان منسيان بلا جدار حماية، أحدهما بلا تشفير.</a:t>
            </a:r>
          </a:p>
        </p:txBody>
      </p:sp>
      <p:sp>
        <p:nvSpPr>
          <p:cNvPr id="32" name="Box 31"/>
          <p:cNvSpPr/>
          <p:nvPr/>
        </p:nvSpPr>
        <p:spPr>
          <a:xfrm>
            <a:off x="11125200" y="3490912"/>
            <a:ext cx="254000" cy="254000"/>
          </a:xfrm>
          <a:prstGeom prst="roundRect">
            <a:avLst>
              <a:gd name="adj" fmla="val 50000"/>
            </a:avLst>
          </a:prstGeom>
          <a:solidFill>
            <a:srgbClr val="1D5B9E"/>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تطبيق خلف الجدار لكن بوضع المراقبة فقط.</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ما الذي يبحث عنه المقيّم</a:t>
            </a:r>
          </a:p>
        </p:txBody>
      </p:sp>
      <p:pic>
        <p:nvPicPr>
          <p:cNvPr id="37" name="Icon CheckCircle 36" descr="icon043.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الحصر جاء من فحص خارجي للنطاقات والعناوين، لا من الذاكرة.</a:t>
            </a:r>
          </a:p>
        </p:txBody>
      </p:sp>
      <p:pic>
        <p:nvPicPr>
          <p:cNvPr id="39" name="Icon CheckCircle 38" descr="icon043.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وضع المنع على كل تطبيق، أو مدة محددة للمراقبة.</a:t>
            </a:r>
          </a:p>
        </p:txBody>
      </p:sp>
      <p:pic>
        <p:nvPicPr>
          <p:cNvPr id="41" name="Icon CheckCircle 40" descr="icon043.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أثر يحدد مستوى التحقق لكل تطبيق (‎2-15-3-5‎).</a:t>
            </a:r>
          </a:p>
        </p:txBody>
      </p:sp>
      <p:sp>
        <p:nvSpPr>
          <p:cNvPr id="43" name="Box 42"/>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23483"/>
            <a:ext cx="190500" cy="190500"/>
          </a:xfrm>
          <a:prstGeom prst="rect">
            <a:avLst/>
          </a:prstGeom>
        </p:spPr>
      </p:pic>
      <p:sp>
        <p:nvSpPr>
          <p:cNvPr id="45" name="Text 44"/>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السجل يثبت حالة التطبيقات المحصورة، ولا يثبت اكتمال الحصر دون فحص خارجي لنطاقات الجهة.</a:t>
            </a:r>
          </a:p>
        </p:txBody>
      </p:sp>
      <p:sp>
        <p:nvSpPr>
          <p:cNvPr id="46" name="Box 45"/>
          <p:cNvSpPr/>
          <p:nvPr/>
        </p:nvSpPr>
        <p:spPr>
          <a:xfrm>
            <a:off x="815975" y="1855986"/>
            <a:ext cx="5556250" cy="2210098"/>
          </a:xfrm>
          <a:prstGeom prst="roundRect">
            <a:avLst>
              <a:gd name="adj" fmla="val 4583"/>
            </a:avLst>
          </a:prstGeom>
          <a:solidFill>
            <a:srgbClr val="FBFAF7"/>
          </a:solidFill>
          <a:ln w="6350">
            <a:solidFill>
              <a:srgbClr val="DDD7CA"/>
            </a:solidFill>
          </a:ln>
        </p:spPr>
        <p:txBody>
          <a:bodyPr rtlCol="0" anchor="ctr"/>
          <a:lstStyle/>
          <a:p>
            <a:pPr algn="ctr"/>
          </a:p>
        </p:txBody>
      </p:sp>
      <p:sp>
        <p:nvSpPr>
          <p:cNvPr id="47" name="Box 46"/>
          <p:cNvSpPr/>
          <p:nvPr/>
        </p:nvSpPr>
        <p:spPr>
          <a:xfrm>
            <a:off x="819150" y="1859161"/>
            <a:ext cx="55499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8" name="Box 47"/>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9" name="Box 48"/>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50" name="Box 49"/>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51" name="Text 50"/>
          <p:cNvSpPr txBox="1"/>
          <p:nvPr/>
        </p:nvSpPr>
        <p:spPr>
          <a:xfrm>
            <a:off x="2747149" y="1919359"/>
            <a:ext cx="3494901"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سجل تطبيقات الويب الخارجية وحالة حمايتها · ‎2026-09‎</a:t>
            </a:r>
          </a:p>
        </p:txBody>
      </p:sp>
      <p:graphicFrame>
        <p:nvGraphicFramePr>
          <p:cNvPr id="52" name="Table 51"/>
          <p:cNvGraphicFramePr>
            <a:graphicFrameLocks noGrp="1"/>
          </p:cNvGraphicFramePr>
          <p:nvPr/>
        </p:nvGraphicFramePr>
        <p:xfrm>
          <a:off x="962025" y="2339777"/>
          <a:ext cx="5264150" cy="1592955"/>
        </p:xfrm>
        <a:graphic>
          <a:graphicData uri="http://schemas.openxmlformats.org/drawingml/2006/table">
            <a:tbl>
              <a:tblPr firstRow="0" bandRow="0" lastRow="0" firstCol="0" lastCol="0" bandCol="0">
                <a:tableStyleId>{2D5ABB26-0587-4C30-8999-92F81FD0307C}</a:tableStyleId>
              </a:tblPr>
              <a:tblGrid>
                <a:gridCol w="1579245"/>
                <a:gridCol w="736600"/>
                <a:gridCol w="1158240"/>
                <a:gridCol w="1790065"/>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HTTPS</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جدار الحماية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التطبيق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متعدد العوامل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وضع المنع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البوابة الإلكترونية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كلمة مرور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مراقبة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نظام المواعيد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لا يوجد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موقع حملة قديمة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كلمة مرور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بيئة اختبار مكشوفة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53" name="Text 52"/>
          <p:cNvSpPr txBox="1"/>
          <p:nvPr/>
        </p:nvSpPr>
        <p:spPr>
          <a:xfrm>
            <a:off x="367792" y="4134537"/>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54" name="Text 5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55" name="Box 5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8" name="Box 5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9" name="Box 58"/>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0" name="Box 59"/>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61" name="Box 60"/>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Box 6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4" name="Text 6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9226352" y="812800"/>
            <a:ext cx="215284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تمرين 6 · مجموعات · 25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حادثة فدية افتراضية: أين انكسرت الضوابط؟</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E1EAF4"/>
          </a:solidFill>
          <a:ln>
            <a:noFill/>
          </a:ln>
        </p:spPr>
        <p:txBody>
          <a:bodyPr rtlCol="0" anchor="ctr"/>
          <a:lstStyle/>
          <a:p>
            <a:pPr algn="ctr"/>
          </a:p>
        </p:txBody>
      </p:sp>
      <p:pic>
        <p:nvPicPr>
          <p:cNvPr id="7" name="Icon Tool 6" descr="icon05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لكل مرحلة: أي ضابط كان سيمنعها أو يكشفها أو يحد من أثرها؟ وما الدليل الذي سيطلبه المقيّم بعد الحادثة؟</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1D5B9E"/>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البرمجية الضارة تعمل على الجهاز دون أي اكتشاف.</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1D5B9E"/>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موظف يفتح مرفقاً ضاراً في رسالة تصيد.</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1D5B9E"/>
          </a:solidFill>
          <a:ln>
            <a:noFill/>
          </a:ln>
        </p:spPr>
        <p:txBody>
          <a:bodyPr rtlCol="0" anchor="ctr"/>
          <a:lstStyle/>
          <a:p>
            <a:pPr algn="ctr"/>
          </a:p>
        </p:txBody>
      </p:sp>
      <p:sp>
        <p:nvSpPr>
          <p:cNvPr id="19" name="Text 18"/>
          <p:cNvSpPr txBox="1"/>
          <p:nvPr/>
        </p:nvSpPr>
        <p:spPr>
          <a:xfrm>
            <a:off x="5589865" y="368657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نشاطه داخل الشبكة يستمر أسبوعين دون تنبيه.</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1D5B9E"/>
          </a:solidFill>
          <a:ln>
            <a:noFill/>
          </a:ln>
        </p:spPr>
        <p:txBody>
          <a:bodyPr rtlCol="0" anchor="ctr"/>
          <a:lstStyle/>
          <a:p>
            <a:pPr algn="ctr"/>
          </a:p>
        </p:txBody>
      </p:sp>
      <p:sp>
        <p:nvSpPr>
          <p:cNvPr id="23" name="Text 22"/>
          <p:cNvSpPr txBox="1"/>
          <p:nvPr/>
        </p:nvSpPr>
        <p:spPr>
          <a:xfrm>
            <a:off x="10949662" y="368657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المهاجم يستولي على حساب مدير نظام بلا تحقق متعدد العوامل.</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1D5B9E"/>
          </a:solidFill>
          <a:ln>
            <a:noFill/>
          </a:ln>
        </p:spPr>
        <p:txBody>
          <a:bodyPr rtlCol="0" anchor="ctr"/>
          <a:lstStyle/>
          <a:p>
            <a:pPr algn="ctr"/>
          </a:p>
        </p:txBody>
      </p:sp>
      <p:sp>
        <p:nvSpPr>
          <p:cNvPr id="27" name="Text 26"/>
          <p:cNvSpPr txBox="1"/>
          <p:nvPr/>
        </p:nvSpPr>
        <p:spPr>
          <a:xfrm>
            <a:off x="5587980" y="43977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الجهة تتأخر في إبلاغ الهيئة لأنها «تجمع المعلومات أولاً».</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1D5B9E"/>
          </a:solidFill>
          <a:ln>
            <a:noFill/>
          </a:ln>
        </p:spPr>
        <p:txBody>
          <a:bodyPr rtlCol="0" anchor="ctr"/>
          <a:lstStyle/>
          <a:p>
            <a:pPr algn="ctr"/>
          </a:p>
        </p:txBody>
      </p:sp>
      <p:sp>
        <p:nvSpPr>
          <p:cNvPr id="31" name="Text 30"/>
          <p:cNvSpPr txBox="1"/>
          <p:nvPr/>
        </p:nvSpPr>
        <p:spPr>
          <a:xfrm>
            <a:off x="10947777" y="4397770"/>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التشفير يصيب الخوادم والنسخ الاحتياطية المتصلة بالشبكة معاً.</a:t>
            </a:r>
          </a:p>
        </p:txBody>
      </p:sp>
      <p:sp>
        <p:nvSpPr>
          <p:cNvPr id="33" name="Text 3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34" name="Box 3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8" name="Box 3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9" name="Box 38"/>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40" name="Box 39"/>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Box 4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Text 4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1D5B9E"/>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E1EAF4"/>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حل التمرين 6</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سلسلة الضوابط التي انكسرت</a:t>
            </a:r>
          </a:p>
        </p:txBody>
      </p:sp>
      <p:graphicFrame>
        <p:nvGraphicFramePr>
          <p:cNvPr id="5" name="Table 4"/>
          <p:cNvGraphicFramePr>
            <a:graphicFrameLocks noGrp="1"/>
          </p:cNvGraphicFramePr>
          <p:nvPr/>
        </p:nvGraphicFramePr>
        <p:xfrm>
          <a:off x="815975" y="1855986"/>
          <a:ext cx="10560050" cy="2337097"/>
        </p:xfrm>
        <a:graphic>
          <a:graphicData uri="http://schemas.openxmlformats.org/drawingml/2006/table">
            <a:tbl>
              <a:tblPr firstRow="0" bandRow="0" lastRow="0" firstCol="0" lastCol="0" bandCol="0">
                <a:tableStyleId>{2D5ABB26-0587-4C30-8999-92F81FD0307C}</a:tableStyleId>
              </a:tblPr>
              <a:tblGrid>
                <a:gridCol w="4224020"/>
                <a:gridCol w="3168015"/>
                <a:gridCol w="316801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الدليل الذي سيُطلب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الضوابط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المرحلة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إعدادات التصفية وتحليل المرفقات، ونتائج التوعية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‎2-4-3-1‎ · ‎2-4-3-4‎ · ‎1-10-3-1‎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 · رسالة التصيد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تغطية الحماية على الجهاز وحالة تحديثها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‎2-3-3-1‎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 · التنفيذ دون اكتشاف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الأثر، ومطابقة الحسابات المميزة مع التحقق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‎2-2-3-2‎ · ‎2-2-3-4‎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 · حساب المدير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مصادر السجلات، وحالات الاستخدام، والمراقبة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‎2-12-3-2‎ · ‎2-12-3-4‎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 · أسبوعان دون تنبيه</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نسخة معزولة، واختبارات استعادة سابقة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‎2-9-3-2‎ · ‎2-9-3-3‎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 · النسخ المشفرة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إجراء الإبلاغ، وتصنيف الحادثة، وتوقيت البلاغ</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‎2-13-3-2‎ · ‎2-13-3-3‎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 · تأخر الإبلاغ</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06 · التعزيز (2)</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1" name="Box 1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2" name="Box 11"/>
          <p:cNvSpPr/>
          <p:nvPr/>
        </p:nvSpPr>
        <p:spPr>
          <a:xfrm>
            <a:off x="1854200" y="6313190"/>
            <a:ext cx="279400" cy="63500"/>
          </a:xfrm>
          <a:prstGeom prst="roundRect">
            <a:avLst>
              <a:gd name="adj" fmla="val 50000"/>
            </a:avLst>
          </a:prstGeom>
          <a:solidFill>
            <a:srgbClr val="1D5B9E"/>
          </a:solidFill>
          <a:ln>
            <a:noFill/>
          </a:ln>
        </p:spPr>
        <p:txBody>
          <a:bodyPr rtlCol="0" anchor="ctr"/>
          <a:lstStyle/>
          <a:p>
            <a:pPr algn="ctr"/>
          </a:p>
        </p:txBody>
      </p:sp>
      <p:sp>
        <p:nvSpPr>
          <p:cNvPr id="13" name="Box 12"/>
          <p:cNvSpPr/>
          <p:nvPr/>
        </p:nvSpPr>
        <p:spPr>
          <a:xfrm>
            <a:off x="1676400" y="6313190"/>
            <a:ext cx="139700" cy="63500"/>
          </a:xfrm>
          <a:prstGeom prst="roundRect">
            <a:avLst>
              <a:gd name="adj" fmla="val 50000"/>
            </a:avLst>
          </a:prstGeom>
          <a:solidFill>
            <a:srgbClr val="DDD7CA"/>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7CCBA2"/>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8575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8369697" y="285750"/>
            <a:ext cx="38020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924602" y="285750"/>
            <a:ext cx="38159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5755680" y="285750"/>
            <a:ext cx="2105422" cy="264120"/>
          </a:xfrm>
          <a:prstGeom prst="roundRect">
            <a:avLst>
              <a:gd name="adj" fmla="val 50000"/>
            </a:avLst>
          </a:prstGeom>
          <a:solidFill>
            <a:srgbClr val="7CCBA2"/>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07 · الصمود والأطراف الخارجية</a:t>
            </a:r>
          </a:p>
        </p:txBody>
      </p:sp>
      <p:sp>
        <p:nvSpPr>
          <p:cNvPr id="11" name="Text box 10"/>
          <p:cNvSpPr/>
          <p:nvPr/>
        </p:nvSpPr>
        <p:spPr>
          <a:xfrm>
            <a:off x="5301059" y="282575"/>
            <a:ext cx="387945"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4843562"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69970" y="1295975"/>
            <a:ext cx="240923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7CCBA2"/>
                </a:solidFill>
                <a:latin typeface="Alexandria"/>
                <a:ea typeface="Alexandria"/>
                <a:cs typeface="Alexandria"/>
              </a:rPr>
              <a:t>07</a:t>
            </a:r>
          </a:p>
        </p:txBody>
      </p:sp>
      <p:sp>
        <p:nvSpPr>
          <p:cNvPr id="14" name="Text 13"/>
          <p:cNvSpPr txBox="1"/>
          <p:nvPr/>
        </p:nvSpPr>
        <p:spPr>
          <a:xfrm>
            <a:off x="123650" y="787210"/>
            <a:ext cx="930352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7CCBA2"/>
                </a:solidFill>
                <a:latin typeface="IBM Plex Sans Arabic"/>
                <a:ea typeface="IBM Plex Sans Arabic"/>
                <a:cs typeface="IBM Plex Sans Arabic"/>
              </a:rPr>
              <a:t>الوحدة 07 · المكونان الأساسيان 3 و4</a:t>
            </a:r>
          </a:p>
        </p:txBody>
      </p:sp>
      <p:sp>
        <p:nvSpPr>
          <p:cNvPr id="15" name="Text 14"/>
          <p:cNvSpPr txBox="1"/>
          <p:nvPr/>
        </p:nvSpPr>
        <p:spPr>
          <a:xfrm>
            <a:off x="554369" y="1129478"/>
            <a:ext cx="8872801" cy="12192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الصمود والأطراف الخارجية والسحابة</a:t>
            </a:r>
          </a:p>
        </p:txBody>
      </p:sp>
      <p:sp>
        <p:nvSpPr>
          <p:cNvPr id="16" name="Text 15"/>
          <p:cNvSpPr txBox="1"/>
          <p:nvPr/>
        </p:nvSpPr>
        <p:spPr>
          <a:xfrm>
            <a:off x="2463800" y="266592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ما يمتد خارج حدود الأنظمة: استمرار الخدمات رغم الحوادث، وحماية البيانات لدى الموردين ومزودي السحابة.</a:t>
            </a:r>
          </a:p>
        </p:txBody>
      </p:sp>
      <p:sp>
        <p:nvSpPr>
          <p:cNvPr id="17" name="Rule 16"/>
          <p:cNvSpPr/>
          <p:nvPr/>
        </p:nvSpPr>
        <p:spPr>
          <a:xfrm>
            <a:off x="5664200" y="4863009"/>
            <a:ext cx="57150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CCBA2"/>
                </a:solidFill>
                <a:latin typeface="IBM Plex Mono"/>
                <a:ea typeface="IBM Plex Mono"/>
                <a:cs typeface="IBM Plex Mono"/>
              </a:rPr>
              <a:t>3-1</a:t>
            </a:r>
          </a:p>
        </p:txBody>
      </p:sp>
      <p:sp>
        <p:nvSpPr>
          <p:cNvPr id="19" name="Text 18"/>
          <p:cNvSpPr txBox="1"/>
          <p:nvPr/>
        </p:nvSpPr>
        <p:spPr>
          <a:xfrm>
            <a:off x="6210018" y="4932668"/>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الأمن السيبراني في استمرارية الأعمال</a:t>
            </a:r>
          </a:p>
        </p:txBody>
      </p:sp>
      <p:sp>
        <p:nvSpPr>
          <p:cNvPr id="20" name="Text 19"/>
          <p:cNvSpPr txBox="1"/>
          <p:nvPr/>
        </p:nvSpPr>
        <p:spPr>
          <a:xfrm>
            <a:off x="56642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150</a:t>
            </a:r>
          </a:p>
        </p:txBody>
      </p:sp>
      <p:sp>
        <p:nvSpPr>
          <p:cNvPr id="21" name="Rule 20"/>
          <p:cNvSpPr/>
          <p:nvPr/>
        </p:nvSpPr>
        <p:spPr>
          <a:xfrm>
            <a:off x="5664200" y="5290939"/>
            <a:ext cx="57150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CCBA2"/>
                </a:solidFill>
                <a:latin typeface="IBM Plex Mono"/>
                <a:ea typeface="IBM Plex Mono"/>
                <a:cs typeface="IBM Plex Mono"/>
              </a:rPr>
              <a:t>4-1</a:t>
            </a:r>
          </a:p>
        </p:txBody>
      </p:sp>
      <p:sp>
        <p:nvSpPr>
          <p:cNvPr id="23" name="Text 22"/>
          <p:cNvSpPr txBox="1"/>
          <p:nvPr/>
        </p:nvSpPr>
        <p:spPr>
          <a:xfrm>
            <a:off x="6210018" y="5360599"/>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الأطراف الخارجية</a:t>
            </a:r>
          </a:p>
        </p:txBody>
      </p:sp>
      <p:sp>
        <p:nvSpPr>
          <p:cNvPr id="24" name="Text 23"/>
          <p:cNvSpPr txBox="1"/>
          <p:nvPr/>
        </p:nvSpPr>
        <p:spPr>
          <a:xfrm>
            <a:off x="56642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154</a:t>
            </a:r>
          </a:p>
        </p:txBody>
      </p:sp>
      <p:sp>
        <p:nvSpPr>
          <p:cNvPr id="25" name="Rule 24"/>
          <p:cNvSpPr/>
          <p:nvPr/>
        </p:nvSpPr>
        <p:spPr>
          <a:xfrm>
            <a:off x="5664200" y="5718870"/>
            <a:ext cx="57150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7CCBA2"/>
                </a:solidFill>
                <a:latin typeface="IBM Plex Mono"/>
                <a:ea typeface="IBM Plex Mono"/>
                <a:cs typeface="IBM Plex Mono"/>
              </a:rPr>
              <a:t>4-2</a:t>
            </a:r>
          </a:p>
        </p:txBody>
      </p:sp>
      <p:sp>
        <p:nvSpPr>
          <p:cNvPr id="27" name="Text 26"/>
          <p:cNvSpPr txBox="1"/>
          <p:nvPr/>
        </p:nvSpPr>
        <p:spPr>
          <a:xfrm>
            <a:off x="6210018" y="5788529"/>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الحوسبة السحابية والاستضافة</a:t>
            </a:r>
          </a:p>
        </p:txBody>
      </p:sp>
      <p:sp>
        <p:nvSpPr>
          <p:cNvPr id="28" name="Text 27"/>
          <p:cNvSpPr txBox="1"/>
          <p:nvPr/>
        </p:nvSpPr>
        <p:spPr>
          <a:xfrm>
            <a:off x="56642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158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4EAD2"/>
        </a:solidFill>
        <a:effectLst/>
      </p:bgPr>
    </p:bg>
    <p:spTree>
      <p:nvGrpSpPr>
        <p:cNvPr id="1" name=""/>
        <p:cNvGrpSpPr/>
        <p:nvPr/>
      </p:nvGrpSpPr>
      <p:grpSpPr/>
      <p:sp>
        <p:nvSpPr>
          <p:cNvPr id="2" name="Box 1"/>
          <p:cNvSpPr/>
          <p:nvPr/>
        </p:nvSpPr>
        <p:spPr>
          <a:xfrm>
            <a:off x="0" y="0"/>
            <a:ext cx="12192000" cy="76200"/>
          </a:xfrm>
          <a:prstGeom prst="rect">
            <a:avLst/>
          </a:prstGeom>
          <a:solidFill>
            <a:srgbClr val="8A6100"/>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F4EAD2"/>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مكوّن فرعي جديد · 1 من 3</a:t>
            </a:r>
          </a:p>
        </p:txBody>
      </p:sp>
      <p:sp>
        <p:nvSpPr>
          <p:cNvPr id="4" name="Text 3"/>
          <p:cNvSpPr txBox="1"/>
          <p:nvPr/>
        </p:nvSpPr>
        <p:spPr>
          <a:xfrm>
            <a:off x="7024870"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8A6100"/>
          </a:solidFill>
          <a:ln w="6350">
            <a:solidFill>
              <a:srgbClr val="8A6100"/>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8A6100"/>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‎3-1‎ الأمن السيبراني في استمرارية الأعمال</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8A6100"/>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تضمين صمود الأمن السيبراني في استمرارية الأعمال، والحد من أثر الاضطرابات السيبرانية على الخدمات الإلكترونية الحساسة.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F4EAD2"/>
          </a:solidFill>
          <a:ln>
            <a:noFill/>
          </a:ln>
        </p:spPr>
        <p:txBody>
          <a:bodyPr rtlCol="0" anchor="ctr"/>
          <a:lstStyle/>
          <a:p>
            <a:pPr algn="ctr"/>
          </a:p>
        </p:txBody>
      </p:sp>
      <p:pic>
        <p:nvPicPr>
          <p:cNvPr id="25" name="Icon Warning 24" descr="icon053.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توقف خدمة حساسة أياماً بعد هجوم، أو التحول إلى موقع تعافٍ بلا حماية ولا مراقبة.</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F4EAD2"/>
          </a:solidFill>
          <a:ln>
            <a:noFill/>
          </a:ln>
        </p:spPr>
        <p:txBody>
          <a:bodyPr rtlCol="0" anchor="ctr"/>
          <a:lstStyle/>
          <a:p>
            <a:pPr algn="ctr"/>
          </a:p>
        </p:txBody>
      </p:sp>
      <p:pic>
        <p:nvPicPr>
          <p:cNvPr id="30" name="Icon Home 29" descr="icon054.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المولد الاحتياطي في المستشفى: لا يكفي وجوده، بل يُشغَّل ويُختبر، ويغذي الأقسام الحرجة أولاً.</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F4EAD2"/>
          </a:solidFill>
          <a:ln>
            <a:noFill/>
          </a:ln>
        </p:spPr>
        <p:txBody>
          <a:bodyPr rtlCol="0" anchor="ctr"/>
          <a:lstStyle/>
          <a:p>
            <a:pPr algn="ctr"/>
          </a:p>
        </p:txBody>
      </p:sp>
      <p:pic>
        <p:nvPicPr>
          <p:cNvPr id="35" name="Icon Lightbulb 34" descr="icon055.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ضمان أن الخدمات الحساسة تستمر أو تعود بسرعة رغم الحوادث السيبرانية، وأن أنظمة الحماية نفسها تعمل في موقع التعافي.</a:t>
            </a:r>
          </a:p>
        </p:txBody>
      </p:sp>
      <p:sp>
        <p:nvSpPr>
          <p:cNvPr id="38" name="Rule 37"/>
          <p:cNvSpPr/>
          <p:nvPr/>
        </p:nvSpPr>
        <p:spPr>
          <a:xfrm>
            <a:off x="7992566" y="5282009"/>
            <a:ext cx="3386634" cy="19050"/>
          </a:xfrm>
          <a:prstGeom prst="rect">
            <a:avLst/>
          </a:prstGeom>
          <a:solidFill>
            <a:srgbClr val="8A6100"/>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تحليل الأثر على الأعمال</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تحديد الخدمات الحساسة وأولوياتها</a:t>
            </a:r>
          </a:p>
        </p:txBody>
      </p:sp>
      <p:sp>
        <p:nvSpPr>
          <p:cNvPr id="41" name="Rule 40"/>
          <p:cNvSpPr/>
          <p:nvPr/>
        </p:nvSpPr>
        <p:spPr>
          <a:xfrm>
            <a:off x="4402733" y="5282009"/>
            <a:ext cx="3386634" cy="19050"/>
          </a:xfrm>
          <a:prstGeom prst="rect">
            <a:avLst/>
          </a:prstGeom>
          <a:solidFill>
            <a:srgbClr val="8A6100"/>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موقع التعافي</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موقع بديل لتشغيل الأنظمة</a:t>
            </a:r>
          </a:p>
        </p:txBody>
      </p:sp>
      <p:sp>
        <p:nvSpPr>
          <p:cNvPr id="44" name="Rule 43"/>
          <p:cNvSpPr/>
          <p:nvPr/>
        </p:nvSpPr>
        <p:spPr>
          <a:xfrm>
            <a:off x="812899" y="5282009"/>
            <a:ext cx="3386634" cy="19050"/>
          </a:xfrm>
          <a:prstGeom prst="rect">
            <a:avLst/>
          </a:prstGeom>
          <a:solidFill>
            <a:srgbClr val="8A6100"/>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خطة التعافي</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خطوات إعادة الأنظمة والبيانات</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4" name="Box 53"/>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8A6100"/>
          </a:solidFill>
          <a:ln>
            <a:noFill/>
          </a:ln>
        </p:spPr>
        <p:txBody>
          <a:bodyPr rtlCol="0" anchor="ctr"/>
          <a:lstStyle/>
          <a:p>
            <a:pPr algn="ctr"/>
          </a:p>
        </p:txBody>
      </p:sp>
      <p:sp>
        <p:nvSpPr>
          <p:cNvPr id="3" name="Text box 2"/>
          <p:cNvSpPr/>
          <p:nvPr/>
        </p:nvSpPr>
        <p:spPr>
          <a:xfrm>
            <a:off x="8699401" y="812800"/>
            <a:ext cx="2679799" cy="289520"/>
          </a:xfrm>
          <a:prstGeom prst="roundRect">
            <a:avLst>
              <a:gd name="adj" fmla="val 50000"/>
            </a:avLst>
          </a:prstGeom>
          <a:solidFill>
            <a:srgbClr val="F4EAD2"/>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‎3-1‎ · الأمن السيبراني في استمرارية الأعمال</a:t>
            </a:r>
          </a:p>
        </p:txBody>
      </p:sp>
      <p:sp>
        <p:nvSpPr>
          <p:cNvPr id="4" name="Text 3"/>
          <p:cNvSpPr txBox="1"/>
          <p:nvPr/>
        </p:nvSpPr>
        <p:spPr>
          <a:xfrm>
            <a:off x="6206018"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F4EAD2"/>
          </a:solidFill>
          <a:ln w="6350">
            <a:solidFill>
              <a:srgbClr val="F4EAD2"/>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8A6100"/>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8A6100"/>
          </a:solidFill>
          <a:ln w="6350">
            <a:solidFill>
              <a:srgbClr val="8A6100"/>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8A6100"/>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الاستمرارية: المتطلبات والتطبيق واستمرار أنظمة الحماية</a:t>
            </a:r>
          </a:p>
        </p:txBody>
      </p:sp>
      <p:sp>
        <p:nvSpPr>
          <p:cNvPr id="20" name="Rule 19"/>
          <p:cNvSpPr/>
          <p:nvPr/>
        </p:nvSpPr>
        <p:spPr>
          <a:xfrm>
            <a:off x="812800" y="2193131"/>
            <a:ext cx="3051969" cy="19050"/>
          </a:xfrm>
          <a:prstGeom prst="rect">
            <a:avLst/>
          </a:prstGeom>
          <a:solidFill>
            <a:srgbClr val="8A6100"/>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8A6100"/>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8A6100"/>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8A6100"/>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F4EAD2"/>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 بمتطلباتها السيبرانية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إدراج المتطلبات في سياسة استمرارية الأعمال، بالتنسيق مع مالكها في الجهة</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00032" y="2286349"/>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المتطلبات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F4EAD2"/>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تحليل الأثر على الأعمال، والخطط المعتمدة المبنية عليه</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تحليل أثر يحدد الخدمات الحساسة وأهداف استعادتها، ثم خطط مبنية عليه</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651470"/>
          </a:xfrm>
          <a:prstGeom prst="rect">
            <a:avLst/>
          </a:prstGeom>
          <a:solidFill>
            <a:srgbClr val="F4EAD2"/>
          </a:solidFill>
          <a:ln>
            <a:noFill/>
          </a:ln>
        </p:spPr>
        <p:txBody>
          <a:bodyPr rtlCol="0" anchor="ctr"/>
          <a:lstStyle/>
          <a:p>
            <a:pPr algn="ctr"/>
          </a:p>
        </p:txBody>
      </p:sp>
      <p:sp>
        <p:nvSpPr>
          <p:cNvPr id="49" name="Rule 48"/>
          <p:cNvSpPr/>
          <p:nvPr/>
        </p:nvSpPr>
        <p:spPr>
          <a:xfrm>
            <a:off x="812800" y="4344293"/>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55861" y="3773341"/>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الخطة تشمل أنظمة الأمن السيبراني، وإعدادات الحماية في موقع التعافي</a:t>
            </a:r>
          </a:p>
        </p:txBody>
      </p:sp>
      <p:sp>
        <p:nvSpPr>
          <p:cNvPr id="51" name="Rule 50"/>
          <p:cNvSpPr/>
          <p:nvPr/>
        </p:nvSpPr>
        <p:spPr>
          <a:xfrm>
            <a:off x="3864769" y="4344293"/>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تضمين أنظمة الحماية والمراقبة في خطط الاستمرارية، وتوفيرها في موقع التعافي</a:t>
            </a:r>
          </a:p>
        </p:txBody>
      </p:sp>
      <p:sp>
        <p:nvSpPr>
          <p:cNvPr id="53" name="Rule 52"/>
          <p:cNvSpPr/>
          <p:nvPr/>
        </p:nvSpPr>
        <p:spPr>
          <a:xfrm>
            <a:off x="7374632" y="4344293"/>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17690" y="3773341"/>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ضمان استمرارية أنظمة وإجراءات الأمن السيبراني</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3-1-3-1</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58" name="Box 57"/>
          <p:cNvSpPr/>
          <p:nvPr/>
        </p:nvSpPr>
        <p:spPr>
          <a:xfrm>
            <a:off x="812800" y="4350643"/>
            <a:ext cx="3051969" cy="835521"/>
          </a:xfrm>
          <a:prstGeom prst="rect">
            <a:avLst/>
          </a:prstGeom>
          <a:solidFill>
            <a:srgbClr val="F4EAD2"/>
          </a:solidFill>
          <a:ln>
            <a:noFill/>
          </a:ln>
        </p:spPr>
        <p:txBody>
          <a:bodyPr rtlCol="0" anchor="ctr"/>
          <a:lstStyle/>
          <a:p>
            <a:pPr algn="ctr"/>
          </a:p>
        </p:txBody>
      </p:sp>
      <p:sp>
        <p:nvSpPr>
          <p:cNvPr id="59" name="Rule 58"/>
          <p:cNvSpPr/>
          <p:nvPr/>
        </p:nvSpPr>
        <p:spPr>
          <a:xfrm>
            <a:off x="812800" y="5179814"/>
            <a:ext cx="3051969"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61" name="Rule 60"/>
          <p:cNvSpPr/>
          <p:nvPr/>
        </p:nvSpPr>
        <p:spPr>
          <a:xfrm>
            <a:off x="3864769" y="5179814"/>
            <a:ext cx="3509863" cy="6350"/>
          </a:xfrm>
          <a:prstGeom prst="rect">
            <a:avLst/>
          </a:prstGeom>
          <a:solidFill>
            <a:srgbClr val="DDD7CA"/>
          </a:solidFill>
          <a:ln>
            <a:noFill/>
          </a:ln>
        </p:spPr>
        <p:txBody>
          <a:bodyPr rtlCol="0" anchor="ctr"/>
          <a:lstStyle/>
          <a:p>
            <a:pPr algn="ctr"/>
          </a:p>
        </p:txBody>
      </p:sp>
      <p:sp>
        <p:nvSpPr>
          <p:cNvPr id="62" name="Text 61"/>
          <p:cNvSpPr txBox="1"/>
          <p:nvPr/>
        </p:nvSpPr>
        <p:spPr>
          <a:xfrm>
            <a:off x="3890169" y="4424811"/>
            <a:ext cx="3357463"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بعد كل اختبار أو حادثة، وفي موعد مخطط</a:t>
            </a:r>
          </a:p>
        </p:txBody>
      </p:sp>
      <p:sp>
        <p:nvSpPr>
          <p:cNvPr id="63" name="Rule 62"/>
          <p:cNvSpPr/>
          <p:nvPr/>
        </p:nvSpPr>
        <p:spPr>
          <a:xfrm>
            <a:off x="7374632" y="5179814"/>
            <a:ext cx="3052068" cy="6350"/>
          </a:xfrm>
          <a:prstGeom prst="rect">
            <a:avLst/>
          </a:prstGeom>
          <a:solidFill>
            <a:srgbClr val="DDD7CA"/>
          </a:solidFill>
          <a:ln>
            <a:noFill/>
          </a:ln>
        </p:spPr>
        <p:txBody>
          <a:bodyPr rtlCol="0" anchor="ctr"/>
          <a:lstStyle/>
          <a:p>
            <a:pPr algn="ctr"/>
          </a:p>
        </p:txBody>
      </p:sp>
      <p:sp>
        <p:nvSpPr>
          <p:cNvPr id="64" name="Text 63"/>
          <p:cNvSpPr txBox="1"/>
          <p:nvPr/>
        </p:nvSpPr>
        <p:spPr>
          <a:xfrm>
            <a:off x="7400032" y="442481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65" name="Rule 64"/>
          <p:cNvSpPr/>
          <p:nvPr/>
        </p:nvSpPr>
        <p:spPr>
          <a:xfrm>
            <a:off x="10426700" y="5179814"/>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3-1-4</a:t>
            </a:r>
          </a:p>
        </p:txBody>
      </p:sp>
      <p:sp>
        <p:nvSpPr>
          <p:cNvPr id="67" name="Text 66"/>
          <p:cNvSpPr txBox="1"/>
          <p:nvPr/>
        </p:nvSpPr>
        <p:spPr>
          <a:xfrm>
            <a:off x="10515600" y="464704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5" name="Box 74"/>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8A6100"/>
          </a:solidFill>
          <a:ln>
            <a:noFill/>
          </a:ln>
        </p:spPr>
        <p:txBody>
          <a:bodyPr rtlCol="0" anchor="ctr"/>
          <a:lstStyle/>
          <a:p>
            <a:pPr algn="ctr"/>
          </a:p>
        </p:txBody>
      </p:sp>
      <p:sp>
        <p:nvSpPr>
          <p:cNvPr id="3" name="Text box 2"/>
          <p:cNvSpPr/>
          <p:nvPr/>
        </p:nvSpPr>
        <p:spPr>
          <a:xfrm>
            <a:off x="8699401" y="812800"/>
            <a:ext cx="2679799" cy="289520"/>
          </a:xfrm>
          <a:prstGeom prst="roundRect">
            <a:avLst>
              <a:gd name="adj" fmla="val 50000"/>
            </a:avLst>
          </a:prstGeom>
          <a:solidFill>
            <a:srgbClr val="F4EAD2"/>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‎3-1‎ · الأمن السيبراني في استمرارية الأعمال</a:t>
            </a:r>
          </a:p>
        </p:txBody>
      </p:sp>
      <p:sp>
        <p:nvSpPr>
          <p:cNvPr id="4" name="Text 3"/>
          <p:cNvSpPr txBox="1"/>
          <p:nvPr/>
        </p:nvSpPr>
        <p:spPr>
          <a:xfrm>
            <a:off x="6206018"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F4EAD2"/>
          </a:solidFill>
          <a:ln w="6350">
            <a:solidFill>
              <a:srgbClr val="F4EAD2"/>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8A6100"/>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8A6100"/>
          </a:solidFill>
          <a:ln w="6350">
            <a:solidFill>
              <a:srgbClr val="8A6100"/>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8A6100"/>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خطط الاستجابة والاستمرارية والتعافي</a:t>
            </a:r>
          </a:p>
        </p:txBody>
      </p:sp>
      <p:sp>
        <p:nvSpPr>
          <p:cNvPr id="20" name="Rule 19"/>
          <p:cNvSpPr/>
          <p:nvPr/>
        </p:nvSpPr>
        <p:spPr>
          <a:xfrm>
            <a:off x="812800" y="2193131"/>
            <a:ext cx="3051969" cy="19050"/>
          </a:xfrm>
          <a:prstGeom prst="rect">
            <a:avLst/>
          </a:prstGeom>
          <a:solidFill>
            <a:srgbClr val="8A6100"/>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8A6100"/>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8A6100"/>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8A6100"/>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651470"/>
          </a:xfrm>
          <a:prstGeom prst="rect">
            <a:avLst/>
          </a:prstGeom>
          <a:solidFill>
            <a:srgbClr val="F4EAD2"/>
          </a:solidFill>
          <a:ln>
            <a:noFill/>
          </a:ln>
        </p:spPr>
        <p:txBody>
          <a:bodyPr rtlCol="0" anchor="ctr"/>
          <a:lstStyle/>
          <a:p>
            <a:pPr algn="ctr"/>
          </a:p>
        </p:txBody>
      </p:sp>
      <p:sp>
        <p:nvSpPr>
          <p:cNvPr id="29" name="Rule 28"/>
          <p:cNvSpPr/>
          <p:nvPr/>
        </p:nvSpPr>
        <p:spPr>
          <a:xfrm>
            <a:off x="812800" y="285730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الخطط بسيناريوهاتها السيبرانية، وتقارير تمارينها</a:t>
            </a:r>
          </a:p>
        </p:txBody>
      </p:sp>
      <p:sp>
        <p:nvSpPr>
          <p:cNvPr id="31" name="Rule 30"/>
          <p:cNvSpPr/>
          <p:nvPr/>
        </p:nvSpPr>
        <p:spPr>
          <a:xfrm>
            <a:off x="3864769" y="285730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سيناريوهات سيبرانية في خطط الاستمرارية، كالفدية وحجب الخدمة واختراق مزود، مرتبطة بخطط ‎2-13‎</a:t>
            </a:r>
          </a:p>
        </p:txBody>
      </p:sp>
      <p:sp>
        <p:nvSpPr>
          <p:cNvPr id="33" name="Rule 32"/>
          <p:cNvSpPr/>
          <p:nvPr/>
        </p:nvSpPr>
        <p:spPr>
          <a:xfrm>
            <a:off x="7374632" y="285730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خطط للاستجابة للحوادث السيبرانية التي قد تؤثر على استمرارية الأعمال</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3-1-3-2</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3051969" cy="651470"/>
          </a:xfrm>
          <a:prstGeom prst="rect">
            <a:avLst/>
          </a:prstGeom>
          <a:solidFill>
            <a:srgbClr val="F4EAD2"/>
          </a:solidFill>
          <a:ln>
            <a:noFill/>
          </a:ln>
        </p:spPr>
        <p:txBody>
          <a:bodyPr rtlCol="0" anchor="ctr"/>
          <a:lstStyle/>
          <a:p>
            <a:pPr algn="ctr"/>
          </a:p>
        </p:txBody>
      </p:sp>
      <p:sp>
        <p:nvSpPr>
          <p:cNvPr id="39" name="Rule 38"/>
          <p:cNvSpPr/>
          <p:nvPr/>
        </p:nvSpPr>
        <p:spPr>
          <a:xfrm>
            <a:off x="812800" y="3508772"/>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293782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خطط التعافي المعتمدة، وتقارير اختبارها وزمن الاستعادة الفعلي</a:t>
            </a:r>
          </a:p>
        </p:txBody>
      </p:sp>
      <p:sp>
        <p:nvSpPr>
          <p:cNvPr id="41" name="Rule 40"/>
          <p:cNvSpPr/>
          <p:nvPr/>
        </p:nvSpPr>
        <p:spPr>
          <a:xfrm>
            <a:off x="3864769" y="3508772"/>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293782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خطة لكل نظام حساس بأهداف استعادة، وموقع تعافٍ، واختبار دوري</a:t>
            </a:r>
          </a:p>
        </p:txBody>
      </p:sp>
      <p:sp>
        <p:nvSpPr>
          <p:cNvPr id="43" name="Rule 42"/>
          <p:cNvSpPr/>
          <p:nvPr/>
        </p:nvSpPr>
        <p:spPr>
          <a:xfrm>
            <a:off x="7374632" y="3508772"/>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293782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وضع خطط التعافي من الكوارث</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8A6100"/>
                </a:solidFill>
                <a:latin typeface="IBM Plex Mono"/>
                <a:ea typeface="IBM Plex Mono"/>
                <a:cs typeface="IBM Plex Mono"/>
              </a:rPr>
              <a:t>3-1-3-3</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Box 47"/>
          <p:cNvSpPr/>
          <p:nvPr/>
        </p:nvSpPr>
        <p:spPr>
          <a:xfrm>
            <a:off x="8094166" y="3718322"/>
            <a:ext cx="3285034" cy="1201341"/>
          </a:xfrm>
          <a:prstGeom prst="roundRect">
            <a:avLst>
              <a:gd name="adj" fmla="val 8457"/>
            </a:avLst>
          </a:prstGeom>
          <a:solidFill>
            <a:srgbClr val="FCFBF8"/>
          </a:solidFill>
          <a:ln>
            <a:noFill/>
          </a:ln>
        </p:spPr>
        <p:txBody>
          <a:bodyPr rtlCol="0" anchor="ctr"/>
          <a:lstStyle/>
          <a:p>
            <a:pPr algn="ctr"/>
          </a:p>
        </p:txBody>
      </p:sp>
      <p:sp>
        <p:nvSpPr>
          <p:cNvPr id="49" name="Rule 48"/>
          <p:cNvSpPr/>
          <p:nvPr/>
        </p:nvSpPr>
        <p:spPr>
          <a:xfrm>
            <a:off x="8094166" y="3718322"/>
            <a:ext cx="3285034" cy="38100"/>
          </a:xfrm>
          <a:prstGeom prst="rect">
            <a:avLst/>
          </a:prstGeom>
          <a:solidFill>
            <a:srgbClr val="8A6100"/>
          </a:solidFill>
          <a:ln>
            <a:noFill/>
          </a:ln>
        </p:spPr>
        <p:txBody>
          <a:bodyPr rtlCol="0" anchor="ctr"/>
          <a:lstStyle/>
          <a:p>
            <a:pPr algn="ctr"/>
          </a:p>
        </p:txBody>
      </p:sp>
      <p:sp>
        <p:nvSpPr>
          <p:cNvPr id="50" name="Rule 49"/>
          <p:cNvSpPr/>
          <p:nvPr/>
        </p:nvSpPr>
        <p:spPr>
          <a:xfrm>
            <a:off x="11372850" y="3718322"/>
            <a:ext cx="6350" cy="1201341"/>
          </a:xfrm>
          <a:prstGeom prst="rect">
            <a:avLst/>
          </a:prstGeom>
          <a:solidFill>
            <a:srgbClr val="DDD7CA"/>
          </a:solidFill>
          <a:ln>
            <a:noFill/>
          </a:ln>
        </p:spPr>
        <p:txBody>
          <a:bodyPr rtlCol="0" anchor="ctr"/>
          <a:lstStyle/>
          <a:p>
            <a:pPr algn="ctr"/>
          </a:p>
        </p:txBody>
      </p:sp>
      <p:sp>
        <p:nvSpPr>
          <p:cNvPr id="51" name="Rule 50"/>
          <p:cNvSpPr/>
          <p:nvPr/>
        </p:nvSpPr>
        <p:spPr>
          <a:xfrm>
            <a:off x="8094166" y="4913312"/>
            <a:ext cx="3285034" cy="6350"/>
          </a:xfrm>
          <a:prstGeom prst="rect">
            <a:avLst/>
          </a:prstGeom>
          <a:solidFill>
            <a:srgbClr val="DDD7CA"/>
          </a:solidFill>
          <a:ln>
            <a:noFill/>
          </a:ln>
        </p:spPr>
        <p:txBody>
          <a:bodyPr rtlCol="0" anchor="ctr"/>
          <a:lstStyle/>
          <a:p>
            <a:pPr algn="ctr"/>
          </a:p>
        </p:txBody>
      </p:sp>
      <p:sp>
        <p:nvSpPr>
          <p:cNvPr id="52" name="Rule 51"/>
          <p:cNvSpPr/>
          <p:nvPr/>
        </p:nvSpPr>
        <p:spPr>
          <a:xfrm>
            <a:off x="8094166" y="3718322"/>
            <a:ext cx="6350" cy="1201341"/>
          </a:xfrm>
          <a:prstGeom prst="rect">
            <a:avLst/>
          </a:prstGeom>
          <a:solidFill>
            <a:srgbClr val="DDD7CA"/>
          </a:solidFill>
          <a:ln>
            <a:noFill/>
          </a:ln>
        </p:spPr>
        <p:txBody>
          <a:bodyPr rtlCol="0" anchor="ctr"/>
          <a:lstStyle/>
          <a:p>
            <a:pPr algn="ctr"/>
          </a:p>
        </p:txBody>
      </p:sp>
      <p:sp>
        <p:nvSpPr>
          <p:cNvPr id="53" name="Text 52"/>
          <p:cNvSpPr txBox="1"/>
          <p:nvPr/>
        </p:nvSpPr>
        <p:spPr>
          <a:xfrm>
            <a:off x="8119566" y="3915921"/>
            <a:ext cx="3088184"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8A6100"/>
                </a:solidFill>
                <a:latin typeface="Alexandria"/>
                <a:ea typeface="Alexandria"/>
                <a:cs typeface="Alexandria"/>
              </a:rPr>
              <a:t>01</a:t>
            </a:r>
          </a:p>
        </p:txBody>
      </p:sp>
      <p:sp>
        <p:nvSpPr>
          <p:cNvPr id="54" name="Text 53"/>
          <p:cNvSpPr txBox="1"/>
          <p:nvPr/>
        </p:nvSpPr>
        <p:spPr>
          <a:xfrm>
            <a:off x="8119566" y="4192106"/>
            <a:ext cx="3088184"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الاستجابة للحوادث · ‎2-13‎</a:t>
            </a:r>
          </a:p>
        </p:txBody>
      </p:sp>
      <p:sp>
        <p:nvSpPr>
          <p:cNvPr id="55" name="Text 54"/>
          <p:cNvSpPr txBox="1"/>
          <p:nvPr/>
        </p:nvSpPr>
        <p:spPr>
          <a:xfrm>
            <a:off x="8119566" y="4499820"/>
            <a:ext cx="308818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احتواء الهجوم، والتحقيق، والإبلاغ.</a:t>
            </a:r>
          </a:p>
        </p:txBody>
      </p:sp>
      <p:sp>
        <p:nvSpPr>
          <p:cNvPr id="56" name="Shape arrow-left 55"/>
          <p:cNvSpPr/>
          <p:nvPr/>
        </p:nvSpPr>
        <p:spPr>
          <a:xfrm>
            <a:off x="7814766" y="4255492"/>
            <a:ext cx="203200" cy="127000"/>
          </a:xfrm>
          <a:prstGeom prst="leftArrow">
            <a:avLst>
              <a:gd name="adj1" fmla="val 50000"/>
              <a:gd name="adj2" fmla="val 64000"/>
            </a:avLst>
          </a:prstGeom>
          <a:solidFill>
            <a:srgbClr val="8A6100"/>
          </a:solidFill>
          <a:ln>
            <a:noFill/>
          </a:ln>
        </p:spPr>
        <p:txBody>
          <a:bodyPr rtlCol="0" anchor="ctr"/>
          <a:lstStyle/>
          <a:p>
            <a:pPr algn="ctr"/>
          </a:p>
        </p:txBody>
      </p:sp>
      <p:sp>
        <p:nvSpPr>
          <p:cNvPr id="57" name="Box 56"/>
          <p:cNvSpPr/>
          <p:nvPr/>
        </p:nvSpPr>
        <p:spPr>
          <a:xfrm>
            <a:off x="4453533" y="3718322"/>
            <a:ext cx="3285034" cy="1201341"/>
          </a:xfrm>
          <a:prstGeom prst="roundRect">
            <a:avLst>
              <a:gd name="adj" fmla="val 8457"/>
            </a:avLst>
          </a:prstGeom>
          <a:solidFill>
            <a:srgbClr val="FCFBF8"/>
          </a:solidFill>
          <a:ln>
            <a:noFill/>
          </a:ln>
        </p:spPr>
        <p:txBody>
          <a:bodyPr rtlCol="0" anchor="ctr"/>
          <a:lstStyle/>
          <a:p>
            <a:pPr algn="ctr"/>
          </a:p>
        </p:txBody>
      </p:sp>
      <p:sp>
        <p:nvSpPr>
          <p:cNvPr id="58" name="Rule 57"/>
          <p:cNvSpPr/>
          <p:nvPr/>
        </p:nvSpPr>
        <p:spPr>
          <a:xfrm>
            <a:off x="4453533" y="3718322"/>
            <a:ext cx="3285034" cy="38100"/>
          </a:xfrm>
          <a:prstGeom prst="rect">
            <a:avLst/>
          </a:prstGeom>
          <a:solidFill>
            <a:srgbClr val="8A6100"/>
          </a:solidFill>
          <a:ln>
            <a:noFill/>
          </a:ln>
        </p:spPr>
        <p:txBody>
          <a:bodyPr rtlCol="0" anchor="ctr"/>
          <a:lstStyle/>
          <a:p>
            <a:pPr algn="ctr"/>
          </a:p>
        </p:txBody>
      </p:sp>
      <p:sp>
        <p:nvSpPr>
          <p:cNvPr id="59" name="Rule 58"/>
          <p:cNvSpPr/>
          <p:nvPr/>
        </p:nvSpPr>
        <p:spPr>
          <a:xfrm>
            <a:off x="7732216" y="3718322"/>
            <a:ext cx="6350" cy="1201341"/>
          </a:xfrm>
          <a:prstGeom prst="rect">
            <a:avLst/>
          </a:prstGeom>
          <a:solidFill>
            <a:srgbClr val="DDD7CA"/>
          </a:solidFill>
          <a:ln>
            <a:noFill/>
          </a:ln>
        </p:spPr>
        <p:txBody>
          <a:bodyPr rtlCol="0" anchor="ctr"/>
          <a:lstStyle/>
          <a:p>
            <a:pPr algn="ctr"/>
          </a:p>
        </p:txBody>
      </p:sp>
      <p:sp>
        <p:nvSpPr>
          <p:cNvPr id="60" name="Rule 59"/>
          <p:cNvSpPr/>
          <p:nvPr/>
        </p:nvSpPr>
        <p:spPr>
          <a:xfrm>
            <a:off x="4453533" y="4913312"/>
            <a:ext cx="3285034" cy="6350"/>
          </a:xfrm>
          <a:prstGeom prst="rect">
            <a:avLst/>
          </a:prstGeom>
          <a:solidFill>
            <a:srgbClr val="DDD7CA"/>
          </a:solidFill>
          <a:ln>
            <a:noFill/>
          </a:ln>
        </p:spPr>
        <p:txBody>
          <a:bodyPr rtlCol="0" anchor="ctr"/>
          <a:lstStyle/>
          <a:p>
            <a:pPr algn="ctr"/>
          </a:p>
        </p:txBody>
      </p:sp>
      <p:sp>
        <p:nvSpPr>
          <p:cNvPr id="61" name="Rule 60"/>
          <p:cNvSpPr/>
          <p:nvPr/>
        </p:nvSpPr>
        <p:spPr>
          <a:xfrm>
            <a:off x="4453533" y="3718322"/>
            <a:ext cx="6350" cy="1201341"/>
          </a:xfrm>
          <a:prstGeom prst="rect">
            <a:avLst/>
          </a:prstGeom>
          <a:solidFill>
            <a:srgbClr val="DDD7CA"/>
          </a:solidFill>
          <a:ln>
            <a:noFill/>
          </a:ln>
        </p:spPr>
        <p:txBody>
          <a:bodyPr rtlCol="0" anchor="ctr"/>
          <a:lstStyle/>
          <a:p>
            <a:pPr algn="ctr"/>
          </a:p>
        </p:txBody>
      </p:sp>
      <p:sp>
        <p:nvSpPr>
          <p:cNvPr id="62" name="Text 61"/>
          <p:cNvSpPr txBox="1"/>
          <p:nvPr/>
        </p:nvSpPr>
        <p:spPr>
          <a:xfrm>
            <a:off x="4478933" y="3915921"/>
            <a:ext cx="3088184"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8A6100"/>
                </a:solidFill>
                <a:latin typeface="Alexandria"/>
                <a:ea typeface="Alexandria"/>
                <a:cs typeface="Alexandria"/>
              </a:rPr>
              <a:t>02</a:t>
            </a:r>
          </a:p>
        </p:txBody>
      </p:sp>
      <p:sp>
        <p:nvSpPr>
          <p:cNvPr id="63" name="Text 62"/>
          <p:cNvSpPr txBox="1"/>
          <p:nvPr/>
        </p:nvSpPr>
        <p:spPr>
          <a:xfrm>
            <a:off x="4478933" y="4192106"/>
            <a:ext cx="3088184"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الاستمرارية · ‎3-1-3-2‎</a:t>
            </a:r>
          </a:p>
        </p:txBody>
      </p:sp>
      <p:sp>
        <p:nvSpPr>
          <p:cNvPr id="64" name="Text 63"/>
          <p:cNvSpPr txBox="1"/>
          <p:nvPr/>
        </p:nvSpPr>
        <p:spPr>
          <a:xfrm>
            <a:off x="4478933" y="4499820"/>
            <a:ext cx="308818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استمرار الخدمات الحساسة أثناء الحادثة.</a:t>
            </a:r>
          </a:p>
        </p:txBody>
      </p:sp>
      <p:sp>
        <p:nvSpPr>
          <p:cNvPr id="65" name="Shape arrow-left 64"/>
          <p:cNvSpPr/>
          <p:nvPr/>
        </p:nvSpPr>
        <p:spPr>
          <a:xfrm>
            <a:off x="4174133" y="4255492"/>
            <a:ext cx="203200" cy="127000"/>
          </a:xfrm>
          <a:prstGeom prst="leftArrow">
            <a:avLst>
              <a:gd name="adj1" fmla="val 50000"/>
              <a:gd name="adj2" fmla="val 64000"/>
            </a:avLst>
          </a:prstGeom>
          <a:solidFill>
            <a:srgbClr val="8A6100"/>
          </a:solidFill>
          <a:ln>
            <a:noFill/>
          </a:ln>
        </p:spPr>
        <p:txBody>
          <a:bodyPr rtlCol="0" anchor="ctr"/>
          <a:lstStyle/>
          <a:p>
            <a:pPr algn="ctr"/>
          </a:p>
        </p:txBody>
      </p:sp>
      <p:sp>
        <p:nvSpPr>
          <p:cNvPr id="66" name="Box 65"/>
          <p:cNvSpPr/>
          <p:nvPr/>
        </p:nvSpPr>
        <p:spPr>
          <a:xfrm>
            <a:off x="812899" y="3718322"/>
            <a:ext cx="3285034" cy="1201341"/>
          </a:xfrm>
          <a:prstGeom prst="roundRect">
            <a:avLst>
              <a:gd name="adj" fmla="val 8457"/>
            </a:avLst>
          </a:prstGeom>
          <a:solidFill>
            <a:srgbClr val="FCFBF8"/>
          </a:solidFill>
          <a:ln>
            <a:noFill/>
          </a:ln>
        </p:spPr>
        <p:txBody>
          <a:bodyPr rtlCol="0" anchor="ctr"/>
          <a:lstStyle/>
          <a:p>
            <a:pPr algn="ctr"/>
          </a:p>
        </p:txBody>
      </p:sp>
      <p:sp>
        <p:nvSpPr>
          <p:cNvPr id="67" name="Rule 66"/>
          <p:cNvSpPr/>
          <p:nvPr/>
        </p:nvSpPr>
        <p:spPr>
          <a:xfrm>
            <a:off x="812899" y="3718322"/>
            <a:ext cx="3285034" cy="38100"/>
          </a:xfrm>
          <a:prstGeom prst="rect">
            <a:avLst/>
          </a:prstGeom>
          <a:solidFill>
            <a:srgbClr val="8A6100"/>
          </a:solidFill>
          <a:ln>
            <a:noFill/>
          </a:ln>
        </p:spPr>
        <p:txBody>
          <a:bodyPr rtlCol="0" anchor="ctr"/>
          <a:lstStyle/>
          <a:p>
            <a:pPr algn="ctr"/>
          </a:p>
        </p:txBody>
      </p:sp>
      <p:sp>
        <p:nvSpPr>
          <p:cNvPr id="68" name="Rule 67"/>
          <p:cNvSpPr/>
          <p:nvPr/>
        </p:nvSpPr>
        <p:spPr>
          <a:xfrm>
            <a:off x="4091583" y="3718322"/>
            <a:ext cx="6350" cy="1201341"/>
          </a:xfrm>
          <a:prstGeom prst="rect">
            <a:avLst/>
          </a:prstGeom>
          <a:solidFill>
            <a:srgbClr val="DDD7CA"/>
          </a:solidFill>
          <a:ln>
            <a:noFill/>
          </a:ln>
        </p:spPr>
        <p:txBody>
          <a:bodyPr rtlCol="0" anchor="ctr"/>
          <a:lstStyle/>
          <a:p>
            <a:pPr algn="ctr"/>
          </a:p>
        </p:txBody>
      </p:sp>
      <p:sp>
        <p:nvSpPr>
          <p:cNvPr id="69" name="Rule 68"/>
          <p:cNvSpPr/>
          <p:nvPr/>
        </p:nvSpPr>
        <p:spPr>
          <a:xfrm>
            <a:off x="812899" y="4913312"/>
            <a:ext cx="3285034" cy="6350"/>
          </a:xfrm>
          <a:prstGeom prst="rect">
            <a:avLst/>
          </a:prstGeom>
          <a:solidFill>
            <a:srgbClr val="DDD7CA"/>
          </a:solidFill>
          <a:ln>
            <a:noFill/>
          </a:ln>
        </p:spPr>
        <p:txBody>
          <a:bodyPr rtlCol="0" anchor="ctr"/>
          <a:lstStyle/>
          <a:p>
            <a:pPr algn="ctr"/>
          </a:p>
        </p:txBody>
      </p:sp>
      <p:sp>
        <p:nvSpPr>
          <p:cNvPr id="70" name="Rule 69"/>
          <p:cNvSpPr/>
          <p:nvPr/>
        </p:nvSpPr>
        <p:spPr>
          <a:xfrm>
            <a:off x="812899" y="3718322"/>
            <a:ext cx="6350" cy="1201341"/>
          </a:xfrm>
          <a:prstGeom prst="rect">
            <a:avLst/>
          </a:prstGeom>
          <a:solidFill>
            <a:srgbClr val="DDD7CA"/>
          </a:solidFill>
          <a:ln>
            <a:noFill/>
          </a:ln>
        </p:spPr>
        <p:txBody>
          <a:bodyPr rtlCol="0" anchor="ctr"/>
          <a:lstStyle/>
          <a:p>
            <a:pPr algn="ctr"/>
          </a:p>
        </p:txBody>
      </p:sp>
      <p:sp>
        <p:nvSpPr>
          <p:cNvPr id="71" name="Text 70"/>
          <p:cNvSpPr txBox="1"/>
          <p:nvPr/>
        </p:nvSpPr>
        <p:spPr>
          <a:xfrm>
            <a:off x="838299" y="3915921"/>
            <a:ext cx="3088184"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8A6100"/>
                </a:solidFill>
                <a:latin typeface="Alexandria"/>
                <a:ea typeface="Alexandria"/>
                <a:cs typeface="Alexandria"/>
              </a:rPr>
              <a:t>03</a:t>
            </a:r>
          </a:p>
        </p:txBody>
      </p:sp>
      <p:sp>
        <p:nvSpPr>
          <p:cNvPr id="72" name="Text 71"/>
          <p:cNvSpPr txBox="1"/>
          <p:nvPr/>
        </p:nvSpPr>
        <p:spPr>
          <a:xfrm>
            <a:off x="838299" y="4192106"/>
            <a:ext cx="3088184" cy="240010"/>
          </a:xfrm>
          <a:prstGeom prst="rect">
            <a:avLst/>
          </a:prstGeom>
          <a:noFill/>
        </p:spPr>
        <p:txBody>
          <a:bodyPr wrap="square" tIns="0" rIns="0" bIns="0" lIns="0" anchor="t" rtlCol="0" anchorCtr="0">
            <a:noAutofit/>
          </a:bodyPr>
          <a:lstStyle/>
          <a:p>
            <a:pPr algn="r" rtl="1">
              <a:lnSpc>
                <a:spcPts val="1889"/>
              </a:lnSpc>
              <a:spcBef>
                <a:spcPts val="0"/>
              </a:spcBef>
              <a:spcAft>
                <a:spcPts val="0"/>
              </a:spcAft>
            </a:pPr>
            <a:r>
              <a:rPr sz="1400" b="1" i="0">
                <a:solidFill>
                  <a:srgbClr val="132033"/>
                </a:solidFill>
                <a:latin typeface="Alexandria"/>
                <a:ea typeface="Alexandria"/>
                <a:cs typeface="Alexandria"/>
              </a:rPr>
              <a:t>التعافي · ‎3-1-3-3‎</a:t>
            </a:r>
          </a:p>
        </p:txBody>
      </p:sp>
      <p:sp>
        <p:nvSpPr>
          <p:cNvPr id="73" name="Text 72"/>
          <p:cNvSpPr txBox="1"/>
          <p:nvPr/>
        </p:nvSpPr>
        <p:spPr>
          <a:xfrm>
            <a:off x="838299" y="4499820"/>
            <a:ext cx="3088184"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إعادة الأنظمة والبيانات بعد الكارثة.</a:t>
            </a:r>
          </a:p>
        </p:txBody>
      </p:sp>
      <p:sp>
        <p:nvSpPr>
          <p:cNvPr id="74" name="Text 7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75" name="Box 7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6" name="Box 7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7" name="Box 7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8" name="Box 7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9" name="Box 78"/>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80" name="Box 79"/>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81" name="Box 80"/>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82" name="Box 8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83" name="Box 8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84" name="Text 8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8A6100"/>
          </a:solidFill>
          <a:ln>
            <a:noFill/>
          </a:ln>
        </p:spPr>
        <p:txBody>
          <a:bodyPr rtlCol="0" anchor="ctr"/>
          <a:lstStyle/>
          <a:p>
            <a:pPr algn="ctr"/>
          </a:p>
        </p:txBody>
      </p:sp>
      <p:sp>
        <p:nvSpPr>
          <p:cNvPr id="3" name="Text box 2"/>
          <p:cNvSpPr/>
          <p:nvPr/>
        </p:nvSpPr>
        <p:spPr>
          <a:xfrm>
            <a:off x="8699401" y="812800"/>
            <a:ext cx="2679799" cy="289520"/>
          </a:xfrm>
          <a:prstGeom prst="roundRect">
            <a:avLst>
              <a:gd name="adj" fmla="val 50000"/>
            </a:avLst>
          </a:prstGeom>
          <a:solidFill>
            <a:srgbClr val="F4EAD2"/>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‎3-1‎ · الأمن السيبراني في استمرارية الأعمال</a:t>
            </a:r>
          </a:p>
        </p:txBody>
      </p:sp>
      <p:sp>
        <p:nvSpPr>
          <p:cNvPr id="4" name="Text 3"/>
          <p:cNvSpPr txBox="1"/>
          <p:nvPr/>
        </p:nvSpPr>
        <p:spPr>
          <a:xfrm>
            <a:off x="6206018"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F4EAD2"/>
          </a:solidFill>
          <a:ln w="6350">
            <a:solidFill>
              <a:srgbClr val="F4EAD2"/>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8A6100"/>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F4EAD2"/>
          </a:solidFill>
          <a:ln w="6350">
            <a:solidFill>
              <a:srgbClr val="F4EAD2"/>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8A6100"/>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8A6100"/>
          </a:solidFill>
          <a:ln w="6350">
            <a:solidFill>
              <a:srgbClr val="8A6100"/>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8A6100"/>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تقرير تمرين التعافي</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206184" y="1852811"/>
            <a:ext cx="817959" cy="274241"/>
          </a:xfrm>
          <a:prstGeom prst="roundRect">
            <a:avLst>
              <a:gd name="adj" fmla="val 27785"/>
            </a:avLst>
          </a:prstGeom>
          <a:solidFill>
            <a:srgbClr val="F4EAD2"/>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8A6100"/>
                </a:solidFill>
                <a:latin typeface="IBM Plex Mono"/>
                <a:ea typeface="IBM Plex Mono"/>
                <a:cs typeface="IBM Plex Mono"/>
              </a:rPr>
              <a:t>3-1-3-1</a:t>
            </a:r>
          </a:p>
        </p:txBody>
      </p:sp>
      <p:sp>
        <p:nvSpPr>
          <p:cNvPr id="23" name="Text box 22"/>
          <p:cNvSpPr/>
          <p:nvPr/>
        </p:nvSpPr>
        <p:spPr>
          <a:xfrm>
            <a:off x="7324725" y="1852811"/>
            <a:ext cx="817959" cy="274241"/>
          </a:xfrm>
          <a:prstGeom prst="roundRect">
            <a:avLst>
              <a:gd name="adj" fmla="val 27785"/>
            </a:avLst>
          </a:prstGeom>
          <a:solidFill>
            <a:srgbClr val="F4EAD2"/>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8A6100"/>
                </a:solidFill>
                <a:latin typeface="IBM Plex Mono"/>
                <a:ea typeface="IBM Plex Mono"/>
                <a:cs typeface="IBM Plex Mono"/>
              </a:rPr>
              <a:t>3-1-3-3</a:t>
            </a:r>
          </a:p>
        </p:txBody>
      </p:sp>
      <p:sp>
        <p:nvSpPr>
          <p:cNvPr id="24" name="Text box 23"/>
          <p:cNvSpPr/>
          <p:nvPr/>
        </p:nvSpPr>
        <p:spPr>
          <a:xfrm>
            <a:off x="10744200" y="2190552"/>
            <a:ext cx="635000" cy="274241"/>
          </a:xfrm>
          <a:prstGeom prst="roundRect">
            <a:avLst>
              <a:gd name="adj" fmla="val 27785"/>
            </a:avLst>
          </a:prstGeom>
          <a:solidFill>
            <a:srgbClr val="F4EAD2"/>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8A6100"/>
                </a:solidFill>
                <a:latin typeface="IBM Plex Mono"/>
                <a:ea typeface="IBM Plex Mono"/>
                <a:cs typeface="IBM Plex Mono"/>
              </a:rPr>
              <a:t>3-1-4</a:t>
            </a:r>
          </a:p>
        </p:txBody>
      </p:sp>
      <p:sp>
        <p:nvSpPr>
          <p:cNvPr id="25" name="Text 24"/>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ما الذي تراه</a:t>
            </a:r>
          </a:p>
        </p:txBody>
      </p:sp>
      <p:sp>
        <p:nvSpPr>
          <p:cNvPr id="26" name="Box 25"/>
          <p:cNvSpPr/>
          <p:nvPr/>
        </p:nvSpPr>
        <p:spPr>
          <a:xfrm>
            <a:off x="11125200" y="2855912"/>
            <a:ext cx="254000" cy="254000"/>
          </a:xfrm>
          <a:prstGeom prst="roundRect">
            <a:avLst>
              <a:gd name="adj" fmla="val 50000"/>
            </a:avLst>
          </a:prstGeom>
          <a:solidFill>
            <a:srgbClr val="8A6100"/>
          </a:solidFill>
          <a:ln>
            <a:noFill/>
          </a:ln>
        </p:spPr>
        <p:txBody>
          <a:bodyPr rtlCol="0" anchor="ctr"/>
          <a:lstStyle/>
          <a:p>
            <a:pPr algn="ctr"/>
          </a:p>
        </p:txBody>
      </p:sp>
      <p:sp>
        <p:nvSpPr>
          <p:cNvPr id="27" name="Text 26"/>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سيناريو سيبراني، لا عطلاً عادياً فقط.</a:t>
            </a:r>
          </a:p>
        </p:txBody>
      </p:sp>
      <p:sp>
        <p:nvSpPr>
          <p:cNvPr id="29" name="Box 28"/>
          <p:cNvSpPr/>
          <p:nvPr/>
        </p:nvSpPr>
        <p:spPr>
          <a:xfrm>
            <a:off x="11125200" y="3173412"/>
            <a:ext cx="254000" cy="254000"/>
          </a:xfrm>
          <a:prstGeom prst="roundRect">
            <a:avLst>
              <a:gd name="adj" fmla="val 50000"/>
            </a:avLst>
          </a:prstGeom>
          <a:solidFill>
            <a:srgbClr val="8A6100"/>
          </a:solidFill>
          <a:ln>
            <a:noFill/>
          </a:ln>
        </p:spPr>
        <p:txBody>
          <a:bodyPr rtlCol="0" anchor="ctr"/>
          <a:lstStyle/>
          <a:p>
            <a:pPr algn="ctr"/>
          </a:p>
        </p:txBody>
      </p:sp>
      <p:sp>
        <p:nvSpPr>
          <p:cNvPr id="30" name="Text 29"/>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الزمن الفعلي مقارنة بهدف الاستعادة المعتمد.</a:t>
            </a:r>
          </a:p>
        </p:txBody>
      </p:sp>
      <p:sp>
        <p:nvSpPr>
          <p:cNvPr id="32" name="Box 31"/>
          <p:cNvSpPr/>
          <p:nvPr/>
        </p:nvSpPr>
        <p:spPr>
          <a:xfrm>
            <a:off x="11125200" y="3490912"/>
            <a:ext cx="254000" cy="254000"/>
          </a:xfrm>
          <a:prstGeom prst="roundRect">
            <a:avLst>
              <a:gd name="adj" fmla="val 50000"/>
            </a:avLst>
          </a:prstGeom>
          <a:solidFill>
            <a:srgbClr val="8A6100"/>
          </a:solidFill>
          <a:ln>
            <a:noFill/>
          </a:ln>
        </p:spPr>
        <p:txBody>
          <a:bodyPr rtlCol="0" anchor="ctr"/>
          <a:lstStyle/>
          <a:p>
            <a:pPr algn="ctr"/>
          </a:p>
        </p:txBody>
      </p:sp>
      <p:sp>
        <p:nvSpPr>
          <p:cNvPr id="33" name="Text 32"/>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بنود تتحقق أن الحماية والمراقبة تعمل في الموقع البديل.</a:t>
            </a:r>
          </a:p>
        </p:txBody>
      </p:sp>
      <p:sp>
        <p:nvSpPr>
          <p:cNvPr id="35" name="Rule 34"/>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8A6100"/>
                </a:solidFill>
                <a:latin typeface="IBM Plex Sans Arabic"/>
                <a:ea typeface="IBM Plex Sans Arabic"/>
                <a:cs typeface="IBM Plex Sans Arabic"/>
              </a:rPr>
              <a:t>ما الذي يبحث عنه المقيّم</a:t>
            </a:r>
          </a:p>
        </p:txBody>
      </p:sp>
      <p:pic>
        <p:nvPicPr>
          <p:cNvPr id="37" name="Icon CheckCircle 36" descr="icon056.png"/>
          <p:cNvPicPr>
            <a:picLocks noChangeAspect="1"/>
          </p:cNvPicPr>
          <p:nvPr/>
        </p:nvPicPr>
        <p:blipFill>
          <a:blip r:embed="rId3"/>
          <a:stretch>
            <a:fillRect/>
          </a:stretch>
        </p:blipFill>
        <p:spPr>
          <a:xfrm>
            <a:off x="11150600" y="4218583"/>
            <a:ext cx="203200" cy="203200"/>
          </a:xfrm>
          <a:prstGeom prst="rect">
            <a:avLst/>
          </a:prstGeom>
        </p:spPr>
      </p:pic>
      <p:sp>
        <p:nvSpPr>
          <p:cNvPr id="38" name="Text 37"/>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التمرين يختبر الخطط الثلاث معاً على سيناريو واحد.</a:t>
            </a:r>
          </a:p>
        </p:txBody>
      </p:sp>
      <p:pic>
        <p:nvPicPr>
          <p:cNvPr id="39" name="Icon CheckCircle 38" descr="icon056.png"/>
          <p:cNvPicPr>
            <a:picLocks noChangeAspect="1"/>
          </p:cNvPicPr>
          <p:nvPr/>
        </p:nvPicPr>
        <p:blipFill>
          <a:blip r:embed="rId3"/>
          <a:stretch>
            <a:fillRect/>
          </a:stretch>
        </p:blipFill>
        <p:spPr>
          <a:xfrm>
            <a:off x="11150600" y="4523383"/>
            <a:ext cx="203200" cy="203200"/>
          </a:xfrm>
          <a:prstGeom prst="rect">
            <a:avLst/>
          </a:prstGeom>
        </p:spPr>
      </p:pic>
      <p:sp>
        <p:nvSpPr>
          <p:cNvPr id="40" name="Text 39"/>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معالجة ما فشل، مثل انقطاع السجلات، في الخطة المحدثة.</a:t>
            </a:r>
          </a:p>
        </p:txBody>
      </p:sp>
      <p:pic>
        <p:nvPicPr>
          <p:cNvPr id="41" name="Icon CheckCircle 40" descr="icon056.png"/>
          <p:cNvPicPr>
            <a:picLocks noChangeAspect="1"/>
          </p:cNvPicPr>
          <p:nvPr/>
        </p:nvPicPr>
        <p:blipFill>
          <a:blip r:embed="rId3"/>
          <a:stretch>
            <a:fillRect/>
          </a:stretch>
        </p:blipFill>
        <p:spPr>
          <a:xfrm>
            <a:off x="11150600" y="4828183"/>
            <a:ext cx="203200" cy="203200"/>
          </a:xfrm>
          <a:prstGeom prst="rect">
            <a:avLst/>
          </a:prstGeom>
        </p:spPr>
      </p:pic>
      <p:sp>
        <p:nvSpPr>
          <p:cNvPr id="42" name="Text 41"/>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تمارين دورية بتواريخ، لا تمريناً واحداً.</a:t>
            </a:r>
          </a:p>
        </p:txBody>
      </p:sp>
      <p:sp>
        <p:nvSpPr>
          <p:cNvPr id="43" name="Box 42"/>
          <p:cNvSpPr/>
          <p:nvPr/>
        </p:nvSpPr>
        <p:spPr>
          <a:xfrm>
            <a:off x="6680200" y="5308005"/>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96905"/>
            <a:ext cx="190500" cy="190500"/>
          </a:xfrm>
          <a:prstGeom prst="rect">
            <a:avLst/>
          </a:prstGeom>
        </p:spPr>
      </p:pic>
      <p:sp>
        <p:nvSpPr>
          <p:cNvPr id="45" name="Text 44"/>
          <p:cNvSpPr txBox="1"/>
          <p:nvPr/>
        </p:nvSpPr>
        <p:spPr>
          <a:xfrm>
            <a:off x="6705600" y="5369473"/>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تقرير تمرين واحد يثبت نتيجته في تاريخه، ولا يثبت جاهزية كل الأنظمة الحرجة ولا معالجة ما فشل.</a:t>
            </a:r>
          </a:p>
        </p:txBody>
      </p:sp>
      <p:sp>
        <p:nvSpPr>
          <p:cNvPr id="46" name="Box 45"/>
          <p:cNvSpPr/>
          <p:nvPr/>
        </p:nvSpPr>
        <p:spPr>
          <a:xfrm>
            <a:off x="815975" y="1855986"/>
            <a:ext cx="5556250" cy="3766344"/>
          </a:xfrm>
          <a:prstGeom prst="roundRect">
            <a:avLst>
              <a:gd name="adj" fmla="val 2019"/>
            </a:avLst>
          </a:prstGeom>
          <a:solidFill>
            <a:srgbClr val="FBFAF7"/>
          </a:solidFill>
          <a:ln w="6350">
            <a:solidFill>
              <a:srgbClr val="DDD7CA"/>
            </a:solidFill>
          </a:ln>
        </p:spPr>
        <p:txBody>
          <a:bodyPr rtlCol="0" anchor="ctr"/>
          <a:lstStyle/>
          <a:p>
            <a:pPr algn="ctr"/>
          </a:p>
        </p:txBody>
      </p:sp>
      <p:sp>
        <p:nvSpPr>
          <p:cNvPr id="47" name="Text 46"/>
          <p:cNvSpPr txBox="1"/>
          <p:nvPr/>
        </p:nvSpPr>
        <p:spPr>
          <a:xfrm>
            <a:off x="881507" y="2016673"/>
            <a:ext cx="5271643"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تقرير تمرين التعافي من الكوارث · خدمة البوابة الإلكترونية</a:t>
            </a:r>
          </a:p>
        </p:txBody>
      </p:sp>
      <p:sp>
        <p:nvSpPr>
          <p:cNvPr id="48" name="Rule 47"/>
          <p:cNvSpPr/>
          <p:nvPr/>
        </p:nvSpPr>
        <p:spPr>
          <a:xfrm>
            <a:off x="1035050" y="2909391"/>
            <a:ext cx="5118100" cy="6350"/>
          </a:xfrm>
          <a:prstGeom prst="rect">
            <a:avLst/>
          </a:prstGeom>
          <a:solidFill>
            <a:srgbClr val="DDD7CA"/>
          </a:solidFill>
          <a:ln>
            <a:noFill/>
          </a:ln>
        </p:spPr>
        <p:txBody>
          <a:bodyPr rtlCol="0" anchor="ctr"/>
          <a:lstStyle/>
          <a:p>
            <a:pPr algn="ctr"/>
          </a:p>
        </p:txBody>
      </p:sp>
      <p:sp>
        <p:nvSpPr>
          <p:cNvPr id="49" name="Text 48"/>
          <p:cNvSpPr txBox="1"/>
          <p:nvPr/>
        </p:nvSpPr>
        <p:spPr>
          <a:xfrm>
            <a:off x="4982210" y="2645799"/>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تاريخ التمرين</a:t>
            </a:r>
          </a:p>
        </p:txBody>
      </p:sp>
      <p:sp>
        <p:nvSpPr>
          <p:cNvPr id="50" name="Text 49"/>
          <p:cNvSpPr txBox="1"/>
          <p:nvPr/>
        </p:nvSpPr>
        <p:spPr>
          <a:xfrm>
            <a:off x="1035050" y="2645799"/>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‎2026-08-27‎</a:t>
            </a:r>
          </a:p>
        </p:txBody>
      </p:sp>
      <p:sp>
        <p:nvSpPr>
          <p:cNvPr id="51" name="Rule 50"/>
          <p:cNvSpPr/>
          <p:nvPr/>
        </p:nvSpPr>
        <p:spPr>
          <a:xfrm>
            <a:off x="1035050" y="3273822"/>
            <a:ext cx="5118100" cy="6350"/>
          </a:xfrm>
          <a:prstGeom prst="rect">
            <a:avLst/>
          </a:prstGeom>
          <a:solidFill>
            <a:srgbClr val="DDD7CA"/>
          </a:solidFill>
          <a:ln>
            <a:noFill/>
          </a:ln>
        </p:spPr>
        <p:txBody>
          <a:bodyPr rtlCol="0" anchor="ctr"/>
          <a:lstStyle/>
          <a:p>
            <a:pPr algn="ctr"/>
          </a:p>
        </p:txBody>
      </p:sp>
      <p:sp>
        <p:nvSpPr>
          <p:cNvPr id="52" name="Text 51"/>
          <p:cNvSpPr txBox="1"/>
          <p:nvPr/>
        </p:nvSpPr>
        <p:spPr>
          <a:xfrm>
            <a:off x="4982210" y="3010229"/>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السيناريو</a:t>
            </a:r>
          </a:p>
        </p:txBody>
      </p:sp>
      <p:sp>
        <p:nvSpPr>
          <p:cNvPr id="53" name="Text 52"/>
          <p:cNvSpPr txBox="1"/>
          <p:nvPr/>
        </p:nvSpPr>
        <p:spPr>
          <a:xfrm>
            <a:off x="1035050" y="3010229"/>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هجوم فدية على مركز البيانات الرئيسي</a:t>
            </a:r>
          </a:p>
        </p:txBody>
      </p:sp>
      <p:sp>
        <p:nvSpPr>
          <p:cNvPr id="54" name="Rule 53"/>
          <p:cNvSpPr/>
          <p:nvPr/>
        </p:nvSpPr>
        <p:spPr>
          <a:xfrm>
            <a:off x="1035050" y="3638252"/>
            <a:ext cx="5118100" cy="6350"/>
          </a:xfrm>
          <a:prstGeom prst="rect">
            <a:avLst/>
          </a:prstGeom>
          <a:solidFill>
            <a:srgbClr val="DDD7CA"/>
          </a:solidFill>
          <a:ln>
            <a:noFill/>
          </a:ln>
        </p:spPr>
        <p:txBody>
          <a:bodyPr rtlCol="0" anchor="ctr"/>
          <a:lstStyle/>
          <a:p>
            <a:pPr algn="ctr"/>
          </a:p>
        </p:txBody>
      </p:sp>
      <p:sp>
        <p:nvSpPr>
          <p:cNvPr id="55" name="Text 54"/>
          <p:cNvSpPr txBox="1"/>
          <p:nvPr/>
        </p:nvSpPr>
        <p:spPr>
          <a:xfrm>
            <a:off x="4982210" y="337466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هدف الاستعادة</a:t>
            </a:r>
          </a:p>
        </p:txBody>
      </p:sp>
      <p:sp>
        <p:nvSpPr>
          <p:cNvPr id="56" name="Text 55"/>
          <p:cNvSpPr txBox="1"/>
          <p:nvPr/>
        </p:nvSpPr>
        <p:spPr>
          <a:xfrm>
            <a:off x="1035050" y="3374660"/>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تشغيل البوابة من موقع التعافي خلال 8 ساعات</a:t>
            </a:r>
          </a:p>
        </p:txBody>
      </p:sp>
      <p:sp>
        <p:nvSpPr>
          <p:cNvPr id="57" name="Rule 56"/>
          <p:cNvSpPr/>
          <p:nvPr/>
        </p:nvSpPr>
        <p:spPr>
          <a:xfrm>
            <a:off x="1035050" y="4002683"/>
            <a:ext cx="5118100" cy="6350"/>
          </a:xfrm>
          <a:prstGeom prst="rect">
            <a:avLst/>
          </a:prstGeom>
          <a:solidFill>
            <a:srgbClr val="DDD7CA"/>
          </a:solidFill>
          <a:ln>
            <a:noFill/>
          </a:ln>
        </p:spPr>
        <p:txBody>
          <a:bodyPr rtlCol="0" anchor="ctr"/>
          <a:lstStyle/>
          <a:p>
            <a:pPr algn="ctr"/>
          </a:p>
        </p:txBody>
      </p:sp>
      <p:sp>
        <p:nvSpPr>
          <p:cNvPr id="58" name="Text 57"/>
          <p:cNvSpPr txBox="1"/>
          <p:nvPr/>
        </p:nvSpPr>
        <p:spPr>
          <a:xfrm>
            <a:off x="4982210" y="3739090"/>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الزمن الفعلي</a:t>
            </a:r>
          </a:p>
        </p:txBody>
      </p:sp>
      <p:sp>
        <p:nvSpPr>
          <p:cNvPr id="59" name="Text 58"/>
          <p:cNvSpPr txBox="1"/>
          <p:nvPr/>
        </p:nvSpPr>
        <p:spPr>
          <a:xfrm>
            <a:off x="1035050" y="3739090"/>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6 ساعات و40 دقيقة</a:t>
            </a:r>
          </a:p>
        </p:txBody>
      </p:sp>
      <p:sp>
        <p:nvSpPr>
          <p:cNvPr id="60" name="Box 59"/>
          <p:cNvSpPr/>
          <p:nvPr/>
        </p:nvSpPr>
        <p:spPr>
          <a:xfrm>
            <a:off x="6102350" y="4166493"/>
            <a:ext cx="50800" cy="50800"/>
          </a:xfrm>
          <a:prstGeom prst="roundRect">
            <a:avLst>
              <a:gd name="adj" fmla="val 50000"/>
            </a:avLst>
          </a:prstGeom>
          <a:solidFill>
            <a:srgbClr val="465264"/>
          </a:solidFill>
          <a:ln>
            <a:noFill/>
          </a:ln>
        </p:spPr>
        <p:txBody>
          <a:bodyPr rtlCol="0" anchor="ctr"/>
          <a:lstStyle/>
          <a:p>
            <a:pPr algn="ctr"/>
          </a:p>
        </p:txBody>
      </p:sp>
      <p:sp>
        <p:nvSpPr>
          <p:cNvPr id="61" name="Text 60"/>
          <p:cNvSpPr txBox="1"/>
          <p:nvPr/>
        </p:nvSpPr>
        <p:spPr>
          <a:xfrm>
            <a:off x="838200" y="4061611"/>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جدار حماية تطبيقات الويب يعمل في موقع التعافي: نعم</a:t>
            </a:r>
          </a:p>
        </p:txBody>
      </p:sp>
      <p:sp>
        <p:nvSpPr>
          <p:cNvPr id="62" name="Box 61"/>
          <p:cNvSpPr/>
          <p:nvPr/>
        </p:nvSpPr>
        <p:spPr>
          <a:xfrm>
            <a:off x="6102350" y="4430613"/>
            <a:ext cx="50800" cy="50800"/>
          </a:xfrm>
          <a:prstGeom prst="roundRect">
            <a:avLst>
              <a:gd name="adj" fmla="val 50000"/>
            </a:avLst>
          </a:prstGeom>
          <a:solidFill>
            <a:srgbClr val="465264"/>
          </a:solidFill>
          <a:ln>
            <a:noFill/>
          </a:ln>
        </p:spPr>
        <p:txBody>
          <a:bodyPr rtlCol="0" anchor="ctr"/>
          <a:lstStyle/>
          <a:p>
            <a:pPr algn="ctr"/>
          </a:p>
        </p:txBody>
      </p:sp>
      <p:sp>
        <p:nvSpPr>
          <p:cNvPr id="63" name="Text 62"/>
          <p:cNvSpPr txBox="1"/>
          <p:nvPr/>
        </p:nvSpPr>
        <p:spPr>
          <a:xfrm>
            <a:off x="838200" y="4325731"/>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السجلات تصل إلى منصة المراقبة من موقع التعافي: لا، وأُضيفت للخطة</a:t>
            </a:r>
          </a:p>
        </p:txBody>
      </p:sp>
      <p:sp>
        <p:nvSpPr>
          <p:cNvPr id="64" name="Box 63"/>
          <p:cNvSpPr/>
          <p:nvPr/>
        </p:nvSpPr>
        <p:spPr>
          <a:xfrm>
            <a:off x="6102350" y="4694734"/>
            <a:ext cx="50800" cy="50800"/>
          </a:xfrm>
          <a:prstGeom prst="roundRect">
            <a:avLst>
              <a:gd name="adj" fmla="val 50000"/>
            </a:avLst>
          </a:prstGeom>
          <a:solidFill>
            <a:srgbClr val="465264"/>
          </a:solidFill>
          <a:ln>
            <a:noFill/>
          </a:ln>
        </p:spPr>
        <p:txBody>
          <a:bodyPr rtlCol="0" anchor="ctr"/>
          <a:lstStyle/>
          <a:p>
            <a:pPr algn="ctr"/>
          </a:p>
        </p:txBody>
      </p:sp>
      <p:sp>
        <p:nvSpPr>
          <p:cNvPr id="65" name="Text 64"/>
          <p:cNvSpPr txBox="1"/>
          <p:nvPr/>
        </p:nvSpPr>
        <p:spPr>
          <a:xfrm>
            <a:off x="838200" y="4589851"/>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التحقق متعدد العوامل للدخول الإداري: نعم</a:t>
            </a:r>
          </a:p>
        </p:txBody>
      </p:sp>
      <p:sp>
        <p:nvSpPr>
          <p:cNvPr id="66" name="Rule 65"/>
          <p:cNvSpPr/>
          <p:nvPr/>
        </p:nvSpPr>
        <p:spPr>
          <a:xfrm>
            <a:off x="3708400" y="4941094"/>
            <a:ext cx="2444750" cy="12700"/>
          </a:xfrm>
          <a:prstGeom prst="rect">
            <a:avLst/>
          </a:prstGeom>
          <a:solidFill>
            <a:srgbClr val="132033"/>
          </a:solidFill>
          <a:ln>
            <a:noFill/>
          </a:ln>
        </p:spPr>
        <p:txBody>
          <a:bodyPr rtlCol="0" anchor="ctr"/>
          <a:lstStyle/>
          <a:p>
            <a:pPr algn="ctr"/>
          </a:p>
        </p:txBody>
      </p:sp>
      <p:sp>
        <p:nvSpPr>
          <p:cNvPr id="67" name="Text 66"/>
          <p:cNvSpPr txBox="1"/>
          <p:nvPr/>
        </p:nvSpPr>
        <p:spPr>
          <a:xfrm>
            <a:off x="3708400" y="4984782"/>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منسق الاستمرارية</a:t>
            </a:r>
          </a:p>
        </p:txBody>
      </p:sp>
      <p:sp>
        <p:nvSpPr>
          <p:cNvPr id="68" name="Text 67"/>
          <p:cNvSpPr txBox="1"/>
          <p:nvPr/>
        </p:nvSpPr>
        <p:spPr>
          <a:xfrm>
            <a:off x="3708400" y="5215862"/>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69" name="Rule 68"/>
          <p:cNvSpPr/>
          <p:nvPr/>
        </p:nvSpPr>
        <p:spPr>
          <a:xfrm>
            <a:off x="1035050" y="4941094"/>
            <a:ext cx="2444750" cy="12700"/>
          </a:xfrm>
          <a:prstGeom prst="rect">
            <a:avLst/>
          </a:prstGeom>
          <a:solidFill>
            <a:srgbClr val="132033"/>
          </a:solidFill>
          <a:ln>
            <a:noFill/>
          </a:ln>
        </p:spPr>
        <p:txBody>
          <a:bodyPr rtlCol="0" anchor="ctr"/>
          <a:lstStyle/>
          <a:p>
            <a:pPr algn="ctr"/>
          </a:p>
        </p:txBody>
      </p:sp>
      <p:sp>
        <p:nvSpPr>
          <p:cNvPr id="70" name="Text 69"/>
          <p:cNvSpPr txBox="1"/>
          <p:nvPr/>
        </p:nvSpPr>
        <p:spPr>
          <a:xfrm>
            <a:off x="1035050" y="4984782"/>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ممثل الأمن السيبراني</a:t>
            </a:r>
          </a:p>
        </p:txBody>
      </p:sp>
      <p:sp>
        <p:nvSpPr>
          <p:cNvPr id="71" name="Text 70"/>
          <p:cNvSpPr txBox="1"/>
          <p:nvPr/>
        </p:nvSpPr>
        <p:spPr>
          <a:xfrm>
            <a:off x="1035050" y="5215862"/>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72" name="Text 71"/>
          <p:cNvSpPr txBox="1"/>
          <p:nvPr/>
        </p:nvSpPr>
        <p:spPr>
          <a:xfrm>
            <a:off x="367792" y="5690783"/>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73" name="Text 7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74" name="Box 7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5" name="Box 7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6" name="Box 7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7" name="Box 7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8" name="Box 7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9" name="Box 78"/>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80" name="Box 79"/>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81" name="Box 8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82" name="Box 8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83" name="Text 8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DFEEE6"/>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مكوّن فرعي جديد · 2 من 3</a:t>
            </a:r>
          </a:p>
        </p:txBody>
      </p:sp>
      <p:sp>
        <p:nvSpPr>
          <p:cNvPr id="4" name="Text 3"/>
          <p:cNvSpPr txBox="1"/>
          <p:nvPr/>
        </p:nvSpPr>
        <p:spPr>
          <a:xfrm>
            <a:off x="7024870"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‎4-1‎ الأمن السيبراني المتعلق بالأطراف الخارجية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22704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أصول الجهة من مخاطر الأطراف الخارجية، بما فيها إسناد خدمات تقنية المعلومات، وإسناد الأمن السيبراني، والخدمات المُدارة.</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DFEEE6"/>
          </a:solidFill>
          <a:ln>
            <a:noFill/>
          </a:ln>
        </p:spPr>
        <p:txBody>
          <a:bodyPr rtlCol="0" anchor="ctr"/>
          <a:lstStyle/>
          <a:p>
            <a:pPr algn="ctr"/>
          </a:p>
        </p:txBody>
      </p:sp>
      <p:pic>
        <p:nvPicPr>
          <p:cNvPr id="25" name="Icon Warning 24" descr="icon057.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اختراق يأتي من مورد يملك دخولاً عن بعد لأنظمة الجهة، بلا شروط أمنية في عقده.</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DFEEE6"/>
          </a:solidFill>
          <a:ln>
            <a:noFill/>
          </a:ln>
        </p:spPr>
        <p:txBody>
          <a:bodyPr rtlCol="0" anchor="ctr"/>
          <a:lstStyle/>
          <a:p>
            <a:pPr algn="ctr"/>
          </a:p>
        </p:txBody>
      </p:sp>
      <p:pic>
        <p:nvPicPr>
          <p:cNvPr id="30" name="Icon Home 29" descr="icon058.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تسليم مفتاح بيتك لشركة صيانة: تختار شركة موثوقة، وتكتب شروطاً واضحة، وتستعيد المفتاح عند الانتهاء.</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DFEEE6"/>
          </a:solidFill>
          <a:ln>
            <a:noFill/>
          </a:ln>
        </p:spPr>
        <p:txBody>
          <a:bodyPr rtlCol="0" anchor="ctr"/>
          <a:lstStyle/>
          <a:p>
            <a:pPr algn="ctr"/>
          </a:p>
        </p:txBody>
      </p:sp>
      <p:pic>
        <p:nvPicPr>
          <p:cNvPr id="35" name="Icon Lightbulb 34" descr="icon059.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التأكد أن الموردين والمقاولين ومقدمي الخدمات يحمون بيانات الجهة وخدماتها، ببنود واضحة في العقود، وتقييم مخاطر قبل التوقيع.</a:t>
            </a:r>
          </a:p>
        </p:txBody>
      </p:sp>
      <p:sp>
        <p:nvSpPr>
          <p:cNvPr id="38" name="Rule 37"/>
          <p:cNvSpPr/>
          <p:nvPr/>
        </p:nvSpPr>
        <p:spPr>
          <a:xfrm>
            <a:off x="7992566" y="5282009"/>
            <a:ext cx="3386634" cy="19050"/>
          </a:xfrm>
          <a:prstGeom prst="rect">
            <a:avLst/>
          </a:prstGeom>
          <a:solidFill>
            <a:srgbClr val="22704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ملحق الأمن السيبراني</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بنود موحدة تُرفق بالعقود</a:t>
            </a:r>
          </a:p>
        </p:txBody>
      </p:sp>
      <p:sp>
        <p:nvSpPr>
          <p:cNvPr id="41" name="Rule 40"/>
          <p:cNvSpPr/>
          <p:nvPr/>
        </p:nvSpPr>
        <p:spPr>
          <a:xfrm>
            <a:off x="4402733" y="5282009"/>
            <a:ext cx="3386634" cy="19050"/>
          </a:xfrm>
          <a:prstGeom prst="rect">
            <a:avLst/>
          </a:prstGeom>
          <a:solidFill>
            <a:srgbClr val="22704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الخدمات المُدارة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خدمة يشغلها مورد للجهة</a:t>
            </a:r>
          </a:p>
        </p:txBody>
      </p:sp>
      <p:sp>
        <p:nvSpPr>
          <p:cNvPr id="44" name="Rule 43"/>
          <p:cNvSpPr/>
          <p:nvPr/>
        </p:nvSpPr>
        <p:spPr>
          <a:xfrm>
            <a:off x="812899" y="5282009"/>
            <a:ext cx="3386634" cy="19050"/>
          </a:xfrm>
          <a:prstGeom prst="rect">
            <a:avLst/>
          </a:prstGeom>
          <a:solidFill>
            <a:srgbClr val="22704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حق التدقيق</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التحقق من التزام المورد</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4" name="Box 53"/>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8360172" y="812800"/>
            <a:ext cx="3019028"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‎4-1‎ · الأمن السيبراني المتعلق بالأطراف الخارجية</a:t>
            </a:r>
          </a:p>
        </p:txBody>
      </p:sp>
      <p:sp>
        <p:nvSpPr>
          <p:cNvPr id="4" name="Text 3"/>
          <p:cNvSpPr txBox="1"/>
          <p:nvPr/>
        </p:nvSpPr>
        <p:spPr>
          <a:xfrm>
            <a:off x="5866789"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الأطراف الخارجية: المتطلبات وبنود العقود</a:t>
            </a:r>
          </a:p>
        </p:txBody>
      </p:sp>
      <p:sp>
        <p:nvSpPr>
          <p:cNvPr id="20" name="Rule 19"/>
          <p:cNvSpPr/>
          <p:nvPr/>
        </p:nvSpPr>
        <p:spPr>
          <a:xfrm>
            <a:off x="812800" y="2193131"/>
            <a:ext cx="2746772" cy="19050"/>
          </a:xfrm>
          <a:prstGeom prst="rect">
            <a:avLst/>
          </a:prstGeom>
          <a:solidFill>
            <a:srgbClr val="22704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22704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22704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22704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835521"/>
          </a:xfrm>
          <a:prstGeom prst="rect">
            <a:avLst/>
          </a:prstGeom>
          <a:solidFill>
            <a:srgbClr val="DFEEE6"/>
          </a:solidFill>
          <a:ln>
            <a:noFill/>
          </a:ln>
        </p:spPr>
        <p:txBody>
          <a:bodyPr rtlCol="0" anchor="ctr"/>
          <a:lstStyle/>
          <a:p>
            <a:pPr algn="ctr"/>
          </a:p>
        </p:txBody>
      </p:sp>
      <p:sp>
        <p:nvSpPr>
          <p:cNvPr id="29" name="Rule 28"/>
          <p:cNvSpPr/>
          <p:nvPr/>
        </p:nvSpPr>
        <p:spPr>
          <a:xfrm>
            <a:off x="812800" y="304135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الملحق المعتمد، وإجراء المشتريات الذي يلزم به</a:t>
            </a:r>
          </a:p>
        </p:txBody>
      </p:sp>
      <p:sp>
        <p:nvSpPr>
          <p:cNvPr id="31" name="Rule 30"/>
          <p:cNvSpPr/>
          <p:nvPr/>
        </p:nvSpPr>
        <p:spPr>
          <a:xfrm>
            <a:off x="3559572" y="304135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ملحق أمن سيبراني موحد للعقود، بالتنسيق مع المشتريات والشؤون القانونية</a:t>
            </a:r>
          </a:p>
        </p:txBody>
      </p:sp>
      <p:sp>
        <p:nvSpPr>
          <p:cNvPr id="33" name="Rule 32"/>
          <p:cNvSpPr/>
          <p:nvPr/>
        </p:nvSpPr>
        <p:spPr>
          <a:xfrm>
            <a:off x="6764238" y="304135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الأمن السيبراني في العقود والاتفاقيات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2746772" cy="651470"/>
          </a:xfrm>
          <a:prstGeom prst="rect">
            <a:avLst/>
          </a:prstGeom>
          <a:solidFill>
            <a:srgbClr val="DFEEE6"/>
          </a:solidFill>
          <a:ln>
            <a:noFill/>
          </a:ln>
        </p:spPr>
        <p:txBody>
          <a:bodyPr rtlCol="0" anchor="ctr"/>
          <a:lstStyle/>
          <a:p>
            <a:pPr algn="ctr"/>
          </a:p>
        </p:txBody>
      </p:sp>
      <p:sp>
        <p:nvSpPr>
          <p:cNvPr id="39" name="Rule 38"/>
          <p:cNvSpPr/>
          <p:nvPr/>
        </p:nvSpPr>
        <p:spPr>
          <a:xfrm>
            <a:off x="812800" y="3692823"/>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312187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عينة عقود بالبند، وشهادات حذف لعقود منتهية</a:t>
            </a:r>
          </a:p>
        </p:txBody>
      </p:sp>
      <p:sp>
        <p:nvSpPr>
          <p:cNvPr id="41" name="Rule 40"/>
          <p:cNvSpPr/>
          <p:nvPr/>
        </p:nvSpPr>
        <p:spPr>
          <a:xfrm>
            <a:off x="3559572" y="3692823"/>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312187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بند صريح في كل عقد يمس البيانات أو الخدمات، وشهادة حذف عند الانتهاء</a:t>
            </a:r>
          </a:p>
        </p:txBody>
      </p:sp>
      <p:sp>
        <p:nvSpPr>
          <p:cNvPr id="43" name="Rule 42"/>
          <p:cNvSpPr/>
          <p:nvPr/>
        </p:nvSpPr>
        <p:spPr>
          <a:xfrm>
            <a:off x="6764238" y="3692823"/>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121870"/>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عدم الإفصاح، والحذف الآمن لبيانات الجهة عند انتهاء الخدمة</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4-1-2-1</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بنود العقود</a:t>
            </a:r>
          </a:p>
        </p:txBody>
      </p:sp>
      <p:sp>
        <p:nvSpPr>
          <p:cNvPr id="48" name="Box 47"/>
          <p:cNvSpPr/>
          <p:nvPr/>
        </p:nvSpPr>
        <p:spPr>
          <a:xfrm>
            <a:off x="812800" y="3699173"/>
            <a:ext cx="2746772" cy="651470"/>
          </a:xfrm>
          <a:prstGeom prst="rect">
            <a:avLst/>
          </a:prstGeom>
          <a:solidFill>
            <a:srgbClr val="DFEEE6"/>
          </a:solidFill>
          <a:ln>
            <a:noFill/>
          </a:ln>
        </p:spPr>
        <p:txBody>
          <a:bodyPr rtlCol="0" anchor="ctr"/>
          <a:lstStyle/>
          <a:p>
            <a:pPr algn="ctr"/>
          </a:p>
        </p:txBody>
      </p:sp>
      <p:sp>
        <p:nvSpPr>
          <p:cNvPr id="49" name="Rule 48"/>
          <p:cNvSpPr/>
          <p:nvPr/>
        </p:nvSpPr>
        <p:spPr>
          <a:xfrm>
            <a:off x="812800" y="4344293"/>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65017" y="3773341"/>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البند في العقود، وقائمة جهات الاتصال المحدثة</a:t>
            </a:r>
          </a:p>
        </p:txBody>
      </p:sp>
      <p:sp>
        <p:nvSpPr>
          <p:cNvPr id="51" name="Rule 50"/>
          <p:cNvSpPr/>
          <p:nvPr/>
        </p:nvSpPr>
        <p:spPr>
          <a:xfrm>
            <a:off x="3559572" y="4344293"/>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377334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بند يلزم المورد بالإبلاغ خلال مدة محددة، وجهات اتصال معروفة للطرفين</a:t>
            </a:r>
          </a:p>
        </p:txBody>
      </p:sp>
      <p:sp>
        <p:nvSpPr>
          <p:cNvPr id="53" name="Rule 52"/>
          <p:cNvSpPr/>
          <p:nvPr/>
        </p:nvSpPr>
        <p:spPr>
          <a:xfrm>
            <a:off x="6764238" y="4344293"/>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3773341"/>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إجراءات التواصل عند وقوع حادثة سيبرانية</a:t>
            </a:r>
          </a:p>
        </p:txBody>
      </p:sp>
      <p:sp>
        <p:nvSpPr>
          <p:cNvPr id="55" name="Rule 54"/>
          <p:cNvSpPr/>
          <p:nvPr/>
        </p:nvSpPr>
        <p:spPr>
          <a:xfrm>
            <a:off x="10426700" y="4344293"/>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4-1-2-2</a:t>
            </a:r>
          </a:p>
        </p:txBody>
      </p:sp>
      <p:sp>
        <p:nvSpPr>
          <p:cNvPr id="57" name="Text 56"/>
          <p:cNvSpPr txBox="1"/>
          <p:nvPr/>
        </p:nvSpPr>
        <p:spPr>
          <a:xfrm>
            <a:off x="10462260" y="399557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بنود العقود</a:t>
            </a:r>
          </a:p>
        </p:txBody>
      </p:sp>
      <p:sp>
        <p:nvSpPr>
          <p:cNvPr id="58" name="Box 57"/>
          <p:cNvSpPr/>
          <p:nvPr/>
        </p:nvSpPr>
        <p:spPr>
          <a:xfrm>
            <a:off x="812800" y="4350643"/>
            <a:ext cx="2746772" cy="651470"/>
          </a:xfrm>
          <a:prstGeom prst="rect">
            <a:avLst/>
          </a:prstGeom>
          <a:solidFill>
            <a:srgbClr val="DFEEE6"/>
          </a:solidFill>
          <a:ln>
            <a:noFill/>
          </a:ln>
        </p:spPr>
        <p:txBody>
          <a:bodyPr rtlCol="0" anchor="ctr"/>
          <a:lstStyle/>
          <a:p>
            <a:pPr algn="ctr"/>
          </a:p>
        </p:txBody>
      </p:sp>
      <p:sp>
        <p:nvSpPr>
          <p:cNvPr id="59" name="Rule 58"/>
          <p:cNvSpPr/>
          <p:nvPr/>
        </p:nvSpPr>
        <p:spPr>
          <a:xfrm>
            <a:off x="812800" y="4995763"/>
            <a:ext cx="2746772" cy="6350"/>
          </a:xfrm>
          <a:prstGeom prst="rect">
            <a:avLst/>
          </a:prstGeom>
          <a:solidFill>
            <a:srgbClr val="DDD7CA"/>
          </a:solidFill>
          <a:ln>
            <a:noFill/>
          </a:ln>
        </p:spPr>
        <p:txBody>
          <a:bodyPr rtlCol="0" anchor="ctr"/>
          <a:lstStyle/>
          <a:p>
            <a:pPr algn="ctr"/>
          </a:p>
        </p:txBody>
      </p:sp>
      <p:sp>
        <p:nvSpPr>
          <p:cNvPr id="60" name="Text 59"/>
          <p:cNvSpPr txBox="1"/>
          <p:nvPr/>
        </p:nvSpPr>
        <p:spPr>
          <a:xfrm>
            <a:off x="838200" y="4424811"/>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البند، ونتائج تقييم التزام الموردين المهمين</a:t>
            </a:r>
          </a:p>
        </p:txBody>
      </p:sp>
      <p:sp>
        <p:nvSpPr>
          <p:cNvPr id="61" name="Rule 60"/>
          <p:cNvSpPr/>
          <p:nvPr/>
        </p:nvSpPr>
        <p:spPr>
          <a:xfrm>
            <a:off x="3559572" y="4995763"/>
            <a:ext cx="3204666" cy="6350"/>
          </a:xfrm>
          <a:prstGeom prst="rect">
            <a:avLst/>
          </a:prstGeom>
          <a:solidFill>
            <a:srgbClr val="DDD7CA"/>
          </a:solidFill>
          <a:ln>
            <a:noFill/>
          </a:ln>
        </p:spPr>
        <p:txBody>
          <a:bodyPr rtlCol="0" anchor="ctr"/>
          <a:lstStyle/>
          <a:p>
            <a:pPr algn="ctr"/>
          </a:p>
        </p:txBody>
      </p:sp>
      <p:sp>
        <p:nvSpPr>
          <p:cNvPr id="62" name="Text 61"/>
          <p:cNvSpPr txBox="1"/>
          <p:nvPr/>
        </p:nvSpPr>
        <p:spPr>
          <a:xfrm>
            <a:off x="3598052" y="4424811"/>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بند إلزام، وحق التدقيق، وتقييم دوري لالتزام الموردين المهمين</a:t>
            </a:r>
          </a:p>
        </p:txBody>
      </p:sp>
      <p:sp>
        <p:nvSpPr>
          <p:cNvPr id="63" name="Rule 62"/>
          <p:cNvSpPr/>
          <p:nvPr/>
        </p:nvSpPr>
        <p:spPr>
          <a:xfrm>
            <a:off x="6764238" y="4995763"/>
            <a:ext cx="3662462" cy="6350"/>
          </a:xfrm>
          <a:prstGeom prst="rect">
            <a:avLst/>
          </a:prstGeom>
          <a:solidFill>
            <a:srgbClr val="DDD7CA"/>
          </a:solidFill>
          <a:ln>
            <a:noFill/>
          </a:ln>
        </p:spPr>
        <p:txBody>
          <a:bodyPr rtlCol="0" anchor="ctr"/>
          <a:lstStyle/>
          <a:p>
            <a:pPr algn="ctr"/>
          </a:p>
        </p:txBody>
      </p:sp>
      <p:sp>
        <p:nvSpPr>
          <p:cNvPr id="64" name="Text 63"/>
          <p:cNvSpPr txBox="1"/>
          <p:nvPr/>
        </p:nvSpPr>
        <p:spPr>
          <a:xfrm>
            <a:off x="6789638" y="4424811"/>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إلزام الطرف الخارجي بمتطلبات الجهة وسياساتها والمتطلبات التشريعية</a:t>
            </a:r>
          </a:p>
        </p:txBody>
      </p:sp>
      <p:sp>
        <p:nvSpPr>
          <p:cNvPr id="65" name="Rule 64"/>
          <p:cNvSpPr/>
          <p:nvPr/>
        </p:nvSpPr>
        <p:spPr>
          <a:xfrm>
            <a:off x="10426700" y="4995763"/>
            <a:ext cx="952500" cy="6350"/>
          </a:xfrm>
          <a:prstGeom prst="rect">
            <a:avLst/>
          </a:prstGeom>
          <a:solidFill>
            <a:srgbClr val="DDD7CA"/>
          </a:solidFill>
          <a:ln>
            <a:noFill/>
          </a:ln>
        </p:spPr>
        <p:txBody>
          <a:bodyPr rtlCol="0" anchor="ctr"/>
          <a:lstStyle/>
          <a:p>
            <a:pPr algn="ctr"/>
          </a:p>
        </p:txBody>
      </p:sp>
      <p:sp>
        <p:nvSpPr>
          <p:cNvPr id="66" name="Text 65"/>
          <p:cNvSpPr txBox="1"/>
          <p:nvPr/>
        </p:nvSpPr>
        <p:spPr>
          <a:xfrm>
            <a:off x="10454640" y="444151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4-1-2-3</a:t>
            </a:r>
          </a:p>
        </p:txBody>
      </p:sp>
      <p:sp>
        <p:nvSpPr>
          <p:cNvPr id="67" name="Text 66"/>
          <p:cNvSpPr txBox="1"/>
          <p:nvPr/>
        </p:nvSpPr>
        <p:spPr>
          <a:xfrm>
            <a:off x="10462260" y="4647041"/>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بنود العقود</a:t>
            </a:r>
          </a:p>
        </p:txBody>
      </p:sp>
      <p:sp>
        <p:nvSpPr>
          <p:cNvPr id="68" name="Text 6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69" name="Box 6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2" name="Box 7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3" name="Box 7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5" name="Box 74"/>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76" name="Box 7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Box 7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8" name="Text 7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8360172" y="812800"/>
            <a:ext cx="3019028"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‎4-1‎ · الأمن السيبراني المتعلق بالأطراف الخارجية</a:t>
            </a:r>
          </a:p>
        </p:txBody>
      </p:sp>
      <p:sp>
        <p:nvSpPr>
          <p:cNvPr id="4" name="Text 3"/>
          <p:cNvSpPr txBox="1"/>
          <p:nvPr/>
        </p:nvSpPr>
        <p:spPr>
          <a:xfrm>
            <a:off x="5866789"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الإسناد والخدمات المُدارة</a:t>
            </a:r>
          </a:p>
        </p:txBody>
      </p:sp>
      <p:sp>
        <p:nvSpPr>
          <p:cNvPr id="20" name="Rule 19"/>
          <p:cNvSpPr/>
          <p:nvPr/>
        </p:nvSpPr>
        <p:spPr>
          <a:xfrm>
            <a:off x="812800" y="2193131"/>
            <a:ext cx="2746772" cy="19050"/>
          </a:xfrm>
          <a:prstGeom prst="rect">
            <a:avLst/>
          </a:prstGeom>
          <a:solidFill>
            <a:srgbClr val="22704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22704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22704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22704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835521"/>
          </a:xfrm>
          <a:prstGeom prst="rect">
            <a:avLst/>
          </a:prstGeom>
          <a:solidFill>
            <a:srgbClr val="DFEEE6"/>
          </a:solidFill>
          <a:ln>
            <a:noFill/>
          </a:ln>
        </p:spPr>
        <p:txBody>
          <a:bodyPr rtlCol="0" anchor="ctr"/>
          <a:lstStyle/>
          <a:p>
            <a:pPr algn="ctr"/>
          </a:p>
        </p:txBody>
      </p:sp>
      <p:sp>
        <p:nvSpPr>
          <p:cNvPr id="29" name="Rule 28"/>
          <p:cNvSpPr/>
          <p:nvPr/>
        </p:nvSpPr>
        <p:spPr>
          <a:xfrm>
            <a:off x="812800" y="304135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تقييمات مؤرخة قبل التوقيع، وخطط معالجة المخاطر المرتبطة</a:t>
            </a:r>
          </a:p>
        </p:txBody>
      </p:sp>
      <p:sp>
        <p:nvSpPr>
          <p:cNvPr id="31" name="Rule 30"/>
          <p:cNvSpPr/>
          <p:nvPr/>
        </p:nvSpPr>
        <p:spPr>
          <a:xfrm>
            <a:off x="3559572" y="304135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مخاطر المورد والخدمة في مرحلة الطرح، وشروط المعالجة تُدرج في العقد</a:t>
            </a:r>
          </a:p>
        </p:txBody>
      </p:sp>
      <p:sp>
        <p:nvSpPr>
          <p:cNvPr id="33" name="Rule 32"/>
          <p:cNvSpPr/>
          <p:nvPr/>
        </p:nvSpPr>
        <p:spPr>
          <a:xfrm>
            <a:off x="6764238" y="304135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تقييم المخاطر والتأكد من ضوابط معالجتها قبل توقيع العقد أو عند تغير المتطلبات</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4-1-3-1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الإسناد والمُدارة</a:t>
            </a:r>
          </a:p>
        </p:txBody>
      </p:sp>
      <p:sp>
        <p:nvSpPr>
          <p:cNvPr id="38" name="Box 37"/>
          <p:cNvSpPr/>
          <p:nvPr/>
        </p:nvSpPr>
        <p:spPr>
          <a:xfrm>
            <a:off x="812800" y="3047702"/>
            <a:ext cx="2746772" cy="1041202"/>
          </a:xfrm>
          <a:prstGeom prst="rect">
            <a:avLst/>
          </a:prstGeom>
          <a:solidFill>
            <a:srgbClr val="DFEEE6"/>
          </a:solidFill>
          <a:ln>
            <a:noFill/>
          </a:ln>
        </p:spPr>
        <p:txBody>
          <a:bodyPr rtlCol="0" anchor="ctr"/>
          <a:lstStyle/>
          <a:p>
            <a:pPr algn="ctr"/>
          </a:p>
        </p:txBody>
      </p:sp>
      <p:sp>
        <p:nvSpPr>
          <p:cNvPr id="39" name="Rule 38"/>
          <p:cNvSpPr/>
          <p:nvPr/>
        </p:nvSpPr>
        <p:spPr>
          <a:xfrm>
            <a:off x="812800" y="4082554"/>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312187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بند العقد، وإقرار المورد بمواقع التشغيل، ونتيجة التحقق</a:t>
            </a:r>
          </a:p>
        </p:txBody>
      </p:sp>
      <p:sp>
        <p:nvSpPr>
          <p:cNvPr id="41" name="Rule 40"/>
          <p:cNvSpPr/>
          <p:nvPr/>
        </p:nvSpPr>
        <p:spPr>
          <a:xfrm>
            <a:off x="3559572" y="4082554"/>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312187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شرط في كراسة الشروط والعقد، وتحقق من مواقع المحللين والبنية قبل الترسية</a:t>
            </a:r>
          </a:p>
        </p:txBody>
      </p:sp>
      <p:sp>
        <p:nvSpPr>
          <p:cNvPr id="43" name="Rule 42"/>
          <p:cNvSpPr/>
          <p:nvPr/>
        </p:nvSpPr>
        <p:spPr>
          <a:xfrm>
            <a:off x="6764238" y="4082554"/>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3121870"/>
            <a:ext cx="3510062"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أن تكون مراكز عمليات خدمات الأمن السيبراني المدارة للتشغيل والمراقبة، التي تستخدم الوصول عن بعد، موجودة بالكامل داخل المملكة</a:t>
            </a:r>
          </a:p>
        </p:txBody>
      </p:sp>
      <p:sp>
        <p:nvSpPr>
          <p:cNvPr id="45" name="Rule 44"/>
          <p:cNvSpPr/>
          <p:nvPr/>
        </p:nvSpPr>
        <p:spPr>
          <a:xfrm>
            <a:off x="10426700" y="4082554"/>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4-1-3-2</a:t>
            </a:r>
          </a:p>
        </p:txBody>
      </p:sp>
      <p:sp>
        <p:nvSpPr>
          <p:cNvPr id="47" name="Text 46"/>
          <p:cNvSpPr txBox="1"/>
          <p:nvPr/>
        </p:nvSpPr>
        <p:spPr>
          <a:xfrm>
            <a:off x="10515600" y="3344100"/>
            <a:ext cx="736600" cy="61704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الإسناد والمُدارة · وطني</a:t>
            </a:r>
          </a:p>
        </p:txBody>
      </p:sp>
      <p:sp>
        <p:nvSpPr>
          <p:cNvPr id="48" name="Box 47"/>
          <p:cNvSpPr/>
          <p:nvPr/>
        </p:nvSpPr>
        <p:spPr>
          <a:xfrm>
            <a:off x="812800" y="4088904"/>
            <a:ext cx="2746772" cy="835521"/>
          </a:xfrm>
          <a:prstGeom prst="rect">
            <a:avLst/>
          </a:prstGeom>
          <a:solidFill>
            <a:srgbClr val="DFEEE6"/>
          </a:solidFill>
          <a:ln>
            <a:noFill/>
          </a:ln>
        </p:spPr>
        <p:txBody>
          <a:bodyPr rtlCol="0" anchor="ctr"/>
          <a:lstStyle/>
          <a:p>
            <a:pPr algn="ctr"/>
          </a:p>
        </p:txBody>
      </p:sp>
      <p:sp>
        <p:nvSpPr>
          <p:cNvPr id="49" name="Rule 48"/>
          <p:cNvSpPr/>
          <p:nvPr/>
        </p:nvSpPr>
        <p:spPr>
          <a:xfrm>
            <a:off x="812800" y="4918075"/>
            <a:ext cx="2746772"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4163072"/>
            <a:ext cx="25943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 وسجل الموردين المحدث</a:t>
            </a:r>
          </a:p>
        </p:txBody>
      </p:sp>
      <p:sp>
        <p:nvSpPr>
          <p:cNvPr id="51" name="Rule 50"/>
          <p:cNvSpPr/>
          <p:nvPr/>
        </p:nvSpPr>
        <p:spPr>
          <a:xfrm>
            <a:off x="3559572" y="4918075"/>
            <a:ext cx="3204666" cy="6350"/>
          </a:xfrm>
          <a:prstGeom prst="rect">
            <a:avLst/>
          </a:prstGeom>
          <a:solidFill>
            <a:srgbClr val="DDD7CA"/>
          </a:solidFill>
          <a:ln>
            <a:noFill/>
          </a:ln>
        </p:spPr>
        <p:txBody>
          <a:bodyPr rtlCol="0" anchor="ctr"/>
          <a:lstStyle/>
          <a:p>
            <a:pPr algn="ctr"/>
          </a:p>
        </p:txBody>
      </p:sp>
      <p:sp>
        <p:nvSpPr>
          <p:cNvPr id="52" name="Text 51"/>
          <p:cNvSpPr txBox="1"/>
          <p:nvPr/>
        </p:nvSpPr>
        <p:spPr>
          <a:xfrm>
            <a:off x="3598052" y="4163072"/>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الملحق، وسجل الموردين وحالة بنودهم، وتقييمات الموردين المهمين</a:t>
            </a:r>
          </a:p>
        </p:txBody>
      </p:sp>
      <p:sp>
        <p:nvSpPr>
          <p:cNvPr id="53" name="Rule 52"/>
          <p:cNvSpPr/>
          <p:nvPr/>
        </p:nvSpPr>
        <p:spPr>
          <a:xfrm>
            <a:off x="6764238" y="4918075"/>
            <a:ext cx="3662462" cy="6350"/>
          </a:xfrm>
          <a:prstGeom prst="rect">
            <a:avLst/>
          </a:prstGeom>
          <a:solidFill>
            <a:srgbClr val="DDD7CA"/>
          </a:solidFill>
          <a:ln>
            <a:noFill/>
          </a:ln>
        </p:spPr>
        <p:txBody>
          <a:bodyPr rtlCol="0" anchor="ctr"/>
          <a:lstStyle/>
          <a:p>
            <a:pPr algn="ctr"/>
          </a:p>
        </p:txBody>
      </p:sp>
      <p:sp>
        <p:nvSpPr>
          <p:cNvPr id="54" name="Text 53"/>
          <p:cNvSpPr txBox="1"/>
          <p:nvPr/>
        </p:nvSpPr>
        <p:spPr>
          <a:xfrm>
            <a:off x="6789638" y="4163072"/>
            <a:ext cx="351006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متطلبات الأطراف الخارجية دورياً</a:t>
            </a:r>
          </a:p>
        </p:txBody>
      </p:sp>
      <p:sp>
        <p:nvSpPr>
          <p:cNvPr id="55" name="Rule 54"/>
          <p:cNvSpPr/>
          <p:nvPr/>
        </p:nvSpPr>
        <p:spPr>
          <a:xfrm>
            <a:off x="10426700" y="4918075"/>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4179772"/>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4-1-4</a:t>
            </a:r>
          </a:p>
        </p:txBody>
      </p:sp>
      <p:sp>
        <p:nvSpPr>
          <p:cNvPr id="57" name="Text 56"/>
          <p:cNvSpPr txBox="1"/>
          <p:nvPr/>
        </p:nvSpPr>
        <p:spPr>
          <a:xfrm>
            <a:off x="10515600" y="4385302"/>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8" name="Text 5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59" name="Box 5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0" name="Box 5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1" name="Box 6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2" name="Box 6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3" name="Box 6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4" name="Box 6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5" name="Box 64"/>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66" name="Box 65"/>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7" name="Box 6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8" name="Text 6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8360172" y="812800"/>
            <a:ext cx="3019028"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‎4-1‎ · الأمن السيبراني المتعلق بالأطراف الخارجية</a:t>
            </a:r>
          </a:p>
        </p:txBody>
      </p:sp>
      <p:sp>
        <p:nvSpPr>
          <p:cNvPr id="4" name="Text 3"/>
          <p:cNvSpPr txBox="1"/>
          <p:nvPr/>
        </p:nvSpPr>
        <p:spPr>
          <a:xfrm>
            <a:off x="5866789"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22704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ملحق الأمن السيبراني في العقد</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206184" y="1852811"/>
            <a:ext cx="817959" cy="274241"/>
          </a:xfrm>
          <a:prstGeom prst="roundRect">
            <a:avLst>
              <a:gd name="adj" fmla="val 27785"/>
            </a:avLst>
          </a:prstGeom>
          <a:solidFill>
            <a:srgbClr val="DFEEE6"/>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4-1-2-1</a:t>
            </a:r>
          </a:p>
        </p:txBody>
      </p:sp>
      <p:sp>
        <p:nvSpPr>
          <p:cNvPr id="23" name="Text box 22"/>
          <p:cNvSpPr/>
          <p:nvPr/>
        </p:nvSpPr>
        <p:spPr>
          <a:xfrm>
            <a:off x="7324725" y="1852811"/>
            <a:ext cx="817959" cy="274241"/>
          </a:xfrm>
          <a:prstGeom prst="roundRect">
            <a:avLst>
              <a:gd name="adj" fmla="val 27785"/>
            </a:avLst>
          </a:prstGeom>
          <a:solidFill>
            <a:srgbClr val="DFEEE6"/>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4-1-2-2</a:t>
            </a:r>
          </a:p>
        </p:txBody>
      </p:sp>
      <p:sp>
        <p:nvSpPr>
          <p:cNvPr id="24" name="Text box 23"/>
          <p:cNvSpPr/>
          <p:nvPr/>
        </p:nvSpPr>
        <p:spPr>
          <a:xfrm>
            <a:off x="10561241" y="2190552"/>
            <a:ext cx="817959" cy="274241"/>
          </a:xfrm>
          <a:prstGeom prst="roundRect">
            <a:avLst>
              <a:gd name="adj" fmla="val 27785"/>
            </a:avLst>
          </a:prstGeom>
          <a:solidFill>
            <a:srgbClr val="DFEEE6"/>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4-1-2-3</a:t>
            </a:r>
          </a:p>
        </p:txBody>
      </p:sp>
      <p:sp>
        <p:nvSpPr>
          <p:cNvPr id="25" name="Text box 24"/>
          <p:cNvSpPr/>
          <p:nvPr/>
        </p:nvSpPr>
        <p:spPr>
          <a:xfrm>
            <a:off x="9679781" y="2190552"/>
            <a:ext cx="817959" cy="274241"/>
          </a:xfrm>
          <a:prstGeom prst="roundRect">
            <a:avLst>
              <a:gd name="adj" fmla="val 27785"/>
            </a:avLst>
          </a:prstGeom>
          <a:solidFill>
            <a:srgbClr val="DFEEE6"/>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4-1-3-2</a:t>
            </a:r>
          </a:p>
        </p:txBody>
      </p:sp>
      <p:sp>
        <p:nvSpPr>
          <p:cNvPr id="26" name="Text 25"/>
          <p:cNvSpPr txBox="1"/>
          <p:nvPr/>
        </p:nvSpPr>
        <p:spPr>
          <a:xfrm>
            <a:off x="6304280" y="253007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ما الذي تراه</a:t>
            </a:r>
          </a:p>
        </p:txBody>
      </p:sp>
      <p:sp>
        <p:nvSpPr>
          <p:cNvPr id="27" name="Box 26"/>
          <p:cNvSpPr/>
          <p:nvPr/>
        </p:nvSpPr>
        <p:spPr>
          <a:xfrm>
            <a:off x="11125200" y="2855912"/>
            <a:ext cx="254000" cy="254000"/>
          </a:xfrm>
          <a:prstGeom prst="roundRect">
            <a:avLst>
              <a:gd name="adj" fmla="val 50000"/>
            </a:avLst>
          </a:prstGeom>
          <a:solidFill>
            <a:srgbClr val="22704E"/>
          </a:solidFill>
          <a:ln>
            <a:noFill/>
          </a:ln>
        </p:spPr>
        <p:txBody>
          <a:bodyPr rtlCol="0" anchor="ctr"/>
          <a:lstStyle/>
          <a:p>
            <a:pPr algn="ctr"/>
          </a:p>
        </p:txBody>
      </p:sp>
      <p:sp>
        <p:nvSpPr>
          <p:cNvPr id="28" name="Text 27"/>
          <p:cNvSpPr txBox="1"/>
          <p:nvPr/>
        </p:nvSpPr>
        <p:spPr>
          <a:xfrm>
            <a:off x="11169233" y="2911672"/>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9" name="Text 28"/>
          <p:cNvSpPr txBox="1"/>
          <p:nvPr/>
        </p:nvSpPr>
        <p:spPr>
          <a:xfrm>
            <a:off x="6332728" y="2828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ملحق موحد يُرفق بالعقد، وكل بند يذكر الضابط الذي يحققه.</a:t>
            </a:r>
          </a:p>
        </p:txBody>
      </p:sp>
      <p:sp>
        <p:nvSpPr>
          <p:cNvPr id="30" name="Box 29"/>
          <p:cNvSpPr/>
          <p:nvPr/>
        </p:nvSpPr>
        <p:spPr>
          <a:xfrm>
            <a:off x="11125200" y="3173412"/>
            <a:ext cx="254000" cy="254000"/>
          </a:xfrm>
          <a:prstGeom prst="roundRect">
            <a:avLst>
              <a:gd name="adj" fmla="val 50000"/>
            </a:avLst>
          </a:prstGeom>
          <a:solidFill>
            <a:srgbClr val="22704E"/>
          </a:solidFill>
          <a:ln>
            <a:noFill/>
          </a:ln>
        </p:spPr>
        <p:txBody>
          <a:bodyPr rtlCol="0" anchor="ctr"/>
          <a:lstStyle/>
          <a:p>
            <a:pPr algn="ctr"/>
          </a:p>
        </p:txBody>
      </p:sp>
      <p:sp>
        <p:nvSpPr>
          <p:cNvPr id="31" name="Text 30"/>
          <p:cNvSpPr txBox="1"/>
          <p:nvPr/>
        </p:nvSpPr>
        <p:spPr>
          <a:xfrm>
            <a:off x="11152664" y="322917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2" name="Text 31"/>
          <p:cNvSpPr txBox="1"/>
          <p:nvPr/>
        </p:nvSpPr>
        <p:spPr>
          <a:xfrm>
            <a:off x="6332728" y="31459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بند صريح لموقع التشغيل داخل المملكة.</a:t>
            </a:r>
          </a:p>
        </p:txBody>
      </p:sp>
      <p:sp>
        <p:nvSpPr>
          <p:cNvPr id="33" name="Box 32"/>
          <p:cNvSpPr/>
          <p:nvPr/>
        </p:nvSpPr>
        <p:spPr>
          <a:xfrm>
            <a:off x="11125200" y="3490912"/>
            <a:ext cx="254000" cy="254000"/>
          </a:xfrm>
          <a:prstGeom prst="roundRect">
            <a:avLst>
              <a:gd name="adj" fmla="val 50000"/>
            </a:avLst>
          </a:prstGeom>
          <a:solidFill>
            <a:srgbClr val="22704E"/>
          </a:solidFill>
          <a:ln>
            <a:noFill/>
          </a:ln>
        </p:spPr>
        <p:txBody>
          <a:bodyPr rtlCol="0" anchor="ctr"/>
          <a:lstStyle/>
          <a:p>
            <a:pPr algn="ctr"/>
          </a:p>
        </p:txBody>
      </p:sp>
      <p:sp>
        <p:nvSpPr>
          <p:cNvPr id="34" name="Text 33"/>
          <p:cNvSpPr txBox="1"/>
          <p:nvPr/>
        </p:nvSpPr>
        <p:spPr>
          <a:xfrm>
            <a:off x="11152862" y="354667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5" name="Text 34"/>
          <p:cNvSpPr txBox="1"/>
          <p:nvPr/>
        </p:nvSpPr>
        <p:spPr>
          <a:xfrm>
            <a:off x="6332728" y="346348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توقيع الطرفين، فالملحق جزء ملزم من العقد.</a:t>
            </a:r>
          </a:p>
        </p:txBody>
      </p:sp>
      <p:sp>
        <p:nvSpPr>
          <p:cNvPr id="36" name="Rule 35"/>
          <p:cNvSpPr/>
          <p:nvPr/>
        </p:nvSpPr>
        <p:spPr>
          <a:xfrm>
            <a:off x="6680200" y="3833812"/>
            <a:ext cx="4699000" cy="6350"/>
          </a:xfrm>
          <a:prstGeom prst="rect">
            <a:avLst/>
          </a:prstGeom>
          <a:solidFill>
            <a:srgbClr val="DDD7CA"/>
          </a:solidFill>
          <a:ln>
            <a:noFill/>
          </a:ln>
        </p:spPr>
        <p:txBody>
          <a:bodyPr rtlCol="0" anchor="ctr"/>
          <a:lstStyle/>
          <a:p>
            <a:pPr algn="ctr"/>
          </a:p>
        </p:txBody>
      </p:sp>
      <p:sp>
        <p:nvSpPr>
          <p:cNvPr id="37" name="Text 36"/>
          <p:cNvSpPr txBox="1"/>
          <p:nvPr/>
        </p:nvSpPr>
        <p:spPr>
          <a:xfrm>
            <a:off x="6680200" y="390544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ما الذي يبحث عنه المقيّم</a:t>
            </a:r>
          </a:p>
        </p:txBody>
      </p:sp>
      <p:pic>
        <p:nvPicPr>
          <p:cNvPr id="38" name="Icon CheckCircle 37" descr="icon060.png"/>
          <p:cNvPicPr>
            <a:picLocks noChangeAspect="1"/>
          </p:cNvPicPr>
          <p:nvPr/>
        </p:nvPicPr>
        <p:blipFill>
          <a:blip r:embed="rId3"/>
          <a:stretch>
            <a:fillRect/>
          </a:stretch>
        </p:blipFill>
        <p:spPr>
          <a:xfrm>
            <a:off x="11150600" y="4218583"/>
            <a:ext cx="203200" cy="203200"/>
          </a:xfrm>
          <a:prstGeom prst="rect">
            <a:avLst/>
          </a:prstGeom>
        </p:spPr>
      </p:pic>
      <p:sp>
        <p:nvSpPr>
          <p:cNvPr id="39" name="Text 38"/>
          <p:cNvSpPr txBox="1"/>
          <p:nvPr/>
        </p:nvSpPr>
        <p:spPr>
          <a:xfrm>
            <a:off x="6680200" y="41657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عينة من العقود السارية، والبحث فيها عن البنود الثلاثة في ‎4-1-2‎.</a:t>
            </a:r>
          </a:p>
        </p:txBody>
      </p:sp>
      <p:pic>
        <p:nvPicPr>
          <p:cNvPr id="40" name="Icon CheckCircle 39" descr="icon060.png"/>
          <p:cNvPicPr>
            <a:picLocks noChangeAspect="1"/>
          </p:cNvPicPr>
          <p:nvPr/>
        </p:nvPicPr>
        <p:blipFill>
          <a:blip r:embed="rId3"/>
          <a:stretch>
            <a:fillRect/>
          </a:stretch>
        </p:blipFill>
        <p:spPr>
          <a:xfrm>
            <a:off x="11150600" y="4523383"/>
            <a:ext cx="203200" cy="203200"/>
          </a:xfrm>
          <a:prstGeom prst="rect">
            <a:avLst/>
          </a:prstGeom>
        </p:spPr>
      </p:pic>
      <p:sp>
        <p:nvSpPr>
          <p:cNvPr id="41" name="Text 40"/>
          <p:cNvSpPr txBox="1"/>
          <p:nvPr/>
        </p:nvSpPr>
        <p:spPr>
          <a:xfrm>
            <a:off x="6680200" y="44705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تقييم مخاطر مؤرخ قبل التوقيع (‎4-1-3-1‎).</a:t>
            </a:r>
          </a:p>
        </p:txBody>
      </p:sp>
      <p:pic>
        <p:nvPicPr>
          <p:cNvPr id="42" name="Icon CheckCircle 41" descr="icon060.png"/>
          <p:cNvPicPr>
            <a:picLocks noChangeAspect="1"/>
          </p:cNvPicPr>
          <p:nvPr/>
        </p:nvPicPr>
        <p:blipFill>
          <a:blip r:embed="rId3"/>
          <a:stretch>
            <a:fillRect/>
          </a:stretch>
        </p:blipFill>
        <p:spPr>
          <a:xfrm>
            <a:off x="11150600" y="4828183"/>
            <a:ext cx="203200" cy="203200"/>
          </a:xfrm>
          <a:prstGeom prst="rect">
            <a:avLst/>
          </a:prstGeom>
        </p:spPr>
      </p:pic>
      <p:sp>
        <p:nvSpPr>
          <p:cNvPr id="43" name="Text 42"/>
          <p:cNvSpPr txBox="1"/>
          <p:nvPr/>
        </p:nvSpPr>
        <p:spPr>
          <a:xfrm>
            <a:off x="6680200" y="4775351"/>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إقرار المورد بمواقع التشغيل وما يثبتها.</a:t>
            </a:r>
          </a:p>
        </p:txBody>
      </p:sp>
      <p:sp>
        <p:nvSpPr>
          <p:cNvPr id="44" name="Box 43"/>
          <p:cNvSpPr/>
          <p:nvPr/>
        </p:nvSpPr>
        <p:spPr>
          <a:xfrm>
            <a:off x="6680200" y="5234583"/>
            <a:ext cx="4699000" cy="619720"/>
          </a:xfrm>
          <a:prstGeom prst="roundRect">
            <a:avLst>
              <a:gd name="adj" fmla="val 14345"/>
            </a:avLst>
          </a:prstGeom>
          <a:solidFill>
            <a:srgbClr val="ECE8DF"/>
          </a:solidFill>
          <a:ln>
            <a:noFill/>
          </a:ln>
        </p:spPr>
        <p:txBody>
          <a:bodyPr rtlCol="0" anchor="ctr"/>
          <a:lstStyle/>
          <a:p>
            <a:pPr algn="ctr"/>
          </a:p>
        </p:txBody>
      </p:sp>
      <p:pic>
        <p:nvPicPr>
          <p:cNvPr id="45" name="Icon Warning 44" descr="icon028.png"/>
          <p:cNvPicPr>
            <a:picLocks noChangeAspect="1"/>
          </p:cNvPicPr>
          <p:nvPr/>
        </p:nvPicPr>
        <p:blipFill>
          <a:blip r:embed="rId4"/>
          <a:stretch>
            <a:fillRect/>
          </a:stretch>
        </p:blipFill>
        <p:spPr>
          <a:xfrm>
            <a:off x="11074400" y="5323483"/>
            <a:ext cx="190500" cy="190500"/>
          </a:xfrm>
          <a:prstGeom prst="rect">
            <a:avLst/>
          </a:prstGeom>
        </p:spPr>
      </p:pic>
      <p:sp>
        <p:nvSpPr>
          <p:cNvPr id="46" name="Text 45"/>
          <p:cNvSpPr txBox="1"/>
          <p:nvPr/>
        </p:nvSpPr>
        <p:spPr>
          <a:xfrm>
            <a:off x="6705600" y="5296051"/>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الملحق يثبت البنود التعاقدية لعقد واحد، ولا يثبت تقييم المخاطر قبل التعاقد ولا التزام المورد فعلياً.</a:t>
            </a:r>
          </a:p>
        </p:txBody>
      </p:sp>
      <p:sp>
        <p:nvSpPr>
          <p:cNvPr id="47" name="Box 46"/>
          <p:cNvSpPr/>
          <p:nvPr/>
        </p:nvSpPr>
        <p:spPr>
          <a:xfrm>
            <a:off x="815975" y="1855986"/>
            <a:ext cx="5556250" cy="2679998"/>
          </a:xfrm>
          <a:prstGeom prst="roundRect">
            <a:avLst>
              <a:gd name="adj" fmla="val 2836"/>
            </a:avLst>
          </a:prstGeom>
          <a:solidFill>
            <a:srgbClr val="FBFAF7"/>
          </a:solidFill>
          <a:ln w="6350">
            <a:solidFill>
              <a:srgbClr val="DDD7CA"/>
            </a:solidFill>
          </a:ln>
        </p:spPr>
        <p:txBody>
          <a:bodyPr rtlCol="0" anchor="ctr"/>
          <a:lstStyle/>
          <a:p>
            <a:pPr algn="ctr"/>
          </a:p>
        </p:txBody>
      </p:sp>
      <p:sp>
        <p:nvSpPr>
          <p:cNvPr id="48" name="Text 47"/>
          <p:cNvSpPr txBox="1"/>
          <p:nvPr/>
        </p:nvSpPr>
        <p:spPr>
          <a:xfrm>
            <a:off x="838200" y="2016673"/>
            <a:ext cx="53149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ملحق الأمن السيبراني · عقد خدمة مركز عمليات مُدار</a:t>
            </a:r>
          </a:p>
        </p:txBody>
      </p:sp>
      <p:sp>
        <p:nvSpPr>
          <p:cNvPr id="49" name="Rule 48"/>
          <p:cNvSpPr/>
          <p:nvPr/>
        </p:nvSpPr>
        <p:spPr>
          <a:xfrm>
            <a:off x="1035050" y="2652216"/>
            <a:ext cx="5118100" cy="6350"/>
          </a:xfrm>
          <a:prstGeom prst="rect">
            <a:avLst/>
          </a:prstGeom>
          <a:solidFill>
            <a:srgbClr val="DDD7CA"/>
          </a:solidFill>
          <a:ln>
            <a:noFill/>
          </a:ln>
        </p:spPr>
        <p:txBody>
          <a:bodyPr rtlCol="0" anchor="ctr"/>
          <a:lstStyle/>
          <a:p>
            <a:pPr algn="ctr"/>
          </a:p>
        </p:txBody>
      </p:sp>
      <p:sp>
        <p:nvSpPr>
          <p:cNvPr id="50" name="Text 49"/>
          <p:cNvSpPr txBox="1"/>
          <p:nvPr/>
        </p:nvSpPr>
        <p:spPr>
          <a:xfrm>
            <a:off x="4982210" y="2388624"/>
            <a:ext cx="1170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465264"/>
                </a:solidFill>
                <a:latin typeface="IBM Plex Sans Arabic"/>
                <a:ea typeface="IBM Plex Sans Arabic"/>
                <a:cs typeface="IBM Plex Sans Arabic"/>
              </a:rPr>
              <a:t>رقم العقد</a:t>
            </a:r>
          </a:p>
        </p:txBody>
      </p:sp>
      <p:sp>
        <p:nvSpPr>
          <p:cNvPr id="51" name="Text 50"/>
          <p:cNvSpPr txBox="1"/>
          <p:nvPr/>
        </p:nvSpPr>
        <p:spPr>
          <a:xfrm>
            <a:off x="1035050" y="2388624"/>
            <a:ext cx="393700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‎CT-2026-118‎ · [اسم المورد]</a:t>
            </a:r>
          </a:p>
        </p:txBody>
      </p:sp>
      <p:sp>
        <p:nvSpPr>
          <p:cNvPr id="52" name="Box 51"/>
          <p:cNvSpPr/>
          <p:nvPr/>
        </p:nvSpPr>
        <p:spPr>
          <a:xfrm>
            <a:off x="6102350" y="2816027"/>
            <a:ext cx="50800" cy="50800"/>
          </a:xfrm>
          <a:prstGeom prst="roundRect">
            <a:avLst>
              <a:gd name="adj" fmla="val 50000"/>
            </a:avLst>
          </a:prstGeom>
          <a:solidFill>
            <a:srgbClr val="465264"/>
          </a:solidFill>
          <a:ln>
            <a:noFill/>
          </a:ln>
        </p:spPr>
        <p:txBody>
          <a:bodyPr rtlCol="0" anchor="ctr"/>
          <a:lstStyle/>
          <a:p>
            <a:pPr algn="ctr"/>
          </a:p>
        </p:txBody>
      </p:sp>
      <p:sp>
        <p:nvSpPr>
          <p:cNvPr id="53" name="Text 52"/>
          <p:cNvSpPr txBox="1"/>
          <p:nvPr/>
        </p:nvSpPr>
        <p:spPr>
          <a:xfrm>
            <a:off x="838200" y="2711144"/>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البند 3: السرية، والحذف الآمن عند الانتهاء (‎4-1-2-1‎)</a:t>
            </a:r>
          </a:p>
        </p:txBody>
      </p:sp>
      <p:sp>
        <p:nvSpPr>
          <p:cNvPr id="54" name="Box 53"/>
          <p:cNvSpPr/>
          <p:nvPr/>
        </p:nvSpPr>
        <p:spPr>
          <a:xfrm>
            <a:off x="6102350" y="3080147"/>
            <a:ext cx="50800" cy="50800"/>
          </a:xfrm>
          <a:prstGeom prst="roundRect">
            <a:avLst>
              <a:gd name="adj" fmla="val 50000"/>
            </a:avLst>
          </a:prstGeom>
          <a:solidFill>
            <a:srgbClr val="465264"/>
          </a:solidFill>
          <a:ln>
            <a:noFill/>
          </a:ln>
        </p:spPr>
        <p:txBody>
          <a:bodyPr rtlCol="0" anchor="ctr"/>
          <a:lstStyle/>
          <a:p>
            <a:pPr algn="ctr"/>
          </a:p>
        </p:txBody>
      </p:sp>
      <p:sp>
        <p:nvSpPr>
          <p:cNvPr id="55" name="Text 54"/>
          <p:cNvSpPr txBox="1"/>
          <p:nvPr/>
        </p:nvSpPr>
        <p:spPr>
          <a:xfrm>
            <a:off x="838200" y="2975265"/>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البند 4: الإبلاغ عن أي حادثة خلال [__] (‎4-1-2-2‎)</a:t>
            </a:r>
          </a:p>
        </p:txBody>
      </p:sp>
      <p:sp>
        <p:nvSpPr>
          <p:cNvPr id="56" name="Box 55"/>
          <p:cNvSpPr/>
          <p:nvPr/>
        </p:nvSpPr>
        <p:spPr>
          <a:xfrm>
            <a:off x="6102350" y="3344267"/>
            <a:ext cx="50800" cy="50800"/>
          </a:xfrm>
          <a:prstGeom prst="roundRect">
            <a:avLst>
              <a:gd name="adj" fmla="val 50000"/>
            </a:avLst>
          </a:prstGeom>
          <a:solidFill>
            <a:srgbClr val="465264"/>
          </a:solidFill>
          <a:ln>
            <a:noFill/>
          </a:ln>
        </p:spPr>
        <p:txBody>
          <a:bodyPr rtlCol="0" anchor="ctr"/>
          <a:lstStyle/>
          <a:p>
            <a:pPr algn="ctr"/>
          </a:p>
        </p:txBody>
      </p:sp>
      <p:sp>
        <p:nvSpPr>
          <p:cNvPr id="57" name="Text 56"/>
          <p:cNvSpPr txBox="1"/>
          <p:nvPr/>
        </p:nvSpPr>
        <p:spPr>
          <a:xfrm>
            <a:off x="838200" y="3239385"/>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البند 5: الالتزام بسياسات الجهة وحق التدقيق (‎4-1-2-3‎)</a:t>
            </a:r>
          </a:p>
        </p:txBody>
      </p:sp>
      <p:sp>
        <p:nvSpPr>
          <p:cNvPr id="58" name="Box 57"/>
          <p:cNvSpPr/>
          <p:nvPr/>
        </p:nvSpPr>
        <p:spPr>
          <a:xfrm>
            <a:off x="6102350" y="3608388"/>
            <a:ext cx="50800" cy="50800"/>
          </a:xfrm>
          <a:prstGeom prst="roundRect">
            <a:avLst>
              <a:gd name="adj" fmla="val 50000"/>
            </a:avLst>
          </a:prstGeom>
          <a:solidFill>
            <a:srgbClr val="465264"/>
          </a:solidFill>
          <a:ln>
            <a:noFill/>
          </a:ln>
        </p:spPr>
        <p:txBody>
          <a:bodyPr rtlCol="0" anchor="ctr"/>
          <a:lstStyle/>
          <a:p>
            <a:pPr algn="ctr"/>
          </a:p>
        </p:txBody>
      </p:sp>
      <p:sp>
        <p:nvSpPr>
          <p:cNvPr id="59" name="Text 58"/>
          <p:cNvSpPr txBox="1"/>
          <p:nvPr/>
        </p:nvSpPr>
        <p:spPr>
          <a:xfrm>
            <a:off x="838200" y="3503505"/>
            <a:ext cx="5187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البند 6: التشغيل عن بعد بالكامل داخل المملكة (‎4-1-3-2‎)</a:t>
            </a:r>
          </a:p>
        </p:txBody>
      </p:sp>
      <p:sp>
        <p:nvSpPr>
          <p:cNvPr id="60" name="Rule 59"/>
          <p:cNvSpPr/>
          <p:nvPr/>
        </p:nvSpPr>
        <p:spPr>
          <a:xfrm>
            <a:off x="3708400" y="3854748"/>
            <a:ext cx="2444750" cy="12700"/>
          </a:xfrm>
          <a:prstGeom prst="rect">
            <a:avLst/>
          </a:prstGeom>
          <a:solidFill>
            <a:srgbClr val="132033"/>
          </a:solidFill>
          <a:ln>
            <a:noFill/>
          </a:ln>
        </p:spPr>
        <p:txBody>
          <a:bodyPr rtlCol="0" anchor="ctr"/>
          <a:lstStyle/>
          <a:p>
            <a:pPr algn="ctr"/>
          </a:p>
        </p:txBody>
      </p:sp>
      <p:sp>
        <p:nvSpPr>
          <p:cNvPr id="61" name="Text 60"/>
          <p:cNvSpPr txBox="1"/>
          <p:nvPr/>
        </p:nvSpPr>
        <p:spPr>
          <a:xfrm>
            <a:off x="3708400" y="3898436"/>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عن الجهة</a:t>
            </a:r>
          </a:p>
        </p:txBody>
      </p:sp>
      <p:sp>
        <p:nvSpPr>
          <p:cNvPr id="62" name="Text 61"/>
          <p:cNvSpPr txBox="1"/>
          <p:nvPr/>
        </p:nvSpPr>
        <p:spPr>
          <a:xfrm>
            <a:off x="3708400" y="4129516"/>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63" name="Rule 62"/>
          <p:cNvSpPr/>
          <p:nvPr/>
        </p:nvSpPr>
        <p:spPr>
          <a:xfrm>
            <a:off x="1035050" y="3854748"/>
            <a:ext cx="2444750" cy="12700"/>
          </a:xfrm>
          <a:prstGeom prst="rect">
            <a:avLst/>
          </a:prstGeom>
          <a:solidFill>
            <a:srgbClr val="132033"/>
          </a:solidFill>
          <a:ln>
            <a:noFill/>
          </a:ln>
        </p:spPr>
        <p:txBody>
          <a:bodyPr rtlCol="0" anchor="ctr"/>
          <a:lstStyle/>
          <a:p>
            <a:pPr algn="ctr"/>
          </a:p>
        </p:txBody>
      </p:sp>
      <p:sp>
        <p:nvSpPr>
          <p:cNvPr id="64" name="Text 63"/>
          <p:cNvSpPr txBox="1"/>
          <p:nvPr/>
        </p:nvSpPr>
        <p:spPr>
          <a:xfrm>
            <a:off x="1035050" y="3898436"/>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عن المورد</a:t>
            </a:r>
          </a:p>
        </p:txBody>
      </p:sp>
      <p:sp>
        <p:nvSpPr>
          <p:cNvPr id="65" name="Text 64"/>
          <p:cNvSpPr txBox="1"/>
          <p:nvPr/>
        </p:nvSpPr>
        <p:spPr>
          <a:xfrm>
            <a:off x="1035050" y="4129516"/>
            <a:ext cx="244475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التوقيع والتاريخ</a:t>
            </a:r>
          </a:p>
        </p:txBody>
      </p:sp>
      <p:sp>
        <p:nvSpPr>
          <p:cNvPr id="66" name="Text 65"/>
          <p:cNvSpPr txBox="1"/>
          <p:nvPr/>
        </p:nvSpPr>
        <p:spPr>
          <a:xfrm>
            <a:off x="367792" y="4604437"/>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67" name="Text 6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68" name="Box 6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9" name="Box 6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1" name="Box 7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2" name="Box 7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3" name="Box 7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4" name="Box 73"/>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75" name="Box 7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Box 7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7" name="Text 7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DFEEE6"/>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9518253" y="812800"/>
            <a:ext cx="1860947"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مكوّن فرعي جديد · 3 من 3</a:t>
            </a:r>
          </a:p>
        </p:txBody>
      </p:sp>
      <p:sp>
        <p:nvSpPr>
          <p:cNvPr id="4" name="Text 3"/>
          <p:cNvSpPr txBox="1"/>
          <p:nvPr/>
        </p:nvSpPr>
        <p:spPr>
          <a:xfrm>
            <a:off x="7024870"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F2EEE6"/>
          </a:solidFill>
          <a:ln>
            <a:noFill/>
          </a:ln>
        </p:spPr>
        <p:txBody>
          <a:bodyPr rtlCol="0" anchor="ctr"/>
          <a:lstStyle/>
          <a:p>
            <a:pPr algn="ctr"/>
          </a:p>
        </p:txBody>
      </p:sp>
      <p:sp>
        <p:nvSpPr>
          <p:cNvPr id="7" name="Text 6"/>
          <p:cNvSpPr txBox="1"/>
          <p:nvPr/>
        </p:nvSpPr>
        <p:spPr>
          <a:xfrm>
            <a:off x="3620512" y="891800"/>
            <a:ext cx="153055"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1</a:t>
            </a:r>
          </a:p>
        </p:txBody>
      </p:sp>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noFill/>
          <a:ln w="6350">
            <a:solidFill>
              <a:srgbClr val="DDD7CA"/>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ECE8DF"/>
          </a:solidFill>
          <a:ln>
            <a:noFill/>
          </a:ln>
        </p:spPr>
        <p:txBody>
          <a:bodyPr rtlCol="0" anchor="ctr"/>
          <a:lstStyle/>
          <a:p>
            <a:pPr algn="ctr"/>
          </a:p>
        </p:txBody>
      </p:sp>
      <p:sp>
        <p:nvSpPr>
          <p:cNvPr id="12" name="Text 11"/>
          <p:cNvSpPr txBox="1"/>
          <p:nvPr/>
        </p:nvSpPr>
        <p:spPr>
          <a:xfrm>
            <a:off x="2556173"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2</a:t>
            </a:r>
          </a:p>
        </p:txBody>
      </p:sp>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‎4-2‎ الأمن السيبراني المتعلق بالحوسبة السحابية والاستضافة</a:t>
            </a:r>
          </a:p>
        </p:txBody>
      </p:sp>
      <p:sp>
        <p:nvSpPr>
          <p:cNvPr id="20" name="Box 19"/>
          <p:cNvSpPr/>
          <p:nvPr/>
        </p:nvSpPr>
        <p:spPr>
          <a:xfrm>
            <a:off x="815975" y="1881386"/>
            <a:ext cx="10560050" cy="542925"/>
          </a:xfrm>
          <a:prstGeom prst="roundRect">
            <a:avLst>
              <a:gd name="adj" fmla="val 23121"/>
            </a:avLst>
          </a:prstGeom>
          <a:solidFill>
            <a:srgbClr val="FCFBF8"/>
          </a:solidFill>
          <a:ln w="6350">
            <a:solidFill>
              <a:srgbClr val="DDD7CA"/>
            </a:solidFill>
          </a:ln>
        </p:spPr>
        <p:txBody>
          <a:bodyPr rtlCol="0" anchor="ctr"/>
          <a:lstStyle/>
          <a:p>
            <a:pPr algn="ctr"/>
          </a:p>
        </p:txBody>
      </p:sp>
      <p:sp>
        <p:nvSpPr>
          <p:cNvPr id="21" name="Text 20"/>
          <p:cNvSpPr txBox="1"/>
          <p:nvPr/>
        </p:nvSpPr>
        <p:spPr>
          <a:xfrm>
            <a:off x="10138410" y="1993019"/>
            <a:ext cx="1043940" cy="2286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1" i="0">
                <a:solidFill>
                  <a:srgbClr val="22704E"/>
                </a:solidFill>
                <a:latin typeface="IBM Plex Sans Arabic"/>
                <a:ea typeface="IBM Plex Sans Arabic"/>
                <a:cs typeface="IBM Plex Sans Arabic"/>
              </a:rPr>
              <a:t>هدف الوثيقة</a:t>
            </a:r>
          </a:p>
        </p:txBody>
      </p:sp>
      <p:sp>
        <p:nvSpPr>
          <p:cNvPr id="22" name="Text 21"/>
          <p:cNvSpPr txBox="1"/>
          <p:nvPr/>
        </p:nvSpPr>
        <p:spPr>
          <a:xfrm>
            <a:off x="838200" y="1989114"/>
            <a:ext cx="92646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350" b="0" i="0">
                <a:solidFill>
                  <a:srgbClr val="132033"/>
                </a:solidFill>
                <a:latin typeface="IBM Plex Sans Arabic"/>
                <a:ea typeface="IBM Plex Sans Arabic"/>
                <a:cs typeface="IBM Plex Sans Arabic"/>
              </a:rPr>
              <a:t>حماية أصول الجهة على الخدمات السحابية التي يستضيفها أو يعالجها أو يديرها طرف خارجي.</a:t>
            </a:r>
          </a:p>
        </p:txBody>
      </p:sp>
      <p:sp>
        <p:nvSpPr>
          <p:cNvPr id="23" name="Box 22"/>
          <p:cNvSpPr/>
          <p:nvPr/>
        </p:nvSpPr>
        <p:spPr>
          <a:xfrm>
            <a:off x="8159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4" name="Box 23"/>
          <p:cNvSpPr/>
          <p:nvPr/>
        </p:nvSpPr>
        <p:spPr>
          <a:xfrm>
            <a:off x="3638550" y="2852936"/>
            <a:ext cx="381000" cy="381000"/>
          </a:xfrm>
          <a:prstGeom prst="roundRect">
            <a:avLst>
              <a:gd name="adj" fmla="val 26666"/>
            </a:avLst>
          </a:prstGeom>
          <a:solidFill>
            <a:srgbClr val="DFEEE6"/>
          </a:solidFill>
          <a:ln>
            <a:noFill/>
          </a:ln>
        </p:spPr>
        <p:txBody>
          <a:bodyPr rtlCol="0" anchor="ctr"/>
          <a:lstStyle/>
          <a:p>
            <a:pPr algn="ctr"/>
          </a:p>
        </p:txBody>
      </p:sp>
      <p:pic>
        <p:nvPicPr>
          <p:cNvPr id="25" name="Icon Warning 24" descr="icon057.png"/>
          <p:cNvPicPr>
            <a:picLocks noChangeAspect="1"/>
          </p:cNvPicPr>
          <p:nvPr/>
        </p:nvPicPr>
        <p:blipFill>
          <a:blip r:embed="rId2"/>
          <a:stretch>
            <a:fillRect/>
          </a:stretch>
        </p:blipFill>
        <p:spPr>
          <a:xfrm>
            <a:off x="3724275" y="2938661"/>
            <a:ext cx="209550" cy="209550"/>
          </a:xfrm>
          <a:prstGeom prst="rect">
            <a:avLst/>
          </a:prstGeom>
        </p:spPr>
      </p:pic>
      <p:sp>
        <p:nvSpPr>
          <p:cNvPr id="26" name="Text 25"/>
          <p:cNvSpPr txBox="1"/>
          <p:nvPr/>
        </p:nvSpPr>
        <p:spPr>
          <a:xfrm>
            <a:off x="8382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ماذا لو غاب؟</a:t>
            </a:r>
          </a:p>
        </p:txBody>
      </p:sp>
      <p:sp>
        <p:nvSpPr>
          <p:cNvPr id="27" name="Text 26"/>
          <p:cNvSpPr txBox="1"/>
          <p:nvPr/>
        </p:nvSpPr>
        <p:spPr>
          <a:xfrm>
            <a:off x="919353" y="3613793"/>
            <a:ext cx="3100197" cy="478631"/>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بيانات حساسة في خدمة سحابية لا يعرف بها أحد، أو مزود لا يعيد البيانات إلا بصيغة لا تُقرأ.</a:t>
            </a:r>
          </a:p>
        </p:txBody>
      </p:sp>
      <p:sp>
        <p:nvSpPr>
          <p:cNvPr id="28" name="Box 27"/>
          <p:cNvSpPr/>
          <p:nvPr/>
        </p:nvSpPr>
        <p:spPr>
          <a:xfrm>
            <a:off x="43973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29" name="Box 28"/>
          <p:cNvSpPr/>
          <p:nvPr/>
        </p:nvSpPr>
        <p:spPr>
          <a:xfrm>
            <a:off x="7219950" y="2852936"/>
            <a:ext cx="381000" cy="381000"/>
          </a:xfrm>
          <a:prstGeom prst="roundRect">
            <a:avLst>
              <a:gd name="adj" fmla="val 26666"/>
            </a:avLst>
          </a:prstGeom>
          <a:solidFill>
            <a:srgbClr val="DFEEE6"/>
          </a:solidFill>
          <a:ln>
            <a:noFill/>
          </a:ln>
        </p:spPr>
        <p:txBody>
          <a:bodyPr rtlCol="0" anchor="ctr"/>
          <a:lstStyle/>
          <a:p>
            <a:pPr algn="ctr"/>
          </a:p>
        </p:txBody>
      </p:sp>
      <p:pic>
        <p:nvPicPr>
          <p:cNvPr id="30" name="Icon Home 29" descr="icon058.png"/>
          <p:cNvPicPr>
            <a:picLocks noChangeAspect="1"/>
          </p:cNvPicPr>
          <p:nvPr/>
        </p:nvPicPr>
        <p:blipFill>
          <a:blip r:embed="rId3"/>
          <a:stretch>
            <a:fillRect/>
          </a:stretch>
        </p:blipFill>
        <p:spPr>
          <a:xfrm>
            <a:off x="7305675" y="2938661"/>
            <a:ext cx="209550" cy="209550"/>
          </a:xfrm>
          <a:prstGeom prst="rect">
            <a:avLst/>
          </a:prstGeom>
        </p:spPr>
      </p:pic>
      <p:sp>
        <p:nvSpPr>
          <p:cNvPr id="31" name="Text 30"/>
          <p:cNvSpPr txBox="1"/>
          <p:nvPr/>
        </p:nvSpPr>
        <p:spPr>
          <a:xfrm>
            <a:off x="44196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مثال من الحياة</a:t>
            </a:r>
          </a:p>
        </p:txBody>
      </p:sp>
      <p:sp>
        <p:nvSpPr>
          <p:cNvPr id="32" name="Text 31"/>
          <p:cNvSpPr txBox="1"/>
          <p:nvPr/>
        </p:nvSpPr>
        <p:spPr>
          <a:xfrm>
            <a:off x="45007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مثل استئجار مستودع لدى شركة تخزين: البضاعة بضاعتك، فتشترط الحماية، وأن تستعيدها كاملة متى أردت.</a:t>
            </a:r>
          </a:p>
        </p:txBody>
      </p:sp>
      <p:sp>
        <p:nvSpPr>
          <p:cNvPr id="33" name="Box 32"/>
          <p:cNvSpPr/>
          <p:nvPr/>
        </p:nvSpPr>
        <p:spPr>
          <a:xfrm>
            <a:off x="7978775" y="2659261"/>
            <a:ext cx="3397250" cy="1895872"/>
          </a:xfrm>
          <a:prstGeom prst="roundRect">
            <a:avLst>
              <a:gd name="adj" fmla="val 6676"/>
            </a:avLst>
          </a:prstGeom>
          <a:solidFill>
            <a:srgbClr val="FCFBF8"/>
          </a:solidFill>
          <a:ln w="6350">
            <a:solidFill>
              <a:srgbClr val="DDD7CA"/>
            </a:solidFill>
          </a:ln>
        </p:spPr>
        <p:txBody>
          <a:bodyPr rtlCol="0" anchor="ctr"/>
          <a:lstStyle/>
          <a:p>
            <a:pPr algn="ctr"/>
          </a:p>
        </p:txBody>
      </p:sp>
      <p:sp>
        <p:nvSpPr>
          <p:cNvPr id="34" name="Box 33"/>
          <p:cNvSpPr/>
          <p:nvPr/>
        </p:nvSpPr>
        <p:spPr>
          <a:xfrm>
            <a:off x="10801350" y="2852936"/>
            <a:ext cx="381000" cy="381000"/>
          </a:xfrm>
          <a:prstGeom prst="roundRect">
            <a:avLst>
              <a:gd name="adj" fmla="val 26666"/>
            </a:avLst>
          </a:prstGeom>
          <a:solidFill>
            <a:srgbClr val="DFEEE6"/>
          </a:solidFill>
          <a:ln>
            <a:noFill/>
          </a:ln>
        </p:spPr>
        <p:txBody>
          <a:bodyPr rtlCol="0" anchor="ctr"/>
          <a:lstStyle/>
          <a:p>
            <a:pPr algn="ctr"/>
          </a:p>
        </p:txBody>
      </p:sp>
      <p:pic>
        <p:nvPicPr>
          <p:cNvPr id="35" name="Icon Lightbulb 34" descr="icon059.png"/>
          <p:cNvPicPr>
            <a:picLocks noChangeAspect="1"/>
          </p:cNvPicPr>
          <p:nvPr/>
        </p:nvPicPr>
        <p:blipFill>
          <a:blip r:embed="rId4"/>
          <a:stretch>
            <a:fillRect/>
          </a:stretch>
        </p:blipFill>
        <p:spPr>
          <a:xfrm>
            <a:off x="10887075" y="2938661"/>
            <a:ext cx="209550" cy="209550"/>
          </a:xfrm>
          <a:prstGeom prst="rect">
            <a:avLst/>
          </a:prstGeom>
        </p:spPr>
      </p:pic>
      <p:sp>
        <p:nvSpPr>
          <p:cNvPr id="36" name="Text 35"/>
          <p:cNvSpPr txBox="1"/>
          <p:nvPr/>
        </p:nvSpPr>
        <p:spPr>
          <a:xfrm>
            <a:off x="8001000" y="3289848"/>
            <a:ext cx="31813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ببساطة</a:t>
            </a:r>
          </a:p>
        </p:txBody>
      </p:sp>
      <p:sp>
        <p:nvSpPr>
          <p:cNvPr id="37" name="Text 36"/>
          <p:cNvSpPr txBox="1"/>
          <p:nvPr/>
        </p:nvSpPr>
        <p:spPr>
          <a:xfrm>
            <a:off x="8082153" y="3613793"/>
            <a:ext cx="3100197" cy="717947"/>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465264"/>
                </a:solidFill>
                <a:latin typeface="IBM Plex Sans Arabic"/>
                <a:ea typeface="IBM Plex Sans Arabic"/>
                <a:cs typeface="IBM Plex Sans Arabic"/>
              </a:rPr>
              <a:t>حماية أصول الجهة حين تُستضاف أو تُعالج لدى مزود سحابي: سياسة لما يُنقل إلى السحابة، وبنود لحماية البيانات وإعادتها، وفصل بيئة الجهة.</a:t>
            </a:r>
          </a:p>
        </p:txBody>
      </p:sp>
      <p:sp>
        <p:nvSpPr>
          <p:cNvPr id="38" name="Rule 37"/>
          <p:cNvSpPr/>
          <p:nvPr/>
        </p:nvSpPr>
        <p:spPr>
          <a:xfrm>
            <a:off x="7992566" y="5282009"/>
            <a:ext cx="3386634" cy="19050"/>
          </a:xfrm>
          <a:prstGeom prst="rect">
            <a:avLst/>
          </a:prstGeom>
          <a:solidFill>
            <a:srgbClr val="22704E"/>
          </a:solidFill>
          <a:ln>
            <a:noFill/>
          </a:ln>
        </p:spPr>
        <p:txBody>
          <a:bodyPr rtlCol="0" anchor="ctr"/>
          <a:lstStyle/>
          <a:p>
            <a:pPr algn="ctr"/>
          </a:p>
        </p:txBody>
      </p:sp>
      <p:sp>
        <p:nvSpPr>
          <p:cNvPr id="39" name="Text 38"/>
          <p:cNvSpPr txBox="1"/>
          <p:nvPr/>
        </p:nvSpPr>
        <p:spPr>
          <a:xfrm>
            <a:off x="7992566"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المزود السحابي</a:t>
            </a:r>
          </a:p>
        </p:txBody>
      </p:sp>
      <p:sp>
        <p:nvSpPr>
          <p:cNvPr id="40" name="Text 39"/>
          <p:cNvSpPr txBox="1"/>
          <p:nvPr/>
        </p:nvSpPr>
        <p:spPr>
          <a:xfrm>
            <a:off x="7992566"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جهة تستضيف خدمات الجهة</a:t>
            </a:r>
          </a:p>
        </p:txBody>
      </p:sp>
      <p:sp>
        <p:nvSpPr>
          <p:cNvPr id="41" name="Rule 40"/>
          <p:cNvSpPr/>
          <p:nvPr/>
        </p:nvSpPr>
        <p:spPr>
          <a:xfrm>
            <a:off x="4402733" y="5282009"/>
            <a:ext cx="3386634" cy="19050"/>
          </a:xfrm>
          <a:prstGeom prst="rect">
            <a:avLst/>
          </a:prstGeom>
          <a:solidFill>
            <a:srgbClr val="22704E"/>
          </a:solidFill>
          <a:ln>
            <a:noFill/>
          </a:ln>
        </p:spPr>
        <p:txBody>
          <a:bodyPr rtlCol="0" anchor="ctr"/>
          <a:lstStyle/>
          <a:p>
            <a:pPr algn="ctr"/>
          </a:p>
        </p:txBody>
      </p:sp>
      <p:sp>
        <p:nvSpPr>
          <p:cNvPr id="42" name="Text 41"/>
          <p:cNvSpPr txBox="1"/>
          <p:nvPr/>
        </p:nvSpPr>
        <p:spPr>
          <a:xfrm>
            <a:off x="4402733"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السحابة غير المعتمدة</a:t>
            </a:r>
          </a:p>
        </p:txBody>
      </p:sp>
      <p:sp>
        <p:nvSpPr>
          <p:cNvPr id="43" name="Text 42"/>
          <p:cNvSpPr txBox="1"/>
          <p:nvPr/>
        </p:nvSpPr>
        <p:spPr>
          <a:xfrm>
            <a:off x="4402733"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خدمة تُستخدم دون علم التقنية</a:t>
            </a:r>
          </a:p>
        </p:txBody>
      </p:sp>
      <p:sp>
        <p:nvSpPr>
          <p:cNvPr id="44" name="Rule 43"/>
          <p:cNvSpPr/>
          <p:nvPr/>
        </p:nvSpPr>
        <p:spPr>
          <a:xfrm>
            <a:off x="812899" y="5282009"/>
            <a:ext cx="3386634" cy="19050"/>
          </a:xfrm>
          <a:prstGeom prst="rect">
            <a:avLst/>
          </a:prstGeom>
          <a:solidFill>
            <a:srgbClr val="22704E"/>
          </a:solidFill>
          <a:ln>
            <a:noFill/>
          </a:ln>
        </p:spPr>
        <p:txBody>
          <a:bodyPr rtlCol="0" anchor="ctr"/>
          <a:lstStyle/>
          <a:p>
            <a:pPr algn="ctr"/>
          </a:p>
        </p:txBody>
      </p:sp>
      <p:sp>
        <p:nvSpPr>
          <p:cNvPr id="45" name="Text 44"/>
          <p:cNvSpPr txBox="1"/>
          <p:nvPr/>
        </p:nvSpPr>
        <p:spPr>
          <a:xfrm>
            <a:off x="812899" y="5366337"/>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32033"/>
                </a:solidFill>
                <a:latin typeface="IBM Plex Sans Arabic"/>
                <a:ea typeface="IBM Plex Sans Arabic"/>
                <a:cs typeface="IBM Plex Sans Arabic"/>
              </a:rPr>
              <a:t>فصل البيئة</a:t>
            </a:r>
          </a:p>
        </p:txBody>
      </p:sp>
      <p:sp>
        <p:nvSpPr>
          <p:cNvPr id="46" name="Text 45"/>
          <p:cNvSpPr txBox="1"/>
          <p:nvPr/>
        </p:nvSpPr>
        <p:spPr>
          <a:xfrm>
            <a:off x="812899" y="5605058"/>
            <a:ext cx="338663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عزل بيانات الجهة عن عملاء المزود الآخرين</a:t>
            </a:r>
          </a:p>
        </p:txBody>
      </p:sp>
      <p:sp>
        <p:nvSpPr>
          <p:cNvPr id="47" name="Text 4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48" name="Box 4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2" name="Box 5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4" name="Box 53"/>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55" name="Box 54"/>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Box 5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7" name="Text 5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7561759" y="812800"/>
            <a:ext cx="3817441"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‎4-2‎ · الأمن السيبراني المتعلق بالحوسبة السحابية والاستضافة</a:t>
            </a:r>
          </a:p>
        </p:txBody>
      </p:sp>
      <p:sp>
        <p:nvSpPr>
          <p:cNvPr id="4" name="Text 3"/>
          <p:cNvSpPr txBox="1"/>
          <p:nvPr/>
        </p:nvSpPr>
        <p:spPr>
          <a:xfrm>
            <a:off x="5068376"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1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الحوسبة السحابية: المتطلبات والتطبيق والمراجعة</a:t>
            </a:r>
          </a:p>
        </p:txBody>
      </p:sp>
      <p:sp>
        <p:nvSpPr>
          <p:cNvPr id="20" name="Rule 19"/>
          <p:cNvSpPr/>
          <p:nvPr/>
        </p:nvSpPr>
        <p:spPr>
          <a:xfrm>
            <a:off x="812800" y="2193131"/>
            <a:ext cx="3051969" cy="19050"/>
          </a:xfrm>
          <a:prstGeom prst="rect">
            <a:avLst/>
          </a:prstGeom>
          <a:solidFill>
            <a:srgbClr val="22704E"/>
          </a:solidFill>
          <a:ln>
            <a:noFill/>
          </a:ln>
        </p:spPr>
        <p:txBody>
          <a:bodyPr rtlCol="0" anchor="ctr"/>
          <a:lstStyle/>
          <a:p>
            <a:pPr algn="ctr"/>
          </a:p>
        </p:txBody>
      </p:sp>
      <p:sp>
        <p:nvSpPr>
          <p:cNvPr id="21" name="Text 20"/>
          <p:cNvSpPr txBox="1"/>
          <p:nvPr/>
        </p:nvSpPr>
        <p:spPr>
          <a:xfrm>
            <a:off x="838200" y="1892689"/>
            <a:ext cx="289956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الدليل</a:t>
            </a:r>
          </a:p>
        </p:txBody>
      </p:sp>
      <p:sp>
        <p:nvSpPr>
          <p:cNvPr id="22" name="Rule 21"/>
          <p:cNvSpPr/>
          <p:nvPr/>
        </p:nvSpPr>
        <p:spPr>
          <a:xfrm>
            <a:off x="3864769" y="2193131"/>
            <a:ext cx="3509863" cy="19050"/>
          </a:xfrm>
          <a:prstGeom prst="rect">
            <a:avLst/>
          </a:prstGeom>
          <a:solidFill>
            <a:srgbClr val="22704E"/>
          </a:solidFill>
          <a:ln>
            <a:noFill/>
          </a:ln>
        </p:spPr>
        <p:txBody>
          <a:bodyPr rtlCol="0" anchor="ctr"/>
          <a:lstStyle/>
          <a:p>
            <a:pPr algn="ctr"/>
          </a:p>
        </p:txBody>
      </p:sp>
      <p:sp>
        <p:nvSpPr>
          <p:cNvPr id="23" name="Text 22"/>
          <p:cNvSpPr txBox="1"/>
          <p:nvPr/>
        </p:nvSpPr>
        <p:spPr>
          <a:xfrm>
            <a:off x="3890169" y="1892689"/>
            <a:ext cx="33574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7374632" y="2193131"/>
            <a:ext cx="3052068" cy="19050"/>
          </a:xfrm>
          <a:prstGeom prst="rect">
            <a:avLst/>
          </a:prstGeom>
          <a:solidFill>
            <a:srgbClr val="22704E"/>
          </a:solidFill>
          <a:ln>
            <a:noFill/>
          </a:ln>
        </p:spPr>
        <p:txBody>
          <a:bodyPr rtlCol="0" anchor="ctr"/>
          <a:lstStyle/>
          <a:p>
            <a:pPr algn="ctr"/>
          </a:p>
        </p:txBody>
      </p:sp>
      <p:sp>
        <p:nvSpPr>
          <p:cNvPr id="25" name="Text 24"/>
          <p:cNvSpPr txBox="1"/>
          <p:nvPr/>
        </p:nvSpPr>
        <p:spPr>
          <a:xfrm>
            <a:off x="7400032" y="1892689"/>
            <a:ext cx="289966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22704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3051969" cy="835521"/>
          </a:xfrm>
          <a:prstGeom prst="rect">
            <a:avLst/>
          </a:prstGeom>
          <a:solidFill>
            <a:srgbClr val="DFEEE6"/>
          </a:solidFill>
          <a:ln>
            <a:noFill/>
          </a:ln>
        </p:spPr>
        <p:txBody>
          <a:bodyPr rtlCol="0" anchor="ctr"/>
          <a:lstStyle/>
          <a:p>
            <a:pPr algn="ctr"/>
          </a:p>
        </p:txBody>
      </p:sp>
      <p:sp>
        <p:nvSpPr>
          <p:cNvPr id="29" name="Rule 28"/>
          <p:cNvSpPr/>
          <p:nvPr/>
        </p:nvSpPr>
        <p:spPr>
          <a:xfrm>
            <a:off x="812800" y="3041352"/>
            <a:ext cx="3051969" cy="6350"/>
          </a:xfrm>
          <a:prstGeom prst="rect">
            <a:avLst/>
          </a:prstGeom>
          <a:solidFill>
            <a:srgbClr val="DDD7CA"/>
          </a:solidFill>
          <a:ln>
            <a:noFill/>
          </a:ln>
        </p:spPr>
        <p:txBody>
          <a:bodyPr rtlCol="0" anchor="ctr"/>
          <a:lstStyle/>
          <a:p>
            <a:pPr algn="ctr"/>
          </a:p>
        </p:txBody>
      </p:sp>
      <p:sp>
        <p:nvSpPr>
          <p:cNvPr id="30" name="Text 29"/>
          <p:cNvSpPr txBox="1"/>
          <p:nvPr/>
        </p:nvSpPr>
        <p:spPr>
          <a:xfrm>
            <a:off x="838200" y="2286349"/>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السياسة المعتمدة</a:t>
            </a:r>
          </a:p>
        </p:txBody>
      </p:sp>
      <p:sp>
        <p:nvSpPr>
          <p:cNvPr id="31" name="Rule 30"/>
          <p:cNvSpPr/>
          <p:nvPr/>
        </p:nvSpPr>
        <p:spPr>
          <a:xfrm>
            <a:off x="3864769" y="3041352"/>
            <a:ext cx="3509863" cy="6350"/>
          </a:xfrm>
          <a:prstGeom prst="rect">
            <a:avLst/>
          </a:prstGeom>
          <a:solidFill>
            <a:srgbClr val="DDD7CA"/>
          </a:solidFill>
          <a:ln>
            <a:noFill/>
          </a:ln>
        </p:spPr>
        <p:txBody>
          <a:bodyPr rtlCol="0" anchor="ctr"/>
          <a:lstStyle/>
          <a:p>
            <a:pPr algn="ctr"/>
          </a:p>
        </p:txBody>
      </p:sp>
      <p:sp>
        <p:nvSpPr>
          <p:cNvPr id="32" name="Text 31"/>
          <p:cNvSpPr txBox="1"/>
          <p:nvPr/>
        </p:nvSpPr>
        <p:spPr>
          <a:xfrm>
            <a:off x="3894093" y="2286349"/>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سياسة تحدد ما يُسمح بنقله للسحابة حسب التصنيف، وشروط اختيار المزود</a:t>
            </a:r>
          </a:p>
        </p:txBody>
      </p:sp>
      <p:sp>
        <p:nvSpPr>
          <p:cNvPr id="33" name="Rule 32"/>
          <p:cNvSpPr/>
          <p:nvPr/>
        </p:nvSpPr>
        <p:spPr>
          <a:xfrm>
            <a:off x="7374632" y="3041352"/>
            <a:ext cx="3052068" cy="6350"/>
          </a:xfrm>
          <a:prstGeom prst="rect">
            <a:avLst/>
          </a:prstGeom>
          <a:solidFill>
            <a:srgbClr val="DDD7CA"/>
          </a:solidFill>
          <a:ln>
            <a:noFill/>
          </a:ln>
        </p:spPr>
        <p:txBody>
          <a:bodyPr rtlCol="0" anchor="ctr"/>
          <a:lstStyle/>
          <a:p>
            <a:pPr algn="ctr"/>
          </a:p>
        </p:txBody>
      </p:sp>
      <p:sp>
        <p:nvSpPr>
          <p:cNvPr id="34" name="Text 33"/>
          <p:cNvSpPr txBox="1"/>
          <p:nvPr/>
        </p:nvSpPr>
        <p:spPr>
          <a:xfrm>
            <a:off x="7417690" y="2286349"/>
            <a:ext cx="288201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تحديد متطلبات استخدام السحابة والاستضافة وتوثيقها واعتمادها</a:t>
            </a:r>
          </a:p>
        </p:txBody>
      </p:sp>
      <p:sp>
        <p:nvSpPr>
          <p:cNvPr id="35" name="Rule 34"/>
          <p:cNvSpPr/>
          <p:nvPr/>
        </p:nvSpPr>
        <p:spPr>
          <a:xfrm>
            <a:off x="10426700" y="304135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4-2-1</a:t>
            </a:r>
          </a:p>
        </p:txBody>
      </p:sp>
      <p:sp>
        <p:nvSpPr>
          <p:cNvPr id="37" name="Text 36"/>
          <p:cNvSpPr txBox="1"/>
          <p:nvPr/>
        </p:nvSpPr>
        <p:spPr>
          <a:xfrm>
            <a:off x="10515600" y="2508579"/>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توثيق واعتماد</a:t>
            </a:r>
          </a:p>
        </p:txBody>
      </p:sp>
      <p:sp>
        <p:nvSpPr>
          <p:cNvPr id="38" name="Box 37"/>
          <p:cNvSpPr/>
          <p:nvPr/>
        </p:nvSpPr>
        <p:spPr>
          <a:xfrm>
            <a:off x="812800" y="3047702"/>
            <a:ext cx="3051969" cy="651470"/>
          </a:xfrm>
          <a:prstGeom prst="rect">
            <a:avLst/>
          </a:prstGeom>
          <a:solidFill>
            <a:srgbClr val="DFEEE6"/>
          </a:solidFill>
          <a:ln>
            <a:noFill/>
          </a:ln>
        </p:spPr>
        <p:txBody>
          <a:bodyPr rtlCol="0" anchor="ctr"/>
          <a:lstStyle/>
          <a:p>
            <a:pPr algn="ctr"/>
          </a:p>
        </p:txBody>
      </p:sp>
      <p:sp>
        <p:nvSpPr>
          <p:cNvPr id="39" name="Rule 38"/>
          <p:cNvSpPr/>
          <p:nvPr/>
        </p:nvSpPr>
        <p:spPr>
          <a:xfrm>
            <a:off x="812800" y="3692823"/>
            <a:ext cx="3051969" cy="6350"/>
          </a:xfrm>
          <a:prstGeom prst="rect">
            <a:avLst/>
          </a:prstGeom>
          <a:solidFill>
            <a:srgbClr val="DDD7CA"/>
          </a:solidFill>
          <a:ln>
            <a:noFill/>
          </a:ln>
        </p:spPr>
        <p:txBody>
          <a:bodyPr rtlCol="0" anchor="ctr"/>
          <a:lstStyle/>
          <a:p>
            <a:pPr algn="ctr"/>
          </a:p>
        </p:txBody>
      </p:sp>
      <p:sp>
        <p:nvSpPr>
          <p:cNvPr id="40" name="Text 39"/>
          <p:cNvSpPr txBox="1"/>
          <p:nvPr/>
        </p:nvSpPr>
        <p:spPr>
          <a:xfrm>
            <a:off x="855861" y="3121870"/>
            <a:ext cx="2881908"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الخدمات السحابية وتقييماتها، وإعدادات الحسابات</a:t>
            </a:r>
          </a:p>
        </p:txBody>
      </p:sp>
      <p:sp>
        <p:nvSpPr>
          <p:cNvPr id="41" name="Rule 40"/>
          <p:cNvSpPr/>
          <p:nvPr/>
        </p:nvSpPr>
        <p:spPr>
          <a:xfrm>
            <a:off x="3864769" y="3692823"/>
            <a:ext cx="3509863" cy="6350"/>
          </a:xfrm>
          <a:prstGeom prst="rect">
            <a:avLst/>
          </a:prstGeom>
          <a:solidFill>
            <a:srgbClr val="DDD7CA"/>
          </a:solidFill>
          <a:ln>
            <a:noFill/>
          </a:ln>
        </p:spPr>
        <p:txBody>
          <a:bodyPr rtlCol="0" anchor="ctr"/>
          <a:lstStyle/>
          <a:p>
            <a:pPr algn="ctr"/>
          </a:p>
        </p:txBody>
      </p:sp>
      <p:sp>
        <p:nvSpPr>
          <p:cNvPr id="42" name="Text 41"/>
          <p:cNvSpPr txBox="1"/>
          <p:nvPr/>
        </p:nvSpPr>
        <p:spPr>
          <a:xfrm>
            <a:off x="3894093" y="3121870"/>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سجل بكل خدمة سحابية مستخدمة، وتقييم قبل اعتمادها، وإعدادات آمنة لحساباتها</a:t>
            </a:r>
          </a:p>
        </p:txBody>
      </p:sp>
      <p:sp>
        <p:nvSpPr>
          <p:cNvPr id="43" name="Rule 42"/>
          <p:cNvSpPr/>
          <p:nvPr/>
        </p:nvSpPr>
        <p:spPr>
          <a:xfrm>
            <a:off x="7374632" y="3692823"/>
            <a:ext cx="3052068" cy="6350"/>
          </a:xfrm>
          <a:prstGeom prst="rect">
            <a:avLst/>
          </a:prstGeom>
          <a:solidFill>
            <a:srgbClr val="DDD7CA"/>
          </a:solidFill>
          <a:ln>
            <a:noFill/>
          </a:ln>
        </p:spPr>
        <p:txBody>
          <a:bodyPr rtlCol="0" anchor="ctr"/>
          <a:lstStyle/>
          <a:p>
            <a:pPr algn="ctr"/>
          </a:p>
        </p:txBody>
      </p:sp>
      <p:sp>
        <p:nvSpPr>
          <p:cNvPr id="44" name="Text 43"/>
          <p:cNvSpPr txBox="1"/>
          <p:nvPr/>
        </p:nvSpPr>
        <p:spPr>
          <a:xfrm>
            <a:off x="7400032" y="3121870"/>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تطبيق المتطلبات</a:t>
            </a:r>
          </a:p>
        </p:txBody>
      </p:sp>
      <p:sp>
        <p:nvSpPr>
          <p:cNvPr id="45" name="Rule 44"/>
          <p:cNvSpPr/>
          <p:nvPr/>
        </p:nvSpPr>
        <p:spPr>
          <a:xfrm>
            <a:off x="10426700" y="3692823"/>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313857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4-2-2</a:t>
            </a:r>
          </a:p>
        </p:txBody>
      </p:sp>
      <p:sp>
        <p:nvSpPr>
          <p:cNvPr id="47" name="Text 46"/>
          <p:cNvSpPr txBox="1"/>
          <p:nvPr/>
        </p:nvSpPr>
        <p:spPr>
          <a:xfrm>
            <a:off x="10462260" y="334410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تطبيق</a:t>
            </a:r>
          </a:p>
        </p:txBody>
      </p:sp>
      <p:sp>
        <p:nvSpPr>
          <p:cNvPr id="48" name="Box 47"/>
          <p:cNvSpPr/>
          <p:nvPr/>
        </p:nvSpPr>
        <p:spPr>
          <a:xfrm>
            <a:off x="812800" y="3699173"/>
            <a:ext cx="3051969" cy="835521"/>
          </a:xfrm>
          <a:prstGeom prst="rect">
            <a:avLst/>
          </a:prstGeom>
          <a:solidFill>
            <a:srgbClr val="DFEEE6"/>
          </a:solidFill>
          <a:ln>
            <a:noFill/>
          </a:ln>
        </p:spPr>
        <p:txBody>
          <a:bodyPr rtlCol="0" anchor="ctr"/>
          <a:lstStyle/>
          <a:p>
            <a:pPr algn="ctr"/>
          </a:p>
        </p:txBody>
      </p:sp>
      <p:sp>
        <p:nvSpPr>
          <p:cNvPr id="49" name="Rule 48"/>
          <p:cNvSpPr/>
          <p:nvPr/>
        </p:nvSpPr>
        <p:spPr>
          <a:xfrm>
            <a:off x="812800" y="4528344"/>
            <a:ext cx="3051969" cy="6350"/>
          </a:xfrm>
          <a:prstGeom prst="rect">
            <a:avLst/>
          </a:prstGeom>
          <a:solidFill>
            <a:srgbClr val="DDD7CA"/>
          </a:solidFill>
          <a:ln>
            <a:noFill/>
          </a:ln>
        </p:spPr>
        <p:txBody>
          <a:bodyPr rtlCol="0" anchor="ctr"/>
          <a:lstStyle/>
          <a:p>
            <a:pPr algn="ctr"/>
          </a:p>
        </p:txBody>
      </p:sp>
      <p:sp>
        <p:nvSpPr>
          <p:cNvPr id="50" name="Text 49"/>
          <p:cNvSpPr txBox="1"/>
          <p:nvPr/>
        </p:nvSpPr>
        <p:spPr>
          <a:xfrm>
            <a:off x="838200" y="3773341"/>
            <a:ext cx="2899569"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تقرير المراجعة</a:t>
            </a:r>
          </a:p>
        </p:txBody>
      </p:sp>
      <p:sp>
        <p:nvSpPr>
          <p:cNvPr id="51" name="Rule 50"/>
          <p:cNvSpPr/>
          <p:nvPr/>
        </p:nvSpPr>
        <p:spPr>
          <a:xfrm>
            <a:off x="3864769" y="4528344"/>
            <a:ext cx="3509863" cy="6350"/>
          </a:xfrm>
          <a:prstGeom prst="rect">
            <a:avLst/>
          </a:prstGeom>
          <a:solidFill>
            <a:srgbClr val="DDD7CA"/>
          </a:solidFill>
          <a:ln>
            <a:noFill/>
          </a:ln>
        </p:spPr>
        <p:txBody>
          <a:bodyPr rtlCol="0" anchor="ctr"/>
          <a:lstStyle/>
          <a:p>
            <a:pPr algn="ctr"/>
          </a:p>
        </p:txBody>
      </p:sp>
      <p:sp>
        <p:nvSpPr>
          <p:cNvPr id="52" name="Text 51"/>
          <p:cNvSpPr txBox="1"/>
          <p:nvPr/>
        </p:nvSpPr>
        <p:spPr>
          <a:xfrm>
            <a:off x="3894093" y="3773341"/>
            <a:ext cx="3353539"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مراجعة السجل، وكشف الخدمات السحابية غير المعتمدة المستخدمة فعلاً</a:t>
            </a:r>
          </a:p>
        </p:txBody>
      </p:sp>
      <p:sp>
        <p:nvSpPr>
          <p:cNvPr id="53" name="Rule 52"/>
          <p:cNvSpPr/>
          <p:nvPr/>
        </p:nvSpPr>
        <p:spPr>
          <a:xfrm>
            <a:off x="7374632" y="4528344"/>
            <a:ext cx="3052068" cy="6350"/>
          </a:xfrm>
          <a:prstGeom prst="rect">
            <a:avLst/>
          </a:prstGeom>
          <a:solidFill>
            <a:srgbClr val="DDD7CA"/>
          </a:solidFill>
          <a:ln>
            <a:noFill/>
          </a:ln>
        </p:spPr>
        <p:txBody>
          <a:bodyPr rtlCol="0" anchor="ctr"/>
          <a:lstStyle/>
          <a:p>
            <a:pPr algn="ctr"/>
          </a:p>
        </p:txBody>
      </p:sp>
      <p:sp>
        <p:nvSpPr>
          <p:cNvPr id="54" name="Text 53"/>
          <p:cNvSpPr txBox="1"/>
          <p:nvPr/>
        </p:nvSpPr>
        <p:spPr>
          <a:xfrm>
            <a:off x="7400032" y="3773341"/>
            <a:ext cx="2899668"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مراجعة المتطلبات دورياً</a:t>
            </a:r>
          </a:p>
        </p:txBody>
      </p:sp>
      <p:sp>
        <p:nvSpPr>
          <p:cNvPr id="55" name="Rule 54"/>
          <p:cNvSpPr/>
          <p:nvPr/>
        </p:nvSpPr>
        <p:spPr>
          <a:xfrm>
            <a:off x="10426700" y="4528344"/>
            <a:ext cx="952500" cy="6350"/>
          </a:xfrm>
          <a:prstGeom prst="rect">
            <a:avLst/>
          </a:prstGeom>
          <a:solidFill>
            <a:srgbClr val="DDD7CA"/>
          </a:solidFill>
          <a:ln>
            <a:noFill/>
          </a:ln>
        </p:spPr>
        <p:txBody>
          <a:bodyPr rtlCol="0" anchor="ctr"/>
          <a:lstStyle/>
          <a:p>
            <a:pPr algn="ctr"/>
          </a:p>
        </p:txBody>
      </p:sp>
      <p:sp>
        <p:nvSpPr>
          <p:cNvPr id="56" name="Text 55"/>
          <p:cNvSpPr txBox="1"/>
          <p:nvPr/>
        </p:nvSpPr>
        <p:spPr>
          <a:xfrm>
            <a:off x="10454640" y="3790041"/>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4-2-4</a:t>
            </a:r>
          </a:p>
        </p:txBody>
      </p:sp>
      <p:sp>
        <p:nvSpPr>
          <p:cNvPr id="57" name="Text 56"/>
          <p:cNvSpPr txBox="1"/>
          <p:nvPr/>
        </p:nvSpPr>
        <p:spPr>
          <a:xfrm>
            <a:off x="10515600" y="3995571"/>
            <a:ext cx="736600" cy="411361"/>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مراجعة دورية</a:t>
            </a:r>
          </a:p>
        </p:txBody>
      </p:sp>
      <p:sp>
        <p:nvSpPr>
          <p:cNvPr id="58" name="Box 57"/>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59" name="Box 58"/>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60" name="Icon Book 59" descr="icon061.png"/>
          <p:cNvPicPr>
            <a:picLocks noChangeAspect="1"/>
          </p:cNvPicPr>
          <p:nvPr/>
        </p:nvPicPr>
        <p:blipFill>
          <a:blip r:embed="rId3"/>
          <a:stretch>
            <a:fillRect/>
          </a:stretch>
        </p:blipFill>
        <p:spPr>
          <a:xfrm>
            <a:off x="10864850" y="5329932"/>
            <a:ext cx="215900" cy="215900"/>
          </a:xfrm>
          <a:prstGeom prst="rect">
            <a:avLst/>
          </a:prstGeom>
        </p:spPr>
      </p:pic>
      <p:sp>
        <p:nvSpPr>
          <p:cNvPr id="61" name="Text 60"/>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7CCBA2"/>
                </a:solidFill>
                <a:latin typeface="IBM Plex Sans Arabic"/>
                <a:ea typeface="IBM Plex Sans Arabic"/>
                <a:cs typeface="IBM Plex Sans Arabic"/>
              </a:rPr>
              <a:t>تذكّر</a:t>
            </a:r>
          </a:p>
        </p:txBody>
      </p:sp>
      <p:sp>
        <p:nvSpPr>
          <p:cNvPr id="62" name="Text 61"/>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ينطبق على من يستخدم السحابة أو يخطط لاستخدامها، إضافة إلى ضوابط المكونات 1 و2 و3 و‎4-1‎ المنطبقة.</a:t>
            </a:r>
          </a:p>
        </p:txBody>
      </p:sp>
      <p:sp>
        <p:nvSpPr>
          <p:cNvPr id="63" name="Text 6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64" name="Box 6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5" name="Box 6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6" name="Box 6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7" name="Box 6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68" name="Box 6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9" name="Box 68"/>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0" name="Box 69"/>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71" name="Box 7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72" name="Box 7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3" name="Text 7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7561759" y="812800"/>
            <a:ext cx="3817441"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‎4-2‎ · الأمن السيبراني المتعلق بالحوسبة السحابية والاستضافة</a:t>
            </a:r>
          </a:p>
        </p:txBody>
      </p:sp>
      <p:sp>
        <p:nvSpPr>
          <p:cNvPr id="4" name="Text 3"/>
          <p:cNvSpPr txBox="1"/>
          <p:nvPr/>
        </p:nvSpPr>
        <p:spPr>
          <a:xfrm>
            <a:off x="5068376"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502620"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4068862"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4113312" y="894060"/>
            <a:ext cx="127000" cy="127000"/>
          </a:xfrm>
          <a:prstGeom prst="rect">
            <a:avLst/>
          </a:prstGeom>
        </p:spPr>
      </p:pic>
      <p:sp>
        <p:nvSpPr>
          <p:cNvPr id="8" name="Text 7"/>
          <p:cNvSpPr txBox="1"/>
          <p:nvPr/>
        </p:nvSpPr>
        <p:spPr>
          <a:xfrm>
            <a:off x="3528655"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3321645"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1408212"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1" name="Box 10"/>
          <p:cNvSpPr/>
          <p:nvPr/>
        </p:nvSpPr>
        <p:spPr>
          <a:xfrm>
            <a:off x="3010495" y="849610"/>
            <a:ext cx="215900" cy="215900"/>
          </a:xfrm>
          <a:prstGeom prst="roundRect">
            <a:avLst>
              <a:gd name="adj" fmla="val 50000"/>
            </a:avLst>
          </a:prstGeom>
          <a:solidFill>
            <a:srgbClr val="F2EEE6"/>
          </a:solidFill>
          <a:ln>
            <a:noFill/>
          </a:ln>
        </p:spPr>
        <p:txBody>
          <a:bodyPr rtlCol="0" anchor="ctr"/>
          <a:lstStyle/>
          <a:p>
            <a:pPr algn="ctr"/>
          </a:p>
        </p:txBody>
      </p:sp>
      <p:sp>
        <p:nvSpPr>
          <p:cNvPr id="12" name="Text 11"/>
          <p:cNvSpPr txBox="1"/>
          <p:nvPr/>
        </p:nvSpPr>
        <p:spPr>
          <a:xfrm>
            <a:off x="3035895"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2</a:t>
            </a:r>
          </a:p>
        </p:txBody>
      </p:sp>
      <p:sp>
        <p:nvSpPr>
          <p:cNvPr id="13" name="Text 12"/>
          <p:cNvSpPr txBox="1"/>
          <p:nvPr/>
        </p:nvSpPr>
        <p:spPr>
          <a:xfrm>
            <a:off x="1885494" y="827278"/>
            <a:ext cx="106150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الضوابط 2 من 2</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noFill/>
          <a:ln w="6350">
            <a:solidFill>
              <a:srgbClr val="DDD7CA"/>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ECE8DF"/>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5A6371"/>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5A6371"/>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حماية البيانات وإعادتها وفصل البيئة</a:t>
            </a:r>
          </a:p>
        </p:txBody>
      </p:sp>
      <p:sp>
        <p:nvSpPr>
          <p:cNvPr id="20" name="Rule 19"/>
          <p:cNvSpPr/>
          <p:nvPr/>
        </p:nvSpPr>
        <p:spPr>
          <a:xfrm>
            <a:off x="812800" y="2193131"/>
            <a:ext cx="2746772" cy="19050"/>
          </a:xfrm>
          <a:prstGeom prst="rect">
            <a:avLst/>
          </a:prstGeom>
          <a:solidFill>
            <a:srgbClr val="22704E"/>
          </a:solidFill>
          <a:ln>
            <a:noFill/>
          </a:ln>
        </p:spPr>
        <p:txBody>
          <a:bodyPr rtlCol="0" anchor="ctr"/>
          <a:lstStyle/>
          <a:p>
            <a:pPr algn="ctr"/>
          </a:p>
        </p:txBody>
      </p:sp>
      <p:sp>
        <p:nvSpPr>
          <p:cNvPr id="21" name="Text 20"/>
          <p:cNvSpPr txBox="1"/>
          <p:nvPr/>
        </p:nvSpPr>
        <p:spPr>
          <a:xfrm>
            <a:off x="838200" y="1892689"/>
            <a:ext cx="259437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الدليل</a:t>
            </a:r>
          </a:p>
        </p:txBody>
      </p:sp>
      <p:sp>
        <p:nvSpPr>
          <p:cNvPr id="22" name="Rule 21"/>
          <p:cNvSpPr/>
          <p:nvPr/>
        </p:nvSpPr>
        <p:spPr>
          <a:xfrm>
            <a:off x="3559572" y="2193131"/>
            <a:ext cx="3204666" cy="19050"/>
          </a:xfrm>
          <a:prstGeom prst="rect">
            <a:avLst/>
          </a:prstGeom>
          <a:solidFill>
            <a:srgbClr val="22704E"/>
          </a:solidFill>
          <a:ln>
            <a:noFill/>
          </a:ln>
        </p:spPr>
        <p:txBody>
          <a:bodyPr rtlCol="0" anchor="ctr"/>
          <a:lstStyle/>
          <a:p>
            <a:pPr algn="ctr"/>
          </a:p>
        </p:txBody>
      </p:sp>
      <p:sp>
        <p:nvSpPr>
          <p:cNvPr id="23" name="Text 22"/>
          <p:cNvSpPr txBox="1"/>
          <p:nvPr/>
        </p:nvSpPr>
        <p:spPr>
          <a:xfrm>
            <a:off x="3584972" y="1892689"/>
            <a:ext cx="305226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كيف تطبقه</a:t>
            </a:r>
          </a:p>
        </p:txBody>
      </p:sp>
      <p:sp>
        <p:nvSpPr>
          <p:cNvPr id="24" name="Rule 23"/>
          <p:cNvSpPr/>
          <p:nvPr/>
        </p:nvSpPr>
        <p:spPr>
          <a:xfrm>
            <a:off x="6764238" y="2193131"/>
            <a:ext cx="3662462" cy="19050"/>
          </a:xfrm>
          <a:prstGeom prst="rect">
            <a:avLst/>
          </a:prstGeom>
          <a:solidFill>
            <a:srgbClr val="22704E"/>
          </a:solidFill>
          <a:ln>
            <a:noFill/>
          </a:ln>
        </p:spPr>
        <p:txBody>
          <a:bodyPr rtlCol="0" anchor="ctr"/>
          <a:lstStyle/>
          <a:p>
            <a:pPr algn="ctr"/>
          </a:p>
        </p:txBody>
      </p:sp>
      <p:sp>
        <p:nvSpPr>
          <p:cNvPr id="25" name="Text 24"/>
          <p:cNvSpPr txBox="1"/>
          <p:nvPr/>
        </p:nvSpPr>
        <p:spPr>
          <a:xfrm>
            <a:off x="6789638" y="1892689"/>
            <a:ext cx="351006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المطلوب</a:t>
            </a:r>
          </a:p>
        </p:txBody>
      </p:sp>
      <p:sp>
        <p:nvSpPr>
          <p:cNvPr id="26" name="Rule 25"/>
          <p:cNvSpPr/>
          <p:nvPr/>
        </p:nvSpPr>
        <p:spPr>
          <a:xfrm>
            <a:off x="10426700" y="2193131"/>
            <a:ext cx="952500" cy="19050"/>
          </a:xfrm>
          <a:prstGeom prst="rect">
            <a:avLst/>
          </a:prstGeom>
          <a:solidFill>
            <a:srgbClr val="22704E"/>
          </a:solidFill>
          <a:ln>
            <a:noFill/>
          </a:ln>
        </p:spPr>
        <p:txBody>
          <a:bodyPr rtlCol="0" anchor="ctr"/>
          <a:lstStyle/>
          <a:p>
            <a:pPr algn="ctr"/>
          </a:p>
        </p:txBody>
      </p:sp>
      <p:sp>
        <p:nvSpPr>
          <p:cNvPr id="27" name="Text 26"/>
          <p:cNvSpPr txBox="1"/>
          <p:nvPr/>
        </p:nvSpPr>
        <p:spPr>
          <a:xfrm>
            <a:off x="10462260" y="1892689"/>
            <a:ext cx="789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الضابط</a:t>
            </a:r>
          </a:p>
        </p:txBody>
      </p:sp>
      <p:sp>
        <p:nvSpPr>
          <p:cNvPr id="28" name="Box 27"/>
          <p:cNvSpPr/>
          <p:nvPr/>
        </p:nvSpPr>
        <p:spPr>
          <a:xfrm>
            <a:off x="812800" y="2212181"/>
            <a:ext cx="2746772" cy="651470"/>
          </a:xfrm>
          <a:prstGeom prst="rect">
            <a:avLst/>
          </a:prstGeom>
          <a:solidFill>
            <a:srgbClr val="DFEEE6"/>
          </a:solidFill>
          <a:ln>
            <a:noFill/>
          </a:ln>
        </p:spPr>
        <p:txBody>
          <a:bodyPr rtlCol="0" anchor="ctr"/>
          <a:lstStyle/>
          <a:p>
            <a:pPr algn="ctr"/>
          </a:p>
        </p:txBody>
      </p:sp>
      <p:sp>
        <p:nvSpPr>
          <p:cNvPr id="29" name="Rule 28"/>
          <p:cNvSpPr/>
          <p:nvPr/>
        </p:nvSpPr>
        <p:spPr>
          <a:xfrm>
            <a:off x="812800" y="2857302"/>
            <a:ext cx="2746772" cy="6350"/>
          </a:xfrm>
          <a:prstGeom prst="rect">
            <a:avLst/>
          </a:prstGeom>
          <a:solidFill>
            <a:srgbClr val="DDD7CA"/>
          </a:solidFill>
          <a:ln>
            <a:noFill/>
          </a:ln>
        </p:spPr>
        <p:txBody>
          <a:bodyPr rtlCol="0" anchor="ctr"/>
          <a:lstStyle/>
          <a:p>
            <a:pPr algn="ctr"/>
          </a:p>
        </p:txBody>
      </p:sp>
      <p:sp>
        <p:nvSpPr>
          <p:cNvPr id="30" name="Text 29"/>
          <p:cNvSpPr txBox="1"/>
          <p:nvPr/>
        </p:nvSpPr>
        <p:spPr>
          <a:xfrm>
            <a:off x="865017" y="2286349"/>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بنود العقد، وتأكيد المزود لصيغة الإعادة، واختبار لتصدير البيانات</a:t>
            </a:r>
          </a:p>
        </p:txBody>
      </p:sp>
      <p:sp>
        <p:nvSpPr>
          <p:cNvPr id="31" name="Rule 30"/>
          <p:cNvSpPr/>
          <p:nvPr/>
        </p:nvSpPr>
        <p:spPr>
          <a:xfrm>
            <a:off x="3559572" y="2857302"/>
            <a:ext cx="3204666" cy="6350"/>
          </a:xfrm>
          <a:prstGeom prst="rect">
            <a:avLst/>
          </a:prstGeom>
          <a:solidFill>
            <a:srgbClr val="DDD7CA"/>
          </a:solidFill>
          <a:ln>
            <a:noFill/>
          </a:ln>
        </p:spPr>
        <p:txBody>
          <a:bodyPr rtlCol="0" anchor="ctr"/>
          <a:lstStyle/>
          <a:p>
            <a:pPr algn="ctr"/>
          </a:p>
        </p:txBody>
      </p:sp>
      <p:sp>
        <p:nvSpPr>
          <p:cNvPr id="32" name="Text 31"/>
          <p:cNvSpPr txBox="1"/>
          <p:nvPr/>
        </p:nvSpPr>
        <p:spPr>
          <a:xfrm>
            <a:off x="3598052" y="2286349"/>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بنود تربط الحماية بالتصنيف، وبند إعادة البيانات بصيغة ومدة محددتين ثم حذفها</a:t>
            </a:r>
          </a:p>
        </p:txBody>
      </p:sp>
      <p:sp>
        <p:nvSpPr>
          <p:cNvPr id="33" name="Rule 32"/>
          <p:cNvSpPr/>
          <p:nvPr/>
        </p:nvSpPr>
        <p:spPr>
          <a:xfrm>
            <a:off x="6764238" y="2857302"/>
            <a:ext cx="3662462" cy="6350"/>
          </a:xfrm>
          <a:prstGeom prst="rect">
            <a:avLst/>
          </a:prstGeom>
          <a:solidFill>
            <a:srgbClr val="DDD7CA"/>
          </a:solidFill>
          <a:ln>
            <a:noFill/>
          </a:ln>
        </p:spPr>
        <p:txBody>
          <a:bodyPr rtlCol="0" anchor="ctr"/>
          <a:lstStyle/>
          <a:p>
            <a:pPr algn="ctr"/>
          </a:p>
        </p:txBody>
      </p:sp>
      <p:sp>
        <p:nvSpPr>
          <p:cNvPr id="34" name="Text 33"/>
          <p:cNvSpPr txBox="1"/>
          <p:nvPr/>
        </p:nvSpPr>
        <p:spPr>
          <a:xfrm>
            <a:off x="6789638" y="2286349"/>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حماية المزود لبيانات الجهة حسب تصنيفها، وإعادتها بصيغة قابلة للاستخدام عند انتهاء الخدمة</a:t>
            </a:r>
          </a:p>
        </p:txBody>
      </p:sp>
      <p:sp>
        <p:nvSpPr>
          <p:cNvPr id="35" name="Rule 34"/>
          <p:cNvSpPr/>
          <p:nvPr/>
        </p:nvSpPr>
        <p:spPr>
          <a:xfrm>
            <a:off x="10426700" y="2857302"/>
            <a:ext cx="952500" cy="6350"/>
          </a:xfrm>
          <a:prstGeom prst="rect">
            <a:avLst/>
          </a:prstGeom>
          <a:solidFill>
            <a:srgbClr val="DDD7CA"/>
          </a:solidFill>
          <a:ln>
            <a:noFill/>
          </a:ln>
        </p:spPr>
        <p:txBody>
          <a:bodyPr rtlCol="0" anchor="ctr"/>
          <a:lstStyle/>
          <a:p>
            <a:pPr algn="ctr"/>
          </a:p>
        </p:txBody>
      </p:sp>
      <p:sp>
        <p:nvSpPr>
          <p:cNvPr id="36" name="Text 35"/>
          <p:cNvSpPr txBox="1"/>
          <p:nvPr/>
        </p:nvSpPr>
        <p:spPr>
          <a:xfrm>
            <a:off x="10454640" y="230305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4-2-3-1</a:t>
            </a:r>
          </a:p>
        </p:txBody>
      </p:sp>
      <p:sp>
        <p:nvSpPr>
          <p:cNvPr id="37" name="Text 36"/>
          <p:cNvSpPr txBox="1"/>
          <p:nvPr/>
        </p:nvSpPr>
        <p:spPr>
          <a:xfrm>
            <a:off x="10462260" y="2508579"/>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38" name="Box 37"/>
          <p:cNvSpPr/>
          <p:nvPr/>
        </p:nvSpPr>
        <p:spPr>
          <a:xfrm>
            <a:off x="812800" y="2863652"/>
            <a:ext cx="2746772" cy="651470"/>
          </a:xfrm>
          <a:prstGeom prst="rect">
            <a:avLst/>
          </a:prstGeom>
          <a:solidFill>
            <a:srgbClr val="DFEEE6"/>
          </a:solidFill>
          <a:ln>
            <a:noFill/>
          </a:ln>
        </p:spPr>
        <p:txBody>
          <a:bodyPr rtlCol="0" anchor="ctr"/>
          <a:lstStyle/>
          <a:p>
            <a:pPr algn="ctr"/>
          </a:p>
        </p:txBody>
      </p:sp>
      <p:sp>
        <p:nvSpPr>
          <p:cNvPr id="39" name="Rule 38"/>
          <p:cNvSpPr/>
          <p:nvPr/>
        </p:nvSpPr>
        <p:spPr>
          <a:xfrm>
            <a:off x="812800" y="3508772"/>
            <a:ext cx="2746772" cy="6350"/>
          </a:xfrm>
          <a:prstGeom prst="rect">
            <a:avLst/>
          </a:prstGeom>
          <a:solidFill>
            <a:srgbClr val="DDD7CA"/>
          </a:solidFill>
          <a:ln>
            <a:noFill/>
          </a:ln>
        </p:spPr>
        <p:txBody>
          <a:bodyPr rtlCol="0" anchor="ctr"/>
          <a:lstStyle/>
          <a:p>
            <a:pPr algn="ctr"/>
          </a:p>
        </p:txBody>
      </p:sp>
      <p:sp>
        <p:nvSpPr>
          <p:cNvPr id="40" name="Text 39"/>
          <p:cNvSpPr txBox="1"/>
          <p:nvPr/>
        </p:nvSpPr>
        <p:spPr>
          <a:xfrm>
            <a:off x="865017" y="2937820"/>
            <a:ext cx="2567555"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بند العقد، ووثائق المزود عن العزل، أو تقارير تدقيق مستقلة له</a:t>
            </a:r>
          </a:p>
        </p:txBody>
      </p:sp>
      <p:sp>
        <p:nvSpPr>
          <p:cNvPr id="41" name="Rule 40"/>
          <p:cNvSpPr/>
          <p:nvPr/>
        </p:nvSpPr>
        <p:spPr>
          <a:xfrm>
            <a:off x="3559572" y="3508772"/>
            <a:ext cx="3204666" cy="6350"/>
          </a:xfrm>
          <a:prstGeom prst="rect">
            <a:avLst/>
          </a:prstGeom>
          <a:solidFill>
            <a:srgbClr val="DDD7CA"/>
          </a:solidFill>
          <a:ln>
            <a:noFill/>
          </a:ln>
        </p:spPr>
        <p:txBody>
          <a:bodyPr rtlCol="0" anchor="ctr"/>
          <a:lstStyle/>
          <a:p>
            <a:pPr algn="ctr"/>
          </a:p>
        </p:txBody>
      </p:sp>
      <p:sp>
        <p:nvSpPr>
          <p:cNvPr id="42" name="Text 41"/>
          <p:cNvSpPr txBox="1"/>
          <p:nvPr/>
        </p:nvSpPr>
        <p:spPr>
          <a:xfrm>
            <a:off x="3598052" y="2937820"/>
            <a:ext cx="303918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متطلب في العقد، وتوثيق المزود لآلية العزل، أو بيئة مخصصة للبيانات الحساسة</a:t>
            </a:r>
          </a:p>
        </p:txBody>
      </p:sp>
      <p:sp>
        <p:nvSpPr>
          <p:cNvPr id="43" name="Rule 42"/>
          <p:cNvSpPr/>
          <p:nvPr/>
        </p:nvSpPr>
        <p:spPr>
          <a:xfrm>
            <a:off x="6764238" y="3508772"/>
            <a:ext cx="3662462" cy="6350"/>
          </a:xfrm>
          <a:prstGeom prst="rect">
            <a:avLst/>
          </a:prstGeom>
          <a:solidFill>
            <a:srgbClr val="DDD7CA"/>
          </a:solidFill>
          <a:ln>
            <a:noFill/>
          </a:ln>
        </p:spPr>
        <p:txBody>
          <a:bodyPr rtlCol="0" anchor="ctr"/>
          <a:lstStyle/>
          <a:p>
            <a:pPr algn="ctr"/>
          </a:p>
        </p:txBody>
      </p:sp>
      <p:sp>
        <p:nvSpPr>
          <p:cNvPr id="44" name="Text 43"/>
          <p:cNvSpPr txBox="1"/>
          <p:nvPr/>
        </p:nvSpPr>
        <p:spPr>
          <a:xfrm>
            <a:off x="6789638" y="2937820"/>
            <a:ext cx="3510062"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فصل بيئة الجهة، وخاصة الخوادم الافتراضية، عن بيئات الجهات الأخرى لدى المزود</a:t>
            </a:r>
          </a:p>
        </p:txBody>
      </p:sp>
      <p:sp>
        <p:nvSpPr>
          <p:cNvPr id="45" name="Rule 44"/>
          <p:cNvSpPr/>
          <p:nvPr/>
        </p:nvSpPr>
        <p:spPr>
          <a:xfrm>
            <a:off x="10426700" y="3508772"/>
            <a:ext cx="952500" cy="6350"/>
          </a:xfrm>
          <a:prstGeom prst="rect">
            <a:avLst/>
          </a:prstGeom>
          <a:solidFill>
            <a:srgbClr val="DDD7CA"/>
          </a:solidFill>
          <a:ln>
            <a:noFill/>
          </a:ln>
        </p:spPr>
        <p:txBody>
          <a:bodyPr rtlCol="0" anchor="ctr"/>
          <a:lstStyle/>
          <a:p>
            <a:pPr algn="ctr"/>
          </a:p>
        </p:txBody>
      </p:sp>
      <p:sp>
        <p:nvSpPr>
          <p:cNvPr id="46" name="Text 45"/>
          <p:cNvSpPr txBox="1"/>
          <p:nvPr/>
        </p:nvSpPr>
        <p:spPr>
          <a:xfrm>
            <a:off x="10454640" y="2954520"/>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22704E"/>
                </a:solidFill>
                <a:latin typeface="IBM Plex Mono"/>
                <a:ea typeface="IBM Plex Mono"/>
                <a:cs typeface="IBM Plex Mono"/>
              </a:rPr>
              <a:t>4-2-3-2</a:t>
            </a:r>
          </a:p>
        </p:txBody>
      </p:sp>
      <p:sp>
        <p:nvSpPr>
          <p:cNvPr id="47" name="Text 46"/>
          <p:cNvSpPr txBox="1"/>
          <p:nvPr/>
        </p:nvSpPr>
        <p:spPr>
          <a:xfrm>
            <a:off x="10462260" y="3160050"/>
            <a:ext cx="7899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5A6371"/>
                </a:solidFill>
                <a:latin typeface="IBM Plex Sans Arabic"/>
                <a:ea typeface="IBM Plex Sans Arabic"/>
                <a:cs typeface="IBM Plex Sans Arabic"/>
              </a:rPr>
              <a:t>حد أدنى</a:t>
            </a:r>
          </a:p>
        </p:txBody>
      </p:sp>
      <p:sp>
        <p:nvSpPr>
          <p:cNvPr id="48" name="Text 47"/>
          <p:cNvSpPr txBox="1"/>
          <p:nvPr/>
        </p:nvSpPr>
        <p:spPr>
          <a:xfrm>
            <a:off x="0" y="518853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تسلسل مقترح قبل نقل أي نظام إلى السحابة</a:t>
            </a:r>
          </a:p>
        </p:txBody>
      </p:sp>
      <p:sp>
        <p:nvSpPr>
          <p:cNvPr id="49" name="Text box 48"/>
          <p:cNvSpPr/>
          <p:nvPr/>
        </p:nvSpPr>
        <p:spPr>
          <a:xfrm>
            <a:off x="9889629" y="5517555"/>
            <a:ext cx="148639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1 · التصنيف · ‎2-1-5‎</a:t>
            </a:r>
          </a:p>
        </p:txBody>
      </p:sp>
      <p:sp>
        <p:nvSpPr>
          <p:cNvPr id="50" name="Text box 49"/>
          <p:cNvSpPr/>
          <p:nvPr/>
        </p:nvSpPr>
        <p:spPr>
          <a:xfrm>
            <a:off x="7866559" y="5517555"/>
            <a:ext cx="192782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2 · تقييم المخاطر · ‎1-5-3-3‎</a:t>
            </a:r>
          </a:p>
        </p:txBody>
      </p:sp>
      <p:sp>
        <p:nvSpPr>
          <p:cNvPr id="51" name="Text box 50"/>
          <p:cNvSpPr/>
          <p:nvPr/>
        </p:nvSpPr>
        <p:spPr>
          <a:xfrm>
            <a:off x="6286996" y="5517555"/>
            <a:ext cx="148431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3 · العقد · ‎4-1‎ و‎4-2‎</a:t>
            </a:r>
          </a:p>
        </p:txBody>
      </p:sp>
      <p:sp>
        <p:nvSpPr>
          <p:cNvPr id="52" name="Text box 51"/>
          <p:cNvSpPr/>
          <p:nvPr/>
        </p:nvSpPr>
        <p:spPr>
          <a:xfrm>
            <a:off x="4841379" y="5517555"/>
            <a:ext cx="135036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4 · الإعدادات الآمنة</a:t>
            </a:r>
          </a:p>
        </p:txBody>
      </p:sp>
      <p:sp>
        <p:nvSpPr>
          <p:cNvPr id="53" name="Text 5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54" name="Box 5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8" name="Box 5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9" name="Box 58"/>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0" name="Box 59"/>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61" name="Box 6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2" name="Box 6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Text 6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7561759" y="812800"/>
            <a:ext cx="3817441"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‎4-2‎ · الأمن السيبراني المتعلق بالحوسبة السحابية والاستضافة</a:t>
            </a:r>
          </a:p>
        </p:txBody>
      </p:sp>
      <p:sp>
        <p:nvSpPr>
          <p:cNvPr id="4" name="Text 3"/>
          <p:cNvSpPr txBox="1"/>
          <p:nvPr/>
        </p:nvSpPr>
        <p:spPr>
          <a:xfrm>
            <a:off x="5068376" y="827278"/>
            <a:ext cx="237908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الوحدة 07 · الصمود والأطراف الخارجية</a:t>
            </a:r>
          </a:p>
        </p:txBody>
      </p:sp>
      <p:sp>
        <p:nvSpPr>
          <p:cNvPr id="5" name="Box 4"/>
          <p:cNvSpPr/>
          <p:nvPr/>
        </p:nvSpPr>
        <p:spPr>
          <a:xfrm>
            <a:off x="3022898" y="821035"/>
            <a:ext cx="823416"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6" name="Box 5"/>
          <p:cNvSpPr/>
          <p:nvPr/>
        </p:nvSpPr>
        <p:spPr>
          <a:xfrm>
            <a:off x="3589139" y="849610"/>
            <a:ext cx="215900" cy="215900"/>
          </a:xfrm>
          <a:prstGeom prst="roundRect">
            <a:avLst>
              <a:gd name="adj" fmla="val 50000"/>
            </a:avLst>
          </a:prstGeom>
          <a:solidFill>
            <a:srgbClr val="22704E"/>
          </a:solidFill>
          <a:ln>
            <a:noFill/>
          </a:ln>
        </p:spPr>
        <p:txBody>
          <a:bodyPr rtlCol="0" anchor="ctr"/>
          <a:lstStyle/>
          <a:p>
            <a:pPr algn="ctr"/>
          </a:p>
        </p:txBody>
      </p:sp>
      <p:pic>
        <p:nvPicPr>
          <p:cNvPr id="7" name="Icon Check 6" descr="icon012.png"/>
          <p:cNvPicPr>
            <a:picLocks noChangeAspect="1"/>
          </p:cNvPicPr>
          <p:nvPr/>
        </p:nvPicPr>
        <p:blipFill>
          <a:blip r:embed="rId2"/>
          <a:stretch>
            <a:fillRect/>
          </a:stretch>
        </p:blipFill>
        <p:spPr>
          <a:xfrm>
            <a:off x="3633589" y="894060"/>
            <a:ext cx="127000" cy="127000"/>
          </a:xfrm>
          <a:prstGeom prst="rect">
            <a:avLst/>
          </a:prstGeom>
        </p:spPr>
      </p:pic>
      <p:sp>
        <p:nvSpPr>
          <p:cNvPr id="8" name="Text 7"/>
          <p:cNvSpPr txBox="1"/>
          <p:nvPr/>
        </p:nvSpPr>
        <p:spPr>
          <a:xfrm>
            <a:off x="3048933" y="827278"/>
            <a:ext cx="47670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تعريف</a:t>
            </a:r>
          </a:p>
        </p:txBody>
      </p:sp>
      <p:sp>
        <p:nvSpPr>
          <p:cNvPr id="9" name="Box 8"/>
          <p:cNvSpPr/>
          <p:nvPr/>
        </p:nvSpPr>
        <p:spPr>
          <a:xfrm>
            <a:off x="2841923" y="951210"/>
            <a:ext cx="127000" cy="12700"/>
          </a:xfrm>
          <a:prstGeom prst="rect">
            <a:avLst/>
          </a:prstGeom>
          <a:solidFill>
            <a:srgbClr val="DDD7CA"/>
          </a:solidFill>
          <a:ln>
            <a:noFill/>
          </a:ln>
        </p:spPr>
        <p:txBody>
          <a:bodyPr rtlCol="0" anchor="ctr"/>
          <a:lstStyle/>
          <a:p>
            <a:pPr algn="ctr"/>
          </a:p>
        </p:txBody>
      </p:sp>
      <p:sp>
        <p:nvSpPr>
          <p:cNvPr id="10" name="Box 9"/>
          <p:cNvSpPr/>
          <p:nvPr/>
        </p:nvSpPr>
        <p:spPr>
          <a:xfrm>
            <a:off x="1859459" y="821035"/>
            <a:ext cx="928489" cy="273050"/>
          </a:xfrm>
          <a:prstGeom prst="roundRect">
            <a:avLst>
              <a:gd name="adj" fmla="val 50000"/>
            </a:avLst>
          </a:prstGeom>
          <a:solidFill>
            <a:srgbClr val="DFEEE6"/>
          </a:solidFill>
          <a:ln w="6350">
            <a:solidFill>
              <a:srgbClr val="DFEEE6"/>
            </a:solidFill>
          </a:ln>
        </p:spPr>
        <p:txBody>
          <a:bodyPr rtlCol="0" anchor="ctr"/>
          <a:lstStyle/>
          <a:p>
            <a:pPr algn="ctr"/>
          </a:p>
        </p:txBody>
      </p:sp>
      <p:sp>
        <p:nvSpPr>
          <p:cNvPr id="11" name="Box 10"/>
          <p:cNvSpPr/>
          <p:nvPr/>
        </p:nvSpPr>
        <p:spPr>
          <a:xfrm>
            <a:off x="2530773" y="849610"/>
            <a:ext cx="215900" cy="215900"/>
          </a:xfrm>
          <a:prstGeom prst="roundRect">
            <a:avLst>
              <a:gd name="adj" fmla="val 50000"/>
            </a:avLst>
          </a:prstGeom>
          <a:solidFill>
            <a:srgbClr val="22704E"/>
          </a:solidFill>
          <a:ln>
            <a:noFill/>
          </a:ln>
        </p:spPr>
        <p:txBody>
          <a:bodyPr rtlCol="0" anchor="ctr"/>
          <a:lstStyle/>
          <a:p>
            <a:pPr algn="ctr"/>
          </a:p>
        </p:txBody>
      </p:sp>
      <p:pic>
        <p:nvPicPr>
          <p:cNvPr id="12" name="Icon Check 11" descr="icon012.png"/>
          <p:cNvPicPr>
            <a:picLocks noChangeAspect="1"/>
          </p:cNvPicPr>
          <p:nvPr/>
        </p:nvPicPr>
        <p:blipFill>
          <a:blip r:embed="rId2"/>
          <a:stretch>
            <a:fillRect/>
          </a:stretch>
        </p:blipFill>
        <p:spPr>
          <a:xfrm>
            <a:off x="2575223" y="894060"/>
            <a:ext cx="127000" cy="127000"/>
          </a:xfrm>
          <a:prstGeom prst="rect">
            <a:avLst/>
          </a:prstGeom>
        </p:spPr>
      </p:pic>
      <p:sp>
        <p:nvSpPr>
          <p:cNvPr id="13" name="Text 12"/>
          <p:cNvSpPr txBox="1"/>
          <p:nvPr/>
        </p:nvSpPr>
        <p:spPr>
          <a:xfrm>
            <a:off x="1885494" y="827278"/>
            <a:ext cx="58177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الضوابط</a:t>
            </a:r>
          </a:p>
        </p:txBody>
      </p:sp>
      <p:sp>
        <p:nvSpPr>
          <p:cNvPr id="14" name="Box 13"/>
          <p:cNvSpPr/>
          <p:nvPr/>
        </p:nvSpPr>
        <p:spPr>
          <a:xfrm>
            <a:off x="1678484" y="951210"/>
            <a:ext cx="127000" cy="12700"/>
          </a:xfrm>
          <a:prstGeom prst="rect">
            <a:avLst/>
          </a:prstGeom>
          <a:solidFill>
            <a:srgbClr val="DDD7CA"/>
          </a:solidFill>
          <a:ln>
            <a:noFill/>
          </a:ln>
        </p:spPr>
        <p:txBody>
          <a:bodyPr rtlCol="0" anchor="ctr"/>
          <a:lstStyle/>
          <a:p>
            <a:pPr algn="ctr"/>
          </a:p>
        </p:txBody>
      </p:sp>
      <p:sp>
        <p:nvSpPr>
          <p:cNvPr id="15" name="Box 14"/>
          <p:cNvSpPr/>
          <p:nvPr/>
        </p:nvSpPr>
        <p:spPr>
          <a:xfrm>
            <a:off x="815975" y="821035"/>
            <a:ext cx="808534" cy="273050"/>
          </a:xfrm>
          <a:prstGeom prst="roundRect">
            <a:avLst>
              <a:gd name="adj" fmla="val 50000"/>
            </a:avLst>
          </a:prstGeom>
          <a:solidFill>
            <a:srgbClr val="22704E"/>
          </a:solidFill>
          <a:ln w="6350">
            <a:solidFill>
              <a:srgbClr val="22704E"/>
            </a:solidFill>
          </a:ln>
        </p:spPr>
        <p:txBody>
          <a:bodyPr rtlCol="0" anchor="ctr"/>
          <a:lstStyle/>
          <a:p>
            <a:pPr algn="ctr"/>
          </a:p>
        </p:txBody>
      </p:sp>
      <p:sp>
        <p:nvSpPr>
          <p:cNvPr id="16" name="Box 15"/>
          <p:cNvSpPr/>
          <p:nvPr/>
        </p:nvSpPr>
        <p:spPr>
          <a:xfrm>
            <a:off x="1367334" y="849610"/>
            <a:ext cx="215900" cy="215900"/>
          </a:xfrm>
          <a:prstGeom prst="roundRect">
            <a:avLst>
              <a:gd name="adj" fmla="val 50000"/>
            </a:avLst>
          </a:prstGeom>
          <a:solidFill>
            <a:srgbClr val="F2EEE6"/>
          </a:solidFill>
          <a:ln>
            <a:noFill/>
          </a:ln>
        </p:spPr>
        <p:txBody>
          <a:bodyPr rtlCol="0" anchor="ctr"/>
          <a:lstStyle/>
          <a:p>
            <a:pPr algn="ctr"/>
          </a:p>
        </p:txBody>
      </p:sp>
      <p:sp>
        <p:nvSpPr>
          <p:cNvPr id="17" name="Text 16"/>
          <p:cNvSpPr txBox="1"/>
          <p:nvPr/>
        </p:nvSpPr>
        <p:spPr>
          <a:xfrm>
            <a:off x="1392734" y="891800"/>
            <a:ext cx="165100" cy="152400"/>
          </a:xfrm>
          <a:prstGeom prst="rect">
            <a:avLst/>
          </a:prstGeom>
          <a:noFill/>
        </p:spPr>
        <p:txBody>
          <a:bodyPr wrap="square" tIns="0" rIns="0" bIns="0" lIns="0" anchor="t" rtlCol="0" anchorCtr="0">
            <a:noAutofit/>
          </a:bodyPr>
          <a:lstStyle/>
          <a:p>
            <a:pPr algn="ctr">
              <a:lnSpc>
                <a:spcPts val="1200"/>
              </a:lnSpc>
              <a:spcBef>
                <a:spcPts val="0"/>
              </a:spcBef>
              <a:spcAft>
                <a:spcPts val="0"/>
              </a:spcAft>
            </a:pPr>
            <a:r>
              <a:rPr sz="1200" b="1" i="0">
                <a:solidFill>
                  <a:srgbClr val="22704E"/>
                </a:solidFill>
                <a:latin typeface="Alexandria"/>
                <a:ea typeface="Alexandria"/>
                <a:cs typeface="Alexandria"/>
              </a:rPr>
              <a:t>3</a:t>
            </a:r>
          </a:p>
        </p:txBody>
      </p:sp>
      <p:sp>
        <p:nvSpPr>
          <p:cNvPr id="18" name="Text 17"/>
          <p:cNvSpPr txBox="1"/>
          <p:nvPr/>
        </p:nvSpPr>
        <p:spPr>
          <a:xfrm>
            <a:off x="842010" y="827278"/>
            <a:ext cx="46182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EEE6"/>
                </a:solidFill>
                <a:latin typeface="IBM Plex Sans Arabic"/>
                <a:ea typeface="IBM Plex Sans Arabic"/>
                <a:cs typeface="IBM Plex Sans Arabic"/>
              </a:rPr>
              <a:t>الدليل</a:t>
            </a:r>
          </a:p>
        </p:txBody>
      </p:sp>
      <p:sp>
        <p:nvSpPr>
          <p:cNvPr id="19" name="Text 18"/>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كيف يبدو الدليل: سجل الخدمات السحابية</a:t>
            </a:r>
          </a:p>
        </p:txBody>
      </p:sp>
      <p:sp>
        <p:nvSpPr>
          <p:cNvPr id="20" name="Text box 19"/>
          <p:cNvSpPr/>
          <p:nvPr/>
        </p:nvSpPr>
        <p:spPr>
          <a:xfrm>
            <a:off x="10037862" y="18528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21" name="Text 20"/>
          <p:cNvSpPr txBox="1"/>
          <p:nvPr/>
        </p:nvSpPr>
        <p:spPr>
          <a:xfrm>
            <a:off x="8996204" y="18749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22" name="Text box 21"/>
          <p:cNvSpPr/>
          <p:nvPr/>
        </p:nvSpPr>
        <p:spPr>
          <a:xfrm>
            <a:off x="8389144" y="1852811"/>
            <a:ext cx="635000" cy="274241"/>
          </a:xfrm>
          <a:prstGeom prst="roundRect">
            <a:avLst>
              <a:gd name="adj" fmla="val 27785"/>
            </a:avLst>
          </a:prstGeom>
          <a:solidFill>
            <a:srgbClr val="DFEEE6"/>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4-2-2</a:t>
            </a:r>
          </a:p>
        </p:txBody>
      </p:sp>
      <p:sp>
        <p:nvSpPr>
          <p:cNvPr id="23" name="Text box 22"/>
          <p:cNvSpPr/>
          <p:nvPr/>
        </p:nvSpPr>
        <p:spPr>
          <a:xfrm>
            <a:off x="7507684" y="1852811"/>
            <a:ext cx="817959" cy="274241"/>
          </a:xfrm>
          <a:prstGeom prst="roundRect">
            <a:avLst>
              <a:gd name="adj" fmla="val 27785"/>
            </a:avLst>
          </a:prstGeom>
          <a:solidFill>
            <a:srgbClr val="DFEEE6"/>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4-2-3-1</a:t>
            </a:r>
          </a:p>
        </p:txBody>
      </p:sp>
      <p:sp>
        <p:nvSpPr>
          <p:cNvPr id="24" name="Text box 23"/>
          <p:cNvSpPr/>
          <p:nvPr/>
        </p:nvSpPr>
        <p:spPr>
          <a:xfrm>
            <a:off x="6809184" y="1852811"/>
            <a:ext cx="635000" cy="274241"/>
          </a:xfrm>
          <a:prstGeom prst="roundRect">
            <a:avLst>
              <a:gd name="adj" fmla="val 27785"/>
            </a:avLst>
          </a:prstGeom>
          <a:solidFill>
            <a:srgbClr val="DFEEE6"/>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22704E"/>
                </a:solidFill>
                <a:latin typeface="IBM Plex Mono"/>
                <a:ea typeface="IBM Plex Mono"/>
                <a:cs typeface="IBM Plex Mono"/>
              </a:rPr>
              <a:t>4-2-4</a:t>
            </a:r>
          </a:p>
        </p:txBody>
      </p:sp>
      <p:sp>
        <p:nvSpPr>
          <p:cNvPr id="25" name="Text 24"/>
          <p:cNvSpPr txBox="1"/>
          <p:nvPr/>
        </p:nvSpPr>
        <p:spPr>
          <a:xfrm>
            <a:off x="6304280" y="2192330"/>
            <a:ext cx="50749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ما الذي تراه</a:t>
            </a:r>
          </a:p>
        </p:txBody>
      </p:sp>
      <p:sp>
        <p:nvSpPr>
          <p:cNvPr id="26" name="Box 25"/>
          <p:cNvSpPr/>
          <p:nvPr/>
        </p:nvSpPr>
        <p:spPr>
          <a:xfrm>
            <a:off x="11125200" y="2518172"/>
            <a:ext cx="254000" cy="254000"/>
          </a:xfrm>
          <a:prstGeom prst="roundRect">
            <a:avLst>
              <a:gd name="adj" fmla="val 50000"/>
            </a:avLst>
          </a:prstGeom>
          <a:solidFill>
            <a:srgbClr val="22704E"/>
          </a:solidFill>
          <a:ln>
            <a:noFill/>
          </a:ln>
        </p:spPr>
        <p:txBody>
          <a:bodyPr rtlCol="0" anchor="ctr"/>
          <a:lstStyle/>
          <a:p>
            <a:pPr algn="ctr"/>
          </a:p>
        </p:txBody>
      </p:sp>
      <p:sp>
        <p:nvSpPr>
          <p:cNvPr id="27" name="Text 26"/>
          <p:cNvSpPr txBox="1"/>
          <p:nvPr/>
        </p:nvSpPr>
        <p:spPr>
          <a:xfrm>
            <a:off x="11169233" y="257393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8" name="Text 27"/>
          <p:cNvSpPr txBox="1"/>
          <p:nvPr/>
        </p:nvSpPr>
        <p:spPr>
          <a:xfrm>
            <a:off x="6332728" y="2490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كل خدمة سحابية تستخدمها الجهة، وتصنيف بياناتها.</a:t>
            </a:r>
          </a:p>
        </p:txBody>
      </p:sp>
      <p:sp>
        <p:nvSpPr>
          <p:cNvPr id="29" name="Box 28"/>
          <p:cNvSpPr/>
          <p:nvPr/>
        </p:nvSpPr>
        <p:spPr>
          <a:xfrm>
            <a:off x="11125200" y="2835672"/>
            <a:ext cx="254000" cy="254000"/>
          </a:xfrm>
          <a:prstGeom prst="roundRect">
            <a:avLst>
              <a:gd name="adj" fmla="val 50000"/>
            </a:avLst>
          </a:prstGeom>
          <a:solidFill>
            <a:srgbClr val="22704E"/>
          </a:solidFill>
          <a:ln>
            <a:noFill/>
          </a:ln>
        </p:spPr>
        <p:txBody>
          <a:bodyPr rtlCol="0" anchor="ctr"/>
          <a:lstStyle/>
          <a:p>
            <a:pPr algn="ctr"/>
          </a:p>
        </p:txBody>
      </p:sp>
      <p:sp>
        <p:nvSpPr>
          <p:cNvPr id="30" name="Text 29"/>
          <p:cNvSpPr txBox="1"/>
          <p:nvPr/>
        </p:nvSpPr>
        <p:spPr>
          <a:xfrm>
            <a:off x="11152664" y="289143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31" name="Text 30"/>
          <p:cNvSpPr txBox="1"/>
          <p:nvPr/>
        </p:nvSpPr>
        <p:spPr>
          <a:xfrm>
            <a:off x="6332728" y="28082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تقييم مؤرخ قبل اعتماد كل خدمة.</a:t>
            </a:r>
          </a:p>
        </p:txBody>
      </p:sp>
      <p:sp>
        <p:nvSpPr>
          <p:cNvPr id="32" name="Box 31"/>
          <p:cNvSpPr/>
          <p:nvPr/>
        </p:nvSpPr>
        <p:spPr>
          <a:xfrm>
            <a:off x="11125200" y="3153172"/>
            <a:ext cx="254000" cy="254000"/>
          </a:xfrm>
          <a:prstGeom prst="roundRect">
            <a:avLst>
              <a:gd name="adj" fmla="val 50000"/>
            </a:avLst>
          </a:prstGeom>
          <a:solidFill>
            <a:srgbClr val="22704E"/>
          </a:solidFill>
          <a:ln>
            <a:noFill/>
          </a:ln>
        </p:spPr>
        <p:txBody>
          <a:bodyPr rtlCol="0" anchor="ctr"/>
          <a:lstStyle/>
          <a:p>
            <a:pPr algn="ctr"/>
          </a:p>
        </p:txBody>
      </p:sp>
      <p:sp>
        <p:nvSpPr>
          <p:cNvPr id="33" name="Text 32"/>
          <p:cNvSpPr txBox="1"/>
          <p:nvPr/>
        </p:nvSpPr>
        <p:spPr>
          <a:xfrm>
            <a:off x="11152862" y="320893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34" name="Text 33"/>
          <p:cNvSpPr txBox="1"/>
          <p:nvPr/>
        </p:nvSpPr>
        <p:spPr>
          <a:xfrm>
            <a:off x="6332728" y="3125740"/>
            <a:ext cx="4690872"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خدمة غير معتمدة اكتُشفت بمراقبة حركة الإنترنت.</a:t>
            </a:r>
          </a:p>
        </p:txBody>
      </p:sp>
      <p:sp>
        <p:nvSpPr>
          <p:cNvPr id="35" name="Rule 34"/>
          <p:cNvSpPr/>
          <p:nvPr/>
        </p:nvSpPr>
        <p:spPr>
          <a:xfrm>
            <a:off x="6680200" y="3496072"/>
            <a:ext cx="4699000" cy="6350"/>
          </a:xfrm>
          <a:prstGeom prst="rect">
            <a:avLst/>
          </a:prstGeom>
          <a:solidFill>
            <a:srgbClr val="DDD7CA"/>
          </a:solidFill>
          <a:ln>
            <a:noFill/>
          </a:ln>
        </p:spPr>
        <p:txBody>
          <a:bodyPr rtlCol="0" anchor="ctr"/>
          <a:lstStyle/>
          <a:p>
            <a:pPr algn="ctr"/>
          </a:p>
        </p:txBody>
      </p:sp>
      <p:sp>
        <p:nvSpPr>
          <p:cNvPr id="36" name="Text 35"/>
          <p:cNvSpPr txBox="1"/>
          <p:nvPr/>
        </p:nvSpPr>
        <p:spPr>
          <a:xfrm>
            <a:off x="6680200" y="3567700"/>
            <a:ext cx="46990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ما الذي يبحث عنه المقيّم</a:t>
            </a:r>
          </a:p>
        </p:txBody>
      </p:sp>
      <p:pic>
        <p:nvPicPr>
          <p:cNvPr id="37" name="Icon CheckCircle 36" descr="icon060.png"/>
          <p:cNvPicPr>
            <a:picLocks noChangeAspect="1"/>
          </p:cNvPicPr>
          <p:nvPr/>
        </p:nvPicPr>
        <p:blipFill>
          <a:blip r:embed="rId3"/>
          <a:stretch>
            <a:fillRect/>
          </a:stretch>
        </p:blipFill>
        <p:spPr>
          <a:xfrm>
            <a:off x="11150600" y="3880842"/>
            <a:ext cx="203200" cy="203200"/>
          </a:xfrm>
          <a:prstGeom prst="rect">
            <a:avLst/>
          </a:prstGeom>
        </p:spPr>
      </p:pic>
      <p:sp>
        <p:nvSpPr>
          <p:cNvPr id="38" name="Text 37"/>
          <p:cNvSpPr txBox="1"/>
          <p:nvPr/>
        </p:nvSpPr>
        <p:spPr>
          <a:xfrm>
            <a:off x="6680200" y="38280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السجل يشمل السحابة غير المعتمدة، لا ما اشترته التقنية فقط.</a:t>
            </a:r>
          </a:p>
        </p:txBody>
      </p:sp>
      <p:pic>
        <p:nvPicPr>
          <p:cNvPr id="39" name="Icon CheckCircle 38" descr="icon060.png"/>
          <p:cNvPicPr>
            <a:picLocks noChangeAspect="1"/>
          </p:cNvPicPr>
          <p:nvPr/>
        </p:nvPicPr>
        <p:blipFill>
          <a:blip r:embed="rId3"/>
          <a:stretch>
            <a:fillRect/>
          </a:stretch>
        </p:blipFill>
        <p:spPr>
          <a:xfrm>
            <a:off x="11150600" y="4185642"/>
            <a:ext cx="203200" cy="203200"/>
          </a:xfrm>
          <a:prstGeom prst="rect">
            <a:avLst/>
          </a:prstGeom>
        </p:spPr>
      </p:pic>
      <p:sp>
        <p:nvSpPr>
          <p:cNvPr id="40" name="Text 39"/>
          <p:cNvSpPr txBox="1"/>
          <p:nvPr/>
        </p:nvSpPr>
        <p:spPr>
          <a:xfrm>
            <a:off x="6680200" y="41328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بنود الحماية وإعادة البيانات في عقد كل خدمة.</a:t>
            </a:r>
          </a:p>
        </p:txBody>
      </p:sp>
      <p:pic>
        <p:nvPicPr>
          <p:cNvPr id="41" name="Icon CheckCircle 40" descr="icon060.png"/>
          <p:cNvPicPr>
            <a:picLocks noChangeAspect="1"/>
          </p:cNvPicPr>
          <p:nvPr/>
        </p:nvPicPr>
        <p:blipFill>
          <a:blip r:embed="rId3"/>
          <a:stretch>
            <a:fillRect/>
          </a:stretch>
        </p:blipFill>
        <p:spPr>
          <a:xfrm>
            <a:off x="11150600" y="4490442"/>
            <a:ext cx="203200" cy="203200"/>
          </a:xfrm>
          <a:prstGeom prst="rect">
            <a:avLst/>
          </a:prstGeom>
        </p:spPr>
      </p:pic>
      <p:sp>
        <p:nvSpPr>
          <p:cNvPr id="42" name="Text 41"/>
          <p:cNvSpPr txBox="1"/>
          <p:nvPr/>
        </p:nvSpPr>
        <p:spPr>
          <a:xfrm>
            <a:off x="6680200" y="4437610"/>
            <a:ext cx="4356100"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465264"/>
                </a:solidFill>
                <a:latin typeface="IBM Plex Sans Arabic"/>
                <a:ea typeface="IBM Plex Sans Arabic"/>
                <a:cs typeface="IBM Plex Sans Arabic"/>
              </a:rPr>
              <a:t>أن موقع الاستضافة يتوافق مع تصنيف البيانات والمتطلبات الوطنية.</a:t>
            </a:r>
          </a:p>
        </p:txBody>
      </p:sp>
      <p:sp>
        <p:nvSpPr>
          <p:cNvPr id="43" name="Box 42"/>
          <p:cNvSpPr/>
          <p:nvPr/>
        </p:nvSpPr>
        <p:spPr>
          <a:xfrm>
            <a:off x="6680200" y="5222280"/>
            <a:ext cx="4699000" cy="619720"/>
          </a:xfrm>
          <a:prstGeom prst="roundRect">
            <a:avLst>
              <a:gd name="adj" fmla="val 14345"/>
            </a:avLst>
          </a:prstGeom>
          <a:solidFill>
            <a:srgbClr val="ECE8DF"/>
          </a:solidFill>
          <a:ln>
            <a:noFill/>
          </a:ln>
        </p:spPr>
        <p:txBody>
          <a:bodyPr rtlCol="0" anchor="ctr"/>
          <a:lstStyle/>
          <a:p>
            <a:pPr algn="ctr"/>
          </a:p>
        </p:txBody>
      </p:sp>
      <p:pic>
        <p:nvPicPr>
          <p:cNvPr id="44" name="Icon Warning 43" descr="icon028.png"/>
          <p:cNvPicPr>
            <a:picLocks noChangeAspect="1"/>
          </p:cNvPicPr>
          <p:nvPr/>
        </p:nvPicPr>
        <p:blipFill>
          <a:blip r:embed="rId4"/>
          <a:stretch>
            <a:fillRect/>
          </a:stretch>
        </p:blipFill>
        <p:spPr>
          <a:xfrm>
            <a:off x="11074400" y="5311180"/>
            <a:ext cx="190500" cy="190500"/>
          </a:xfrm>
          <a:prstGeom prst="rect">
            <a:avLst/>
          </a:prstGeom>
        </p:spPr>
      </p:pic>
      <p:sp>
        <p:nvSpPr>
          <p:cNvPr id="45" name="Text 44"/>
          <p:cNvSpPr txBox="1"/>
          <p:nvPr/>
        </p:nvSpPr>
        <p:spPr>
          <a:xfrm>
            <a:off x="6705600" y="5283748"/>
            <a:ext cx="4279900"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لا يثبت وحده: </a:t>
            </a:r>
            <a:r>
              <a:rPr sz="1200" b="0" i="0">
                <a:solidFill>
                  <a:srgbClr val="132033"/>
                </a:solidFill>
                <a:latin typeface="IBM Plex Sans Arabic"/>
                <a:ea typeface="IBM Plex Sans Arabic"/>
                <a:cs typeface="IBM Plex Sans Arabic"/>
              </a:rPr>
              <a:t>السجل يثبت حصر الخدمات المعروفة، ولا يثبت خلو الجهة من خدمات غير معتمدة لم تُكتشف بعد.</a:t>
            </a:r>
          </a:p>
        </p:txBody>
      </p:sp>
      <p:sp>
        <p:nvSpPr>
          <p:cNvPr id="46" name="Box 45"/>
          <p:cNvSpPr/>
          <p:nvPr/>
        </p:nvSpPr>
        <p:spPr>
          <a:xfrm>
            <a:off x="815975" y="1855986"/>
            <a:ext cx="5556250" cy="2621459"/>
          </a:xfrm>
          <a:prstGeom prst="roundRect">
            <a:avLst>
              <a:gd name="adj" fmla="val 3866"/>
            </a:avLst>
          </a:prstGeom>
          <a:solidFill>
            <a:srgbClr val="FBFAF7"/>
          </a:solidFill>
          <a:ln w="6350">
            <a:solidFill>
              <a:srgbClr val="DDD7CA"/>
            </a:solidFill>
          </a:ln>
        </p:spPr>
        <p:txBody>
          <a:bodyPr rtlCol="0" anchor="ctr"/>
          <a:lstStyle/>
          <a:p>
            <a:pPr algn="ctr"/>
          </a:p>
        </p:txBody>
      </p:sp>
      <p:sp>
        <p:nvSpPr>
          <p:cNvPr id="47" name="Box 46"/>
          <p:cNvSpPr/>
          <p:nvPr/>
        </p:nvSpPr>
        <p:spPr>
          <a:xfrm>
            <a:off x="819150" y="1859161"/>
            <a:ext cx="55499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48" name="Box 47"/>
          <p:cNvSpPr/>
          <p:nvPr/>
        </p:nvSpPr>
        <p:spPr>
          <a:xfrm>
            <a:off x="946150" y="1989931"/>
            <a:ext cx="88900" cy="88900"/>
          </a:xfrm>
          <a:prstGeom prst="roundRect">
            <a:avLst>
              <a:gd name="adj" fmla="val 50000"/>
            </a:avLst>
          </a:prstGeom>
          <a:solidFill>
            <a:srgbClr val="E46A5A"/>
          </a:solidFill>
          <a:ln>
            <a:noFill/>
          </a:ln>
        </p:spPr>
        <p:txBody>
          <a:bodyPr rtlCol="0" anchor="ctr"/>
          <a:lstStyle/>
          <a:p>
            <a:pPr algn="ctr"/>
          </a:p>
        </p:txBody>
      </p:sp>
      <p:sp>
        <p:nvSpPr>
          <p:cNvPr id="49" name="Box 48"/>
          <p:cNvSpPr/>
          <p:nvPr/>
        </p:nvSpPr>
        <p:spPr>
          <a:xfrm>
            <a:off x="1098550" y="1989931"/>
            <a:ext cx="88900" cy="88900"/>
          </a:xfrm>
          <a:prstGeom prst="roundRect">
            <a:avLst>
              <a:gd name="adj" fmla="val 50000"/>
            </a:avLst>
          </a:prstGeom>
          <a:solidFill>
            <a:srgbClr val="E8B44A"/>
          </a:solidFill>
          <a:ln>
            <a:noFill/>
          </a:ln>
        </p:spPr>
        <p:txBody>
          <a:bodyPr rtlCol="0" anchor="ctr"/>
          <a:lstStyle/>
          <a:p>
            <a:pPr algn="ctr"/>
          </a:p>
        </p:txBody>
      </p:sp>
      <p:sp>
        <p:nvSpPr>
          <p:cNvPr id="50" name="Box 49"/>
          <p:cNvSpPr/>
          <p:nvPr/>
        </p:nvSpPr>
        <p:spPr>
          <a:xfrm>
            <a:off x="1250950" y="1989931"/>
            <a:ext cx="88900" cy="88900"/>
          </a:xfrm>
          <a:prstGeom prst="roundRect">
            <a:avLst>
              <a:gd name="adj" fmla="val 50000"/>
            </a:avLst>
          </a:prstGeom>
          <a:solidFill>
            <a:srgbClr val="5DB27A"/>
          </a:solidFill>
          <a:ln>
            <a:noFill/>
          </a:ln>
        </p:spPr>
        <p:txBody>
          <a:bodyPr rtlCol="0" anchor="ctr"/>
          <a:lstStyle/>
          <a:p>
            <a:pPr algn="ctr"/>
          </a:p>
        </p:txBody>
      </p:sp>
      <p:sp>
        <p:nvSpPr>
          <p:cNvPr id="51" name="Text 50"/>
          <p:cNvSpPr txBox="1"/>
          <p:nvPr/>
        </p:nvSpPr>
        <p:spPr>
          <a:xfrm>
            <a:off x="3945263" y="1919359"/>
            <a:ext cx="2296787"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سجل الخدمات السحابية · ‎2026-09‎</a:t>
            </a:r>
          </a:p>
        </p:txBody>
      </p:sp>
      <p:graphicFrame>
        <p:nvGraphicFramePr>
          <p:cNvPr id="52" name="Table 51"/>
          <p:cNvGraphicFramePr>
            <a:graphicFrameLocks noGrp="1"/>
          </p:cNvGraphicFramePr>
          <p:nvPr/>
        </p:nvGraphicFramePr>
        <p:xfrm>
          <a:off x="962025" y="2339777"/>
          <a:ext cx="5264150" cy="2004317"/>
        </p:xfrm>
        <a:graphic>
          <a:graphicData uri="http://schemas.openxmlformats.org/drawingml/2006/table">
            <a:tbl>
              <a:tblPr firstRow="0" bandRow="0" lastRow="0" firstCol="0" lastCol="0" bandCol="0">
                <a:tableStyleId>{2D5ABB26-0587-4C30-8999-92F81FD0307C}</a:tableStyleId>
              </a:tblPr>
              <a:tblGrid>
                <a:gridCol w="1473835"/>
                <a:gridCol w="1263650"/>
                <a:gridCol w="842010"/>
                <a:gridCol w="1684655"/>
              </a:tblGrid>
              <a:tr h="524272">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الحالة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تقييم قبل الاعتماد</a:t>
                      </a:r>
                    </a:p>
                  </a:txBody>
                  <a:tcPr marT="64237" marR="91440" marB="42443" marL="5334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التصنيف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الخدمة السحابية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 · ‎2025-11‎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مقيد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البريد والتعاون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 · ‎2026-03‎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سري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نظام التوظيف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524272">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معتمدة · اكتُشفت بالمراقبة</a:t>
                      </a:r>
                    </a:p>
                  </a:txBody>
                  <a:tcPr marT="64237" marR="91440" marB="42443" marL="5271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غير معروف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مشاركة ملفات يستخدمها قسم</a:t>
                      </a:r>
                    </a:p>
                  </a:txBody>
                  <a:tcPr marT="64237" marR="91440" marB="42443" marL="46384"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نعم · ‎2026-06‎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عام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أداة استبيانات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53" name="Text 52"/>
          <p:cNvSpPr txBox="1"/>
          <p:nvPr/>
        </p:nvSpPr>
        <p:spPr>
          <a:xfrm>
            <a:off x="367792" y="4545898"/>
            <a:ext cx="6007608"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نموذج دليل تدريبي من إعداد الكورس · البيانات والأسماء افتراضية</a:t>
            </a:r>
          </a:p>
        </p:txBody>
      </p:sp>
      <p:sp>
        <p:nvSpPr>
          <p:cNvPr id="54" name="Text 5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55" name="Box 5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6" name="Box 5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7" name="Box 5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8" name="Box 5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9" name="Box 58"/>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0" name="Box 59"/>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61" name="Box 60"/>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62" name="Box 61"/>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63" name="Box 62"/>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64" name="Text 6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9575105" y="812800"/>
            <a:ext cx="1804095"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تمرين 7 · ثنائي · 20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راجع ستة بنود من عقدين</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FEEE6"/>
          </a:solidFill>
          <a:ln>
            <a:noFill/>
          </a:ln>
        </p:spPr>
        <p:txBody>
          <a:bodyPr rtlCol="0" anchor="ctr"/>
          <a:lstStyle/>
          <a:p>
            <a:pPr algn="ctr"/>
          </a:p>
        </p:txBody>
      </p:sp>
      <p:pic>
        <p:nvPicPr>
          <p:cNvPr id="7" name="Icon Tool 6" descr="icon062.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مقتطفات من عقد مركز عمليات مُدار وعقد استضافة سحابية. لكل بند: ما الضابط، وهل يحققه، وكيف تعيد صياغته؟</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22704E"/>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«تُقدَّم المراقبة عن بعد من مركزين: في المملكة وفي دولة أخرى».</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22704E"/>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«يلتزم المورد بسرية المعلومات طوال مدة العقد».</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22704E"/>
          </a:solidFill>
          <a:ln>
            <a:noFill/>
          </a:ln>
        </p:spPr>
        <p:txBody>
          <a:bodyPr rtlCol="0" anchor="ctr"/>
          <a:lstStyle/>
          <a:p>
            <a:pPr algn="ctr"/>
          </a:p>
        </p:txBody>
      </p:sp>
      <p:sp>
        <p:nvSpPr>
          <p:cNvPr id="19" name="Text 18"/>
          <p:cNvSpPr txBox="1"/>
          <p:nvPr/>
        </p:nvSpPr>
        <p:spPr>
          <a:xfrm>
            <a:off x="5589865" y="368657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«يلتزم المورد بسياساته الأمنية الداخلية المعتمدة لديه».</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22704E"/>
          </a:solidFill>
          <a:ln>
            <a:noFill/>
          </a:ln>
        </p:spPr>
        <p:txBody>
          <a:bodyPr rtlCol="0" anchor="ctr"/>
          <a:lstStyle/>
          <a:p>
            <a:pPr algn="ctr"/>
          </a:p>
        </p:txBody>
      </p:sp>
      <p:sp>
        <p:nvSpPr>
          <p:cNvPr id="23" name="Text 22"/>
          <p:cNvSpPr txBox="1"/>
          <p:nvPr/>
        </p:nvSpPr>
        <p:spPr>
          <a:xfrm>
            <a:off x="10949662" y="368657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«تُذكر الحوادث الأمنية في التقرير الشهري للخدمة».</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22704E"/>
          </a:solidFill>
          <a:ln>
            <a:noFill/>
          </a:ln>
        </p:spPr>
        <p:txBody>
          <a:bodyPr rtlCol="0" anchor="ctr"/>
          <a:lstStyle/>
          <a:p>
            <a:pPr algn="ctr"/>
          </a:p>
        </p:txBody>
      </p:sp>
      <p:sp>
        <p:nvSpPr>
          <p:cNvPr id="27" name="Text 26"/>
          <p:cNvSpPr txBox="1"/>
          <p:nvPr/>
        </p:nvSpPr>
        <p:spPr>
          <a:xfrm>
            <a:off x="5587980" y="43977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ملاحظة الملف: «أُجري تقييم المخاطر بعد شهرين من توقيع العقد».</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22704E"/>
          </a:solidFill>
          <a:ln>
            <a:noFill/>
          </a:ln>
        </p:spPr>
        <p:txBody>
          <a:bodyPr rtlCol="0" anchor="ctr"/>
          <a:lstStyle/>
          <a:p>
            <a:pPr algn="ctr"/>
          </a:p>
        </p:txBody>
      </p:sp>
      <p:sp>
        <p:nvSpPr>
          <p:cNvPr id="31" name="Text 30"/>
          <p:cNvSpPr txBox="1"/>
          <p:nvPr/>
        </p:nvSpPr>
        <p:spPr>
          <a:xfrm>
            <a:off x="10947777" y="4397770"/>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«تُعاد البيانات عند انتهاء العقد بالصيغة التي يختارها المزود».</a:t>
            </a:r>
          </a:p>
        </p:txBody>
      </p:sp>
      <p:sp>
        <p:nvSpPr>
          <p:cNvPr id="33" name="Text 3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34" name="Box 3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8" name="Box 3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9" name="Box 38"/>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0" name="Box 39"/>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41" name="Box 40"/>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42" name="Box 41"/>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3" name="Text 4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22704E"/>
          </a:solidFill>
          <a:ln>
            <a:noFill/>
          </a:ln>
        </p:spPr>
        <p:txBody>
          <a:bodyPr rtlCol="0" anchor="ctr"/>
          <a:lstStyle/>
          <a:p>
            <a:pPr algn="ctr"/>
          </a:p>
        </p:txBody>
      </p:sp>
      <p:sp>
        <p:nvSpPr>
          <p:cNvPr id="3" name="Text box 2"/>
          <p:cNvSpPr/>
          <p:nvPr/>
        </p:nvSpPr>
        <p:spPr>
          <a:xfrm>
            <a:off x="10312202" y="812800"/>
            <a:ext cx="1066998" cy="289520"/>
          </a:xfrm>
          <a:prstGeom prst="roundRect">
            <a:avLst>
              <a:gd name="adj" fmla="val 50000"/>
            </a:avLst>
          </a:prstGeom>
          <a:solidFill>
            <a:srgbClr val="DFEEE6"/>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حل التمرين 7</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الحكم والصياغة البديلة</a:t>
            </a:r>
          </a:p>
        </p:txBody>
      </p:sp>
      <p:graphicFrame>
        <p:nvGraphicFramePr>
          <p:cNvPr id="5" name="Table 4"/>
          <p:cNvGraphicFramePr>
            <a:graphicFrameLocks noGrp="1"/>
          </p:cNvGraphicFramePr>
          <p:nvPr/>
        </p:nvGraphicFramePr>
        <p:xfrm>
          <a:off x="815975" y="1855986"/>
          <a:ext cx="10560050" cy="2337097"/>
        </p:xfrm>
        <a:graphic>
          <a:graphicData uri="http://schemas.openxmlformats.org/drawingml/2006/table">
            <a:tbl>
              <a:tblPr firstRow="0" bandRow="0" lastRow="0" firstCol="0" lastCol="0" bandCol="0">
                <a:tableStyleId>{2D5ABB26-0587-4C30-8999-92F81FD0307C}</a:tableStyleId>
              </a:tblPr>
              <a:tblGrid>
                <a:gridCol w="5068570"/>
                <a:gridCol w="3379470"/>
                <a:gridCol w="1478280"/>
                <a:gridCol w="63373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صياغة أفضل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الحكم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السرية أثناء العقد وبعده، والحذف الآمن عند الانتهاء بشهادة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جزئي: لا حذف ولا ما بعد العقد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4-1-2-1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مراكز عمليات خدمات الأمن السيبراني المُدارة عن بعد بالكامل داخل المملكة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ممتثل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إبلاغ فوري بالحوادث خلال مدة محددة، بجهات اتصال 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ضعيف: التقرير الشهري متأخر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4-1-2-2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الالتزام بمتطلبات الجهة وسياساتها والمتطلبات التشريعية، مع حق التدقيق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ممتثل: سياسات المورد لا الجهة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4-1-2-3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إعادة البيانات بصيغة قابلة للاستخدام تُحدَّد في العقد، ثم حذفها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جزئي: الصيغة بيد المزود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4-2-3-1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جعل تقييم المخاطر شرطاً قبل الترسية في إجراء المشتريات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ممتثل: التقييم بعد التوقيع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22704E"/>
                          </a:solidFill>
                          <a:latin typeface="IBM Plex Mono"/>
                          <a:ea typeface="IBM Plex Mono"/>
                          <a:cs typeface="IBM Plex Mono"/>
                        </a:rPr>
                        <a:t>4-1-3-1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07 · الصمود والأطراف الخارجية</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1" name="Box 1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2" name="Box 1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3" name="Box 12"/>
          <p:cNvSpPr/>
          <p:nvPr/>
        </p:nvSpPr>
        <p:spPr>
          <a:xfrm>
            <a:off x="1676400" y="6313190"/>
            <a:ext cx="279400" cy="63500"/>
          </a:xfrm>
          <a:prstGeom prst="roundRect">
            <a:avLst>
              <a:gd name="adj" fmla="val 50000"/>
            </a:avLst>
          </a:prstGeom>
          <a:solidFill>
            <a:srgbClr val="22704E"/>
          </a:solidFill>
          <a:ln>
            <a:noFill/>
          </a:ln>
        </p:spPr>
        <p:txBody>
          <a:bodyPr rtlCol="0" anchor="ctr"/>
          <a:lstStyle/>
          <a:p>
            <a:pPr algn="ctr"/>
          </a:p>
        </p:txBody>
      </p:sp>
      <p:sp>
        <p:nvSpPr>
          <p:cNvPr id="14" name="Box 13"/>
          <p:cNvSpPr/>
          <p:nvPr/>
        </p:nvSpPr>
        <p:spPr>
          <a:xfrm>
            <a:off x="1498600" y="6313190"/>
            <a:ext cx="139700" cy="63500"/>
          </a:xfrm>
          <a:prstGeom prst="roundRect">
            <a:avLst>
              <a:gd name="adj" fmla="val 50000"/>
            </a:avLst>
          </a:prstGeom>
          <a:solidFill>
            <a:srgbClr val="DDD7CA"/>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752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8575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8575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8575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8575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8369697" y="285750"/>
            <a:ext cx="38020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924602" y="285750"/>
            <a:ext cx="38159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7487146" y="285750"/>
            <a:ext cx="37395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5681464" y="285750"/>
            <a:ext cx="1742182"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08 · الاستدامة والجاهزية</a:t>
            </a:r>
          </a:p>
        </p:txBody>
      </p:sp>
      <p:sp>
        <p:nvSpPr>
          <p:cNvPr id="12" name="Text box 11"/>
          <p:cNvSpPr/>
          <p:nvPr/>
        </p:nvSpPr>
        <p:spPr>
          <a:xfrm>
            <a:off x="5227141" y="282575"/>
            <a:ext cx="387648" cy="270470"/>
          </a:xfrm>
          <a:prstGeom prst="roundRect">
            <a:avLst>
              <a:gd name="adj" fmla="val 50000"/>
            </a:avLst>
          </a:prstGeom>
          <a:noFill/>
          <a:ln w="6350">
            <a:solidFill>
              <a:srgbClr val="F2EEE6">
                <a:alpha val="16000"/>
              </a:srgbClr>
            </a:solidFill>
          </a:ln>
        </p:spPr>
        <p:txBody>
          <a:bodyPr rtlCol="0" anchor="ctr" wrap="square" tIns="0" rIns="52466"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09</a:t>
            </a:r>
          </a:p>
        </p:txBody>
      </p:sp>
      <p:sp>
        <p:nvSpPr>
          <p:cNvPr id="13" name="Text 12"/>
          <p:cNvSpPr txBox="1"/>
          <p:nvPr/>
        </p:nvSpPr>
        <p:spPr>
          <a:xfrm>
            <a:off x="8926810" y="899795"/>
            <a:ext cx="245239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08</a:t>
            </a:r>
          </a:p>
        </p:txBody>
      </p:sp>
      <p:sp>
        <p:nvSpPr>
          <p:cNvPr id="14" name="Text 13"/>
          <p:cNvSpPr txBox="1"/>
          <p:nvPr/>
        </p:nvSpPr>
        <p:spPr>
          <a:xfrm>
            <a:off x="127103" y="1000629"/>
            <a:ext cx="9256907"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08 · ما بعد التطبيق</a:t>
            </a:r>
          </a:p>
        </p:txBody>
      </p:sp>
      <p:sp>
        <p:nvSpPr>
          <p:cNvPr id="15" name="Text 14"/>
          <p:cNvSpPr txBox="1"/>
          <p:nvPr/>
        </p:nvSpPr>
        <p:spPr>
          <a:xfrm>
            <a:off x="127103" y="1342898"/>
            <a:ext cx="9256907"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الاستدامة والجاهزية</a:t>
            </a:r>
          </a:p>
        </p:txBody>
      </p:sp>
      <p:sp>
        <p:nvSpPr>
          <p:cNvPr id="16" name="Text 15"/>
          <p:cNvSpPr txBox="1"/>
          <p:nvPr/>
        </p:nvSpPr>
        <p:spPr>
          <a:xfrm>
            <a:off x="2876550" y="2269744"/>
            <a:ext cx="8502650" cy="6096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كيف يبقى ما بنيناه حياً: حزمة وثائق محدثة، وتقويم مراجعات، ومؤشرات تُرفع للجنة، وجاهزية دائمة لتقييم الهيئة.</a:t>
            </a:r>
          </a:p>
        </p:txBody>
      </p:sp>
      <p:sp>
        <p:nvSpPr>
          <p:cNvPr id="17" name="Rule 16"/>
          <p:cNvSpPr/>
          <p:nvPr/>
        </p:nvSpPr>
        <p:spPr>
          <a:xfrm>
            <a:off x="812800" y="4435078"/>
            <a:ext cx="51308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51460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19" name="Text 18"/>
          <p:cNvSpPr txBox="1"/>
          <p:nvPr/>
        </p:nvSpPr>
        <p:spPr>
          <a:xfrm>
            <a:off x="1405354" y="450473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حزمة الوثائق الأساسية</a:t>
            </a:r>
          </a:p>
        </p:txBody>
      </p:sp>
      <p:sp>
        <p:nvSpPr>
          <p:cNvPr id="20" name="Text 19"/>
          <p:cNvSpPr txBox="1"/>
          <p:nvPr/>
        </p:nvSpPr>
        <p:spPr>
          <a:xfrm>
            <a:off x="8128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166</a:t>
            </a:r>
          </a:p>
        </p:txBody>
      </p:sp>
      <p:sp>
        <p:nvSpPr>
          <p:cNvPr id="21" name="Rule 20"/>
          <p:cNvSpPr/>
          <p:nvPr/>
        </p:nvSpPr>
        <p:spPr>
          <a:xfrm>
            <a:off x="6248400" y="4435078"/>
            <a:ext cx="51308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23" name="Text 22"/>
          <p:cNvSpPr txBox="1"/>
          <p:nvPr/>
        </p:nvSpPr>
        <p:spPr>
          <a:xfrm>
            <a:off x="6840954" y="450473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لماذا لا ينتهي الامتثال</a:t>
            </a:r>
          </a:p>
        </p:txBody>
      </p:sp>
      <p:sp>
        <p:nvSpPr>
          <p:cNvPr id="24" name="Text 23"/>
          <p:cNvSpPr txBox="1"/>
          <p:nvPr/>
        </p:nvSpPr>
        <p:spPr>
          <a:xfrm>
            <a:off x="62484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165</a:t>
            </a:r>
          </a:p>
        </p:txBody>
      </p:sp>
      <p:sp>
        <p:nvSpPr>
          <p:cNvPr id="25" name="Rule 24"/>
          <p:cNvSpPr/>
          <p:nvPr/>
        </p:nvSpPr>
        <p:spPr>
          <a:xfrm>
            <a:off x="812800" y="4863009"/>
            <a:ext cx="51308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51460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27" name="Text 26"/>
          <p:cNvSpPr txBox="1"/>
          <p:nvPr/>
        </p:nvSpPr>
        <p:spPr>
          <a:xfrm>
            <a:off x="1405354" y="493266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المؤشرات ولوحة اللجنة</a:t>
            </a:r>
          </a:p>
        </p:txBody>
      </p:sp>
      <p:sp>
        <p:nvSpPr>
          <p:cNvPr id="28" name="Text 27"/>
          <p:cNvSpPr txBox="1"/>
          <p:nvPr/>
        </p:nvSpPr>
        <p:spPr>
          <a:xfrm>
            <a:off x="8128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168</a:t>
            </a:r>
          </a:p>
        </p:txBody>
      </p:sp>
      <p:sp>
        <p:nvSpPr>
          <p:cNvPr id="29" name="Rule 28"/>
          <p:cNvSpPr/>
          <p:nvPr/>
        </p:nvSpPr>
        <p:spPr>
          <a:xfrm>
            <a:off x="6248400" y="4863009"/>
            <a:ext cx="51308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31" name="Text 30"/>
          <p:cNvSpPr txBox="1"/>
          <p:nvPr/>
        </p:nvSpPr>
        <p:spPr>
          <a:xfrm>
            <a:off x="6840954" y="4932668"/>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تقويم المراجعات الدورية</a:t>
            </a:r>
          </a:p>
        </p:txBody>
      </p:sp>
      <p:sp>
        <p:nvSpPr>
          <p:cNvPr id="32" name="Text 31"/>
          <p:cNvSpPr txBox="1"/>
          <p:nvPr/>
        </p:nvSpPr>
        <p:spPr>
          <a:xfrm>
            <a:off x="62484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167</a:t>
            </a:r>
          </a:p>
        </p:txBody>
      </p:sp>
      <p:sp>
        <p:nvSpPr>
          <p:cNvPr id="33" name="Rule 32"/>
          <p:cNvSpPr/>
          <p:nvPr/>
        </p:nvSpPr>
        <p:spPr>
          <a:xfrm>
            <a:off x="812800" y="5290939"/>
            <a:ext cx="51308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51460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06</a:t>
            </a:r>
          </a:p>
        </p:txBody>
      </p:sp>
      <p:sp>
        <p:nvSpPr>
          <p:cNvPr id="35" name="Text 34"/>
          <p:cNvSpPr txBox="1"/>
          <p:nvPr/>
        </p:nvSpPr>
        <p:spPr>
          <a:xfrm>
            <a:off x="1405354" y="536059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أخطاء التطبيق الشائعة</a:t>
            </a:r>
          </a:p>
        </p:txBody>
      </p:sp>
      <p:sp>
        <p:nvSpPr>
          <p:cNvPr id="36" name="Text 35"/>
          <p:cNvSpPr txBox="1"/>
          <p:nvPr/>
        </p:nvSpPr>
        <p:spPr>
          <a:xfrm>
            <a:off x="8128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171</a:t>
            </a:r>
          </a:p>
        </p:txBody>
      </p:sp>
      <p:sp>
        <p:nvSpPr>
          <p:cNvPr id="37" name="Rule 36"/>
          <p:cNvSpPr/>
          <p:nvPr/>
        </p:nvSpPr>
        <p:spPr>
          <a:xfrm>
            <a:off x="6248400" y="5290939"/>
            <a:ext cx="51308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9" name="Text 38"/>
          <p:cNvSpPr txBox="1"/>
          <p:nvPr/>
        </p:nvSpPr>
        <p:spPr>
          <a:xfrm>
            <a:off x="6840954" y="536059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الاستعداد لتقييم الهيئة</a:t>
            </a:r>
          </a:p>
        </p:txBody>
      </p:sp>
      <p:sp>
        <p:nvSpPr>
          <p:cNvPr id="40" name="Text 39"/>
          <p:cNvSpPr txBox="1"/>
          <p:nvPr/>
        </p:nvSpPr>
        <p:spPr>
          <a:xfrm>
            <a:off x="62484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170</a:t>
            </a:r>
          </a:p>
        </p:txBody>
      </p:sp>
      <p:sp>
        <p:nvSpPr>
          <p:cNvPr id="41" name="Rule 40"/>
          <p:cNvSpPr/>
          <p:nvPr/>
        </p:nvSpPr>
        <p:spPr>
          <a:xfrm>
            <a:off x="812800" y="5718870"/>
            <a:ext cx="5130800" cy="6350"/>
          </a:xfrm>
          <a:prstGeom prst="rect">
            <a:avLst/>
          </a:prstGeom>
          <a:solidFill>
            <a:srgbClr val="F2EEE6">
              <a:alpha val="16000"/>
            </a:srgbClr>
          </a:solidFill>
          <a:ln>
            <a:noFill/>
          </a:ln>
        </p:spPr>
        <p:txBody>
          <a:bodyPr rtlCol="0" anchor="ctr"/>
          <a:lstStyle/>
          <a:p>
            <a:pPr algn="ctr"/>
          </a:p>
        </p:txBody>
      </p:sp>
      <p:sp>
        <p:nvSpPr>
          <p:cNvPr id="42" name="Text 41"/>
          <p:cNvSpPr txBox="1"/>
          <p:nvPr/>
        </p:nvSpPr>
        <p:spPr>
          <a:xfrm>
            <a:off x="51460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08</a:t>
            </a:r>
          </a:p>
        </p:txBody>
      </p:sp>
      <p:sp>
        <p:nvSpPr>
          <p:cNvPr id="43" name="Text 42"/>
          <p:cNvSpPr txBox="1"/>
          <p:nvPr/>
        </p:nvSpPr>
        <p:spPr>
          <a:xfrm>
            <a:off x="1405354" y="578852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الجهة الافتراضية والتطبيقات الثلاثة</a:t>
            </a:r>
          </a:p>
        </p:txBody>
      </p:sp>
      <p:sp>
        <p:nvSpPr>
          <p:cNvPr id="44" name="Text 43"/>
          <p:cNvSpPr txBox="1"/>
          <p:nvPr/>
        </p:nvSpPr>
        <p:spPr>
          <a:xfrm>
            <a:off x="8128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174</a:t>
            </a:r>
          </a:p>
        </p:txBody>
      </p:sp>
      <p:sp>
        <p:nvSpPr>
          <p:cNvPr id="45" name="Rule 44"/>
          <p:cNvSpPr/>
          <p:nvPr/>
        </p:nvSpPr>
        <p:spPr>
          <a:xfrm>
            <a:off x="6248400" y="5718870"/>
            <a:ext cx="5130800" cy="6350"/>
          </a:xfrm>
          <a:prstGeom prst="rect">
            <a:avLst/>
          </a:prstGeom>
          <a:solidFill>
            <a:srgbClr val="F2EEE6">
              <a:alpha val="16000"/>
            </a:srgbClr>
          </a:solidFill>
          <a:ln>
            <a:noFill/>
          </a:ln>
        </p:spPr>
        <p:txBody>
          <a:bodyPr rtlCol="0" anchor="ctr"/>
          <a:lstStyle/>
          <a:p>
            <a:pPr algn="ctr"/>
          </a:p>
        </p:txBody>
      </p:sp>
      <p:sp>
        <p:nvSpPr>
          <p:cNvPr id="46" name="Text 45"/>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07</a:t>
            </a:r>
          </a:p>
        </p:txBody>
      </p:sp>
      <p:sp>
        <p:nvSpPr>
          <p:cNvPr id="47" name="Text 46"/>
          <p:cNvSpPr txBox="1"/>
          <p:nvPr/>
        </p:nvSpPr>
        <p:spPr>
          <a:xfrm>
            <a:off x="6840954" y="5788529"/>
            <a:ext cx="3738146"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المشروع التطبيقي</a:t>
            </a:r>
          </a:p>
        </p:txBody>
      </p:sp>
      <p:sp>
        <p:nvSpPr>
          <p:cNvPr id="48" name="Text 47"/>
          <p:cNvSpPr txBox="1"/>
          <p:nvPr/>
        </p:nvSpPr>
        <p:spPr>
          <a:xfrm>
            <a:off x="62484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172</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89430" y="812800"/>
            <a:ext cx="1489770"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المفهوم</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لماذا لا ينتهي الامتثال بانتهاء المشروع؟</a:t>
            </a:r>
          </a:p>
        </p:txBody>
      </p:sp>
      <p:sp>
        <p:nvSpPr>
          <p:cNvPr id="5" name="Text 4"/>
          <p:cNvSpPr txBox="1"/>
          <p:nvPr/>
        </p:nvSpPr>
        <p:spPr>
          <a:xfrm>
            <a:off x="50800" y="1839158"/>
            <a:ext cx="10287000" cy="28575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الامتثال يشبه صيانة السيارة: فحص اليوم لا يضمن سلامتها بعد سنة. أربعة أسباب تجعله عملاً مستمراً:</a:t>
            </a:r>
          </a:p>
        </p:txBody>
      </p:sp>
      <p:sp>
        <p:nvSpPr>
          <p:cNvPr id="6" name="Box 5"/>
          <p:cNvSpPr/>
          <p:nvPr/>
        </p:nvSpPr>
        <p:spPr>
          <a:xfrm>
            <a:off x="815975" y="2395736"/>
            <a:ext cx="2501900" cy="2125662"/>
          </a:xfrm>
          <a:prstGeom prst="roundRect">
            <a:avLst>
              <a:gd name="adj" fmla="val 5956"/>
            </a:avLst>
          </a:prstGeom>
          <a:solidFill>
            <a:srgbClr val="FCFBF8"/>
          </a:solidFill>
          <a:ln w="6350">
            <a:solidFill>
              <a:srgbClr val="DDD7CA"/>
            </a:solidFill>
          </a:ln>
        </p:spPr>
        <p:txBody>
          <a:bodyPr rtlCol="0" anchor="ctr"/>
          <a:lstStyle/>
          <a:p>
            <a:pPr algn="ctr"/>
          </a:p>
        </p:txBody>
      </p:sp>
      <p:sp>
        <p:nvSpPr>
          <p:cNvPr id="7" name="Box 6"/>
          <p:cNvSpPr/>
          <p:nvPr/>
        </p:nvSpPr>
        <p:spPr>
          <a:xfrm>
            <a:off x="2743200" y="2589411"/>
            <a:ext cx="381000" cy="381000"/>
          </a:xfrm>
          <a:prstGeom prst="roundRect">
            <a:avLst>
              <a:gd name="adj" fmla="val 26666"/>
            </a:avLst>
          </a:prstGeom>
          <a:solidFill>
            <a:srgbClr val="DCEEEF"/>
          </a:solidFill>
          <a:ln>
            <a:noFill/>
          </a:ln>
        </p:spPr>
        <p:txBody>
          <a:bodyPr rtlCol="0" anchor="ctr"/>
          <a:lstStyle/>
          <a:p>
            <a:pPr algn="ctr"/>
          </a:p>
        </p:txBody>
      </p:sp>
      <p:pic>
        <p:nvPicPr>
          <p:cNvPr id="8" name="Icon Warning 7" descr="icon019.png"/>
          <p:cNvPicPr>
            <a:picLocks noChangeAspect="1"/>
          </p:cNvPicPr>
          <p:nvPr/>
        </p:nvPicPr>
        <p:blipFill>
          <a:blip r:embed="rId2"/>
          <a:stretch>
            <a:fillRect/>
          </a:stretch>
        </p:blipFill>
        <p:spPr>
          <a:xfrm>
            <a:off x="2828925" y="2675136"/>
            <a:ext cx="209550" cy="209550"/>
          </a:xfrm>
          <a:prstGeom prst="rect">
            <a:avLst/>
          </a:prstGeom>
        </p:spPr>
      </p:pic>
      <p:sp>
        <p:nvSpPr>
          <p:cNvPr id="9" name="Text 8"/>
          <p:cNvSpPr txBox="1"/>
          <p:nvPr/>
        </p:nvSpPr>
        <p:spPr>
          <a:xfrm>
            <a:off x="840486" y="302632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التهديدات تتطور</a:t>
            </a:r>
          </a:p>
        </p:txBody>
      </p:sp>
      <p:sp>
        <p:nvSpPr>
          <p:cNvPr id="10" name="Text 9"/>
          <p:cNvSpPr txBox="1"/>
          <p:nvPr/>
        </p:nvSpPr>
        <p:spPr>
          <a:xfrm>
            <a:off x="946214" y="335141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أساليب هجوم جديدة تجعل إعدادات الأمس غير كافية، فتتحدث المعايير والأدلة التشغيلية.</a:t>
            </a:r>
          </a:p>
        </p:txBody>
      </p:sp>
      <p:sp>
        <p:nvSpPr>
          <p:cNvPr id="11" name="Box 10"/>
          <p:cNvSpPr/>
          <p:nvPr/>
        </p:nvSpPr>
        <p:spPr>
          <a:xfrm>
            <a:off x="3502025" y="2395736"/>
            <a:ext cx="2501900" cy="2125662"/>
          </a:xfrm>
          <a:prstGeom prst="roundRect">
            <a:avLst>
              <a:gd name="adj" fmla="val 5956"/>
            </a:avLst>
          </a:prstGeom>
          <a:solidFill>
            <a:srgbClr val="FCFBF8"/>
          </a:solidFill>
          <a:ln w="6350">
            <a:solidFill>
              <a:srgbClr val="DDD7CA"/>
            </a:solidFill>
          </a:ln>
        </p:spPr>
        <p:txBody>
          <a:bodyPr rtlCol="0" anchor="ctr"/>
          <a:lstStyle/>
          <a:p>
            <a:pPr algn="ctr"/>
          </a:p>
        </p:txBody>
      </p:sp>
      <p:sp>
        <p:nvSpPr>
          <p:cNvPr id="12" name="Box 11"/>
          <p:cNvSpPr/>
          <p:nvPr/>
        </p:nvSpPr>
        <p:spPr>
          <a:xfrm>
            <a:off x="5429250" y="2589411"/>
            <a:ext cx="381000" cy="381000"/>
          </a:xfrm>
          <a:prstGeom prst="roundRect">
            <a:avLst>
              <a:gd name="adj" fmla="val 26666"/>
            </a:avLst>
          </a:prstGeom>
          <a:solidFill>
            <a:srgbClr val="DCEEEF"/>
          </a:solidFill>
          <a:ln>
            <a:noFill/>
          </a:ln>
        </p:spPr>
        <p:txBody>
          <a:bodyPr rtlCol="0" anchor="ctr"/>
          <a:lstStyle/>
          <a:p>
            <a:pPr algn="ctr"/>
          </a:p>
        </p:txBody>
      </p:sp>
      <p:pic>
        <p:nvPicPr>
          <p:cNvPr id="13" name="Icon Activity 12" descr="icon007.png"/>
          <p:cNvPicPr>
            <a:picLocks noChangeAspect="1"/>
          </p:cNvPicPr>
          <p:nvPr/>
        </p:nvPicPr>
        <p:blipFill>
          <a:blip r:embed="rId3"/>
          <a:stretch>
            <a:fillRect/>
          </a:stretch>
        </p:blipFill>
        <p:spPr>
          <a:xfrm>
            <a:off x="5514975" y="2675136"/>
            <a:ext cx="209550" cy="209550"/>
          </a:xfrm>
          <a:prstGeom prst="rect">
            <a:avLst/>
          </a:prstGeom>
        </p:spPr>
      </p:pic>
      <p:sp>
        <p:nvSpPr>
          <p:cNvPr id="14" name="Text 13"/>
          <p:cNvSpPr txBox="1"/>
          <p:nvPr/>
        </p:nvSpPr>
        <p:spPr>
          <a:xfrm>
            <a:off x="3526536" y="302632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الأدلة لها تاريخ</a:t>
            </a:r>
          </a:p>
        </p:txBody>
      </p:sp>
      <p:sp>
        <p:nvSpPr>
          <p:cNvPr id="15" name="Text 14"/>
          <p:cNvSpPr txBox="1"/>
          <p:nvPr/>
        </p:nvSpPr>
        <p:spPr>
          <a:xfrm>
            <a:off x="3632264" y="335141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دليل عمره سنتان لا يثبت الوضع اليوم. المقيّم يطلب أدلة حديثة ضمن فترة التقييم.</a:t>
            </a:r>
          </a:p>
        </p:txBody>
      </p:sp>
      <p:sp>
        <p:nvSpPr>
          <p:cNvPr id="16" name="Box 15"/>
          <p:cNvSpPr/>
          <p:nvPr/>
        </p:nvSpPr>
        <p:spPr>
          <a:xfrm>
            <a:off x="6188075" y="2395736"/>
            <a:ext cx="2501900" cy="2125662"/>
          </a:xfrm>
          <a:prstGeom prst="roundRect">
            <a:avLst>
              <a:gd name="adj" fmla="val 5956"/>
            </a:avLst>
          </a:prstGeom>
          <a:solidFill>
            <a:srgbClr val="FCFBF8"/>
          </a:solidFill>
          <a:ln w="6350">
            <a:solidFill>
              <a:srgbClr val="DDD7CA"/>
            </a:solidFill>
          </a:ln>
        </p:spPr>
        <p:txBody>
          <a:bodyPr rtlCol="0" anchor="ctr"/>
          <a:lstStyle/>
          <a:p>
            <a:pPr algn="ctr"/>
          </a:p>
        </p:txBody>
      </p:sp>
      <p:sp>
        <p:nvSpPr>
          <p:cNvPr id="17" name="Box 16"/>
          <p:cNvSpPr/>
          <p:nvPr/>
        </p:nvSpPr>
        <p:spPr>
          <a:xfrm>
            <a:off x="8115300" y="2589411"/>
            <a:ext cx="381000" cy="381000"/>
          </a:xfrm>
          <a:prstGeom prst="roundRect">
            <a:avLst>
              <a:gd name="adj" fmla="val 26666"/>
            </a:avLst>
          </a:prstGeom>
          <a:solidFill>
            <a:srgbClr val="DCEEEF"/>
          </a:solidFill>
          <a:ln>
            <a:noFill/>
          </a:ln>
        </p:spPr>
        <p:txBody>
          <a:bodyPr rtlCol="0" anchor="ctr"/>
          <a:lstStyle/>
          <a:p>
            <a:pPr algn="ctr"/>
          </a:p>
        </p:txBody>
      </p:sp>
      <p:pic>
        <p:nvPicPr>
          <p:cNvPr id="18" name="Icon Clock 17" descr="icon021.png"/>
          <p:cNvPicPr>
            <a:picLocks noChangeAspect="1"/>
          </p:cNvPicPr>
          <p:nvPr/>
        </p:nvPicPr>
        <p:blipFill>
          <a:blip r:embed="rId4"/>
          <a:stretch>
            <a:fillRect/>
          </a:stretch>
        </p:blipFill>
        <p:spPr>
          <a:xfrm>
            <a:off x="8201025" y="2675136"/>
            <a:ext cx="209550" cy="209550"/>
          </a:xfrm>
          <a:prstGeom prst="rect">
            <a:avLst/>
          </a:prstGeom>
        </p:spPr>
      </p:pic>
      <p:sp>
        <p:nvSpPr>
          <p:cNvPr id="19" name="Text 18"/>
          <p:cNvSpPr txBox="1"/>
          <p:nvPr/>
        </p:nvSpPr>
        <p:spPr>
          <a:xfrm>
            <a:off x="6318314" y="3026323"/>
            <a:ext cx="2177986" cy="514350"/>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الضوابط تطلب المراجعة</a:t>
            </a:r>
          </a:p>
        </p:txBody>
      </p:sp>
      <p:sp>
        <p:nvSpPr>
          <p:cNvPr id="20" name="Text 19"/>
          <p:cNvSpPr txBox="1"/>
          <p:nvPr/>
        </p:nvSpPr>
        <p:spPr>
          <a:xfrm>
            <a:off x="6318314" y="3608586"/>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في كل مكون فرعي تقريباً ضابط مراجعة دورية (‎X-4‎)، فالمراجعة جزء من الامتثال نفسه.</a:t>
            </a:r>
          </a:p>
        </p:txBody>
      </p:sp>
      <p:sp>
        <p:nvSpPr>
          <p:cNvPr id="21" name="Box 20"/>
          <p:cNvSpPr/>
          <p:nvPr/>
        </p:nvSpPr>
        <p:spPr>
          <a:xfrm>
            <a:off x="8874125" y="2395736"/>
            <a:ext cx="2501900" cy="2125662"/>
          </a:xfrm>
          <a:prstGeom prst="roundRect">
            <a:avLst>
              <a:gd name="adj" fmla="val 5956"/>
            </a:avLst>
          </a:prstGeom>
          <a:solidFill>
            <a:srgbClr val="FCFBF8"/>
          </a:solidFill>
          <a:ln w="6350">
            <a:solidFill>
              <a:srgbClr val="DDD7CA"/>
            </a:solidFill>
          </a:ln>
        </p:spPr>
        <p:txBody>
          <a:bodyPr rtlCol="0" anchor="ctr"/>
          <a:lstStyle/>
          <a:p>
            <a:pPr algn="ctr"/>
          </a:p>
        </p:txBody>
      </p:sp>
      <p:sp>
        <p:nvSpPr>
          <p:cNvPr id="22" name="Box 21"/>
          <p:cNvSpPr/>
          <p:nvPr/>
        </p:nvSpPr>
        <p:spPr>
          <a:xfrm>
            <a:off x="10801350" y="2589411"/>
            <a:ext cx="381000" cy="381000"/>
          </a:xfrm>
          <a:prstGeom prst="roundRect">
            <a:avLst>
              <a:gd name="adj" fmla="val 26666"/>
            </a:avLst>
          </a:prstGeom>
          <a:solidFill>
            <a:srgbClr val="DCEEEF"/>
          </a:solidFill>
          <a:ln>
            <a:noFill/>
          </a:ln>
        </p:spPr>
        <p:txBody>
          <a:bodyPr rtlCol="0" anchor="ctr"/>
          <a:lstStyle/>
          <a:p>
            <a:pPr algn="ctr"/>
          </a:p>
        </p:txBody>
      </p:sp>
      <p:pic>
        <p:nvPicPr>
          <p:cNvPr id="23" name="Icon Settings 22" descr="icon002.png"/>
          <p:cNvPicPr>
            <a:picLocks noChangeAspect="1"/>
          </p:cNvPicPr>
          <p:nvPr/>
        </p:nvPicPr>
        <p:blipFill>
          <a:blip r:embed="rId5"/>
          <a:stretch>
            <a:fillRect/>
          </a:stretch>
        </p:blipFill>
        <p:spPr>
          <a:xfrm>
            <a:off x="10887075" y="2675136"/>
            <a:ext cx="209550" cy="209550"/>
          </a:xfrm>
          <a:prstGeom prst="rect">
            <a:avLst/>
          </a:prstGeom>
        </p:spPr>
      </p:pic>
      <p:sp>
        <p:nvSpPr>
          <p:cNvPr id="24" name="Text 23"/>
          <p:cNvSpPr txBox="1"/>
          <p:nvPr/>
        </p:nvSpPr>
        <p:spPr>
          <a:xfrm>
            <a:off x="8898636" y="3026323"/>
            <a:ext cx="2283714"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الأنظمة تتغير</a:t>
            </a:r>
          </a:p>
        </p:txBody>
      </p:sp>
      <p:sp>
        <p:nvSpPr>
          <p:cNvPr id="25" name="Text 24"/>
          <p:cNvSpPr txBox="1"/>
          <p:nvPr/>
        </p:nvSpPr>
        <p:spPr>
          <a:xfrm>
            <a:off x="9004364" y="3351411"/>
            <a:ext cx="2177986"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أنظمة وموظفون وموردون جدد كل شهر، وكل تغيير قد يفتح فجوة لم تكن موجودة.</a:t>
            </a:r>
          </a:p>
        </p:txBody>
      </p:sp>
      <p:sp>
        <p:nvSpPr>
          <p:cNvPr id="26" name="Box 2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7" name="Box 2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8" name="Icon Key 27" descr="icon015.png"/>
          <p:cNvPicPr>
            <a:picLocks noChangeAspect="1"/>
          </p:cNvPicPr>
          <p:nvPr/>
        </p:nvPicPr>
        <p:blipFill>
          <a:blip r:embed="rId6"/>
          <a:stretch>
            <a:fillRect/>
          </a:stretch>
        </p:blipFill>
        <p:spPr>
          <a:xfrm>
            <a:off x="10864850" y="5329932"/>
            <a:ext cx="215900" cy="215900"/>
          </a:xfrm>
          <a:prstGeom prst="rect">
            <a:avLst/>
          </a:prstGeom>
        </p:spPr>
      </p:pic>
      <p:sp>
        <p:nvSpPr>
          <p:cNvPr id="29" name="Text 2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الفكرة الأساسية</a:t>
            </a:r>
          </a:p>
        </p:txBody>
      </p:sp>
      <p:sp>
        <p:nvSpPr>
          <p:cNvPr id="30" name="Text 2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الهدف في هذه الوحدة: تحويل ما بنيناه إلى نظام يعمل وحده طوال السنة، لا مشروع ينتهي بانتهاء الميزانية.</a:t>
            </a:r>
          </a:p>
        </p:txBody>
      </p:sp>
      <p:sp>
        <p:nvSpPr>
          <p:cNvPr id="31" name="Text 3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32" name="Box 3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3" name="Box 3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4" name="Box 33"/>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6" name="Box 35"/>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7" name="Box 36"/>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8" name="Box 37"/>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39" name="Box 38"/>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40" name="Box 3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Text 4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165</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975056" y="812800"/>
            <a:ext cx="1404144"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الوثائق</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حزمة الوثائق الأساسية وضوابطها</a:t>
            </a:r>
          </a:p>
        </p:txBody>
      </p:sp>
      <p:sp>
        <p:nvSpPr>
          <p:cNvPr id="5" name="Box 4"/>
          <p:cNvSpPr/>
          <p:nvPr/>
        </p:nvSpPr>
        <p:spPr>
          <a:xfrm>
            <a:off x="7975600" y="1852811"/>
            <a:ext cx="3403600" cy="3278584"/>
          </a:xfrm>
          <a:prstGeom prst="roundRect">
            <a:avLst>
              <a:gd name="adj" fmla="val 3098"/>
            </a:avLst>
          </a:prstGeom>
          <a:solidFill>
            <a:srgbClr val="FCFBF8"/>
          </a:solidFill>
          <a:ln>
            <a:noFill/>
          </a:ln>
        </p:spPr>
        <p:txBody>
          <a:bodyPr rtlCol="0" anchor="ctr"/>
          <a:lstStyle/>
          <a:p>
            <a:pPr algn="ctr"/>
          </a:p>
        </p:txBody>
      </p:sp>
      <p:sp>
        <p:nvSpPr>
          <p:cNvPr id="6" name="Rule 5"/>
          <p:cNvSpPr/>
          <p:nvPr/>
        </p:nvSpPr>
        <p:spPr>
          <a:xfrm>
            <a:off x="7975600" y="1852811"/>
            <a:ext cx="3403600" cy="38100"/>
          </a:xfrm>
          <a:prstGeom prst="rect">
            <a:avLst/>
          </a:prstGeom>
          <a:solidFill>
            <a:srgbClr val="A6461A"/>
          </a:solidFill>
          <a:ln>
            <a:noFill/>
          </a:ln>
        </p:spPr>
        <p:txBody>
          <a:bodyPr rtlCol="0" anchor="ctr"/>
          <a:lstStyle/>
          <a:p>
            <a:pPr algn="ctr"/>
          </a:p>
        </p:txBody>
      </p:sp>
      <p:sp>
        <p:nvSpPr>
          <p:cNvPr id="7" name="Rule 6"/>
          <p:cNvSpPr/>
          <p:nvPr/>
        </p:nvSpPr>
        <p:spPr>
          <a:xfrm>
            <a:off x="11372850" y="1852811"/>
            <a:ext cx="6350" cy="3278584"/>
          </a:xfrm>
          <a:prstGeom prst="rect">
            <a:avLst/>
          </a:prstGeom>
          <a:solidFill>
            <a:srgbClr val="DDD7CA"/>
          </a:solidFill>
          <a:ln>
            <a:noFill/>
          </a:ln>
        </p:spPr>
        <p:txBody>
          <a:bodyPr rtlCol="0" anchor="ctr"/>
          <a:lstStyle/>
          <a:p>
            <a:pPr algn="ctr"/>
          </a:p>
        </p:txBody>
      </p:sp>
      <p:sp>
        <p:nvSpPr>
          <p:cNvPr id="8" name="Rule 7"/>
          <p:cNvSpPr/>
          <p:nvPr/>
        </p:nvSpPr>
        <p:spPr>
          <a:xfrm>
            <a:off x="7975600" y="5125045"/>
            <a:ext cx="3403600" cy="6350"/>
          </a:xfrm>
          <a:prstGeom prst="rect">
            <a:avLst/>
          </a:prstGeom>
          <a:solidFill>
            <a:srgbClr val="DDD7CA"/>
          </a:solidFill>
          <a:ln>
            <a:noFill/>
          </a:ln>
        </p:spPr>
        <p:txBody>
          <a:bodyPr rtlCol="0" anchor="ctr"/>
          <a:lstStyle/>
          <a:p>
            <a:pPr algn="ctr"/>
          </a:p>
        </p:txBody>
      </p:sp>
      <p:sp>
        <p:nvSpPr>
          <p:cNvPr id="9" name="Rule 8"/>
          <p:cNvSpPr/>
          <p:nvPr/>
        </p:nvSpPr>
        <p:spPr>
          <a:xfrm>
            <a:off x="7975600" y="1852811"/>
            <a:ext cx="6350" cy="3278584"/>
          </a:xfrm>
          <a:prstGeom prst="rect">
            <a:avLst/>
          </a:prstGeom>
          <a:solidFill>
            <a:srgbClr val="DDD7CA"/>
          </a:solidFill>
          <a:ln>
            <a:noFill/>
          </a:ln>
        </p:spPr>
        <p:txBody>
          <a:bodyPr rtlCol="0" anchor="ctr"/>
          <a:lstStyle/>
          <a:p>
            <a:pPr algn="ctr"/>
          </a:p>
        </p:txBody>
      </p:sp>
      <p:sp>
        <p:nvSpPr>
          <p:cNvPr id="10" name="Text 9"/>
          <p:cNvSpPr txBox="1"/>
          <p:nvPr/>
        </p:nvSpPr>
        <p:spPr>
          <a:xfrm>
            <a:off x="8001000" y="2011675"/>
            <a:ext cx="3206750" cy="303510"/>
          </a:xfrm>
          <a:prstGeom prst="rect">
            <a:avLst/>
          </a:prstGeom>
          <a:noFill/>
        </p:spPr>
        <p:txBody>
          <a:bodyPr wrap="square" tIns="0" rIns="0" bIns="63500" lIns="0" anchor="t" rtlCol="0" anchorCtr="0">
            <a:noAutofit/>
          </a:bodyPr>
          <a:lstStyle/>
          <a:p>
            <a:pPr algn="r" rtl="1">
              <a:lnSpc>
                <a:spcPts val="1889"/>
              </a:lnSpc>
              <a:spcBef>
                <a:spcPts val="0"/>
              </a:spcBef>
              <a:spcAft>
                <a:spcPts val="0"/>
              </a:spcAft>
            </a:pPr>
            <a:r>
              <a:rPr sz="1400" b="1" i="0">
                <a:solidFill>
                  <a:srgbClr val="A6461A"/>
                </a:solidFill>
                <a:latin typeface="Alexandria"/>
                <a:ea typeface="Alexandria"/>
                <a:cs typeface="Alexandria"/>
              </a:rPr>
              <a:t>الحوكمة</a:t>
            </a:r>
          </a:p>
        </p:txBody>
      </p:sp>
      <p:sp>
        <p:nvSpPr>
          <p:cNvPr id="11" name="Rule 10"/>
          <p:cNvSpPr/>
          <p:nvPr/>
        </p:nvSpPr>
        <p:spPr>
          <a:xfrm>
            <a:off x="8147050" y="2334121"/>
            <a:ext cx="3060700" cy="6350"/>
          </a:xfrm>
          <a:prstGeom prst="rect">
            <a:avLst/>
          </a:prstGeom>
          <a:solidFill>
            <a:srgbClr val="DDD7CA"/>
          </a:solidFill>
          <a:ln>
            <a:noFill/>
          </a:ln>
        </p:spPr>
        <p:txBody>
          <a:bodyPr rtlCol="0" anchor="ctr"/>
          <a:lstStyle/>
          <a:p>
            <a:pPr algn="ctr"/>
          </a:p>
        </p:txBody>
      </p:sp>
      <p:sp>
        <p:nvSpPr>
          <p:cNvPr id="12" name="Text 11"/>
          <p:cNvSpPr txBox="1"/>
          <p:nvPr/>
        </p:nvSpPr>
        <p:spPr>
          <a:xfrm>
            <a:off x="8280777" y="2365109"/>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استراتيجية الأمن السيبراني</a:t>
            </a:r>
          </a:p>
        </p:txBody>
      </p:sp>
      <p:sp>
        <p:nvSpPr>
          <p:cNvPr id="13" name="Text 12"/>
          <p:cNvSpPr txBox="1"/>
          <p:nvPr/>
        </p:nvSpPr>
        <p:spPr>
          <a:xfrm>
            <a:off x="8147050" y="2364855"/>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A6461A"/>
                </a:solidFill>
                <a:latin typeface="IBM Plex Mono"/>
                <a:ea typeface="IBM Plex Mono"/>
                <a:cs typeface="IBM Plex Mono"/>
              </a:rPr>
              <a:t>‎1-1‎</a:t>
            </a:r>
          </a:p>
        </p:txBody>
      </p:sp>
      <p:sp>
        <p:nvSpPr>
          <p:cNvPr id="14" name="Rule 13"/>
          <p:cNvSpPr/>
          <p:nvPr/>
        </p:nvSpPr>
        <p:spPr>
          <a:xfrm>
            <a:off x="8147050" y="2628702"/>
            <a:ext cx="3060700" cy="6350"/>
          </a:xfrm>
          <a:prstGeom prst="rect">
            <a:avLst/>
          </a:prstGeom>
          <a:solidFill>
            <a:srgbClr val="DDD7CA"/>
          </a:solidFill>
          <a:ln>
            <a:noFill/>
          </a:ln>
        </p:spPr>
        <p:txBody>
          <a:bodyPr rtlCol="0" anchor="ctr"/>
          <a:lstStyle/>
          <a:p>
            <a:pPr algn="ctr"/>
          </a:p>
        </p:txBody>
      </p:sp>
      <p:sp>
        <p:nvSpPr>
          <p:cNvPr id="15" name="Text 14"/>
          <p:cNvSpPr txBox="1"/>
          <p:nvPr/>
        </p:nvSpPr>
        <p:spPr>
          <a:xfrm>
            <a:off x="8280777" y="265969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قرار الإدارة وميثاق اللجنة</a:t>
            </a:r>
          </a:p>
        </p:txBody>
      </p:sp>
      <p:sp>
        <p:nvSpPr>
          <p:cNvPr id="16" name="Text 15"/>
          <p:cNvSpPr txBox="1"/>
          <p:nvPr/>
        </p:nvSpPr>
        <p:spPr>
          <a:xfrm>
            <a:off x="8147050" y="2659436"/>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A6461A"/>
                </a:solidFill>
                <a:latin typeface="IBM Plex Mono"/>
                <a:ea typeface="IBM Plex Mono"/>
                <a:cs typeface="IBM Plex Mono"/>
              </a:rPr>
              <a:t>‎1-2‎</a:t>
            </a:r>
          </a:p>
        </p:txBody>
      </p:sp>
      <p:sp>
        <p:nvSpPr>
          <p:cNvPr id="17" name="Rule 16"/>
          <p:cNvSpPr/>
          <p:nvPr/>
        </p:nvSpPr>
        <p:spPr>
          <a:xfrm>
            <a:off x="8147050" y="2923282"/>
            <a:ext cx="3060700" cy="6350"/>
          </a:xfrm>
          <a:prstGeom prst="rect">
            <a:avLst/>
          </a:prstGeom>
          <a:solidFill>
            <a:srgbClr val="DDD7CA"/>
          </a:solidFill>
          <a:ln>
            <a:noFill/>
          </a:ln>
        </p:spPr>
        <p:txBody>
          <a:bodyPr rtlCol="0" anchor="ctr"/>
          <a:lstStyle/>
          <a:p>
            <a:pPr algn="ctr"/>
          </a:p>
        </p:txBody>
      </p:sp>
      <p:sp>
        <p:nvSpPr>
          <p:cNvPr id="18" name="Text 17"/>
          <p:cNvSpPr txBox="1"/>
          <p:nvPr/>
        </p:nvSpPr>
        <p:spPr>
          <a:xfrm>
            <a:off x="8280777" y="295427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الأدوار والمسؤوليات</a:t>
            </a:r>
          </a:p>
        </p:txBody>
      </p:sp>
      <p:sp>
        <p:nvSpPr>
          <p:cNvPr id="19" name="Text 18"/>
          <p:cNvSpPr txBox="1"/>
          <p:nvPr/>
        </p:nvSpPr>
        <p:spPr>
          <a:xfrm>
            <a:off x="8147050" y="2954016"/>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A6461A"/>
                </a:solidFill>
                <a:latin typeface="IBM Plex Mono"/>
                <a:ea typeface="IBM Plex Mono"/>
                <a:cs typeface="IBM Plex Mono"/>
              </a:rPr>
              <a:t>‎1-4‎</a:t>
            </a:r>
          </a:p>
        </p:txBody>
      </p:sp>
      <p:sp>
        <p:nvSpPr>
          <p:cNvPr id="20" name="Rule 19"/>
          <p:cNvSpPr/>
          <p:nvPr/>
        </p:nvSpPr>
        <p:spPr>
          <a:xfrm>
            <a:off x="8147050" y="3217862"/>
            <a:ext cx="3060700" cy="6350"/>
          </a:xfrm>
          <a:prstGeom prst="rect">
            <a:avLst/>
          </a:prstGeom>
          <a:solidFill>
            <a:srgbClr val="DDD7CA"/>
          </a:solidFill>
          <a:ln>
            <a:noFill/>
          </a:ln>
        </p:spPr>
        <p:txBody>
          <a:bodyPr rtlCol="0" anchor="ctr"/>
          <a:lstStyle/>
          <a:p>
            <a:pPr algn="ctr"/>
          </a:p>
        </p:txBody>
      </p:sp>
      <p:sp>
        <p:nvSpPr>
          <p:cNvPr id="21" name="Text 20"/>
          <p:cNvSpPr txBox="1"/>
          <p:nvPr/>
        </p:nvSpPr>
        <p:spPr>
          <a:xfrm>
            <a:off x="8280777" y="324885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منهجية إدارة المخاطر</a:t>
            </a:r>
          </a:p>
        </p:txBody>
      </p:sp>
      <p:sp>
        <p:nvSpPr>
          <p:cNvPr id="22" name="Text 21"/>
          <p:cNvSpPr txBox="1"/>
          <p:nvPr/>
        </p:nvSpPr>
        <p:spPr>
          <a:xfrm>
            <a:off x="8147050" y="3248596"/>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A6461A"/>
                </a:solidFill>
                <a:latin typeface="IBM Plex Mono"/>
                <a:ea typeface="IBM Plex Mono"/>
                <a:cs typeface="IBM Plex Mono"/>
              </a:rPr>
              <a:t>‎1-5‎</a:t>
            </a:r>
          </a:p>
        </p:txBody>
      </p:sp>
      <p:sp>
        <p:nvSpPr>
          <p:cNvPr id="23" name="Rule 22"/>
          <p:cNvSpPr/>
          <p:nvPr/>
        </p:nvSpPr>
        <p:spPr>
          <a:xfrm>
            <a:off x="8147050" y="3512443"/>
            <a:ext cx="3060700" cy="6350"/>
          </a:xfrm>
          <a:prstGeom prst="rect">
            <a:avLst/>
          </a:prstGeom>
          <a:solidFill>
            <a:srgbClr val="DDD7CA"/>
          </a:solidFill>
          <a:ln>
            <a:noFill/>
          </a:ln>
        </p:spPr>
        <p:txBody>
          <a:bodyPr rtlCol="0" anchor="ctr"/>
          <a:lstStyle/>
          <a:p>
            <a:pPr algn="ctr"/>
          </a:p>
        </p:txBody>
      </p:sp>
      <p:sp>
        <p:nvSpPr>
          <p:cNvPr id="24" name="Text 23"/>
          <p:cNvSpPr txBox="1"/>
          <p:nvPr/>
        </p:nvSpPr>
        <p:spPr>
          <a:xfrm>
            <a:off x="8280777" y="354343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في المشاريع والتغيير</a:t>
            </a:r>
          </a:p>
        </p:txBody>
      </p:sp>
      <p:sp>
        <p:nvSpPr>
          <p:cNvPr id="25" name="Text 24"/>
          <p:cNvSpPr txBox="1"/>
          <p:nvPr/>
        </p:nvSpPr>
        <p:spPr>
          <a:xfrm>
            <a:off x="8147050" y="3543177"/>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A6461A"/>
                </a:solidFill>
                <a:latin typeface="IBM Plex Mono"/>
                <a:ea typeface="IBM Plex Mono"/>
                <a:cs typeface="IBM Plex Mono"/>
              </a:rPr>
              <a:t>‎1-6‎</a:t>
            </a:r>
          </a:p>
        </p:txBody>
      </p:sp>
      <p:sp>
        <p:nvSpPr>
          <p:cNvPr id="26" name="Rule 25"/>
          <p:cNvSpPr/>
          <p:nvPr/>
        </p:nvSpPr>
        <p:spPr>
          <a:xfrm>
            <a:off x="8147050" y="3807023"/>
            <a:ext cx="3060700" cy="6350"/>
          </a:xfrm>
          <a:prstGeom prst="rect">
            <a:avLst/>
          </a:prstGeom>
          <a:solidFill>
            <a:srgbClr val="DDD7CA"/>
          </a:solidFill>
          <a:ln>
            <a:noFill/>
          </a:ln>
        </p:spPr>
        <p:txBody>
          <a:bodyPr rtlCol="0" anchor="ctr"/>
          <a:lstStyle/>
          <a:p>
            <a:pPr algn="ctr"/>
          </a:p>
        </p:txBody>
      </p:sp>
      <p:sp>
        <p:nvSpPr>
          <p:cNvPr id="27" name="Text 26"/>
          <p:cNvSpPr txBox="1"/>
          <p:nvPr/>
        </p:nvSpPr>
        <p:spPr>
          <a:xfrm>
            <a:off x="8280777" y="383801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سجل الالتزامات</a:t>
            </a:r>
          </a:p>
        </p:txBody>
      </p:sp>
      <p:sp>
        <p:nvSpPr>
          <p:cNvPr id="28" name="Text 27"/>
          <p:cNvSpPr txBox="1"/>
          <p:nvPr/>
        </p:nvSpPr>
        <p:spPr>
          <a:xfrm>
            <a:off x="8147050" y="3837757"/>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A6461A"/>
                </a:solidFill>
                <a:latin typeface="IBM Plex Mono"/>
                <a:ea typeface="IBM Plex Mono"/>
                <a:cs typeface="IBM Plex Mono"/>
              </a:rPr>
              <a:t>‎1-7‎</a:t>
            </a:r>
          </a:p>
        </p:txBody>
      </p:sp>
      <p:sp>
        <p:nvSpPr>
          <p:cNvPr id="29" name="Rule 28"/>
          <p:cNvSpPr/>
          <p:nvPr/>
        </p:nvSpPr>
        <p:spPr>
          <a:xfrm>
            <a:off x="8147050" y="4101604"/>
            <a:ext cx="3060700" cy="6350"/>
          </a:xfrm>
          <a:prstGeom prst="rect">
            <a:avLst/>
          </a:prstGeom>
          <a:solidFill>
            <a:srgbClr val="DDD7CA"/>
          </a:solidFill>
          <a:ln>
            <a:noFill/>
          </a:ln>
        </p:spPr>
        <p:txBody>
          <a:bodyPr rtlCol="0" anchor="ctr"/>
          <a:lstStyle/>
          <a:p>
            <a:pPr algn="ctr"/>
          </a:p>
        </p:txBody>
      </p:sp>
      <p:sp>
        <p:nvSpPr>
          <p:cNvPr id="30" name="Text 29"/>
          <p:cNvSpPr txBox="1"/>
          <p:nvPr/>
        </p:nvSpPr>
        <p:spPr>
          <a:xfrm>
            <a:off x="8280777" y="4132592"/>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خطة المراجعة والتدقيق</a:t>
            </a:r>
          </a:p>
        </p:txBody>
      </p:sp>
      <p:sp>
        <p:nvSpPr>
          <p:cNvPr id="31" name="Text 30"/>
          <p:cNvSpPr txBox="1"/>
          <p:nvPr/>
        </p:nvSpPr>
        <p:spPr>
          <a:xfrm>
            <a:off x="8147050" y="4132338"/>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A6461A"/>
                </a:solidFill>
                <a:latin typeface="IBM Plex Mono"/>
                <a:ea typeface="IBM Plex Mono"/>
                <a:cs typeface="IBM Plex Mono"/>
              </a:rPr>
              <a:t>‎1-8‎</a:t>
            </a:r>
          </a:p>
        </p:txBody>
      </p:sp>
      <p:sp>
        <p:nvSpPr>
          <p:cNvPr id="32" name="Rule 31"/>
          <p:cNvSpPr/>
          <p:nvPr/>
        </p:nvSpPr>
        <p:spPr>
          <a:xfrm>
            <a:off x="8147050" y="4396184"/>
            <a:ext cx="3060700" cy="6350"/>
          </a:xfrm>
          <a:prstGeom prst="rect">
            <a:avLst/>
          </a:prstGeom>
          <a:solidFill>
            <a:srgbClr val="DDD7CA"/>
          </a:solidFill>
          <a:ln>
            <a:noFill/>
          </a:ln>
        </p:spPr>
        <p:txBody>
          <a:bodyPr rtlCol="0" anchor="ctr"/>
          <a:lstStyle/>
          <a:p>
            <a:pPr algn="ctr"/>
          </a:p>
        </p:txBody>
      </p:sp>
      <p:sp>
        <p:nvSpPr>
          <p:cNvPr id="33" name="Text 32"/>
          <p:cNvSpPr txBox="1"/>
          <p:nvPr/>
        </p:nvSpPr>
        <p:spPr>
          <a:xfrm>
            <a:off x="8280777" y="4427172"/>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أمن الموارد البشرية</a:t>
            </a:r>
          </a:p>
        </p:txBody>
      </p:sp>
      <p:sp>
        <p:nvSpPr>
          <p:cNvPr id="34" name="Text 33"/>
          <p:cNvSpPr txBox="1"/>
          <p:nvPr/>
        </p:nvSpPr>
        <p:spPr>
          <a:xfrm>
            <a:off x="8147050" y="4426918"/>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A6461A"/>
                </a:solidFill>
                <a:latin typeface="IBM Plex Mono"/>
                <a:ea typeface="IBM Plex Mono"/>
                <a:cs typeface="IBM Plex Mono"/>
              </a:rPr>
              <a:t>‎1-9‎</a:t>
            </a:r>
          </a:p>
        </p:txBody>
      </p:sp>
      <p:sp>
        <p:nvSpPr>
          <p:cNvPr id="35" name="Rule 34"/>
          <p:cNvSpPr/>
          <p:nvPr/>
        </p:nvSpPr>
        <p:spPr>
          <a:xfrm>
            <a:off x="8147050" y="4690765"/>
            <a:ext cx="3060700" cy="6350"/>
          </a:xfrm>
          <a:prstGeom prst="rect">
            <a:avLst/>
          </a:prstGeom>
          <a:solidFill>
            <a:srgbClr val="DDD7CA"/>
          </a:solidFill>
          <a:ln>
            <a:noFill/>
          </a:ln>
        </p:spPr>
        <p:txBody>
          <a:bodyPr rtlCol="0" anchor="ctr"/>
          <a:lstStyle/>
          <a:p>
            <a:pPr algn="ctr"/>
          </a:p>
        </p:txBody>
      </p:sp>
      <p:sp>
        <p:nvSpPr>
          <p:cNvPr id="36" name="Text 35"/>
          <p:cNvSpPr txBox="1"/>
          <p:nvPr/>
        </p:nvSpPr>
        <p:spPr>
          <a:xfrm>
            <a:off x="8379575" y="4721753"/>
            <a:ext cx="2828175"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برنامج التوعية والتدريب</a:t>
            </a:r>
          </a:p>
        </p:txBody>
      </p:sp>
      <p:sp>
        <p:nvSpPr>
          <p:cNvPr id="37" name="Text 36"/>
          <p:cNvSpPr txBox="1"/>
          <p:nvPr/>
        </p:nvSpPr>
        <p:spPr>
          <a:xfrm>
            <a:off x="8147050" y="4721499"/>
            <a:ext cx="36582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A6461A"/>
                </a:solidFill>
                <a:latin typeface="IBM Plex Mono"/>
                <a:ea typeface="IBM Plex Mono"/>
                <a:cs typeface="IBM Plex Mono"/>
              </a:rPr>
              <a:t>‎1-10‎</a:t>
            </a:r>
          </a:p>
        </p:txBody>
      </p:sp>
      <p:sp>
        <p:nvSpPr>
          <p:cNvPr id="38" name="Box 37"/>
          <p:cNvSpPr/>
          <p:nvPr/>
        </p:nvSpPr>
        <p:spPr>
          <a:xfrm>
            <a:off x="4394200" y="1852811"/>
            <a:ext cx="3403600" cy="2689423"/>
          </a:xfrm>
          <a:prstGeom prst="roundRect">
            <a:avLst>
              <a:gd name="adj" fmla="val 3777"/>
            </a:avLst>
          </a:prstGeom>
          <a:solidFill>
            <a:srgbClr val="FCFBF8"/>
          </a:solidFill>
          <a:ln>
            <a:noFill/>
          </a:ln>
        </p:spPr>
        <p:txBody>
          <a:bodyPr rtlCol="0" anchor="ctr"/>
          <a:lstStyle/>
          <a:p>
            <a:pPr algn="ctr"/>
          </a:p>
        </p:txBody>
      </p:sp>
      <p:sp>
        <p:nvSpPr>
          <p:cNvPr id="39" name="Rule 38"/>
          <p:cNvSpPr/>
          <p:nvPr/>
        </p:nvSpPr>
        <p:spPr>
          <a:xfrm>
            <a:off x="4394200" y="1852811"/>
            <a:ext cx="3403600" cy="38100"/>
          </a:xfrm>
          <a:prstGeom prst="rect">
            <a:avLst/>
          </a:prstGeom>
          <a:solidFill>
            <a:srgbClr val="1D5B9E"/>
          </a:solidFill>
          <a:ln>
            <a:noFill/>
          </a:ln>
        </p:spPr>
        <p:txBody>
          <a:bodyPr rtlCol="0" anchor="ctr"/>
          <a:lstStyle/>
          <a:p>
            <a:pPr algn="ctr"/>
          </a:p>
        </p:txBody>
      </p:sp>
      <p:sp>
        <p:nvSpPr>
          <p:cNvPr id="40" name="Rule 39"/>
          <p:cNvSpPr/>
          <p:nvPr/>
        </p:nvSpPr>
        <p:spPr>
          <a:xfrm>
            <a:off x="7791450" y="1852811"/>
            <a:ext cx="6350" cy="2689423"/>
          </a:xfrm>
          <a:prstGeom prst="rect">
            <a:avLst/>
          </a:prstGeom>
          <a:solidFill>
            <a:srgbClr val="DDD7CA"/>
          </a:solidFill>
          <a:ln>
            <a:noFill/>
          </a:ln>
        </p:spPr>
        <p:txBody>
          <a:bodyPr rtlCol="0" anchor="ctr"/>
          <a:lstStyle/>
          <a:p>
            <a:pPr algn="ctr"/>
          </a:p>
        </p:txBody>
      </p:sp>
      <p:sp>
        <p:nvSpPr>
          <p:cNvPr id="41" name="Rule 40"/>
          <p:cNvSpPr/>
          <p:nvPr/>
        </p:nvSpPr>
        <p:spPr>
          <a:xfrm>
            <a:off x="4394200" y="4535884"/>
            <a:ext cx="3403600" cy="6350"/>
          </a:xfrm>
          <a:prstGeom prst="rect">
            <a:avLst/>
          </a:prstGeom>
          <a:solidFill>
            <a:srgbClr val="DDD7CA"/>
          </a:solidFill>
          <a:ln>
            <a:noFill/>
          </a:ln>
        </p:spPr>
        <p:txBody>
          <a:bodyPr rtlCol="0" anchor="ctr"/>
          <a:lstStyle/>
          <a:p>
            <a:pPr algn="ctr"/>
          </a:p>
        </p:txBody>
      </p:sp>
      <p:sp>
        <p:nvSpPr>
          <p:cNvPr id="42" name="Rule 41"/>
          <p:cNvSpPr/>
          <p:nvPr/>
        </p:nvSpPr>
        <p:spPr>
          <a:xfrm>
            <a:off x="4394200" y="1852811"/>
            <a:ext cx="6350" cy="2689423"/>
          </a:xfrm>
          <a:prstGeom prst="rect">
            <a:avLst/>
          </a:prstGeom>
          <a:solidFill>
            <a:srgbClr val="DDD7CA"/>
          </a:solidFill>
          <a:ln>
            <a:noFill/>
          </a:ln>
        </p:spPr>
        <p:txBody>
          <a:bodyPr rtlCol="0" anchor="ctr"/>
          <a:lstStyle/>
          <a:p>
            <a:pPr algn="ctr"/>
          </a:p>
        </p:txBody>
      </p:sp>
      <p:sp>
        <p:nvSpPr>
          <p:cNvPr id="43" name="Text 42"/>
          <p:cNvSpPr txBox="1"/>
          <p:nvPr/>
        </p:nvSpPr>
        <p:spPr>
          <a:xfrm>
            <a:off x="4419600" y="2011675"/>
            <a:ext cx="3206750" cy="303510"/>
          </a:xfrm>
          <a:prstGeom prst="rect">
            <a:avLst/>
          </a:prstGeom>
          <a:noFill/>
        </p:spPr>
        <p:txBody>
          <a:bodyPr wrap="square" tIns="0" rIns="0" bIns="63500" lIns="0" anchor="t" rtlCol="0" anchorCtr="0">
            <a:noAutofit/>
          </a:bodyPr>
          <a:lstStyle/>
          <a:p>
            <a:pPr algn="r" rtl="1">
              <a:lnSpc>
                <a:spcPts val="1889"/>
              </a:lnSpc>
              <a:spcBef>
                <a:spcPts val="0"/>
              </a:spcBef>
              <a:spcAft>
                <a:spcPts val="0"/>
              </a:spcAft>
            </a:pPr>
            <a:r>
              <a:rPr sz="1400" b="1" i="0">
                <a:solidFill>
                  <a:srgbClr val="1D5B9E"/>
                </a:solidFill>
                <a:latin typeface="Alexandria"/>
                <a:ea typeface="Alexandria"/>
                <a:cs typeface="Alexandria"/>
              </a:rPr>
              <a:t>التعزيز (1)</a:t>
            </a:r>
          </a:p>
        </p:txBody>
      </p:sp>
      <p:sp>
        <p:nvSpPr>
          <p:cNvPr id="44" name="Rule 43"/>
          <p:cNvSpPr/>
          <p:nvPr/>
        </p:nvSpPr>
        <p:spPr>
          <a:xfrm>
            <a:off x="4565650" y="2334121"/>
            <a:ext cx="3060700" cy="6350"/>
          </a:xfrm>
          <a:prstGeom prst="rect">
            <a:avLst/>
          </a:prstGeom>
          <a:solidFill>
            <a:srgbClr val="DDD7CA"/>
          </a:solidFill>
          <a:ln>
            <a:noFill/>
          </a:ln>
        </p:spPr>
        <p:txBody>
          <a:bodyPr rtlCol="0" anchor="ctr"/>
          <a:lstStyle/>
          <a:p>
            <a:pPr algn="ctr"/>
          </a:p>
        </p:txBody>
      </p:sp>
      <p:sp>
        <p:nvSpPr>
          <p:cNvPr id="45" name="Text 44"/>
          <p:cNvSpPr txBox="1"/>
          <p:nvPr/>
        </p:nvSpPr>
        <p:spPr>
          <a:xfrm>
            <a:off x="4699377" y="2365109"/>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الأصول والاستخدام المقبول والتصنيف</a:t>
            </a:r>
          </a:p>
        </p:txBody>
      </p:sp>
      <p:sp>
        <p:nvSpPr>
          <p:cNvPr id="46" name="Text 45"/>
          <p:cNvSpPr txBox="1"/>
          <p:nvPr/>
        </p:nvSpPr>
        <p:spPr>
          <a:xfrm>
            <a:off x="4565650" y="2364855"/>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D5B9E"/>
                </a:solidFill>
                <a:latin typeface="IBM Plex Mono"/>
                <a:ea typeface="IBM Plex Mono"/>
                <a:cs typeface="IBM Plex Mono"/>
              </a:rPr>
              <a:t>‎2-1‎</a:t>
            </a:r>
          </a:p>
        </p:txBody>
      </p:sp>
      <p:sp>
        <p:nvSpPr>
          <p:cNvPr id="47" name="Rule 46"/>
          <p:cNvSpPr/>
          <p:nvPr/>
        </p:nvSpPr>
        <p:spPr>
          <a:xfrm>
            <a:off x="4565650" y="2628702"/>
            <a:ext cx="3060700" cy="6350"/>
          </a:xfrm>
          <a:prstGeom prst="rect">
            <a:avLst/>
          </a:prstGeom>
          <a:solidFill>
            <a:srgbClr val="DDD7CA"/>
          </a:solidFill>
          <a:ln>
            <a:noFill/>
          </a:ln>
        </p:spPr>
        <p:txBody>
          <a:bodyPr rtlCol="0" anchor="ctr"/>
          <a:lstStyle/>
          <a:p>
            <a:pPr algn="ctr"/>
          </a:p>
        </p:txBody>
      </p:sp>
      <p:sp>
        <p:nvSpPr>
          <p:cNvPr id="48" name="Text 47"/>
          <p:cNvSpPr txBox="1"/>
          <p:nvPr/>
        </p:nvSpPr>
        <p:spPr>
          <a:xfrm>
            <a:off x="4699377" y="265969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الهويات والصلاحيات</a:t>
            </a:r>
          </a:p>
        </p:txBody>
      </p:sp>
      <p:sp>
        <p:nvSpPr>
          <p:cNvPr id="49" name="Text 48"/>
          <p:cNvSpPr txBox="1"/>
          <p:nvPr/>
        </p:nvSpPr>
        <p:spPr>
          <a:xfrm>
            <a:off x="4565650" y="2659436"/>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D5B9E"/>
                </a:solidFill>
                <a:latin typeface="IBM Plex Mono"/>
                <a:ea typeface="IBM Plex Mono"/>
                <a:cs typeface="IBM Plex Mono"/>
              </a:rPr>
              <a:t>‎2-2‎</a:t>
            </a:r>
          </a:p>
        </p:txBody>
      </p:sp>
      <p:sp>
        <p:nvSpPr>
          <p:cNvPr id="50" name="Rule 49"/>
          <p:cNvSpPr/>
          <p:nvPr/>
        </p:nvSpPr>
        <p:spPr>
          <a:xfrm>
            <a:off x="4565650" y="2923282"/>
            <a:ext cx="3060700" cy="6350"/>
          </a:xfrm>
          <a:prstGeom prst="rect">
            <a:avLst/>
          </a:prstGeom>
          <a:solidFill>
            <a:srgbClr val="DDD7CA"/>
          </a:solidFill>
          <a:ln>
            <a:noFill/>
          </a:ln>
        </p:spPr>
        <p:txBody>
          <a:bodyPr rtlCol="0" anchor="ctr"/>
          <a:lstStyle/>
          <a:p>
            <a:pPr algn="ctr"/>
          </a:p>
        </p:txBody>
      </p:sp>
      <p:sp>
        <p:nvSpPr>
          <p:cNvPr id="51" name="Text 50"/>
          <p:cNvSpPr txBox="1"/>
          <p:nvPr/>
        </p:nvSpPr>
        <p:spPr>
          <a:xfrm>
            <a:off x="4699377" y="295427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الأنظمة ومعايير التقوية</a:t>
            </a:r>
          </a:p>
        </p:txBody>
      </p:sp>
      <p:sp>
        <p:nvSpPr>
          <p:cNvPr id="52" name="Text 51"/>
          <p:cNvSpPr txBox="1"/>
          <p:nvPr/>
        </p:nvSpPr>
        <p:spPr>
          <a:xfrm>
            <a:off x="4565650" y="2954016"/>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D5B9E"/>
                </a:solidFill>
                <a:latin typeface="IBM Plex Mono"/>
                <a:ea typeface="IBM Plex Mono"/>
                <a:cs typeface="IBM Plex Mono"/>
              </a:rPr>
              <a:t>‎2-3‎</a:t>
            </a:r>
          </a:p>
        </p:txBody>
      </p:sp>
      <p:sp>
        <p:nvSpPr>
          <p:cNvPr id="53" name="Rule 52"/>
          <p:cNvSpPr/>
          <p:nvPr/>
        </p:nvSpPr>
        <p:spPr>
          <a:xfrm>
            <a:off x="4565650" y="3217862"/>
            <a:ext cx="3060700" cy="6350"/>
          </a:xfrm>
          <a:prstGeom prst="rect">
            <a:avLst/>
          </a:prstGeom>
          <a:solidFill>
            <a:srgbClr val="DDD7CA"/>
          </a:solidFill>
          <a:ln>
            <a:noFill/>
          </a:ln>
        </p:spPr>
        <p:txBody>
          <a:bodyPr rtlCol="0" anchor="ctr"/>
          <a:lstStyle/>
          <a:p>
            <a:pPr algn="ctr"/>
          </a:p>
        </p:txBody>
      </p:sp>
      <p:sp>
        <p:nvSpPr>
          <p:cNvPr id="54" name="Text 53"/>
          <p:cNvSpPr txBox="1"/>
          <p:nvPr/>
        </p:nvSpPr>
        <p:spPr>
          <a:xfrm>
            <a:off x="4699377" y="3248850"/>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البريد الإلكتروني</a:t>
            </a:r>
          </a:p>
        </p:txBody>
      </p:sp>
      <p:sp>
        <p:nvSpPr>
          <p:cNvPr id="55" name="Text 54"/>
          <p:cNvSpPr txBox="1"/>
          <p:nvPr/>
        </p:nvSpPr>
        <p:spPr>
          <a:xfrm>
            <a:off x="4565650" y="3248596"/>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D5B9E"/>
                </a:solidFill>
                <a:latin typeface="IBM Plex Mono"/>
                <a:ea typeface="IBM Plex Mono"/>
                <a:cs typeface="IBM Plex Mono"/>
              </a:rPr>
              <a:t>‎2-4‎</a:t>
            </a:r>
          </a:p>
        </p:txBody>
      </p:sp>
      <p:sp>
        <p:nvSpPr>
          <p:cNvPr id="56" name="Rule 55"/>
          <p:cNvSpPr/>
          <p:nvPr/>
        </p:nvSpPr>
        <p:spPr>
          <a:xfrm>
            <a:off x="4565650" y="3512443"/>
            <a:ext cx="3060700" cy="6350"/>
          </a:xfrm>
          <a:prstGeom prst="rect">
            <a:avLst/>
          </a:prstGeom>
          <a:solidFill>
            <a:srgbClr val="DDD7CA"/>
          </a:solidFill>
          <a:ln>
            <a:noFill/>
          </a:ln>
        </p:spPr>
        <p:txBody>
          <a:bodyPr rtlCol="0" anchor="ctr"/>
          <a:lstStyle/>
          <a:p>
            <a:pPr algn="ctr"/>
          </a:p>
        </p:txBody>
      </p:sp>
      <p:sp>
        <p:nvSpPr>
          <p:cNvPr id="57" name="Text 56"/>
          <p:cNvSpPr txBox="1"/>
          <p:nvPr/>
        </p:nvSpPr>
        <p:spPr>
          <a:xfrm>
            <a:off x="4699377" y="354343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أمن الشبكات</a:t>
            </a:r>
          </a:p>
        </p:txBody>
      </p:sp>
      <p:sp>
        <p:nvSpPr>
          <p:cNvPr id="58" name="Text 57"/>
          <p:cNvSpPr txBox="1"/>
          <p:nvPr/>
        </p:nvSpPr>
        <p:spPr>
          <a:xfrm>
            <a:off x="4565650" y="3543177"/>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D5B9E"/>
                </a:solidFill>
                <a:latin typeface="IBM Plex Mono"/>
                <a:ea typeface="IBM Plex Mono"/>
                <a:cs typeface="IBM Plex Mono"/>
              </a:rPr>
              <a:t>‎2-5‎</a:t>
            </a:r>
          </a:p>
        </p:txBody>
      </p:sp>
      <p:sp>
        <p:nvSpPr>
          <p:cNvPr id="59" name="Rule 58"/>
          <p:cNvSpPr/>
          <p:nvPr/>
        </p:nvSpPr>
        <p:spPr>
          <a:xfrm>
            <a:off x="4565650" y="3807023"/>
            <a:ext cx="3060700" cy="6350"/>
          </a:xfrm>
          <a:prstGeom prst="rect">
            <a:avLst/>
          </a:prstGeom>
          <a:solidFill>
            <a:srgbClr val="DDD7CA"/>
          </a:solidFill>
          <a:ln>
            <a:noFill/>
          </a:ln>
        </p:spPr>
        <p:txBody>
          <a:bodyPr rtlCol="0" anchor="ctr"/>
          <a:lstStyle/>
          <a:p>
            <a:pPr algn="ctr"/>
          </a:p>
        </p:txBody>
      </p:sp>
      <p:sp>
        <p:nvSpPr>
          <p:cNvPr id="60" name="Text 59"/>
          <p:cNvSpPr txBox="1"/>
          <p:nvPr/>
        </p:nvSpPr>
        <p:spPr>
          <a:xfrm>
            <a:off x="4699377" y="383801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الأجهزة المحمولة</a:t>
            </a:r>
          </a:p>
        </p:txBody>
      </p:sp>
      <p:sp>
        <p:nvSpPr>
          <p:cNvPr id="61" name="Text 60"/>
          <p:cNvSpPr txBox="1"/>
          <p:nvPr/>
        </p:nvSpPr>
        <p:spPr>
          <a:xfrm>
            <a:off x="4565650" y="3837757"/>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D5B9E"/>
                </a:solidFill>
                <a:latin typeface="IBM Plex Mono"/>
                <a:ea typeface="IBM Plex Mono"/>
                <a:cs typeface="IBM Plex Mono"/>
              </a:rPr>
              <a:t>‎2-6‎</a:t>
            </a:r>
          </a:p>
        </p:txBody>
      </p:sp>
      <p:sp>
        <p:nvSpPr>
          <p:cNvPr id="62" name="Rule 61"/>
          <p:cNvSpPr/>
          <p:nvPr/>
        </p:nvSpPr>
        <p:spPr>
          <a:xfrm>
            <a:off x="4565650" y="4101604"/>
            <a:ext cx="3060700" cy="6350"/>
          </a:xfrm>
          <a:prstGeom prst="rect">
            <a:avLst/>
          </a:prstGeom>
          <a:solidFill>
            <a:srgbClr val="DDD7CA"/>
          </a:solidFill>
          <a:ln>
            <a:noFill/>
          </a:ln>
        </p:spPr>
        <p:txBody>
          <a:bodyPr rtlCol="0" anchor="ctr"/>
          <a:lstStyle/>
          <a:p>
            <a:pPr algn="ctr"/>
          </a:p>
        </p:txBody>
      </p:sp>
      <p:sp>
        <p:nvSpPr>
          <p:cNvPr id="63" name="Text 62"/>
          <p:cNvSpPr txBox="1"/>
          <p:nvPr/>
        </p:nvSpPr>
        <p:spPr>
          <a:xfrm>
            <a:off x="5172686" y="4132592"/>
            <a:ext cx="2453664"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البيانات والتشفير</a:t>
            </a:r>
          </a:p>
        </p:txBody>
      </p:sp>
      <p:sp>
        <p:nvSpPr>
          <p:cNvPr id="64" name="Text 63"/>
          <p:cNvSpPr txBox="1"/>
          <p:nvPr/>
        </p:nvSpPr>
        <p:spPr>
          <a:xfrm>
            <a:off x="4565650" y="4132338"/>
            <a:ext cx="712589"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1D5B9E"/>
                </a:solidFill>
                <a:latin typeface="IBM Plex Mono"/>
                <a:ea typeface="IBM Plex Mono"/>
                <a:cs typeface="IBM Plex Sans Arabic"/>
              </a:rPr>
              <a:t>‎2-7‎ و‎2-8‎</a:t>
            </a:r>
          </a:p>
        </p:txBody>
      </p:sp>
      <p:sp>
        <p:nvSpPr>
          <p:cNvPr id="65" name="Box 64"/>
          <p:cNvSpPr/>
          <p:nvPr/>
        </p:nvSpPr>
        <p:spPr>
          <a:xfrm>
            <a:off x="812800" y="1852811"/>
            <a:ext cx="3403600" cy="2689423"/>
          </a:xfrm>
          <a:prstGeom prst="roundRect">
            <a:avLst>
              <a:gd name="adj" fmla="val 3777"/>
            </a:avLst>
          </a:prstGeom>
          <a:solidFill>
            <a:srgbClr val="FCFBF8"/>
          </a:solidFill>
          <a:ln>
            <a:noFill/>
          </a:ln>
        </p:spPr>
        <p:txBody>
          <a:bodyPr rtlCol="0" anchor="ctr"/>
          <a:lstStyle/>
          <a:p>
            <a:pPr algn="ctr"/>
          </a:p>
        </p:txBody>
      </p:sp>
      <p:sp>
        <p:nvSpPr>
          <p:cNvPr id="66" name="Rule 65"/>
          <p:cNvSpPr/>
          <p:nvPr/>
        </p:nvSpPr>
        <p:spPr>
          <a:xfrm>
            <a:off x="812800" y="1852811"/>
            <a:ext cx="3403600" cy="38100"/>
          </a:xfrm>
          <a:prstGeom prst="rect">
            <a:avLst/>
          </a:prstGeom>
          <a:solidFill>
            <a:srgbClr val="8A6100"/>
          </a:solidFill>
          <a:ln>
            <a:noFill/>
          </a:ln>
        </p:spPr>
        <p:txBody>
          <a:bodyPr rtlCol="0" anchor="ctr"/>
          <a:lstStyle/>
          <a:p>
            <a:pPr algn="ctr"/>
          </a:p>
        </p:txBody>
      </p:sp>
      <p:sp>
        <p:nvSpPr>
          <p:cNvPr id="67" name="Rule 66"/>
          <p:cNvSpPr/>
          <p:nvPr/>
        </p:nvSpPr>
        <p:spPr>
          <a:xfrm>
            <a:off x="4210050" y="1852811"/>
            <a:ext cx="6350" cy="2689423"/>
          </a:xfrm>
          <a:prstGeom prst="rect">
            <a:avLst/>
          </a:prstGeom>
          <a:solidFill>
            <a:srgbClr val="DDD7CA"/>
          </a:solidFill>
          <a:ln>
            <a:noFill/>
          </a:ln>
        </p:spPr>
        <p:txBody>
          <a:bodyPr rtlCol="0" anchor="ctr"/>
          <a:lstStyle/>
          <a:p>
            <a:pPr algn="ctr"/>
          </a:p>
        </p:txBody>
      </p:sp>
      <p:sp>
        <p:nvSpPr>
          <p:cNvPr id="68" name="Rule 67"/>
          <p:cNvSpPr/>
          <p:nvPr/>
        </p:nvSpPr>
        <p:spPr>
          <a:xfrm>
            <a:off x="812800" y="4535884"/>
            <a:ext cx="3403600" cy="6350"/>
          </a:xfrm>
          <a:prstGeom prst="rect">
            <a:avLst/>
          </a:prstGeom>
          <a:solidFill>
            <a:srgbClr val="DDD7CA"/>
          </a:solidFill>
          <a:ln>
            <a:noFill/>
          </a:ln>
        </p:spPr>
        <p:txBody>
          <a:bodyPr rtlCol="0" anchor="ctr"/>
          <a:lstStyle/>
          <a:p>
            <a:pPr algn="ctr"/>
          </a:p>
        </p:txBody>
      </p:sp>
      <p:sp>
        <p:nvSpPr>
          <p:cNvPr id="69" name="Rule 68"/>
          <p:cNvSpPr/>
          <p:nvPr/>
        </p:nvSpPr>
        <p:spPr>
          <a:xfrm>
            <a:off x="812800" y="1852811"/>
            <a:ext cx="6350" cy="2689423"/>
          </a:xfrm>
          <a:prstGeom prst="rect">
            <a:avLst/>
          </a:prstGeom>
          <a:solidFill>
            <a:srgbClr val="DDD7CA"/>
          </a:solidFill>
          <a:ln>
            <a:noFill/>
          </a:ln>
        </p:spPr>
        <p:txBody>
          <a:bodyPr rtlCol="0" anchor="ctr"/>
          <a:lstStyle/>
          <a:p>
            <a:pPr algn="ctr"/>
          </a:p>
        </p:txBody>
      </p:sp>
      <p:sp>
        <p:nvSpPr>
          <p:cNvPr id="70" name="Text 69"/>
          <p:cNvSpPr txBox="1"/>
          <p:nvPr/>
        </p:nvSpPr>
        <p:spPr>
          <a:xfrm>
            <a:off x="838200" y="2011675"/>
            <a:ext cx="3206750" cy="303510"/>
          </a:xfrm>
          <a:prstGeom prst="rect">
            <a:avLst/>
          </a:prstGeom>
          <a:noFill/>
        </p:spPr>
        <p:txBody>
          <a:bodyPr wrap="square" tIns="0" rIns="0" bIns="63500" lIns="0" anchor="t" rtlCol="0" anchorCtr="0">
            <a:noAutofit/>
          </a:bodyPr>
          <a:lstStyle/>
          <a:p>
            <a:pPr algn="r" rtl="1">
              <a:lnSpc>
                <a:spcPts val="1889"/>
              </a:lnSpc>
              <a:spcBef>
                <a:spcPts val="0"/>
              </a:spcBef>
              <a:spcAft>
                <a:spcPts val="0"/>
              </a:spcAft>
            </a:pPr>
            <a:r>
              <a:rPr sz="1400" b="1" i="0">
                <a:solidFill>
                  <a:srgbClr val="8A6100"/>
                </a:solidFill>
                <a:latin typeface="Alexandria"/>
                <a:ea typeface="Alexandria"/>
                <a:cs typeface="Alexandria"/>
              </a:rPr>
              <a:t>التعزيز (2) والصمود والأطراف</a:t>
            </a:r>
          </a:p>
        </p:txBody>
      </p:sp>
      <p:sp>
        <p:nvSpPr>
          <p:cNvPr id="71" name="Rule 70"/>
          <p:cNvSpPr/>
          <p:nvPr/>
        </p:nvSpPr>
        <p:spPr>
          <a:xfrm>
            <a:off x="984250" y="2334121"/>
            <a:ext cx="3060700" cy="6350"/>
          </a:xfrm>
          <a:prstGeom prst="rect">
            <a:avLst/>
          </a:prstGeom>
          <a:solidFill>
            <a:srgbClr val="DDD7CA"/>
          </a:solidFill>
          <a:ln>
            <a:noFill/>
          </a:ln>
        </p:spPr>
        <p:txBody>
          <a:bodyPr rtlCol="0" anchor="ctr"/>
          <a:lstStyle/>
          <a:p>
            <a:pPr algn="ctr"/>
          </a:p>
        </p:txBody>
      </p:sp>
      <p:sp>
        <p:nvSpPr>
          <p:cNvPr id="72" name="Text 71"/>
          <p:cNvSpPr txBox="1"/>
          <p:nvPr/>
        </p:nvSpPr>
        <p:spPr>
          <a:xfrm>
            <a:off x="1117977" y="2365109"/>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النسخ الاحتياطية</a:t>
            </a:r>
          </a:p>
        </p:txBody>
      </p:sp>
      <p:sp>
        <p:nvSpPr>
          <p:cNvPr id="73" name="Text 72"/>
          <p:cNvSpPr txBox="1"/>
          <p:nvPr/>
        </p:nvSpPr>
        <p:spPr>
          <a:xfrm>
            <a:off x="984250" y="2364855"/>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Mono"/>
              </a:rPr>
              <a:t>‎2-9‎</a:t>
            </a:r>
          </a:p>
        </p:txBody>
      </p:sp>
      <p:sp>
        <p:nvSpPr>
          <p:cNvPr id="74" name="Rule 73"/>
          <p:cNvSpPr/>
          <p:nvPr/>
        </p:nvSpPr>
        <p:spPr>
          <a:xfrm>
            <a:off x="984250" y="2628702"/>
            <a:ext cx="3060700" cy="6350"/>
          </a:xfrm>
          <a:prstGeom prst="rect">
            <a:avLst/>
          </a:prstGeom>
          <a:solidFill>
            <a:srgbClr val="DDD7CA"/>
          </a:solidFill>
          <a:ln>
            <a:noFill/>
          </a:ln>
        </p:spPr>
        <p:txBody>
          <a:bodyPr rtlCol="0" anchor="ctr"/>
          <a:lstStyle/>
          <a:p>
            <a:pPr algn="ctr"/>
          </a:p>
        </p:txBody>
      </p:sp>
      <p:sp>
        <p:nvSpPr>
          <p:cNvPr id="75" name="Text 74"/>
          <p:cNvSpPr txBox="1"/>
          <p:nvPr/>
        </p:nvSpPr>
        <p:spPr>
          <a:xfrm>
            <a:off x="1788882" y="2659690"/>
            <a:ext cx="225606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الثغرات واختبار الاختراق</a:t>
            </a:r>
          </a:p>
        </p:txBody>
      </p:sp>
      <p:sp>
        <p:nvSpPr>
          <p:cNvPr id="76" name="Text 75"/>
          <p:cNvSpPr txBox="1"/>
          <p:nvPr/>
        </p:nvSpPr>
        <p:spPr>
          <a:xfrm>
            <a:off x="984250" y="2659436"/>
            <a:ext cx="89554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Sans Arabic"/>
              </a:rPr>
              <a:t>‎2-10‎ و‎2-11‎</a:t>
            </a:r>
          </a:p>
        </p:txBody>
      </p:sp>
      <p:sp>
        <p:nvSpPr>
          <p:cNvPr id="77" name="Rule 76"/>
          <p:cNvSpPr/>
          <p:nvPr/>
        </p:nvSpPr>
        <p:spPr>
          <a:xfrm>
            <a:off x="984250" y="2923282"/>
            <a:ext cx="3060700" cy="6350"/>
          </a:xfrm>
          <a:prstGeom prst="rect">
            <a:avLst/>
          </a:prstGeom>
          <a:solidFill>
            <a:srgbClr val="DDD7CA"/>
          </a:solidFill>
          <a:ln>
            <a:noFill/>
          </a:ln>
        </p:spPr>
        <p:txBody>
          <a:bodyPr rtlCol="0" anchor="ctr"/>
          <a:lstStyle/>
          <a:p>
            <a:pPr algn="ctr"/>
          </a:p>
        </p:txBody>
      </p:sp>
      <p:sp>
        <p:nvSpPr>
          <p:cNvPr id="78" name="Text 77"/>
          <p:cNvSpPr txBox="1"/>
          <p:nvPr/>
        </p:nvSpPr>
        <p:spPr>
          <a:xfrm>
            <a:off x="1216775" y="2954270"/>
            <a:ext cx="2828175"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السجلات والمراقبة</a:t>
            </a:r>
          </a:p>
        </p:txBody>
      </p:sp>
      <p:sp>
        <p:nvSpPr>
          <p:cNvPr id="79" name="Text 78"/>
          <p:cNvSpPr txBox="1"/>
          <p:nvPr/>
        </p:nvSpPr>
        <p:spPr>
          <a:xfrm>
            <a:off x="984250" y="2954016"/>
            <a:ext cx="36582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Mono"/>
              </a:rPr>
              <a:t>‎2-12‎</a:t>
            </a:r>
          </a:p>
        </p:txBody>
      </p:sp>
      <p:sp>
        <p:nvSpPr>
          <p:cNvPr id="80" name="Rule 79"/>
          <p:cNvSpPr/>
          <p:nvPr/>
        </p:nvSpPr>
        <p:spPr>
          <a:xfrm>
            <a:off x="984250" y="3217862"/>
            <a:ext cx="3060700" cy="6350"/>
          </a:xfrm>
          <a:prstGeom prst="rect">
            <a:avLst/>
          </a:prstGeom>
          <a:solidFill>
            <a:srgbClr val="DDD7CA"/>
          </a:solidFill>
          <a:ln>
            <a:noFill/>
          </a:ln>
        </p:spPr>
        <p:txBody>
          <a:bodyPr rtlCol="0" anchor="ctr"/>
          <a:lstStyle/>
          <a:p>
            <a:pPr algn="ctr"/>
          </a:p>
        </p:txBody>
      </p:sp>
      <p:sp>
        <p:nvSpPr>
          <p:cNvPr id="81" name="Text 80"/>
          <p:cNvSpPr txBox="1"/>
          <p:nvPr/>
        </p:nvSpPr>
        <p:spPr>
          <a:xfrm>
            <a:off x="1216775" y="3248850"/>
            <a:ext cx="2828175"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الحوادث والتهديدات</a:t>
            </a:r>
          </a:p>
        </p:txBody>
      </p:sp>
      <p:sp>
        <p:nvSpPr>
          <p:cNvPr id="82" name="Text 81"/>
          <p:cNvSpPr txBox="1"/>
          <p:nvPr/>
        </p:nvSpPr>
        <p:spPr>
          <a:xfrm>
            <a:off x="984250" y="3248596"/>
            <a:ext cx="36582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Mono"/>
              </a:rPr>
              <a:t>‎2-13‎</a:t>
            </a:r>
          </a:p>
        </p:txBody>
      </p:sp>
      <p:sp>
        <p:nvSpPr>
          <p:cNvPr id="83" name="Rule 82"/>
          <p:cNvSpPr/>
          <p:nvPr/>
        </p:nvSpPr>
        <p:spPr>
          <a:xfrm>
            <a:off x="984250" y="3512443"/>
            <a:ext cx="3060700" cy="6350"/>
          </a:xfrm>
          <a:prstGeom prst="rect">
            <a:avLst/>
          </a:prstGeom>
          <a:solidFill>
            <a:srgbClr val="DDD7CA"/>
          </a:solidFill>
          <a:ln>
            <a:noFill/>
          </a:ln>
        </p:spPr>
        <p:txBody>
          <a:bodyPr rtlCol="0" anchor="ctr"/>
          <a:lstStyle/>
          <a:p>
            <a:pPr algn="ctr"/>
          </a:p>
        </p:txBody>
      </p:sp>
      <p:sp>
        <p:nvSpPr>
          <p:cNvPr id="84" name="Text 83"/>
          <p:cNvSpPr txBox="1"/>
          <p:nvPr/>
        </p:nvSpPr>
        <p:spPr>
          <a:xfrm>
            <a:off x="1788882" y="3543431"/>
            <a:ext cx="225606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الأمن المادي وتطبيقات الويب</a:t>
            </a:r>
          </a:p>
        </p:txBody>
      </p:sp>
      <p:sp>
        <p:nvSpPr>
          <p:cNvPr id="85" name="Text 84"/>
          <p:cNvSpPr txBox="1"/>
          <p:nvPr/>
        </p:nvSpPr>
        <p:spPr>
          <a:xfrm>
            <a:off x="984250" y="3543177"/>
            <a:ext cx="895548"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Sans Arabic"/>
              </a:rPr>
              <a:t>‎2-14‎ و‎2-15‎</a:t>
            </a:r>
          </a:p>
        </p:txBody>
      </p:sp>
      <p:sp>
        <p:nvSpPr>
          <p:cNvPr id="86" name="Rule 85"/>
          <p:cNvSpPr/>
          <p:nvPr/>
        </p:nvSpPr>
        <p:spPr>
          <a:xfrm>
            <a:off x="984250" y="3807023"/>
            <a:ext cx="3060700" cy="6350"/>
          </a:xfrm>
          <a:prstGeom prst="rect">
            <a:avLst/>
          </a:prstGeom>
          <a:solidFill>
            <a:srgbClr val="DDD7CA"/>
          </a:solidFill>
          <a:ln>
            <a:noFill/>
          </a:ln>
        </p:spPr>
        <p:txBody>
          <a:bodyPr rtlCol="0" anchor="ctr"/>
          <a:lstStyle/>
          <a:p>
            <a:pPr algn="ctr"/>
          </a:p>
        </p:txBody>
      </p:sp>
      <p:sp>
        <p:nvSpPr>
          <p:cNvPr id="87" name="Text 86"/>
          <p:cNvSpPr txBox="1"/>
          <p:nvPr/>
        </p:nvSpPr>
        <p:spPr>
          <a:xfrm>
            <a:off x="1117977" y="3838011"/>
            <a:ext cx="2926973"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الاستمرارية والتعافي</a:t>
            </a:r>
          </a:p>
        </p:txBody>
      </p:sp>
      <p:sp>
        <p:nvSpPr>
          <p:cNvPr id="88" name="Text 87"/>
          <p:cNvSpPr txBox="1"/>
          <p:nvPr/>
        </p:nvSpPr>
        <p:spPr>
          <a:xfrm>
            <a:off x="984250" y="3837757"/>
            <a:ext cx="274340"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Mono"/>
              </a:rPr>
              <a:t>‎3-1‎</a:t>
            </a:r>
          </a:p>
        </p:txBody>
      </p:sp>
      <p:sp>
        <p:nvSpPr>
          <p:cNvPr id="89" name="Rule 88"/>
          <p:cNvSpPr/>
          <p:nvPr/>
        </p:nvSpPr>
        <p:spPr>
          <a:xfrm>
            <a:off x="984250" y="4101604"/>
            <a:ext cx="3060700" cy="6350"/>
          </a:xfrm>
          <a:prstGeom prst="rect">
            <a:avLst/>
          </a:prstGeom>
          <a:solidFill>
            <a:srgbClr val="DDD7CA"/>
          </a:solidFill>
          <a:ln>
            <a:noFill/>
          </a:ln>
        </p:spPr>
        <p:txBody>
          <a:bodyPr rtlCol="0" anchor="ctr"/>
          <a:lstStyle/>
          <a:p>
            <a:pPr algn="ctr"/>
          </a:p>
        </p:txBody>
      </p:sp>
      <p:sp>
        <p:nvSpPr>
          <p:cNvPr id="90" name="Text 89"/>
          <p:cNvSpPr txBox="1"/>
          <p:nvPr/>
        </p:nvSpPr>
        <p:spPr>
          <a:xfrm>
            <a:off x="1591286" y="4132592"/>
            <a:ext cx="2453664"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الأطراف الخارجية والسحابة</a:t>
            </a:r>
          </a:p>
        </p:txBody>
      </p:sp>
      <p:sp>
        <p:nvSpPr>
          <p:cNvPr id="91" name="Text 90"/>
          <p:cNvSpPr txBox="1"/>
          <p:nvPr/>
        </p:nvSpPr>
        <p:spPr>
          <a:xfrm>
            <a:off x="984250" y="4132338"/>
            <a:ext cx="712589" cy="205680"/>
          </a:xfrm>
          <a:prstGeom prst="rect">
            <a:avLst/>
          </a:prstGeom>
          <a:noFill/>
        </p:spPr>
        <p:txBody>
          <a:bodyPr wrap="square" tIns="0" rIns="0" bIns="0" lIns="0" anchor="t" rtlCol="0" anchorCtr="0">
            <a:noAutofit/>
          </a:bodyPr>
          <a:lstStyle/>
          <a:p>
            <a:pPr algn="r" rtl="1">
              <a:lnSpc>
                <a:spcPts val="1620"/>
              </a:lnSpc>
              <a:spcBef>
                <a:spcPts val="0"/>
              </a:spcBef>
              <a:spcAft>
                <a:spcPts val="0"/>
              </a:spcAft>
            </a:pPr>
            <a:r>
              <a:rPr sz="1200" b="1" i="0">
                <a:solidFill>
                  <a:srgbClr val="8A6100"/>
                </a:solidFill>
                <a:latin typeface="IBM Plex Mono"/>
                <a:ea typeface="IBM Plex Mono"/>
                <a:cs typeface="IBM Plex Sans Arabic"/>
              </a:rPr>
              <a:t>‎4-1‎ و‎4-2‎</a:t>
            </a:r>
          </a:p>
        </p:txBody>
      </p:sp>
      <p:sp>
        <p:nvSpPr>
          <p:cNvPr id="92" name="Text 91"/>
          <p:cNvSpPr txBox="1"/>
          <p:nvPr/>
        </p:nvSpPr>
        <p:spPr>
          <a:xfrm>
            <a:off x="9905051" y="5571323"/>
            <a:ext cx="147414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كل وثيقة في الحزمة لها:</a:t>
            </a:r>
          </a:p>
        </p:txBody>
      </p:sp>
      <p:sp>
        <p:nvSpPr>
          <p:cNvPr id="93" name="Text box 92"/>
          <p:cNvSpPr/>
          <p:nvPr/>
        </p:nvSpPr>
        <p:spPr>
          <a:xfrm>
            <a:off x="8998347" y="5540970"/>
            <a:ext cx="923826"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مالك واضح</a:t>
            </a:r>
          </a:p>
        </p:txBody>
      </p:sp>
      <p:sp>
        <p:nvSpPr>
          <p:cNvPr id="94" name="Text box 93"/>
          <p:cNvSpPr/>
          <p:nvPr/>
        </p:nvSpPr>
        <p:spPr>
          <a:xfrm>
            <a:off x="8079284" y="5540970"/>
            <a:ext cx="823813"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رقم إصدار</a:t>
            </a:r>
          </a:p>
        </p:txBody>
      </p:sp>
      <p:sp>
        <p:nvSpPr>
          <p:cNvPr id="95" name="Text box 94"/>
          <p:cNvSpPr/>
          <p:nvPr/>
        </p:nvSpPr>
        <p:spPr>
          <a:xfrm>
            <a:off x="6993136" y="5540970"/>
            <a:ext cx="990898"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موعد مراجعة</a:t>
            </a:r>
          </a:p>
        </p:txBody>
      </p:sp>
      <p:sp>
        <p:nvSpPr>
          <p:cNvPr id="96" name="Text box 95"/>
          <p:cNvSpPr/>
          <p:nvPr/>
        </p:nvSpPr>
        <p:spPr>
          <a:xfrm>
            <a:off x="4767759" y="5540970"/>
            <a:ext cx="213012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اعتماد صاحب الصلاحية (‎1-3-1‎)</a:t>
            </a:r>
          </a:p>
        </p:txBody>
      </p:sp>
      <p:sp>
        <p:nvSpPr>
          <p:cNvPr id="97" name="Text box 96"/>
          <p:cNvSpPr/>
          <p:nvPr/>
        </p:nvSpPr>
        <p:spPr>
          <a:xfrm>
            <a:off x="3307953" y="5540970"/>
            <a:ext cx="1364555"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تعميم على المعنيين</a:t>
            </a:r>
          </a:p>
        </p:txBody>
      </p:sp>
      <p:sp>
        <p:nvSpPr>
          <p:cNvPr id="98" name="Text 9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99" name="Box 9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0" name="Box 9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1" name="Box 10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2" name="Box 10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03" name="Box 10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04" name="Box 10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05" name="Box 104"/>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106" name="Box 105"/>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107" name="Box 10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08" name="Text 10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818166" y="812800"/>
            <a:ext cx="2561034"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الاستدامة · تكرارات مقترحة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تقويم الاستدامة السنوي</a:t>
            </a:r>
          </a:p>
        </p:txBody>
      </p:sp>
      <p:sp>
        <p:nvSpPr>
          <p:cNvPr id="5" name="Box 4"/>
          <p:cNvSpPr/>
          <p:nvPr/>
        </p:nvSpPr>
        <p:spPr>
          <a:xfrm>
            <a:off x="9370715"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6" name="Box 5"/>
          <p:cNvSpPr/>
          <p:nvPr/>
        </p:nvSpPr>
        <p:spPr>
          <a:xfrm>
            <a:off x="9373890" y="1859161"/>
            <a:ext cx="1998960" cy="408880"/>
          </a:xfrm>
          <a:prstGeom prst="round2SameRect">
            <a:avLst>
              <a:gd name="adj1" fmla="val 23295"/>
              <a:gd name="adj2" fmla="val 0"/>
            </a:avLst>
          </a:prstGeom>
          <a:solidFill>
            <a:srgbClr val="0B6F7C"/>
          </a:solidFill>
          <a:ln>
            <a:noFill/>
          </a:ln>
        </p:spPr>
        <p:txBody>
          <a:bodyPr rtlCol="0" anchor="ctr"/>
          <a:lstStyle/>
          <a:p>
            <a:pPr algn="ctr"/>
          </a:p>
        </p:txBody>
      </p:sp>
      <p:sp>
        <p:nvSpPr>
          <p:cNvPr id="7" name="Text 6"/>
          <p:cNvSpPr txBox="1"/>
          <p:nvPr/>
        </p:nvSpPr>
        <p:spPr>
          <a:xfrm>
            <a:off x="9399290"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شهرياً</a:t>
            </a:r>
          </a:p>
        </p:txBody>
      </p:sp>
      <p:sp>
        <p:nvSpPr>
          <p:cNvPr id="8" name="Box 7"/>
          <p:cNvSpPr/>
          <p:nvPr/>
        </p:nvSpPr>
        <p:spPr>
          <a:xfrm>
            <a:off x="11169650" y="2458541"/>
            <a:ext cx="63500" cy="63500"/>
          </a:xfrm>
          <a:prstGeom prst="roundRect">
            <a:avLst>
              <a:gd name="adj" fmla="val 50000"/>
            </a:avLst>
          </a:prstGeom>
          <a:solidFill>
            <a:srgbClr val="0B6F7C"/>
          </a:solidFill>
          <a:ln>
            <a:noFill/>
          </a:ln>
        </p:spPr>
        <p:txBody>
          <a:bodyPr rtlCol="0" anchor="ctr"/>
          <a:lstStyle/>
          <a:p>
            <a:pPr algn="ctr"/>
          </a:p>
        </p:txBody>
      </p:sp>
      <p:sp>
        <p:nvSpPr>
          <p:cNvPr id="9" name="Text 8"/>
          <p:cNvSpPr txBox="1"/>
          <p:nvPr/>
        </p:nvSpPr>
        <p:spPr>
          <a:xfrm>
            <a:off x="9392940" y="23587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تقارير الثغرات والتحديثات</a:t>
            </a:r>
          </a:p>
        </p:txBody>
      </p:sp>
      <p:sp>
        <p:nvSpPr>
          <p:cNvPr id="10" name="Box 9"/>
          <p:cNvSpPr/>
          <p:nvPr/>
        </p:nvSpPr>
        <p:spPr>
          <a:xfrm>
            <a:off x="11169650" y="2750641"/>
            <a:ext cx="63500" cy="63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9392940" y="26508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مؤشرات المراقبة والتنبيهات</a:t>
            </a:r>
          </a:p>
        </p:txBody>
      </p:sp>
      <p:sp>
        <p:nvSpPr>
          <p:cNvPr id="12" name="Box 11"/>
          <p:cNvSpPr/>
          <p:nvPr/>
        </p:nvSpPr>
        <p:spPr>
          <a:xfrm>
            <a:off x="11169650" y="3042741"/>
            <a:ext cx="63500" cy="63500"/>
          </a:xfrm>
          <a:prstGeom prst="roundRect">
            <a:avLst>
              <a:gd name="adj" fmla="val 50000"/>
            </a:avLst>
          </a:prstGeom>
          <a:solidFill>
            <a:srgbClr val="0B6F7C"/>
          </a:solidFill>
          <a:ln>
            <a:noFill/>
          </a:ln>
        </p:spPr>
        <p:txBody>
          <a:bodyPr rtlCol="0" anchor="ctr"/>
          <a:lstStyle/>
          <a:p>
            <a:pPr algn="ctr"/>
          </a:p>
        </p:txBody>
      </p:sp>
      <p:sp>
        <p:nvSpPr>
          <p:cNvPr id="13" name="Text 12"/>
          <p:cNvSpPr txBox="1"/>
          <p:nvPr/>
        </p:nvSpPr>
        <p:spPr>
          <a:xfrm>
            <a:off x="9392940" y="29429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تحديث الأدلة التشغيلية</a:t>
            </a:r>
          </a:p>
        </p:txBody>
      </p:sp>
      <p:sp>
        <p:nvSpPr>
          <p:cNvPr id="14" name="Box 13"/>
          <p:cNvSpPr/>
          <p:nvPr/>
        </p:nvSpPr>
        <p:spPr>
          <a:xfrm>
            <a:off x="11169650" y="3334841"/>
            <a:ext cx="63500" cy="63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9465813" y="3235019"/>
            <a:ext cx="1640337"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مطابقة الحماية مع سجل الأصول</a:t>
            </a:r>
          </a:p>
        </p:txBody>
      </p:sp>
      <p:sp>
        <p:nvSpPr>
          <p:cNvPr id="16" name="Box 15"/>
          <p:cNvSpPr/>
          <p:nvPr/>
        </p:nvSpPr>
        <p:spPr>
          <a:xfrm>
            <a:off x="7232055"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17" name="Box 16"/>
          <p:cNvSpPr/>
          <p:nvPr/>
        </p:nvSpPr>
        <p:spPr>
          <a:xfrm>
            <a:off x="7235230" y="1859161"/>
            <a:ext cx="1998960" cy="408880"/>
          </a:xfrm>
          <a:prstGeom prst="round2SameRect">
            <a:avLst>
              <a:gd name="adj1" fmla="val 23295"/>
              <a:gd name="adj2" fmla="val 0"/>
            </a:avLst>
          </a:prstGeom>
          <a:solidFill>
            <a:srgbClr val="0B6F7C"/>
          </a:solidFill>
          <a:ln>
            <a:noFill/>
          </a:ln>
        </p:spPr>
        <p:txBody>
          <a:bodyPr rtlCol="0" anchor="ctr"/>
          <a:lstStyle/>
          <a:p>
            <a:pPr algn="ctr"/>
          </a:p>
        </p:txBody>
      </p:sp>
      <p:sp>
        <p:nvSpPr>
          <p:cNvPr id="18" name="Text 17"/>
          <p:cNvSpPr txBox="1"/>
          <p:nvPr/>
        </p:nvSpPr>
        <p:spPr>
          <a:xfrm>
            <a:off x="7260630"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ربع سنوي</a:t>
            </a:r>
          </a:p>
        </p:txBody>
      </p:sp>
      <p:sp>
        <p:nvSpPr>
          <p:cNvPr id="19" name="Box 18"/>
          <p:cNvSpPr/>
          <p:nvPr/>
        </p:nvSpPr>
        <p:spPr>
          <a:xfrm>
            <a:off x="9030990" y="2458541"/>
            <a:ext cx="63500" cy="63500"/>
          </a:xfrm>
          <a:prstGeom prst="roundRect">
            <a:avLst>
              <a:gd name="adj" fmla="val 50000"/>
            </a:avLst>
          </a:prstGeom>
          <a:solidFill>
            <a:srgbClr val="0B6F7C"/>
          </a:solidFill>
          <a:ln>
            <a:noFill/>
          </a:ln>
        </p:spPr>
        <p:txBody>
          <a:bodyPr rtlCol="0" anchor="ctr"/>
          <a:lstStyle/>
          <a:p>
            <a:pPr algn="ctr"/>
          </a:p>
        </p:txBody>
      </p:sp>
      <p:sp>
        <p:nvSpPr>
          <p:cNvPr id="20" name="Text 19"/>
          <p:cNvSpPr txBox="1"/>
          <p:nvPr/>
        </p:nvSpPr>
        <p:spPr>
          <a:xfrm>
            <a:off x="7327153" y="2358719"/>
            <a:ext cx="1640337"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مراجعة صلاحيات الأنظمة الحساسة</a:t>
            </a:r>
          </a:p>
        </p:txBody>
      </p:sp>
      <p:sp>
        <p:nvSpPr>
          <p:cNvPr id="21" name="Box 20"/>
          <p:cNvSpPr/>
          <p:nvPr/>
        </p:nvSpPr>
        <p:spPr>
          <a:xfrm>
            <a:off x="9030990" y="2961382"/>
            <a:ext cx="63500" cy="63500"/>
          </a:xfrm>
          <a:prstGeom prst="roundRect">
            <a:avLst>
              <a:gd name="adj" fmla="val 50000"/>
            </a:avLst>
          </a:prstGeom>
          <a:solidFill>
            <a:srgbClr val="0B6F7C"/>
          </a:solidFill>
          <a:ln>
            <a:noFill/>
          </a:ln>
        </p:spPr>
        <p:txBody>
          <a:bodyPr rtlCol="0" anchor="ctr"/>
          <a:lstStyle/>
          <a:p>
            <a:pPr algn="ctr"/>
          </a:p>
        </p:txBody>
      </p:sp>
      <p:sp>
        <p:nvSpPr>
          <p:cNvPr id="22" name="Text 21"/>
          <p:cNvSpPr txBox="1"/>
          <p:nvPr/>
        </p:nvSpPr>
        <p:spPr>
          <a:xfrm>
            <a:off x="7254280" y="28615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تقرير للجنة الإشرافية</a:t>
            </a:r>
          </a:p>
        </p:txBody>
      </p:sp>
      <p:sp>
        <p:nvSpPr>
          <p:cNvPr id="23" name="Box 22"/>
          <p:cNvSpPr/>
          <p:nvPr/>
        </p:nvSpPr>
        <p:spPr>
          <a:xfrm>
            <a:off x="9030990" y="3253482"/>
            <a:ext cx="63500" cy="63500"/>
          </a:xfrm>
          <a:prstGeom prst="roundRect">
            <a:avLst>
              <a:gd name="adj" fmla="val 50000"/>
            </a:avLst>
          </a:prstGeom>
          <a:solidFill>
            <a:srgbClr val="0B6F7C"/>
          </a:solidFill>
          <a:ln>
            <a:noFill/>
          </a:ln>
        </p:spPr>
        <p:txBody>
          <a:bodyPr rtlCol="0" anchor="ctr"/>
          <a:lstStyle/>
          <a:p>
            <a:pPr algn="ctr"/>
          </a:p>
        </p:txBody>
      </p:sp>
      <p:sp>
        <p:nvSpPr>
          <p:cNvPr id="24" name="Text 23"/>
          <p:cNvSpPr txBox="1"/>
          <p:nvPr/>
        </p:nvSpPr>
        <p:spPr>
          <a:xfrm>
            <a:off x="7254280" y="31536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اختبار استعادة لعينة</a:t>
            </a:r>
          </a:p>
        </p:txBody>
      </p:sp>
      <p:sp>
        <p:nvSpPr>
          <p:cNvPr id="25" name="Box 24"/>
          <p:cNvSpPr/>
          <p:nvPr/>
        </p:nvSpPr>
        <p:spPr>
          <a:xfrm>
            <a:off x="9030990" y="3545582"/>
            <a:ext cx="63500" cy="63500"/>
          </a:xfrm>
          <a:prstGeom prst="roundRect">
            <a:avLst>
              <a:gd name="adj" fmla="val 50000"/>
            </a:avLst>
          </a:prstGeom>
          <a:solidFill>
            <a:srgbClr val="0B6F7C"/>
          </a:solidFill>
          <a:ln>
            <a:noFill/>
          </a:ln>
        </p:spPr>
        <p:txBody>
          <a:bodyPr rtlCol="0" anchor="ctr"/>
          <a:lstStyle/>
          <a:p>
            <a:pPr algn="ctr"/>
          </a:p>
        </p:txBody>
      </p:sp>
      <p:sp>
        <p:nvSpPr>
          <p:cNvPr id="26" name="Text 25"/>
          <p:cNvSpPr txBox="1"/>
          <p:nvPr/>
        </p:nvSpPr>
        <p:spPr>
          <a:xfrm>
            <a:off x="7254280" y="34457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محاكاة تصيد</a:t>
            </a:r>
          </a:p>
        </p:txBody>
      </p:sp>
      <p:sp>
        <p:nvSpPr>
          <p:cNvPr id="27" name="Box 26"/>
          <p:cNvSpPr/>
          <p:nvPr/>
        </p:nvSpPr>
        <p:spPr>
          <a:xfrm>
            <a:off x="5093395"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28" name="Box 27"/>
          <p:cNvSpPr/>
          <p:nvPr/>
        </p:nvSpPr>
        <p:spPr>
          <a:xfrm>
            <a:off x="5096570" y="1859161"/>
            <a:ext cx="1998960" cy="408880"/>
          </a:xfrm>
          <a:prstGeom prst="round2SameRect">
            <a:avLst>
              <a:gd name="adj1" fmla="val 23295"/>
              <a:gd name="adj2" fmla="val 0"/>
            </a:avLst>
          </a:prstGeom>
          <a:solidFill>
            <a:srgbClr val="0B6F7C"/>
          </a:solidFill>
          <a:ln>
            <a:noFill/>
          </a:ln>
        </p:spPr>
        <p:txBody>
          <a:bodyPr rtlCol="0" anchor="ctr"/>
          <a:lstStyle/>
          <a:p>
            <a:pPr algn="ctr"/>
          </a:p>
        </p:txBody>
      </p:sp>
      <p:sp>
        <p:nvSpPr>
          <p:cNvPr id="29" name="Text 28"/>
          <p:cNvSpPr txBox="1"/>
          <p:nvPr/>
        </p:nvSpPr>
        <p:spPr>
          <a:xfrm>
            <a:off x="5121970"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نصف سنوي</a:t>
            </a:r>
          </a:p>
        </p:txBody>
      </p:sp>
      <p:sp>
        <p:nvSpPr>
          <p:cNvPr id="30" name="Box 29"/>
          <p:cNvSpPr/>
          <p:nvPr/>
        </p:nvSpPr>
        <p:spPr>
          <a:xfrm>
            <a:off x="6892330" y="2458541"/>
            <a:ext cx="63500" cy="63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5115620" y="23587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مراجعة قواعد الجدار الناري</a:t>
            </a:r>
          </a:p>
        </p:txBody>
      </p:sp>
      <p:sp>
        <p:nvSpPr>
          <p:cNvPr id="32" name="Box 31"/>
          <p:cNvSpPr/>
          <p:nvPr/>
        </p:nvSpPr>
        <p:spPr>
          <a:xfrm>
            <a:off x="6892330" y="2750641"/>
            <a:ext cx="63500" cy="63500"/>
          </a:xfrm>
          <a:prstGeom prst="roundRect">
            <a:avLst>
              <a:gd name="adj" fmla="val 50000"/>
            </a:avLst>
          </a:prstGeom>
          <a:solidFill>
            <a:srgbClr val="0B6F7C"/>
          </a:solidFill>
          <a:ln>
            <a:noFill/>
          </a:ln>
        </p:spPr>
        <p:txBody>
          <a:bodyPr rtlCol="0" anchor="ctr"/>
          <a:lstStyle/>
          <a:p>
            <a:pPr algn="ctr"/>
          </a:p>
        </p:txBody>
      </p:sp>
      <p:sp>
        <p:nvSpPr>
          <p:cNvPr id="33" name="Text 32"/>
          <p:cNvSpPr txBox="1"/>
          <p:nvPr/>
        </p:nvSpPr>
        <p:spPr>
          <a:xfrm>
            <a:off x="5115620" y="26508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تمرين استجابة للحوادث</a:t>
            </a:r>
          </a:p>
        </p:txBody>
      </p:sp>
      <p:sp>
        <p:nvSpPr>
          <p:cNvPr id="34" name="Box 33"/>
          <p:cNvSpPr/>
          <p:nvPr/>
        </p:nvSpPr>
        <p:spPr>
          <a:xfrm>
            <a:off x="6892330" y="3042741"/>
            <a:ext cx="63500" cy="63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5115620" y="29429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مراجعة الحسابات المميزة</a:t>
            </a:r>
          </a:p>
        </p:txBody>
      </p:sp>
      <p:sp>
        <p:nvSpPr>
          <p:cNvPr id="36" name="Box 35"/>
          <p:cNvSpPr/>
          <p:nvPr/>
        </p:nvSpPr>
        <p:spPr>
          <a:xfrm>
            <a:off x="2954734"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37" name="Box 36"/>
          <p:cNvSpPr/>
          <p:nvPr/>
        </p:nvSpPr>
        <p:spPr>
          <a:xfrm>
            <a:off x="2957909" y="1859161"/>
            <a:ext cx="1998960" cy="408880"/>
          </a:xfrm>
          <a:prstGeom prst="round2SameRect">
            <a:avLst>
              <a:gd name="adj1" fmla="val 23295"/>
              <a:gd name="adj2" fmla="val 0"/>
            </a:avLst>
          </a:prstGeom>
          <a:solidFill>
            <a:srgbClr val="0B6F7C"/>
          </a:solidFill>
          <a:ln>
            <a:noFill/>
          </a:ln>
        </p:spPr>
        <p:txBody>
          <a:bodyPr rtlCol="0" anchor="ctr"/>
          <a:lstStyle/>
          <a:p>
            <a:pPr algn="ctr"/>
          </a:p>
        </p:txBody>
      </p:sp>
      <p:sp>
        <p:nvSpPr>
          <p:cNvPr id="38" name="Text 37"/>
          <p:cNvSpPr txBox="1"/>
          <p:nvPr/>
        </p:nvSpPr>
        <p:spPr>
          <a:xfrm>
            <a:off x="2983309"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سنوياً</a:t>
            </a:r>
          </a:p>
        </p:txBody>
      </p:sp>
      <p:sp>
        <p:nvSpPr>
          <p:cNvPr id="39" name="Box 38"/>
          <p:cNvSpPr/>
          <p:nvPr/>
        </p:nvSpPr>
        <p:spPr>
          <a:xfrm>
            <a:off x="4753670" y="2458541"/>
            <a:ext cx="63500" cy="63500"/>
          </a:xfrm>
          <a:prstGeom prst="roundRect">
            <a:avLst>
              <a:gd name="adj" fmla="val 50000"/>
            </a:avLst>
          </a:prstGeom>
          <a:solidFill>
            <a:srgbClr val="0B6F7C"/>
          </a:solidFill>
          <a:ln>
            <a:noFill/>
          </a:ln>
        </p:spPr>
        <p:txBody>
          <a:bodyPr rtlCol="0" anchor="ctr"/>
          <a:lstStyle/>
          <a:p>
            <a:pPr algn="ctr"/>
          </a:p>
        </p:txBody>
      </p:sp>
      <p:sp>
        <p:nvSpPr>
          <p:cNvPr id="40" name="Text 39"/>
          <p:cNvSpPr txBox="1"/>
          <p:nvPr/>
        </p:nvSpPr>
        <p:spPr>
          <a:xfrm>
            <a:off x="3049833" y="2358719"/>
            <a:ext cx="1640337"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مراجعات ‎X-4‎ ومراجعة الوثائق</a:t>
            </a:r>
          </a:p>
        </p:txBody>
      </p:sp>
      <p:sp>
        <p:nvSpPr>
          <p:cNvPr id="41" name="Box 40"/>
          <p:cNvSpPr/>
          <p:nvPr/>
        </p:nvSpPr>
        <p:spPr>
          <a:xfrm>
            <a:off x="4753670" y="2961382"/>
            <a:ext cx="63500" cy="63500"/>
          </a:xfrm>
          <a:prstGeom prst="roundRect">
            <a:avLst>
              <a:gd name="adj" fmla="val 50000"/>
            </a:avLst>
          </a:prstGeom>
          <a:solidFill>
            <a:srgbClr val="0B6F7C"/>
          </a:solidFill>
          <a:ln>
            <a:noFill/>
          </a:ln>
        </p:spPr>
        <p:txBody>
          <a:bodyPr rtlCol="0" anchor="ctr"/>
          <a:lstStyle/>
          <a:p>
            <a:pPr algn="ctr"/>
          </a:p>
        </p:txBody>
      </p:sp>
      <p:sp>
        <p:nvSpPr>
          <p:cNvPr id="42" name="Text 41"/>
          <p:cNvSpPr txBox="1"/>
          <p:nvPr/>
        </p:nvSpPr>
        <p:spPr>
          <a:xfrm>
            <a:off x="2976959" y="28615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التقييم الذاتي الشامل</a:t>
            </a:r>
          </a:p>
        </p:txBody>
      </p:sp>
      <p:sp>
        <p:nvSpPr>
          <p:cNvPr id="43" name="Box 42"/>
          <p:cNvSpPr/>
          <p:nvPr/>
        </p:nvSpPr>
        <p:spPr>
          <a:xfrm>
            <a:off x="4753670" y="3253482"/>
            <a:ext cx="63500" cy="63500"/>
          </a:xfrm>
          <a:prstGeom prst="roundRect">
            <a:avLst>
              <a:gd name="adj" fmla="val 50000"/>
            </a:avLst>
          </a:prstGeom>
          <a:solidFill>
            <a:srgbClr val="0B6F7C"/>
          </a:solidFill>
          <a:ln>
            <a:noFill/>
          </a:ln>
        </p:spPr>
        <p:txBody>
          <a:bodyPr rtlCol="0" anchor="ctr"/>
          <a:lstStyle/>
          <a:p>
            <a:pPr algn="ctr"/>
          </a:p>
        </p:txBody>
      </p:sp>
      <p:sp>
        <p:nvSpPr>
          <p:cNvPr id="44" name="Text 43"/>
          <p:cNvSpPr txBox="1"/>
          <p:nvPr/>
        </p:nvSpPr>
        <p:spPr>
          <a:xfrm>
            <a:off x="2976959" y="31536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المراجعة المستقلة</a:t>
            </a:r>
          </a:p>
        </p:txBody>
      </p:sp>
      <p:sp>
        <p:nvSpPr>
          <p:cNvPr id="45" name="Box 44"/>
          <p:cNvSpPr/>
          <p:nvPr/>
        </p:nvSpPr>
        <p:spPr>
          <a:xfrm>
            <a:off x="4753670" y="3545582"/>
            <a:ext cx="63500" cy="63500"/>
          </a:xfrm>
          <a:prstGeom prst="roundRect">
            <a:avLst>
              <a:gd name="adj" fmla="val 50000"/>
            </a:avLst>
          </a:prstGeom>
          <a:solidFill>
            <a:srgbClr val="0B6F7C"/>
          </a:solidFill>
          <a:ln>
            <a:noFill/>
          </a:ln>
        </p:spPr>
        <p:txBody>
          <a:bodyPr rtlCol="0" anchor="ctr"/>
          <a:lstStyle/>
          <a:p>
            <a:pPr algn="ctr"/>
          </a:p>
        </p:txBody>
      </p:sp>
      <p:sp>
        <p:nvSpPr>
          <p:cNvPr id="46" name="Text 45"/>
          <p:cNvSpPr txBox="1"/>
          <p:nvPr/>
        </p:nvSpPr>
        <p:spPr>
          <a:xfrm>
            <a:off x="2976959" y="34457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اختبار الاختراق</a:t>
            </a:r>
          </a:p>
        </p:txBody>
      </p:sp>
      <p:sp>
        <p:nvSpPr>
          <p:cNvPr id="47" name="Box 46"/>
          <p:cNvSpPr/>
          <p:nvPr/>
        </p:nvSpPr>
        <p:spPr>
          <a:xfrm>
            <a:off x="4753670" y="3837682"/>
            <a:ext cx="63500" cy="63500"/>
          </a:xfrm>
          <a:prstGeom prst="roundRect">
            <a:avLst>
              <a:gd name="adj" fmla="val 50000"/>
            </a:avLst>
          </a:prstGeom>
          <a:solidFill>
            <a:srgbClr val="0B6F7C"/>
          </a:solidFill>
          <a:ln>
            <a:noFill/>
          </a:ln>
        </p:spPr>
        <p:txBody>
          <a:bodyPr rtlCol="0" anchor="ctr"/>
          <a:lstStyle/>
          <a:p>
            <a:pPr algn="ctr"/>
          </a:p>
        </p:txBody>
      </p:sp>
      <p:sp>
        <p:nvSpPr>
          <p:cNvPr id="48" name="Text 47"/>
          <p:cNvSpPr txBox="1"/>
          <p:nvPr/>
        </p:nvSpPr>
        <p:spPr>
          <a:xfrm>
            <a:off x="2976959" y="3737860"/>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اختبار التعافي من الكوارث</a:t>
            </a:r>
          </a:p>
        </p:txBody>
      </p:sp>
      <p:sp>
        <p:nvSpPr>
          <p:cNvPr id="49" name="Box 48"/>
          <p:cNvSpPr/>
          <p:nvPr/>
        </p:nvSpPr>
        <p:spPr>
          <a:xfrm>
            <a:off x="816074" y="1855986"/>
            <a:ext cx="2005310" cy="2264271"/>
          </a:xfrm>
          <a:prstGeom prst="roundRect">
            <a:avLst>
              <a:gd name="adj" fmla="val 5050"/>
            </a:avLst>
          </a:prstGeom>
          <a:solidFill>
            <a:srgbClr val="FCFBF8"/>
          </a:solidFill>
          <a:ln w="6350">
            <a:solidFill>
              <a:srgbClr val="DDD7CA"/>
            </a:solidFill>
          </a:ln>
        </p:spPr>
        <p:txBody>
          <a:bodyPr rtlCol="0" anchor="ctr"/>
          <a:lstStyle/>
          <a:p>
            <a:pPr algn="ctr"/>
          </a:p>
        </p:txBody>
      </p:sp>
      <p:sp>
        <p:nvSpPr>
          <p:cNvPr id="50" name="Box 49"/>
          <p:cNvSpPr/>
          <p:nvPr/>
        </p:nvSpPr>
        <p:spPr>
          <a:xfrm>
            <a:off x="819249" y="1859161"/>
            <a:ext cx="1998960" cy="408880"/>
          </a:xfrm>
          <a:prstGeom prst="round2SameRect">
            <a:avLst>
              <a:gd name="adj1" fmla="val 23295"/>
              <a:gd name="adj2" fmla="val 0"/>
            </a:avLst>
          </a:prstGeom>
          <a:solidFill>
            <a:srgbClr val="A6461A"/>
          </a:solidFill>
          <a:ln>
            <a:noFill/>
          </a:ln>
        </p:spPr>
        <p:txBody>
          <a:bodyPr rtlCol="0" anchor="ctr"/>
          <a:lstStyle/>
          <a:p>
            <a:pPr algn="ctr"/>
          </a:p>
        </p:txBody>
      </p:sp>
      <p:sp>
        <p:nvSpPr>
          <p:cNvPr id="51" name="Text 50"/>
          <p:cNvSpPr txBox="1"/>
          <p:nvPr/>
        </p:nvSpPr>
        <p:spPr>
          <a:xfrm>
            <a:off x="844649" y="1933570"/>
            <a:ext cx="183386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400" b="1" i="0">
                <a:solidFill>
                  <a:srgbClr val="F2EEE6"/>
                </a:solidFill>
                <a:latin typeface="Alexandria"/>
                <a:ea typeface="Alexandria"/>
                <a:cs typeface="Alexandria"/>
              </a:rPr>
              <a:t>عند الحدث</a:t>
            </a:r>
          </a:p>
        </p:txBody>
      </p:sp>
      <p:sp>
        <p:nvSpPr>
          <p:cNvPr id="52" name="Box 51"/>
          <p:cNvSpPr/>
          <p:nvPr/>
        </p:nvSpPr>
        <p:spPr>
          <a:xfrm>
            <a:off x="2615009" y="2458541"/>
            <a:ext cx="63500" cy="63500"/>
          </a:xfrm>
          <a:prstGeom prst="roundRect">
            <a:avLst>
              <a:gd name="adj" fmla="val 50000"/>
            </a:avLst>
          </a:prstGeom>
          <a:solidFill>
            <a:srgbClr val="A6461A"/>
          </a:solidFill>
          <a:ln>
            <a:noFill/>
          </a:ln>
        </p:spPr>
        <p:txBody>
          <a:bodyPr rtlCol="0" anchor="ctr"/>
          <a:lstStyle/>
          <a:p>
            <a:pPr algn="ctr"/>
          </a:p>
        </p:txBody>
      </p:sp>
      <p:sp>
        <p:nvSpPr>
          <p:cNvPr id="53" name="Text 52"/>
          <p:cNvSpPr txBox="1"/>
          <p:nvPr/>
        </p:nvSpPr>
        <p:spPr>
          <a:xfrm>
            <a:off x="838299" y="23587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مشروع أو تغيير جوهري</a:t>
            </a:r>
          </a:p>
        </p:txBody>
      </p:sp>
      <p:sp>
        <p:nvSpPr>
          <p:cNvPr id="54" name="Box 53"/>
          <p:cNvSpPr/>
          <p:nvPr/>
        </p:nvSpPr>
        <p:spPr>
          <a:xfrm>
            <a:off x="2615009" y="2750641"/>
            <a:ext cx="63500" cy="63500"/>
          </a:xfrm>
          <a:prstGeom prst="roundRect">
            <a:avLst>
              <a:gd name="adj" fmla="val 50000"/>
            </a:avLst>
          </a:prstGeom>
          <a:solidFill>
            <a:srgbClr val="A6461A"/>
          </a:solidFill>
          <a:ln>
            <a:noFill/>
          </a:ln>
        </p:spPr>
        <p:txBody>
          <a:bodyPr rtlCol="0" anchor="ctr"/>
          <a:lstStyle/>
          <a:p>
            <a:pPr algn="ctr"/>
          </a:p>
        </p:txBody>
      </p:sp>
      <p:sp>
        <p:nvSpPr>
          <p:cNvPr id="55" name="Text 54"/>
          <p:cNvSpPr txBox="1"/>
          <p:nvPr/>
        </p:nvSpPr>
        <p:spPr>
          <a:xfrm>
            <a:off x="838299" y="26508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عقد أو خدمة جديدة</a:t>
            </a:r>
          </a:p>
        </p:txBody>
      </p:sp>
      <p:sp>
        <p:nvSpPr>
          <p:cNvPr id="56" name="Box 55"/>
          <p:cNvSpPr/>
          <p:nvPr/>
        </p:nvSpPr>
        <p:spPr>
          <a:xfrm>
            <a:off x="2615009" y="3042741"/>
            <a:ext cx="63500" cy="63500"/>
          </a:xfrm>
          <a:prstGeom prst="roundRect">
            <a:avLst>
              <a:gd name="adj" fmla="val 50000"/>
            </a:avLst>
          </a:prstGeom>
          <a:solidFill>
            <a:srgbClr val="A6461A"/>
          </a:solidFill>
          <a:ln>
            <a:noFill/>
          </a:ln>
        </p:spPr>
        <p:txBody>
          <a:bodyPr rtlCol="0" anchor="ctr"/>
          <a:lstStyle/>
          <a:p>
            <a:pPr algn="ctr"/>
          </a:p>
        </p:txBody>
      </p:sp>
      <p:sp>
        <p:nvSpPr>
          <p:cNvPr id="57" name="Text 56"/>
          <p:cNvSpPr txBox="1"/>
          <p:nvPr/>
        </p:nvSpPr>
        <p:spPr>
          <a:xfrm>
            <a:off x="838299" y="29429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حادثة كبيرة</a:t>
            </a:r>
          </a:p>
        </p:txBody>
      </p:sp>
      <p:sp>
        <p:nvSpPr>
          <p:cNvPr id="58" name="Box 57"/>
          <p:cNvSpPr/>
          <p:nvPr/>
        </p:nvSpPr>
        <p:spPr>
          <a:xfrm>
            <a:off x="2615009" y="3334841"/>
            <a:ext cx="63500" cy="63500"/>
          </a:xfrm>
          <a:prstGeom prst="roundRect">
            <a:avLst>
              <a:gd name="adj" fmla="val 50000"/>
            </a:avLst>
          </a:prstGeom>
          <a:solidFill>
            <a:srgbClr val="A6461A"/>
          </a:solidFill>
          <a:ln>
            <a:noFill/>
          </a:ln>
        </p:spPr>
        <p:txBody>
          <a:bodyPr rtlCol="0" anchor="ctr"/>
          <a:lstStyle/>
          <a:p>
            <a:pPr algn="ctr"/>
          </a:p>
        </p:txBody>
      </p:sp>
      <p:sp>
        <p:nvSpPr>
          <p:cNvPr id="59" name="Text 58"/>
          <p:cNvSpPr txBox="1"/>
          <p:nvPr/>
        </p:nvSpPr>
        <p:spPr>
          <a:xfrm>
            <a:off x="838299" y="32350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تنظيم أو إصدار جديد</a:t>
            </a:r>
          </a:p>
        </p:txBody>
      </p:sp>
      <p:sp>
        <p:nvSpPr>
          <p:cNvPr id="60" name="Box 59"/>
          <p:cNvSpPr/>
          <p:nvPr/>
        </p:nvSpPr>
        <p:spPr>
          <a:xfrm>
            <a:off x="2615009" y="3626941"/>
            <a:ext cx="63500" cy="63500"/>
          </a:xfrm>
          <a:prstGeom prst="roundRect">
            <a:avLst>
              <a:gd name="adj" fmla="val 50000"/>
            </a:avLst>
          </a:prstGeom>
          <a:solidFill>
            <a:srgbClr val="A6461A"/>
          </a:solidFill>
          <a:ln>
            <a:noFill/>
          </a:ln>
        </p:spPr>
        <p:txBody>
          <a:bodyPr rtlCol="0" anchor="ctr"/>
          <a:lstStyle/>
          <a:p>
            <a:pPr algn="ctr"/>
          </a:p>
        </p:txBody>
      </p:sp>
      <p:sp>
        <p:nvSpPr>
          <p:cNvPr id="61" name="Text 60"/>
          <p:cNvSpPr txBox="1"/>
          <p:nvPr/>
        </p:nvSpPr>
        <p:spPr>
          <a:xfrm>
            <a:off x="838299" y="3527119"/>
            <a:ext cx="171321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تغيير تنظيمي في الجهة</a:t>
            </a:r>
          </a:p>
        </p:txBody>
      </p:sp>
      <p:sp>
        <p:nvSpPr>
          <p:cNvPr id="62" name="Rule 61"/>
          <p:cNvSpPr/>
          <p:nvPr/>
        </p:nvSpPr>
        <p:spPr>
          <a:xfrm>
            <a:off x="812800" y="5260975"/>
            <a:ext cx="10566400" cy="6350"/>
          </a:xfrm>
          <a:prstGeom prst="rect">
            <a:avLst/>
          </a:prstGeom>
          <a:solidFill>
            <a:srgbClr val="DDD7CA"/>
          </a:solidFill>
          <a:ln>
            <a:noFill/>
          </a:ln>
        </p:spPr>
        <p:txBody>
          <a:bodyPr rtlCol="0" anchor="ctr"/>
          <a:lstStyle/>
          <a:p>
            <a:pPr algn="ctr"/>
          </a:p>
        </p:txBody>
      </p:sp>
      <p:sp>
        <p:nvSpPr>
          <p:cNvPr id="63" name="Box 62"/>
          <p:cNvSpPr/>
          <p:nvPr/>
        </p:nvSpPr>
        <p:spPr>
          <a:xfrm>
            <a:off x="11049000" y="5511800"/>
            <a:ext cx="330200" cy="330200"/>
          </a:xfrm>
          <a:prstGeom prst="roundRect">
            <a:avLst>
              <a:gd name="adj" fmla="val 30769"/>
            </a:avLst>
          </a:prstGeom>
          <a:solidFill>
            <a:srgbClr val="F6E6DC"/>
          </a:solidFill>
          <a:ln>
            <a:noFill/>
          </a:ln>
        </p:spPr>
        <p:txBody>
          <a:bodyPr rtlCol="0" anchor="ctr"/>
          <a:lstStyle/>
          <a:p>
            <a:pPr algn="ctr"/>
          </a:p>
        </p:txBody>
      </p:sp>
      <p:pic>
        <p:nvPicPr>
          <p:cNvPr id="64" name="Icon Warning 63" descr="icon063.png"/>
          <p:cNvPicPr>
            <a:picLocks noChangeAspect="1"/>
          </p:cNvPicPr>
          <p:nvPr/>
        </p:nvPicPr>
        <p:blipFill>
          <a:blip r:embed="rId2"/>
          <a:stretch>
            <a:fillRect/>
          </a:stretch>
        </p:blipFill>
        <p:spPr>
          <a:xfrm>
            <a:off x="11122025" y="5584825"/>
            <a:ext cx="184150" cy="184150"/>
          </a:xfrm>
          <a:prstGeom prst="rect">
            <a:avLst/>
          </a:prstGeom>
        </p:spPr>
      </p:pic>
      <p:sp>
        <p:nvSpPr>
          <p:cNvPr id="65" name="Text 64"/>
          <p:cNvSpPr txBox="1"/>
          <p:nvPr/>
        </p:nvSpPr>
        <p:spPr>
          <a:xfrm>
            <a:off x="812800" y="5353050"/>
            <a:ext cx="10121900"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تكرارات مقترحة للتخطيط. الضوابط الأساسية لا تحدد معظمها (ومن المحدد فيها الاحتفاظ بسجلات الأحداث 12 شهراً على الأقل)، وقد تفرض متطلبات أخرى منطبقة على الجهة تكرارات محددة؛ وما تعتمده الجهة في سياساتها يُقاس عليه التطبيق.</a:t>
            </a:r>
          </a:p>
        </p:txBody>
      </p:sp>
      <p:sp>
        <p:nvSpPr>
          <p:cNvPr id="66" name="Text 6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67" name="Box 6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8" name="Box 6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69" name="Box 6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0" name="Box 6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1" name="Box 7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2" name="Box 7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3" name="Box 7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74" name="Box 73"/>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75" name="Box 7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76" name="Text 7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952434" y="812800"/>
            <a:ext cx="14267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القياس</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ثمانية مؤشرات تُرفع للجنة الإشرافية</a:t>
            </a:r>
          </a:p>
        </p:txBody>
      </p:sp>
      <p:sp>
        <p:nvSpPr>
          <p:cNvPr id="5" name="Text 4"/>
          <p:cNvSpPr txBox="1"/>
          <p:nvPr/>
        </p:nvSpPr>
        <p:spPr>
          <a:xfrm>
            <a:off x="50800" y="1816362"/>
            <a:ext cx="10287000" cy="266700"/>
          </a:xfrm>
          <a:prstGeom prst="rect">
            <a:avLst/>
          </a:prstGeom>
          <a:noFill/>
        </p:spPr>
        <p:txBody>
          <a:bodyPr wrap="square" tIns="0" rIns="0" bIns="0" lIns="0" anchor="t" rtlCol="0" anchorCtr="0">
            <a:noAutofit/>
          </a:bodyPr>
          <a:lstStyle/>
          <a:p>
            <a:pPr algn="r" rtl="1">
              <a:lnSpc>
                <a:spcPts val="2100"/>
              </a:lnSpc>
              <a:spcBef>
                <a:spcPts val="0"/>
              </a:spcBef>
              <a:spcAft>
                <a:spcPts val="0"/>
              </a:spcAft>
            </a:pPr>
            <a:r>
              <a:rPr sz="1400" b="0" i="0">
                <a:solidFill>
                  <a:srgbClr val="465264"/>
                </a:solidFill>
                <a:latin typeface="IBM Plex Sans Arabic"/>
                <a:ea typeface="IBM Plex Sans Arabic"/>
                <a:cs typeface="IBM Plex Sans Arabic"/>
              </a:rPr>
              <a:t>لكل مؤشر هدف داخلي واتجاه عبر الزمن. تحقيق الهدف الداخلي لا يعني اكتمال المتطلب التنظيمي.</a:t>
            </a:r>
          </a:p>
        </p:txBody>
      </p:sp>
      <p:graphicFrame>
        <p:nvGraphicFramePr>
          <p:cNvPr id="6" name="Table 5"/>
          <p:cNvGraphicFramePr>
            <a:graphicFrameLocks noGrp="1"/>
          </p:cNvGraphicFramePr>
          <p:nvPr/>
        </p:nvGraphicFramePr>
        <p:xfrm>
          <a:off x="815975" y="2325886"/>
          <a:ext cx="10560050" cy="3004839"/>
        </p:xfrm>
        <a:graphic>
          <a:graphicData uri="http://schemas.openxmlformats.org/drawingml/2006/table">
            <a:tbl>
              <a:tblPr firstRow="0" bandRow="0" lastRow="0" firstCol="0" lastCol="0" bandCol="0">
                <a:tableStyleId>{2D5ABB26-0587-4C30-8999-92F81FD0307C}</a:tableStyleId>
              </a:tblPr>
              <a:tblGrid>
                <a:gridCol w="6124575"/>
                <a:gridCol w="1267460"/>
                <a:gridCol w="3168015"/>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طريقة الحساب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الضابط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المؤشر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كما تحسبها أداة التقييم المعتمدة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1-8-1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نسبة الامتثال الكلية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الأجهزة المحمية ÷ الأجهزة في سجل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2-3-3-1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تغطية حماية نقاط النهاية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المشمولة بإلزام مفعّل ÷ الحسابات المعنية، مع الاستثناءات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2-2-3-2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إلزام التحقق للحسابات المميزة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عددها وأعمارها حسب مستوى الخطورة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2-10-3-3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ثغرات تجاوزت مدة المعالجة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المصادر المربوطة ÷ الأصول الحساسة في سجل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2-12-3-1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تغطية السجلات للأصول الحساسة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الناجحة ÷ المنفذة، والأنظمة الحرجة المختبرة ÷ كلها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2-9-3-3</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اختبارات الاستعادة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الحالات المُلغاة في كل الأنظمة ضمن المعيار ÷ كل الحالات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1-9-5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إلغاء الصلاحيات في الموعد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النقرات ÷ المستلمين، مع نسبة الإبلاغ</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a:lnSpc>
                          <a:spcPts val="1739"/>
                        </a:lnSpc>
                        <a:spcBef>
                          <a:spcPts val="0"/>
                        </a:spcBef>
                        <a:spcAft>
                          <a:spcPts val="0"/>
                        </a:spcAft>
                      </a:pPr>
                      <a:r>
                        <a:rPr sz="1200" b="1" i="0">
                          <a:solidFill>
                            <a:srgbClr val="0B6F7C"/>
                          </a:solidFill>
                          <a:latin typeface="IBM Plex Mono"/>
                          <a:ea typeface="IBM Plex Mono"/>
                          <a:cs typeface="IBM Plex Mono"/>
                        </a:rPr>
                        <a:t>1-10-5</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نتيجة محاكاة التصيد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bl>
          </a:graphicData>
        </a:graphic>
      </p:graphicFrame>
      <p:sp>
        <p:nvSpPr>
          <p:cNvPr id="7" name="Text 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8" name="Box 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1" name="Box 1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2" name="Box 1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3" name="Box 1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4" name="Box 13"/>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15" name="Box 14"/>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16" name="Box 1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7" name="Text 1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952434" y="812800"/>
            <a:ext cx="14267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القياس</a:t>
            </a:r>
          </a:p>
        </p:txBody>
      </p:sp>
      <p:sp>
        <p:nvSpPr>
          <p:cNvPr id="4" name="Text 3"/>
          <p:cNvSpPr txBox="1"/>
          <p:nvPr/>
        </p:nvSpPr>
        <p:spPr>
          <a:xfrm>
            <a:off x="8292513" y="827278"/>
            <a:ext cx="154562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مثال دليل · ‎1-2-3‎ و‎1-8‎</a:t>
            </a:r>
          </a:p>
        </p:txBody>
      </p:sp>
      <p:sp>
        <p:nvSpPr>
          <p:cNvPr id="5" name="Text 4"/>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لوحة المؤشرات: الهدف الداخلي غير اكتمال المتطلب</a:t>
            </a:r>
          </a:p>
        </p:txBody>
      </p:sp>
      <p:sp>
        <p:nvSpPr>
          <p:cNvPr id="6" name="Text box 5"/>
          <p:cNvSpPr/>
          <p:nvPr/>
        </p:nvSpPr>
        <p:spPr>
          <a:xfrm>
            <a:off x="10037862" y="1776611"/>
            <a:ext cx="1341338"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نموذج دليل تدريبي</a:t>
            </a:r>
          </a:p>
        </p:txBody>
      </p:sp>
      <p:sp>
        <p:nvSpPr>
          <p:cNvPr id="7" name="Text 6"/>
          <p:cNvSpPr txBox="1"/>
          <p:nvPr/>
        </p:nvSpPr>
        <p:spPr>
          <a:xfrm>
            <a:off x="8996204" y="1798709"/>
            <a:ext cx="97815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يرتبط بالضوابط:</a:t>
            </a:r>
          </a:p>
        </p:txBody>
      </p:sp>
      <p:sp>
        <p:nvSpPr>
          <p:cNvPr id="8" name="Text box 7"/>
          <p:cNvSpPr/>
          <p:nvPr/>
        </p:nvSpPr>
        <p:spPr>
          <a:xfrm>
            <a:off x="8389144" y="1776611"/>
            <a:ext cx="635000" cy="274241"/>
          </a:xfrm>
          <a:prstGeom prst="roundRect">
            <a:avLst>
              <a:gd name="adj" fmla="val 27785"/>
            </a:avLst>
          </a:prstGeom>
          <a:solidFill>
            <a:srgbClr val="DCEEEF"/>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0B6F7C"/>
                </a:solidFill>
                <a:latin typeface="IBM Plex Mono"/>
                <a:ea typeface="IBM Plex Mono"/>
                <a:cs typeface="IBM Plex Mono"/>
              </a:rPr>
              <a:t>1-2-3</a:t>
            </a:r>
          </a:p>
        </p:txBody>
      </p:sp>
      <p:sp>
        <p:nvSpPr>
          <p:cNvPr id="9" name="Text box 8"/>
          <p:cNvSpPr/>
          <p:nvPr/>
        </p:nvSpPr>
        <p:spPr>
          <a:xfrm>
            <a:off x="7690644" y="1776611"/>
            <a:ext cx="635000" cy="274241"/>
          </a:xfrm>
          <a:prstGeom prst="roundRect">
            <a:avLst>
              <a:gd name="adj" fmla="val 27785"/>
            </a:avLst>
          </a:prstGeom>
          <a:solidFill>
            <a:srgbClr val="DCEEEF"/>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0B6F7C"/>
                </a:solidFill>
                <a:latin typeface="IBM Plex Mono"/>
                <a:ea typeface="IBM Plex Mono"/>
                <a:cs typeface="IBM Plex Mono"/>
              </a:rPr>
              <a:t>1-8-1</a:t>
            </a:r>
          </a:p>
        </p:txBody>
      </p:sp>
      <p:sp>
        <p:nvSpPr>
          <p:cNvPr id="10" name="Text box 9"/>
          <p:cNvSpPr/>
          <p:nvPr/>
        </p:nvSpPr>
        <p:spPr>
          <a:xfrm>
            <a:off x="6992144" y="1776611"/>
            <a:ext cx="635000" cy="274241"/>
          </a:xfrm>
          <a:prstGeom prst="roundRect">
            <a:avLst>
              <a:gd name="adj" fmla="val 27785"/>
            </a:avLst>
          </a:prstGeom>
          <a:solidFill>
            <a:srgbClr val="DCEEEF"/>
          </a:solidFill>
          <a:ln>
            <a:noFill/>
          </a:ln>
        </p:spPr>
        <p:txBody>
          <a:bodyPr rtlCol="0" anchor="ctr" wrap="square" tIns="5876" rIns="66582" bIns="25688" lIns="0" anchorCtr="0">
            <a:noAutofit/>
          </a:bodyPr>
          <a:lstStyle/>
          <a:p>
            <a:pPr algn="r">
              <a:lnSpc>
                <a:spcPts val="1560"/>
              </a:lnSpc>
              <a:spcBef>
                <a:spcPts val="0"/>
              </a:spcBef>
              <a:spcAft>
                <a:spcPts val="0"/>
              </a:spcAft>
            </a:pPr>
            <a:r>
              <a:rPr sz="1200" b="1" i="0">
                <a:solidFill>
                  <a:srgbClr val="0B6F7C"/>
                </a:solidFill>
                <a:latin typeface="IBM Plex Mono"/>
                <a:ea typeface="IBM Plex Mono"/>
                <a:cs typeface="IBM Plex Mono"/>
              </a:rPr>
              <a:t>1-8-3</a:t>
            </a:r>
          </a:p>
        </p:txBody>
      </p:sp>
      <p:sp>
        <p:nvSpPr>
          <p:cNvPr id="11" name="Box 10"/>
          <p:cNvSpPr/>
          <p:nvPr/>
        </p:nvSpPr>
        <p:spPr>
          <a:xfrm>
            <a:off x="815975" y="2181027"/>
            <a:ext cx="10560050" cy="3484463"/>
          </a:xfrm>
          <a:prstGeom prst="roundRect">
            <a:avLst>
              <a:gd name="adj" fmla="val 2910"/>
            </a:avLst>
          </a:prstGeom>
          <a:solidFill>
            <a:srgbClr val="FBFAF7"/>
          </a:solidFill>
          <a:ln w="6350">
            <a:solidFill>
              <a:srgbClr val="DDD7CA"/>
            </a:solidFill>
          </a:ln>
        </p:spPr>
        <p:txBody>
          <a:bodyPr rtlCol="0" anchor="ctr"/>
          <a:lstStyle/>
          <a:p>
            <a:pPr algn="ctr"/>
          </a:p>
        </p:txBody>
      </p:sp>
      <p:sp>
        <p:nvSpPr>
          <p:cNvPr id="12" name="Box 11"/>
          <p:cNvSpPr/>
          <p:nvPr/>
        </p:nvSpPr>
        <p:spPr>
          <a:xfrm>
            <a:off x="819150" y="2184202"/>
            <a:ext cx="105537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13" name="Box 12"/>
          <p:cNvSpPr/>
          <p:nvPr/>
        </p:nvSpPr>
        <p:spPr>
          <a:xfrm>
            <a:off x="946150" y="2314972"/>
            <a:ext cx="88900" cy="88900"/>
          </a:xfrm>
          <a:prstGeom prst="roundRect">
            <a:avLst>
              <a:gd name="adj" fmla="val 50000"/>
            </a:avLst>
          </a:prstGeom>
          <a:solidFill>
            <a:srgbClr val="E46A5A"/>
          </a:solidFill>
          <a:ln>
            <a:noFill/>
          </a:ln>
        </p:spPr>
        <p:txBody>
          <a:bodyPr rtlCol="0" anchor="ctr"/>
          <a:lstStyle/>
          <a:p>
            <a:pPr algn="ctr"/>
          </a:p>
        </p:txBody>
      </p:sp>
      <p:sp>
        <p:nvSpPr>
          <p:cNvPr id="14" name="Box 13"/>
          <p:cNvSpPr/>
          <p:nvPr/>
        </p:nvSpPr>
        <p:spPr>
          <a:xfrm>
            <a:off x="1098550" y="2314972"/>
            <a:ext cx="88900" cy="88900"/>
          </a:xfrm>
          <a:prstGeom prst="roundRect">
            <a:avLst>
              <a:gd name="adj" fmla="val 50000"/>
            </a:avLst>
          </a:prstGeom>
          <a:solidFill>
            <a:srgbClr val="E8B44A"/>
          </a:solidFill>
          <a:ln>
            <a:noFill/>
          </a:ln>
        </p:spPr>
        <p:txBody>
          <a:bodyPr rtlCol="0" anchor="ctr"/>
          <a:lstStyle/>
          <a:p>
            <a:pPr algn="ctr"/>
          </a:p>
        </p:txBody>
      </p:sp>
      <p:sp>
        <p:nvSpPr>
          <p:cNvPr id="15" name="Box 14"/>
          <p:cNvSpPr/>
          <p:nvPr/>
        </p:nvSpPr>
        <p:spPr>
          <a:xfrm>
            <a:off x="1250950" y="2314972"/>
            <a:ext cx="88900" cy="88900"/>
          </a:xfrm>
          <a:prstGeom prst="roundRect">
            <a:avLst>
              <a:gd name="adj" fmla="val 50000"/>
            </a:avLst>
          </a:prstGeom>
          <a:solidFill>
            <a:srgbClr val="5DB27A"/>
          </a:solidFill>
          <a:ln>
            <a:noFill/>
          </a:ln>
        </p:spPr>
        <p:txBody>
          <a:bodyPr rtlCol="0" anchor="ctr"/>
          <a:lstStyle/>
          <a:p>
            <a:pPr algn="ctr"/>
          </a:p>
        </p:txBody>
      </p:sp>
      <p:sp>
        <p:nvSpPr>
          <p:cNvPr id="16" name="Text 15"/>
          <p:cNvSpPr txBox="1"/>
          <p:nvPr/>
        </p:nvSpPr>
        <p:spPr>
          <a:xfrm>
            <a:off x="8201112" y="2244400"/>
            <a:ext cx="304473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لوحة مؤشرات اللجنة الإشرافية · الربع الثالث 2026</a:t>
            </a:r>
          </a:p>
        </p:txBody>
      </p:sp>
      <p:graphicFrame>
        <p:nvGraphicFramePr>
          <p:cNvPr id="17" name="Table 16"/>
          <p:cNvGraphicFramePr>
            <a:graphicFrameLocks noGrp="1"/>
          </p:cNvGraphicFramePr>
          <p:nvPr/>
        </p:nvGraphicFramePr>
        <p:xfrm>
          <a:off x="962025" y="2664817"/>
          <a:ext cx="10267950" cy="2867319"/>
        </p:xfrm>
        <a:graphic>
          <a:graphicData uri="http://schemas.openxmlformats.org/drawingml/2006/table">
            <a:tbl>
              <a:tblPr firstRow="0" bandRow="0" lastRow="0" firstCol="0" lastCol="0" bandCol="0">
                <a:tableStyleId>{2D5ABB26-0587-4C30-8999-92F81FD0307C}</a:tableStyleId>
              </a:tblPr>
              <a:tblGrid>
                <a:gridCol w="2464435"/>
                <a:gridCol w="1437640"/>
                <a:gridCol w="1231900"/>
                <a:gridCol w="1129030"/>
                <a:gridCol w="1848485"/>
                <a:gridCol w="215646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الفجوة أو الخطر المتبقي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اكتمال المتطلب</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حالة الهدف</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الهدف الداخلي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القيمة في ‎2026-09-30‎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المؤشر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ضوابط غير مكتملة في التقييم الذاتي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مكتمل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90%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78%</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الامتثال (تقييم ذاتي)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240 جهازاً بلا حماية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مكتمل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100%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83% (1,180 من 1,420)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حماية نقاط النهاية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13 حساباً بلا إلزام فعّال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مكتمل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100%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59% (22 من 37)</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التحقق للحسابات المميزة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6 ثغرات حرجة مفتوحة بعد المدة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مكتمل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ثغرات حرجة تجاوزت المدة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4 أصول حساسة بلا سجلات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مكتمل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90%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92% (46 من 50)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سجلات الأصول الحساسة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5 من 9 أنظمة حرجة لم تُختبر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يحتاج أدلة إضافية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22704E"/>
                          </a:solidFill>
                          <a:latin typeface="IBM Plex Sans Arabic"/>
                          <a:ea typeface="IBM Plex Sans Arabic"/>
                          <a:cs typeface="IBM Plex Sans Arabic"/>
                        </a:rPr>
                        <a:t>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4 من 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4 من 4 ناجحة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اختبارات الاستعادة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3 حالات متأخرة، أقصاها 40 يوماً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مكتمل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100%</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40% (2 من 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إلغاء الصلاحيات في الموعد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يقيس الأثر لا تغطية البرنامج</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يحتاج أدلة إضافية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1" i="0">
                          <a:solidFill>
                            <a:srgbClr val="A6461A"/>
                          </a:solidFill>
                          <a:latin typeface="IBM Plex Sans Arabic"/>
                          <a:ea typeface="IBM Plex Sans Arabic"/>
                          <a:cs typeface="IBM Plex Sans Arabic"/>
                        </a:rPr>
                        <a:t>غير متحقق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نقر 5% أو أقل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نقر 7% · إبلاغ 23%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محاكاة التصيد (أغسطس)</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bl>
          </a:graphicData>
        </a:graphic>
      </p:graphicFrame>
      <p:sp>
        <p:nvSpPr>
          <p:cNvPr id="18" name="Text 1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19" name="Box 1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0" name="Box 1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1" name="Box 2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2" name="Box 2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23" name="Box 2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24" name="Box 2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25" name="Box 24"/>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26" name="Box 25"/>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27" name="Box 2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28" name="Text 2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737898" y="812800"/>
            <a:ext cx="2641302"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الجاهزية · ممارسات مقترحة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الاستعداد لتقييم الهيئة</a:t>
            </a:r>
          </a:p>
        </p:txBody>
      </p:sp>
      <p:sp>
        <p:nvSpPr>
          <p:cNvPr id="5" name="Box 4"/>
          <p:cNvSpPr/>
          <p:nvPr/>
        </p:nvSpPr>
        <p:spPr>
          <a:xfrm>
            <a:off x="6200775" y="1855986"/>
            <a:ext cx="5175250" cy="2622550"/>
          </a:xfrm>
          <a:prstGeom prst="roundRect">
            <a:avLst>
              <a:gd name="adj" fmla="val 4830"/>
            </a:avLst>
          </a:prstGeom>
          <a:solidFill>
            <a:srgbClr val="FCFBF8"/>
          </a:solidFill>
          <a:ln w="6350">
            <a:solidFill>
              <a:srgbClr val="DDD7CA"/>
            </a:solidFill>
          </a:ln>
        </p:spPr>
        <p:txBody>
          <a:bodyPr rtlCol="0" anchor="ctr"/>
          <a:lstStyle/>
          <a:p>
            <a:pPr algn="ctr"/>
          </a:p>
        </p:txBody>
      </p:sp>
      <p:sp>
        <p:nvSpPr>
          <p:cNvPr id="6" name="Box 5"/>
          <p:cNvSpPr/>
          <p:nvPr/>
        </p:nvSpPr>
        <p:spPr>
          <a:xfrm>
            <a:off x="10814050" y="2049661"/>
            <a:ext cx="355600" cy="355600"/>
          </a:xfrm>
          <a:prstGeom prst="roundRect">
            <a:avLst>
              <a:gd name="adj" fmla="val 28571"/>
            </a:avLst>
          </a:prstGeom>
          <a:solidFill>
            <a:srgbClr val="DCEEEF"/>
          </a:solidFill>
          <a:ln>
            <a:noFill/>
          </a:ln>
        </p:spPr>
        <p:txBody>
          <a:bodyPr rtlCol="0" anchor="ctr"/>
          <a:lstStyle/>
          <a:p>
            <a:pPr algn="ctr"/>
          </a:p>
        </p:txBody>
      </p:sp>
      <p:pic>
        <p:nvPicPr>
          <p:cNvPr id="7" name="Icon Clock 6" descr="icon064.png"/>
          <p:cNvPicPr>
            <a:picLocks noChangeAspect="1"/>
          </p:cNvPicPr>
          <p:nvPr/>
        </p:nvPicPr>
        <p:blipFill>
          <a:blip r:embed="rId2"/>
          <a:stretch>
            <a:fillRect/>
          </a:stretch>
        </p:blipFill>
        <p:spPr>
          <a:xfrm>
            <a:off x="10893425" y="2129036"/>
            <a:ext cx="196850" cy="196850"/>
          </a:xfrm>
          <a:prstGeom prst="rect">
            <a:avLst/>
          </a:prstGeom>
        </p:spPr>
      </p:pic>
      <p:sp>
        <p:nvSpPr>
          <p:cNvPr id="8" name="Text 7"/>
          <p:cNvSpPr txBox="1"/>
          <p:nvPr/>
        </p:nvSpPr>
        <p:spPr>
          <a:xfrm>
            <a:off x="9415482" y="2068700"/>
            <a:ext cx="1284268"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قبل التقييم</a:t>
            </a:r>
          </a:p>
        </p:txBody>
      </p:sp>
      <p:pic>
        <p:nvPicPr>
          <p:cNvPr id="9" name="Icon CheckCircle 8" descr="icon026.png"/>
          <p:cNvPicPr>
            <a:picLocks noChangeAspect="1"/>
          </p:cNvPicPr>
          <p:nvPr/>
        </p:nvPicPr>
        <p:blipFill>
          <a:blip r:embed="rId3"/>
          <a:stretch>
            <a:fillRect/>
          </a:stretch>
        </p:blipFill>
        <p:spPr>
          <a:xfrm>
            <a:off x="10915650" y="2557661"/>
            <a:ext cx="228600" cy="228600"/>
          </a:xfrm>
          <a:prstGeom prst="rect">
            <a:avLst/>
          </a:prstGeom>
        </p:spPr>
      </p:pic>
      <p:sp>
        <p:nvSpPr>
          <p:cNvPr id="10" name="Text 9"/>
          <p:cNvSpPr txBox="1"/>
          <p:nvPr/>
        </p:nvSpPr>
        <p:spPr>
          <a:xfrm>
            <a:off x="6223000" y="25025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سجل أدلة محدث لكل ضابط، بأدلة ضمن فترة التقييم</a:t>
            </a:r>
          </a:p>
        </p:txBody>
      </p:sp>
      <p:pic>
        <p:nvPicPr>
          <p:cNvPr id="11" name="Icon CheckCircle 10" descr="icon026.png"/>
          <p:cNvPicPr>
            <a:picLocks noChangeAspect="1"/>
          </p:cNvPicPr>
          <p:nvPr/>
        </p:nvPicPr>
        <p:blipFill>
          <a:blip r:embed="rId3"/>
          <a:stretch>
            <a:fillRect/>
          </a:stretch>
        </p:blipFill>
        <p:spPr>
          <a:xfrm>
            <a:off x="10915650" y="2925961"/>
            <a:ext cx="228600" cy="228600"/>
          </a:xfrm>
          <a:prstGeom prst="rect">
            <a:avLst/>
          </a:prstGeom>
        </p:spPr>
      </p:pic>
      <p:sp>
        <p:nvSpPr>
          <p:cNvPr id="12" name="Text 11"/>
          <p:cNvSpPr txBox="1"/>
          <p:nvPr/>
        </p:nvSpPr>
        <p:spPr>
          <a:xfrm>
            <a:off x="6223000" y="28708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تقييم ذاتي حديث بأداة الهيئة، وخطط معالجة لفجواته</a:t>
            </a:r>
          </a:p>
        </p:txBody>
      </p:sp>
      <p:pic>
        <p:nvPicPr>
          <p:cNvPr id="13" name="Icon CheckCircle 12" descr="icon026.png"/>
          <p:cNvPicPr>
            <a:picLocks noChangeAspect="1"/>
          </p:cNvPicPr>
          <p:nvPr/>
        </p:nvPicPr>
        <p:blipFill>
          <a:blip r:embed="rId3"/>
          <a:stretch>
            <a:fillRect/>
          </a:stretch>
        </p:blipFill>
        <p:spPr>
          <a:xfrm>
            <a:off x="10915650" y="3294261"/>
            <a:ext cx="228600" cy="228600"/>
          </a:xfrm>
          <a:prstGeom prst="rect">
            <a:avLst/>
          </a:prstGeom>
        </p:spPr>
      </p:pic>
      <p:sp>
        <p:nvSpPr>
          <p:cNvPr id="14" name="Text 13"/>
          <p:cNvSpPr txBox="1"/>
          <p:nvPr/>
        </p:nvSpPr>
        <p:spPr>
          <a:xfrm>
            <a:off x="6223000" y="32391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مبرر موثق ومعتمد لكل ضابط «غير منطبق»</a:t>
            </a:r>
          </a:p>
        </p:txBody>
      </p:sp>
      <p:pic>
        <p:nvPicPr>
          <p:cNvPr id="15" name="Icon CheckCircle 14" descr="icon026.png"/>
          <p:cNvPicPr>
            <a:picLocks noChangeAspect="1"/>
          </p:cNvPicPr>
          <p:nvPr/>
        </p:nvPicPr>
        <p:blipFill>
          <a:blip r:embed="rId3"/>
          <a:stretch>
            <a:fillRect/>
          </a:stretch>
        </p:blipFill>
        <p:spPr>
          <a:xfrm>
            <a:off x="10915650" y="3662561"/>
            <a:ext cx="228600" cy="228600"/>
          </a:xfrm>
          <a:prstGeom prst="rect">
            <a:avLst/>
          </a:prstGeom>
        </p:spPr>
      </p:pic>
      <p:sp>
        <p:nvSpPr>
          <p:cNvPr id="16" name="Text 15"/>
          <p:cNvSpPr txBox="1"/>
          <p:nvPr/>
        </p:nvSpPr>
        <p:spPr>
          <a:xfrm>
            <a:off x="6223000" y="36074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منسق رئيسي، ومسؤول لكل مكون فرعي</a:t>
            </a:r>
          </a:p>
        </p:txBody>
      </p:sp>
      <p:pic>
        <p:nvPicPr>
          <p:cNvPr id="17" name="Icon CheckCircle 16" descr="icon026.png"/>
          <p:cNvPicPr>
            <a:picLocks noChangeAspect="1"/>
          </p:cNvPicPr>
          <p:nvPr/>
        </p:nvPicPr>
        <p:blipFill>
          <a:blip r:embed="rId3"/>
          <a:stretch>
            <a:fillRect/>
          </a:stretch>
        </p:blipFill>
        <p:spPr>
          <a:xfrm>
            <a:off x="10915650" y="4030861"/>
            <a:ext cx="228600" cy="228600"/>
          </a:xfrm>
          <a:prstGeom prst="rect">
            <a:avLst/>
          </a:prstGeom>
        </p:spPr>
      </p:pic>
      <p:sp>
        <p:nvSpPr>
          <p:cNvPr id="18" name="Text 17"/>
          <p:cNvSpPr txBox="1"/>
          <p:nvPr/>
        </p:nvSpPr>
        <p:spPr>
          <a:xfrm>
            <a:off x="6223000" y="39757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عرض موجز: الهيكل والنطاق والإنجازات والفجوات</a:t>
            </a:r>
          </a:p>
        </p:txBody>
      </p:sp>
      <p:sp>
        <p:nvSpPr>
          <p:cNvPr id="19" name="Box 18"/>
          <p:cNvSpPr/>
          <p:nvPr/>
        </p:nvSpPr>
        <p:spPr>
          <a:xfrm>
            <a:off x="815975" y="1855986"/>
            <a:ext cx="5175250" cy="2622550"/>
          </a:xfrm>
          <a:prstGeom prst="roundRect">
            <a:avLst>
              <a:gd name="adj" fmla="val 4830"/>
            </a:avLst>
          </a:prstGeom>
          <a:solidFill>
            <a:srgbClr val="FCFBF8"/>
          </a:solidFill>
          <a:ln w="6350">
            <a:solidFill>
              <a:srgbClr val="DDD7CA"/>
            </a:solidFill>
          </a:ln>
        </p:spPr>
        <p:txBody>
          <a:bodyPr rtlCol="0" anchor="ctr"/>
          <a:lstStyle/>
          <a:p>
            <a:pPr algn="ctr"/>
          </a:p>
        </p:txBody>
      </p:sp>
      <p:sp>
        <p:nvSpPr>
          <p:cNvPr id="20" name="Box 19"/>
          <p:cNvSpPr/>
          <p:nvPr/>
        </p:nvSpPr>
        <p:spPr>
          <a:xfrm>
            <a:off x="5429250" y="2049661"/>
            <a:ext cx="355600" cy="355600"/>
          </a:xfrm>
          <a:prstGeom prst="roundRect">
            <a:avLst>
              <a:gd name="adj" fmla="val 28571"/>
            </a:avLst>
          </a:prstGeom>
          <a:solidFill>
            <a:srgbClr val="DCEEEF"/>
          </a:solidFill>
          <a:ln>
            <a:noFill/>
          </a:ln>
        </p:spPr>
        <p:txBody>
          <a:bodyPr rtlCol="0" anchor="ctr"/>
          <a:lstStyle/>
          <a:p>
            <a:pPr algn="ctr"/>
          </a:p>
        </p:txBody>
      </p:sp>
      <p:pic>
        <p:nvPicPr>
          <p:cNvPr id="21" name="Icon Users 20" descr="icon065.png"/>
          <p:cNvPicPr>
            <a:picLocks noChangeAspect="1"/>
          </p:cNvPicPr>
          <p:nvPr/>
        </p:nvPicPr>
        <p:blipFill>
          <a:blip r:embed="rId4"/>
          <a:stretch>
            <a:fillRect/>
          </a:stretch>
        </p:blipFill>
        <p:spPr>
          <a:xfrm>
            <a:off x="5508625" y="2129036"/>
            <a:ext cx="196850" cy="196850"/>
          </a:xfrm>
          <a:prstGeom prst="rect">
            <a:avLst/>
          </a:prstGeom>
        </p:spPr>
      </p:pic>
      <p:sp>
        <p:nvSpPr>
          <p:cNvPr id="22" name="Text 21"/>
          <p:cNvSpPr txBox="1"/>
          <p:nvPr/>
        </p:nvSpPr>
        <p:spPr>
          <a:xfrm>
            <a:off x="3328595" y="2068700"/>
            <a:ext cx="1986355" cy="274241"/>
          </a:xfrm>
          <a:prstGeom prst="rect">
            <a:avLst/>
          </a:prstGeom>
          <a:noFill/>
        </p:spPr>
        <p:txBody>
          <a:bodyPr wrap="square" tIns="0" rIns="0" bIns="0" lIns="0" anchor="t" rtlCol="0" anchorCtr="0">
            <a:noAutofit/>
          </a:bodyPr>
          <a:lstStyle/>
          <a:p>
            <a:pPr algn="r" rtl="1">
              <a:lnSpc>
                <a:spcPts val="2160"/>
              </a:lnSpc>
              <a:spcBef>
                <a:spcPts val="0"/>
              </a:spcBef>
              <a:spcAft>
                <a:spcPts val="0"/>
              </a:spcAft>
            </a:pPr>
            <a:r>
              <a:rPr sz="1600" b="1" i="0">
                <a:solidFill>
                  <a:srgbClr val="132033"/>
                </a:solidFill>
                <a:latin typeface="Alexandria"/>
                <a:ea typeface="Alexandria"/>
                <a:cs typeface="Alexandria"/>
              </a:rPr>
              <a:t>أثناء التقييم وبعده</a:t>
            </a:r>
          </a:p>
        </p:txBody>
      </p:sp>
      <p:pic>
        <p:nvPicPr>
          <p:cNvPr id="23" name="Icon CheckCircle 22" descr="icon026.png"/>
          <p:cNvPicPr>
            <a:picLocks noChangeAspect="1"/>
          </p:cNvPicPr>
          <p:nvPr/>
        </p:nvPicPr>
        <p:blipFill>
          <a:blip r:embed="rId3"/>
          <a:stretch>
            <a:fillRect/>
          </a:stretch>
        </p:blipFill>
        <p:spPr>
          <a:xfrm>
            <a:off x="5530850" y="2557661"/>
            <a:ext cx="228600" cy="228600"/>
          </a:xfrm>
          <a:prstGeom prst="rect">
            <a:avLst/>
          </a:prstGeom>
        </p:spPr>
      </p:pic>
      <p:sp>
        <p:nvSpPr>
          <p:cNvPr id="24" name="Text 23"/>
          <p:cNvSpPr txBox="1"/>
          <p:nvPr/>
        </p:nvSpPr>
        <p:spPr>
          <a:xfrm>
            <a:off x="838200" y="25025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قدّم الدليل المطلوب بالضبط، لا ملفات غير مطلوبة</a:t>
            </a:r>
          </a:p>
        </p:txBody>
      </p:sp>
      <p:pic>
        <p:nvPicPr>
          <p:cNvPr id="25" name="Icon CheckCircle 24" descr="icon026.png"/>
          <p:cNvPicPr>
            <a:picLocks noChangeAspect="1"/>
          </p:cNvPicPr>
          <p:nvPr/>
        </p:nvPicPr>
        <p:blipFill>
          <a:blip r:embed="rId3"/>
          <a:stretch>
            <a:fillRect/>
          </a:stretch>
        </p:blipFill>
        <p:spPr>
          <a:xfrm>
            <a:off x="5530850" y="2925961"/>
            <a:ext cx="228600" cy="228600"/>
          </a:xfrm>
          <a:prstGeom prst="rect">
            <a:avLst/>
          </a:prstGeom>
        </p:spPr>
      </p:pic>
      <p:sp>
        <p:nvSpPr>
          <p:cNvPr id="26" name="Text 25"/>
          <p:cNvSpPr txBox="1"/>
          <p:nvPr/>
        </p:nvSpPr>
        <p:spPr>
          <a:xfrm>
            <a:off x="838200" y="28708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اعرض الأنظمة مباشرة عند الطلب، لا لقطات قديمة</a:t>
            </a:r>
          </a:p>
        </p:txBody>
      </p:sp>
      <p:pic>
        <p:nvPicPr>
          <p:cNvPr id="27" name="Icon CheckCircle 26" descr="icon026.png"/>
          <p:cNvPicPr>
            <a:picLocks noChangeAspect="1"/>
          </p:cNvPicPr>
          <p:nvPr/>
        </p:nvPicPr>
        <p:blipFill>
          <a:blip r:embed="rId3"/>
          <a:stretch>
            <a:fillRect/>
          </a:stretch>
        </p:blipFill>
        <p:spPr>
          <a:xfrm>
            <a:off x="5530850" y="3294261"/>
            <a:ext cx="228600" cy="228600"/>
          </a:xfrm>
          <a:prstGeom prst="rect">
            <a:avLst/>
          </a:prstGeom>
        </p:spPr>
      </p:pic>
      <p:sp>
        <p:nvSpPr>
          <p:cNvPr id="28" name="Text 27"/>
          <p:cNvSpPr txBox="1"/>
          <p:nvPr/>
        </p:nvSpPr>
        <p:spPr>
          <a:xfrm>
            <a:off x="838200" y="32391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كن صريحاً في الفجوات، واعرض خطة معالجتها</a:t>
            </a:r>
          </a:p>
        </p:txBody>
      </p:sp>
      <p:pic>
        <p:nvPicPr>
          <p:cNvPr id="29" name="Icon CheckCircle 28" descr="icon026.png"/>
          <p:cNvPicPr>
            <a:picLocks noChangeAspect="1"/>
          </p:cNvPicPr>
          <p:nvPr/>
        </p:nvPicPr>
        <p:blipFill>
          <a:blip r:embed="rId3"/>
          <a:stretch>
            <a:fillRect/>
          </a:stretch>
        </p:blipFill>
        <p:spPr>
          <a:xfrm>
            <a:off x="5530850" y="3662561"/>
            <a:ext cx="228600" cy="228600"/>
          </a:xfrm>
          <a:prstGeom prst="rect">
            <a:avLst/>
          </a:prstGeom>
        </p:spPr>
      </p:pic>
      <p:sp>
        <p:nvSpPr>
          <p:cNvPr id="30" name="Text 29"/>
          <p:cNvSpPr txBox="1"/>
          <p:nvPr/>
        </p:nvSpPr>
        <p:spPr>
          <a:xfrm>
            <a:off x="838200" y="36074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دوّن كل طلب وموعده، وتابعه حتى الإغلاق</a:t>
            </a:r>
          </a:p>
        </p:txBody>
      </p:sp>
      <p:pic>
        <p:nvPicPr>
          <p:cNvPr id="31" name="Icon CheckCircle 30" descr="icon026.png"/>
          <p:cNvPicPr>
            <a:picLocks noChangeAspect="1"/>
          </p:cNvPicPr>
          <p:nvPr/>
        </p:nvPicPr>
        <p:blipFill>
          <a:blip r:embed="rId3"/>
          <a:stretch>
            <a:fillRect/>
          </a:stretch>
        </p:blipFill>
        <p:spPr>
          <a:xfrm>
            <a:off x="5530850" y="4030861"/>
            <a:ext cx="228600" cy="228600"/>
          </a:xfrm>
          <a:prstGeom prst="rect">
            <a:avLst/>
          </a:prstGeom>
        </p:spPr>
      </p:pic>
      <p:sp>
        <p:nvSpPr>
          <p:cNvPr id="32" name="Text 31"/>
          <p:cNvSpPr txBox="1"/>
          <p:nvPr/>
        </p:nvSpPr>
        <p:spPr>
          <a:xfrm>
            <a:off x="838200" y="3975743"/>
            <a:ext cx="45529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132033"/>
                </a:solidFill>
                <a:latin typeface="IBM Plex Sans Arabic"/>
                <a:ea typeface="IBM Plex Sans Arabic"/>
                <a:cs typeface="IBM Plex Sans Arabic"/>
              </a:rPr>
              <a:t>بعده: خطة تصحيحية تُعرض على اللجنة (‎1-8-3‎)</a:t>
            </a:r>
          </a:p>
        </p:txBody>
      </p:sp>
      <p:sp>
        <p:nvSpPr>
          <p:cNvPr id="33" name="Box 32"/>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34" name="Box 33"/>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35" name="Icon Book 34" descr="icon004.png"/>
          <p:cNvPicPr>
            <a:picLocks noChangeAspect="1"/>
          </p:cNvPicPr>
          <p:nvPr/>
        </p:nvPicPr>
        <p:blipFill>
          <a:blip r:embed="rId5"/>
          <a:stretch>
            <a:fillRect/>
          </a:stretch>
        </p:blipFill>
        <p:spPr>
          <a:xfrm>
            <a:off x="10864850" y="5329932"/>
            <a:ext cx="215900" cy="215900"/>
          </a:xfrm>
          <a:prstGeom prst="rect">
            <a:avLst/>
          </a:prstGeom>
        </p:spPr>
      </p:pic>
      <p:sp>
        <p:nvSpPr>
          <p:cNvPr id="36" name="Text 35"/>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تذكّر</a:t>
            </a:r>
          </a:p>
        </p:txBody>
      </p:sp>
      <p:sp>
        <p:nvSpPr>
          <p:cNvPr id="37" name="Text 36"/>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هذه ممارسات مقترحة من الكورس، لا إجراءات الهيئة الرسمية. اتبع دائماً تعليمات الهيئة وأداتها المعتمدة.</a:t>
            </a:r>
          </a:p>
        </p:txBody>
      </p:sp>
      <p:sp>
        <p:nvSpPr>
          <p:cNvPr id="38" name="Text 3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39" name="Box 3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0" name="Box 3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1" name="Box 4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2" name="Box 4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3" name="Box 4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4" name="Box 4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5" name="Box 44"/>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6" name="Box 45"/>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47" name="Box 46"/>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8" name="Text 4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59962" y="812800"/>
            <a:ext cx="151923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المراجعة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سبعة أخطاء شائعة في التطبيق وتصحيحها</a:t>
            </a:r>
          </a:p>
        </p:txBody>
      </p:sp>
      <p:graphicFrame>
        <p:nvGraphicFramePr>
          <p:cNvPr id="5" name="Table 4"/>
          <p:cNvGraphicFramePr>
            <a:graphicFrameLocks noGrp="1"/>
          </p:cNvGraphicFramePr>
          <p:nvPr/>
        </p:nvGraphicFramePr>
        <p:xfrm>
          <a:off x="815975" y="1855986"/>
          <a:ext cx="10560050" cy="2670968"/>
        </p:xfrm>
        <a:graphic>
          <a:graphicData uri="http://schemas.openxmlformats.org/drawingml/2006/table">
            <a:tbl>
              <a:tblPr firstRow="0" bandRow="0" lastRow="0" firstCol="0" lastCol="0" bandCol="0">
                <a:tableStyleId>{2D5ABB26-0587-4C30-8999-92F81FD0307C}</a:tableStyleId>
              </a:tblPr>
              <a:tblGrid>
                <a:gridCol w="5702300"/>
                <a:gridCol w="4224020"/>
                <a:gridCol w="63373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التصحيح</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الخطأ</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برنامج يشمل الاستراتيجية والأشخاص والإجراءات والتقنية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التعامل مع ECC كمشروع تقني فقط</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لكل وثيقة (‎X-1‎) دليل تطبيق (‎X-2‎) وأدلة تشغيلية للحد الأدنى (‎X-3‎)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وثائق ممتازة بلا تطبيق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الحصر والتصنيف والمخاطر أولاً، ثم الأدوات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شراء الأدوات قبل حصر الأصول وتصنيفها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قياس التغطية بالمطابقة مع سجل الأصول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التطبيق على جزء من النطاق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تقويم استدامة بمواعيد ومالكين</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نسيان المراجعات الدورية بعد انتهاء المشروع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مبرر موثق ومعتمد، أو خطة تطبيق بموعد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«غير منطبق» للضوابط الصعبة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تتبّع خاص لـ ‎1-2-1‎ و‎1-2-2‎ و‎2-8-3‎ و‎2-13-3-3‎ و‎2-13-3-4‎ و‎4-1-3-2‎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إغفال المتطلبات الوطنية الخاصة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7</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6" name="Box 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7" name="Box 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8" name="Icon Warning 7" descr="icon032.png"/>
          <p:cNvPicPr>
            <a:picLocks noChangeAspect="1"/>
          </p:cNvPicPr>
          <p:nvPr/>
        </p:nvPicPr>
        <p:blipFill>
          <a:blip r:embed="rId2"/>
          <a:stretch>
            <a:fillRect/>
          </a:stretch>
        </p:blipFill>
        <p:spPr>
          <a:xfrm>
            <a:off x="10864850" y="5329932"/>
            <a:ext cx="215900" cy="215900"/>
          </a:xfrm>
          <a:prstGeom prst="rect">
            <a:avLst/>
          </a:prstGeom>
        </p:spPr>
      </p:pic>
      <p:sp>
        <p:nvSpPr>
          <p:cNvPr id="9" name="Text 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F29A68"/>
                </a:solidFill>
                <a:latin typeface="IBM Plex Sans Arabic"/>
                <a:ea typeface="IBM Plex Sans Arabic"/>
                <a:cs typeface="IBM Plex Sans Arabic"/>
              </a:rPr>
              <a:t>الأكثر شيوعاً</a:t>
            </a:r>
          </a:p>
        </p:txBody>
      </p:sp>
      <p:sp>
        <p:nvSpPr>
          <p:cNvPr id="10" name="Text 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الخطأ الثاني هو الأشيع بلا منازع: حزمة سياسات معتمدة وممتازة، وتطبيق جزئي أو غائب.</a:t>
            </a:r>
          </a:p>
        </p:txBody>
      </p:sp>
      <p:sp>
        <p:nvSpPr>
          <p:cNvPr id="11" name="Text 1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12" name="Box 1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3" name="Box 1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4" name="Box 13"/>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5" name="Box 14"/>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6" name="Box 15"/>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7" name="Box 16"/>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8" name="Box 17"/>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19" name="Box 18"/>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20" name="Box 1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21" name="Text 2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766076" y="812800"/>
            <a:ext cx="2613124"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تمرين 8 · المشروع التطبيقي · 40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خطة تطبيق مكوّن فرعي: من جهتك أو من الجهة الافتراضية</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مساران: من يعمل في جهة يختار مكوّناً فرعياً من جهته؛ ومن لا يعمل يستخدم ملفات «هيئة المدار» الافتراضية. املأ البطاقة بحقولها السبعة.</a:t>
            </a:r>
          </a:p>
        </p:txBody>
      </p:sp>
      <p:sp>
        <p:nvSpPr>
          <p:cNvPr id="9" name="Box 8"/>
          <p:cNvSpPr/>
          <p:nvPr/>
        </p:nvSpPr>
        <p:spPr>
          <a:xfrm>
            <a:off x="8159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5530850" y="2887861"/>
            <a:ext cx="317500" cy="317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5590064"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2" name="Text 11"/>
          <p:cNvSpPr txBox="1"/>
          <p:nvPr/>
        </p:nvSpPr>
        <p:spPr>
          <a:xfrm>
            <a:off x="8382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الوثائق:</a:t>
            </a:r>
            <a:r>
              <a:rPr sz="1300" b="0" i="0">
                <a:solidFill>
                  <a:srgbClr val="132033"/>
                </a:solidFill>
                <a:latin typeface="IBM Plex Sans Arabic"/>
                <a:ea typeface="IBM Plex Sans Arabic"/>
                <a:cs typeface="IBM Plex Sans Arabic"/>
              </a:rPr>
              <a:t> ما الذي يُكتب أو يُحدَّث ويُعتمد؟</a:t>
            </a:r>
          </a:p>
        </p:txBody>
      </p:sp>
      <p:sp>
        <p:nvSpPr>
          <p:cNvPr id="13" name="Box 12"/>
          <p:cNvSpPr/>
          <p:nvPr/>
        </p:nvSpPr>
        <p:spPr>
          <a:xfrm>
            <a:off x="6175375" y="27576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10890250" y="2887861"/>
            <a:ext cx="317500" cy="317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16" name="Text 15"/>
          <p:cNvSpPr txBox="1"/>
          <p:nvPr/>
        </p:nvSpPr>
        <p:spPr>
          <a:xfrm>
            <a:off x="6197600" y="28972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الوضع الحالي:</a:t>
            </a:r>
            <a:r>
              <a:rPr sz="1300" b="0" i="0">
                <a:solidFill>
                  <a:srgbClr val="132033"/>
                </a:solidFill>
                <a:latin typeface="IBM Plex Sans Arabic"/>
                <a:ea typeface="IBM Plex Sans Arabic"/>
                <a:cs typeface="IBM Plex Sans Arabic"/>
              </a:rPr>
              <a:t> ما المطبق اليوم، وما الفجوات؟</a:t>
            </a:r>
          </a:p>
        </p:txBody>
      </p:sp>
      <p:sp>
        <p:nvSpPr>
          <p:cNvPr id="17" name="Box 16"/>
          <p:cNvSpPr/>
          <p:nvPr/>
        </p:nvSpPr>
        <p:spPr>
          <a:xfrm>
            <a:off x="8159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5530850" y="3599061"/>
            <a:ext cx="317500" cy="317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5589865" y="368657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0" name="Text 19"/>
          <p:cNvSpPr txBox="1"/>
          <p:nvPr/>
        </p:nvSpPr>
        <p:spPr>
          <a:xfrm>
            <a:off x="8382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الاعتماديات:</a:t>
            </a:r>
            <a:r>
              <a:rPr sz="1300" b="0" i="0">
                <a:solidFill>
                  <a:srgbClr val="132033"/>
                </a:solidFill>
                <a:latin typeface="IBM Plex Sans Arabic"/>
                <a:ea typeface="IBM Plex Sans Arabic"/>
                <a:cs typeface="IBM Plex Sans Arabic"/>
              </a:rPr>
              <a:t> ما الذي يجب أن يسبقها؟</a:t>
            </a:r>
          </a:p>
        </p:txBody>
      </p:sp>
      <p:sp>
        <p:nvSpPr>
          <p:cNvPr id="21" name="Box 20"/>
          <p:cNvSpPr/>
          <p:nvPr/>
        </p:nvSpPr>
        <p:spPr>
          <a:xfrm>
            <a:off x="6175375" y="34688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10890250" y="3599061"/>
            <a:ext cx="317500" cy="317500"/>
          </a:xfrm>
          <a:prstGeom prst="roundRect">
            <a:avLst>
              <a:gd name="adj" fmla="val 50000"/>
            </a:avLst>
          </a:prstGeom>
          <a:solidFill>
            <a:srgbClr val="0B6F7C"/>
          </a:solidFill>
          <a:ln>
            <a:noFill/>
          </a:ln>
        </p:spPr>
        <p:txBody>
          <a:bodyPr rtlCol="0" anchor="ctr"/>
          <a:lstStyle/>
          <a:p>
            <a:pPr algn="ctr"/>
          </a:p>
        </p:txBody>
      </p:sp>
      <p:sp>
        <p:nvSpPr>
          <p:cNvPr id="23" name="Text 22"/>
          <p:cNvSpPr txBox="1"/>
          <p:nvPr/>
        </p:nvSpPr>
        <p:spPr>
          <a:xfrm>
            <a:off x="10949662" y="368657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24" name="Text 23"/>
          <p:cNvSpPr txBox="1"/>
          <p:nvPr/>
        </p:nvSpPr>
        <p:spPr>
          <a:xfrm>
            <a:off x="6197600" y="36084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المبادرات:</a:t>
            </a:r>
            <a:r>
              <a:rPr sz="1300" b="0" i="0">
                <a:solidFill>
                  <a:srgbClr val="132033"/>
                </a:solidFill>
                <a:latin typeface="IBM Plex Sans Arabic"/>
                <a:ea typeface="IBM Plex Sans Arabic"/>
                <a:cs typeface="IBM Plex Sans Arabic"/>
              </a:rPr>
              <a:t> ما الذي يُنفذ تقنياً وتشغيلياً؟</a:t>
            </a:r>
          </a:p>
        </p:txBody>
      </p:sp>
      <p:sp>
        <p:nvSpPr>
          <p:cNvPr id="25" name="Box 24"/>
          <p:cNvSpPr/>
          <p:nvPr/>
        </p:nvSpPr>
        <p:spPr>
          <a:xfrm>
            <a:off x="8159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5530850" y="4310261"/>
            <a:ext cx="317500" cy="317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5587980" y="43977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8" name="Text 27"/>
          <p:cNvSpPr txBox="1"/>
          <p:nvPr/>
        </p:nvSpPr>
        <p:spPr>
          <a:xfrm>
            <a:off x="8382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الأدلة:</a:t>
            </a:r>
            <a:r>
              <a:rPr sz="1300" b="0" i="0">
                <a:solidFill>
                  <a:srgbClr val="132033"/>
                </a:solidFill>
                <a:latin typeface="IBM Plex Sans Arabic"/>
                <a:ea typeface="IBM Plex Sans Arabic"/>
                <a:cs typeface="IBM Plex Sans Arabic"/>
              </a:rPr>
              <a:t> ما الدليل المطلوب لكل ضابط، وما حدوده؟</a:t>
            </a:r>
          </a:p>
        </p:txBody>
      </p:sp>
      <p:sp>
        <p:nvSpPr>
          <p:cNvPr id="29" name="Box 28"/>
          <p:cNvSpPr/>
          <p:nvPr/>
        </p:nvSpPr>
        <p:spPr>
          <a:xfrm>
            <a:off x="6175375" y="41800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4310261"/>
            <a:ext cx="317500" cy="317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10947777" y="4397770"/>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2" name="Text 31"/>
          <p:cNvSpPr txBox="1"/>
          <p:nvPr/>
        </p:nvSpPr>
        <p:spPr>
          <a:xfrm>
            <a:off x="6197600" y="43196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المالكون والمواعيد:</a:t>
            </a:r>
            <a:r>
              <a:rPr sz="1300" b="0" i="0">
                <a:solidFill>
                  <a:srgbClr val="132033"/>
                </a:solidFill>
                <a:latin typeface="IBM Plex Sans Arabic"/>
                <a:ea typeface="IBM Plex Sans Arabic"/>
                <a:cs typeface="IBM Plex Sans Arabic"/>
              </a:rPr>
              <a:t> من ينفذ، ومتى؟</a:t>
            </a:r>
          </a:p>
        </p:txBody>
      </p:sp>
      <p:sp>
        <p:nvSpPr>
          <p:cNvPr id="33" name="Box 32"/>
          <p:cNvSpPr/>
          <p:nvPr/>
        </p:nvSpPr>
        <p:spPr>
          <a:xfrm>
            <a:off x="6175375" y="4891286"/>
            <a:ext cx="5200650"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4" name="Box 33"/>
          <p:cNvSpPr/>
          <p:nvPr/>
        </p:nvSpPr>
        <p:spPr>
          <a:xfrm>
            <a:off x="10890250" y="5021461"/>
            <a:ext cx="317500" cy="317500"/>
          </a:xfrm>
          <a:prstGeom prst="roundRect">
            <a:avLst>
              <a:gd name="adj" fmla="val 50000"/>
            </a:avLst>
          </a:prstGeom>
          <a:solidFill>
            <a:srgbClr val="0B6F7C"/>
          </a:solidFill>
          <a:ln>
            <a:noFill/>
          </a:ln>
        </p:spPr>
        <p:txBody>
          <a:bodyPr rtlCol="0" anchor="ctr"/>
          <a:lstStyle/>
          <a:p>
            <a:pPr algn="ctr"/>
          </a:p>
        </p:txBody>
      </p:sp>
      <p:sp>
        <p:nvSpPr>
          <p:cNvPr id="35" name="Text 34"/>
          <p:cNvSpPr txBox="1"/>
          <p:nvPr/>
        </p:nvSpPr>
        <p:spPr>
          <a:xfrm>
            <a:off x="10950754" y="5108970"/>
            <a:ext cx="19639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7</a:t>
            </a:r>
          </a:p>
        </p:txBody>
      </p:sp>
      <p:sp>
        <p:nvSpPr>
          <p:cNvPr id="36" name="Text 35"/>
          <p:cNvSpPr txBox="1"/>
          <p:nvPr/>
        </p:nvSpPr>
        <p:spPr>
          <a:xfrm>
            <a:off x="6197600" y="5030835"/>
            <a:ext cx="456565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الاستدامة:</a:t>
            </a:r>
            <a:r>
              <a:rPr sz="1300" b="0" i="0">
                <a:solidFill>
                  <a:srgbClr val="132033"/>
                </a:solidFill>
                <a:latin typeface="IBM Plex Sans Arabic"/>
                <a:ea typeface="IBM Plex Sans Arabic"/>
                <a:cs typeface="IBM Plex Sans Arabic"/>
              </a:rPr>
              <a:t> ما المؤشر، ومتى المراجعة الدورية؟</a:t>
            </a:r>
          </a:p>
        </p:txBody>
      </p:sp>
      <p:sp>
        <p:nvSpPr>
          <p:cNvPr id="37" name="Text 36"/>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38" name="Box 37"/>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9" name="Box 38"/>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0" name="Box 39"/>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1" name="Box 40"/>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2" name="Box 41"/>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3" name="Box 42"/>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4" name="Box 43"/>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5" name="Box 44"/>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46" name="Box 45"/>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7" name="Text 46"/>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887222" y="812800"/>
            <a:ext cx="249197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مثال مكتمل للتمرين 8 · جهة افتراضية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بطاقة تطبيق المكون ‎2-2‎: إدارة الهويات والصلاحيات</a:t>
            </a:r>
          </a:p>
        </p:txBody>
      </p:sp>
      <p:graphicFrame>
        <p:nvGraphicFramePr>
          <p:cNvPr id="5" name="Table 4"/>
          <p:cNvGraphicFramePr>
            <a:graphicFrameLocks noGrp="1"/>
          </p:cNvGraphicFramePr>
          <p:nvPr/>
        </p:nvGraphicFramePr>
        <p:xfrm>
          <a:off x="815975" y="1855986"/>
          <a:ext cx="10560050" cy="2891928"/>
        </p:xfrm>
        <a:graphic>
          <a:graphicData uri="http://schemas.openxmlformats.org/drawingml/2006/table">
            <a:tbl>
              <a:tblPr firstRow="0" bandRow="0" lastRow="0" firstCol="0" lastCol="0" bandCol="0">
                <a:tableStyleId>{2D5ABB26-0587-4C30-8999-92F81FD0307C}</a:tableStyleId>
              </a:tblPr>
              <a:tblGrid>
                <a:gridCol w="8553450"/>
                <a:gridCol w="2006600"/>
              </a:tblGrid>
              <a:tr h="333871">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المحتوى</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c>
                  <a:txBody>
                    <a:bodyPr wrap="square"/>
                    <a:lstStyle/>
                    <a:p>
                      <a:pPr algn="r" rtl="1">
                        <a:lnSpc>
                          <a:spcPts val="1739"/>
                        </a:lnSpc>
                        <a:spcBef>
                          <a:spcPts val="0"/>
                        </a:spcBef>
                        <a:spcAft>
                          <a:spcPts val="0"/>
                        </a:spcAft>
                      </a:pPr>
                      <a:r>
                        <a:rPr sz="1200" b="1" i="0">
                          <a:solidFill>
                            <a:srgbClr val="F2EEE6"/>
                          </a:solidFill>
                          <a:latin typeface="IBM Plex Sans Arabic"/>
                          <a:ea typeface="IBM Plex Sans Arabic"/>
                          <a:cs typeface="IBM Plex Sans Arabic"/>
                        </a:rPr>
                        <a:t>الحقل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0E1A2B"/>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دليل نشط مركزي، وتحقق متعدد العناصر للشبكة الافتراضية فقط، ولا حصر للمميزة، ولا تقييم أثر موثق، ولا مراجعة للصلاحيات.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1 · الوضع الحالي</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تحديث سياسة الهويات ومعيار كلمات المرور وإجراء الصلاحيات، ووثيقة تقييم أثر فشل التحقق وتخطيه تحدد العناصر وعددها وتقنياتها (‎2-2-3-2‎).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2 · الوثائق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حصر الحسابات المميزة، ثم سياسة إلزام مفعّلة لها وللدخول عن بعد وفق تقييم الأثر، ونظام لإدارة الصلاحيات المميزة، ومراجعة دورية.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3 · المبادرات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الأصول (‎2-1‎)، وملاك الأنظمة (‎1-4‎)، ومنصة السجلات للجلسات المميزة (‎2-12‎).</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4 · الاعتماديات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55483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[مدير الهويات] للحصر خلال شهر · [مدير البنية] للإلزام خلال 3 أشهر · [__] للنظام خلال 9 أشهر. مدد افتراضية؛ والخطر العالي يستدعي ضابطاً مؤقتاً عاجلاً.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5 · المالكون والمدد</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وثيقة تقييم الأثر المعتمدة، وإعدادات الإلزام واستثناءاتها، ومطابقة الحسابات المعنية بالمشمولة، وسجلات دخول لعينة، ونتائج المراجعة.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6 · الأدلة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333871">
                <a:tc>
                  <a:txBody>
                    <a:bodyPr wrap="square"/>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مؤشر الحسابات المميزة المشمولة بإلزام مفعّل بهدف 100%، ومراجعة ‎2-2-4‎ دورياً في الموعد الذي تحدده الجهة.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c>
                  <a:txBody>
                    <a:bodyPr wrap="square"/>
                    <a:lstStyle/>
                    <a:p>
                      <a:pPr algn="r" rtl="1">
                        <a:lnSpc>
                          <a:spcPts val="1739"/>
                        </a:lnSpc>
                        <a:spcBef>
                          <a:spcPts val="0"/>
                        </a:spcBef>
                        <a:spcAft>
                          <a:spcPts val="0"/>
                        </a:spcAft>
                      </a:pPr>
                      <a:r>
                        <a:rPr sz="1200" b="1" i="0">
                          <a:solidFill>
                            <a:srgbClr val="132033"/>
                          </a:solidFill>
                          <a:latin typeface="IBM Plex Sans Arabic"/>
                          <a:ea typeface="IBM Plex Sans Arabic"/>
                          <a:cs typeface="IBM Plex Sans Arabic"/>
                        </a:rPr>
                        <a:t>7 · الاستدامة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CFBF8"/>
                    </a:solidFill>
                  </a:tcPr>
                </a:tc>
              </a:tr>
            </a:tbl>
          </a:graphicData>
        </a:graphic>
      </p:graphicFrame>
      <p:sp>
        <p:nvSpPr>
          <p:cNvPr id="6" name="Text 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7" name="Box 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 name="Box 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9" name="Box 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0" name="Box 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11" name="Box 1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2" name="Box 1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13" name="Box 1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14" name="Box 13"/>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15" name="Box 1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16" name="Text 1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32826" y="812800"/>
            <a:ext cx="1946374"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المسار التطبيقي</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الجهة الافتراضية للتطبيقات: هيئة المدار للخدمات الرقمية</a:t>
            </a:r>
          </a:p>
        </p:txBody>
      </p:sp>
      <p:sp>
        <p:nvSpPr>
          <p:cNvPr id="5" name="Text 4"/>
          <p:cNvSpPr txBox="1"/>
          <p:nvPr/>
        </p:nvSpPr>
        <p:spPr>
          <a:xfrm>
            <a:off x="50800" y="1839158"/>
            <a:ext cx="10287000" cy="28575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جهة حكومية افتراضية ثابتة لمن لا يعمل حالياً؛ كل الأسماء والأرقام فيها افتراضية.</a:t>
            </a:r>
          </a:p>
        </p:txBody>
      </p:sp>
      <p:sp>
        <p:nvSpPr>
          <p:cNvPr id="6" name="Box 5"/>
          <p:cNvSpPr/>
          <p:nvPr/>
        </p:nvSpPr>
        <p:spPr>
          <a:xfrm>
            <a:off x="815975" y="2395736"/>
            <a:ext cx="2501900" cy="2073275"/>
          </a:xfrm>
          <a:prstGeom prst="roundRect">
            <a:avLst>
              <a:gd name="adj" fmla="val 6106"/>
            </a:avLst>
          </a:prstGeom>
          <a:solidFill>
            <a:srgbClr val="FCFBF8"/>
          </a:solidFill>
          <a:ln w="6350">
            <a:solidFill>
              <a:srgbClr val="DDD7CA"/>
            </a:solidFill>
          </a:ln>
        </p:spPr>
        <p:txBody>
          <a:bodyPr rtlCol="0" anchor="ctr"/>
          <a:lstStyle/>
          <a:p>
            <a:pPr algn="ctr"/>
          </a:p>
        </p:txBody>
      </p:sp>
      <p:sp>
        <p:nvSpPr>
          <p:cNvPr id="7" name="Box 6"/>
          <p:cNvSpPr/>
          <p:nvPr/>
        </p:nvSpPr>
        <p:spPr>
          <a:xfrm>
            <a:off x="2755900" y="2576711"/>
            <a:ext cx="381000" cy="381000"/>
          </a:xfrm>
          <a:prstGeom prst="roundRect">
            <a:avLst>
              <a:gd name="adj" fmla="val 26666"/>
            </a:avLst>
          </a:prstGeom>
          <a:solidFill>
            <a:srgbClr val="DCEEEF"/>
          </a:solidFill>
          <a:ln>
            <a:noFill/>
          </a:ln>
        </p:spPr>
        <p:txBody>
          <a:bodyPr rtlCol="0" anchor="ctr"/>
          <a:lstStyle/>
          <a:p>
            <a:pPr algn="ctr"/>
          </a:p>
        </p:txBody>
      </p:sp>
      <p:pic>
        <p:nvPicPr>
          <p:cNvPr id="8" name="Icon Clock 7" descr="icon021.png"/>
          <p:cNvPicPr>
            <a:picLocks noChangeAspect="1"/>
          </p:cNvPicPr>
          <p:nvPr/>
        </p:nvPicPr>
        <p:blipFill>
          <a:blip r:embed="rId2"/>
          <a:stretch>
            <a:fillRect/>
          </a:stretch>
        </p:blipFill>
        <p:spPr>
          <a:xfrm>
            <a:off x="2841625" y="2662436"/>
            <a:ext cx="209550" cy="209550"/>
          </a:xfrm>
          <a:prstGeom prst="rect">
            <a:avLst/>
          </a:prstGeom>
        </p:spPr>
      </p:pic>
      <p:sp>
        <p:nvSpPr>
          <p:cNvPr id="9" name="Text 8"/>
          <p:cNvSpPr txBox="1"/>
          <p:nvPr/>
        </p:nvSpPr>
        <p:spPr>
          <a:xfrm>
            <a:off x="838200" y="301362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فترة التقييم</a:t>
            </a:r>
          </a:p>
        </p:txBody>
      </p:sp>
      <p:sp>
        <p:nvSpPr>
          <p:cNvPr id="10" name="Text 9"/>
          <p:cNvSpPr txBox="1"/>
          <p:nvPr/>
        </p:nvSpPr>
        <p:spPr>
          <a:xfrm>
            <a:off x="932751" y="3338711"/>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الربع الثالث 2026 كاملاً، من أول يوليو إلى نهاية سبتمبر، والأدلة مستخرجة في ‎2026-09-30‎.</a:t>
            </a:r>
          </a:p>
        </p:txBody>
      </p:sp>
      <p:sp>
        <p:nvSpPr>
          <p:cNvPr id="11" name="Box 10"/>
          <p:cNvSpPr/>
          <p:nvPr/>
        </p:nvSpPr>
        <p:spPr>
          <a:xfrm>
            <a:off x="3502025" y="2395736"/>
            <a:ext cx="2501900" cy="2073275"/>
          </a:xfrm>
          <a:prstGeom prst="roundRect">
            <a:avLst>
              <a:gd name="adj" fmla="val 6106"/>
            </a:avLst>
          </a:prstGeom>
          <a:solidFill>
            <a:srgbClr val="FCFBF8"/>
          </a:solidFill>
          <a:ln w="6350">
            <a:solidFill>
              <a:srgbClr val="DDD7CA"/>
            </a:solidFill>
          </a:ln>
        </p:spPr>
        <p:txBody>
          <a:bodyPr rtlCol="0" anchor="ctr"/>
          <a:lstStyle/>
          <a:p>
            <a:pPr algn="ctr"/>
          </a:p>
        </p:txBody>
      </p:sp>
      <p:sp>
        <p:nvSpPr>
          <p:cNvPr id="12" name="Box 11"/>
          <p:cNvSpPr/>
          <p:nvPr/>
        </p:nvSpPr>
        <p:spPr>
          <a:xfrm>
            <a:off x="5441950" y="2576711"/>
            <a:ext cx="381000" cy="381000"/>
          </a:xfrm>
          <a:prstGeom prst="roundRect">
            <a:avLst>
              <a:gd name="adj" fmla="val 26666"/>
            </a:avLst>
          </a:prstGeom>
          <a:solidFill>
            <a:srgbClr val="DCEEEF"/>
          </a:solidFill>
          <a:ln>
            <a:noFill/>
          </a:ln>
        </p:spPr>
        <p:txBody>
          <a:bodyPr rtlCol="0" anchor="ctr"/>
          <a:lstStyle/>
          <a:p>
            <a:pPr algn="ctr"/>
          </a:p>
        </p:txBody>
      </p:sp>
      <p:pic>
        <p:nvPicPr>
          <p:cNvPr id="13" name="Icon Users 12" descr="icon001.png"/>
          <p:cNvPicPr>
            <a:picLocks noChangeAspect="1"/>
          </p:cNvPicPr>
          <p:nvPr/>
        </p:nvPicPr>
        <p:blipFill>
          <a:blip r:embed="rId3"/>
          <a:stretch>
            <a:fillRect/>
          </a:stretch>
        </p:blipFill>
        <p:spPr>
          <a:xfrm>
            <a:off x="5527675" y="2662436"/>
            <a:ext cx="209550" cy="209550"/>
          </a:xfrm>
          <a:prstGeom prst="rect">
            <a:avLst/>
          </a:prstGeom>
        </p:spPr>
      </p:pic>
      <p:sp>
        <p:nvSpPr>
          <p:cNvPr id="14" name="Text 13"/>
          <p:cNvSpPr txBox="1"/>
          <p:nvPr/>
        </p:nvSpPr>
        <p:spPr>
          <a:xfrm>
            <a:off x="3524250" y="301362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الموردون</a:t>
            </a:r>
          </a:p>
        </p:txBody>
      </p:sp>
      <p:sp>
        <p:nvSpPr>
          <p:cNvPr id="15" name="Text 14"/>
          <p:cNvSpPr txBox="1"/>
          <p:nvPr/>
        </p:nvSpPr>
        <p:spPr>
          <a:xfrm>
            <a:off x="3618802" y="3338711"/>
            <a:ext cx="2204148"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مركز عمليات أمن سيبراني مُدار، ومزود استضافة سحابية، ومطور البوابة، ومزود تخزين نسخ معزولة.</a:t>
            </a:r>
          </a:p>
        </p:txBody>
      </p:sp>
      <p:sp>
        <p:nvSpPr>
          <p:cNvPr id="16" name="Box 15"/>
          <p:cNvSpPr/>
          <p:nvPr/>
        </p:nvSpPr>
        <p:spPr>
          <a:xfrm>
            <a:off x="6188075" y="2395736"/>
            <a:ext cx="2501900" cy="2073275"/>
          </a:xfrm>
          <a:prstGeom prst="roundRect">
            <a:avLst>
              <a:gd name="adj" fmla="val 6106"/>
            </a:avLst>
          </a:prstGeom>
          <a:solidFill>
            <a:srgbClr val="FCFBF8"/>
          </a:solidFill>
          <a:ln w="6350">
            <a:solidFill>
              <a:srgbClr val="DDD7CA"/>
            </a:solidFill>
          </a:ln>
        </p:spPr>
        <p:txBody>
          <a:bodyPr rtlCol="0" anchor="ctr"/>
          <a:lstStyle/>
          <a:p>
            <a:pPr algn="ctr"/>
          </a:p>
        </p:txBody>
      </p:sp>
      <p:sp>
        <p:nvSpPr>
          <p:cNvPr id="17" name="Box 16"/>
          <p:cNvSpPr/>
          <p:nvPr/>
        </p:nvSpPr>
        <p:spPr>
          <a:xfrm>
            <a:off x="8128000" y="2576711"/>
            <a:ext cx="381000" cy="381000"/>
          </a:xfrm>
          <a:prstGeom prst="roundRect">
            <a:avLst>
              <a:gd name="adj" fmla="val 26666"/>
            </a:avLst>
          </a:prstGeom>
          <a:solidFill>
            <a:srgbClr val="DCEEEF"/>
          </a:solidFill>
          <a:ln>
            <a:noFill/>
          </a:ln>
        </p:spPr>
        <p:txBody>
          <a:bodyPr rtlCol="0" anchor="ctr"/>
          <a:lstStyle/>
          <a:p>
            <a:pPr algn="ctr"/>
          </a:p>
        </p:txBody>
      </p:sp>
      <p:pic>
        <p:nvPicPr>
          <p:cNvPr id="18" name="Icon Database 17" descr="icon014.png"/>
          <p:cNvPicPr>
            <a:picLocks noChangeAspect="1"/>
          </p:cNvPicPr>
          <p:nvPr/>
        </p:nvPicPr>
        <p:blipFill>
          <a:blip r:embed="rId4"/>
          <a:stretch>
            <a:fillRect/>
          </a:stretch>
        </p:blipFill>
        <p:spPr>
          <a:xfrm>
            <a:off x="8213725" y="2662436"/>
            <a:ext cx="209550" cy="209550"/>
          </a:xfrm>
          <a:prstGeom prst="rect">
            <a:avLst/>
          </a:prstGeom>
        </p:spPr>
      </p:pic>
      <p:sp>
        <p:nvSpPr>
          <p:cNvPr id="19" name="Text 18"/>
          <p:cNvSpPr txBox="1"/>
          <p:nvPr/>
        </p:nvSpPr>
        <p:spPr>
          <a:xfrm>
            <a:off x="6210300" y="301362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الأنظمة</a:t>
            </a:r>
          </a:p>
        </p:txBody>
      </p:sp>
      <p:sp>
        <p:nvSpPr>
          <p:cNvPr id="20" name="Text 19"/>
          <p:cNvSpPr txBox="1"/>
          <p:nvPr/>
        </p:nvSpPr>
        <p:spPr>
          <a:xfrm>
            <a:off x="6304852" y="3338711"/>
            <a:ext cx="2204148"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11 نظاماً، منها البوابة والتطبيق وERP والموارد البشرية والبريد السحابي ومنصة الهوية والشبكة الافتراضية.</a:t>
            </a:r>
          </a:p>
        </p:txBody>
      </p:sp>
      <p:sp>
        <p:nvSpPr>
          <p:cNvPr id="21" name="Box 20"/>
          <p:cNvSpPr/>
          <p:nvPr/>
        </p:nvSpPr>
        <p:spPr>
          <a:xfrm>
            <a:off x="8874125" y="2395736"/>
            <a:ext cx="2501900" cy="2073275"/>
          </a:xfrm>
          <a:prstGeom prst="roundRect">
            <a:avLst>
              <a:gd name="adj" fmla="val 6106"/>
            </a:avLst>
          </a:prstGeom>
          <a:solidFill>
            <a:srgbClr val="FCFBF8"/>
          </a:solidFill>
          <a:ln w="6350">
            <a:solidFill>
              <a:srgbClr val="DDD7CA"/>
            </a:solidFill>
          </a:ln>
        </p:spPr>
        <p:txBody>
          <a:bodyPr rtlCol="0" anchor="ctr"/>
          <a:lstStyle/>
          <a:p>
            <a:pPr algn="ctr"/>
          </a:p>
        </p:txBody>
      </p:sp>
      <p:sp>
        <p:nvSpPr>
          <p:cNvPr id="22" name="Box 21"/>
          <p:cNvSpPr/>
          <p:nvPr/>
        </p:nvSpPr>
        <p:spPr>
          <a:xfrm>
            <a:off x="10814050" y="2576711"/>
            <a:ext cx="381000" cy="381000"/>
          </a:xfrm>
          <a:prstGeom prst="roundRect">
            <a:avLst>
              <a:gd name="adj" fmla="val 26666"/>
            </a:avLst>
          </a:prstGeom>
          <a:solidFill>
            <a:srgbClr val="DCEEEF"/>
          </a:solidFill>
          <a:ln>
            <a:noFill/>
          </a:ln>
        </p:spPr>
        <p:txBody>
          <a:bodyPr rtlCol="0" anchor="ctr"/>
          <a:lstStyle/>
          <a:p>
            <a:pPr algn="ctr"/>
          </a:p>
        </p:txBody>
      </p:sp>
      <p:pic>
        <p:nvPicPr>
          <p:cNvPr id="23" name="Icon Home 22" descr="icon066.png"/>
          <p:cNvPicPr>
            <a:picLocks noChangeAspect="1"/>
          </p:cNvPicPr>
          <p:nvPr/>
        </p:nvPicPr>
        <p:blipFill>
          <a:blip r:embed="rId5"/>
          <a:stretch>
            <a:fillRect/>
          </a:stretch>
        </p:blipFill>
        <p:spPr>
          <a:xfrm>
            <a:off x="10899775" y="2662436"/>
            <a:ext cx="209550" cy="209550"/>
          </a:xfrm>
          <a:prstGeom prst="rect">
            <a:avLst/>
          </a:prstGeom>
        </p:spPr>
      </p:pic>
      <p:sp>
        <p:nvSpPr>
          <p:cNvPr id="24" name="Text 23"/>
          <p:cNvSpPr txBox="1"/>
          <p:nvPr/>
        </p:nvSpPr>
        <p:spPr>
          <a:xfrm>
            <a:off x="8896350" y="3013623"/>
            <a:ext cx="229870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النشاط والحجم</a:t>
            </a:r>
          </a:p>
        </p:txBody>
      </p:sp>
      <p:sp>
        <p:nvSpPr>
          <p:cNvPr id="25" name="Text 24"/>
          <p:cNvSpPr txBox="1"/>
          <p:nvPr/>
        </p:nvSpPr>
        <p:spPr>
          <a:xfrm>
            <a:off x="8990902" y="3338711"/>
            <a:ext cx="2204148" cy="920750"/>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بوابة خدمات إلكترونية وتطبيق للأجهزة الذكية؛ 420 موظفاً و60 متعاقداً؛ مقر في الرياض وموقع للتعافي.</a:t>
            </a:r>
          </a:p>
        </p:txBody>
      </p:sp>
      <p:sp>
        <p:nvSpPr>
          <p:cNvPr id="26" name="Box 25"/>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27" name="Box 26"/>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28" name="Icon Key 27" descr="icon015.png"/>
          <p:cNvPicPr>
            <a:picLocks noChangeAspect="1"/>
          </p:cNvPicPr>
          <p:nvPr/>
        </p:nvPicPr>
        <p:blipFill>
          <a:blip r:embed="rId6"/>
          <a:stretch>
            <a:fillRect/>
          </a:stretch>
        </p:blipFill>
        <p:spPr>
          <a:xfrm>
            <a:off x="10864850" y="5329932"/>
            <a:ext cx="215900" cy="215900"/>
          </a:xfrm>
          <a:prstGeom prst="rect">
            <a:avLst/>
          </a:prstGeom>
        </p:spPr>
      </p:pic>
      <p:sp>
        <p:nvSpPr>
          <p:cNvPr id="29" name="Text 28"/>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قاعدة المسار</a:t>
            </a:r>
          </a:p>
        </p:txBody>
      </p:sp>
      <p:sp>
        <p:nvSpPr>
          <p:cNvPr id="30" name="Text 29"/>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لا تخترع أدلة: كل ما تحتاجه موجود في الملفات. وإن نقص شيء، فاكتبه طلباً في «المعلومات الناقصة» لا افتراضاً.</a:t>
            </a:r>
          </a:p>
        </p:txBody>
      </p:sp>
      <p:sp>
        <p:nvSpPr>
          <p:cNvPr id="31" name="Text 3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32" name="Box 3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3" name="Box 3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4" name="Box 33"/>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6" name="Box 35"/>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7" name="Box 36"/>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8" name="Box 37"/>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39" name="Box 38"/>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40" name="Box 39"/>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41" name="Text 4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432826" y="812800"/>
            <a:ext cx="1946374"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08 · المسار التطبيقي</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ثلاثة تطبيقات عملية على هيئة المدار</a:t>
            </a:r>
          </a:p>
        </p:txBody>
      </p:sp>
      <p:sp>
        <p:nvSpPr>
          <p:cNvPr id="5" name="Box 4"/>
          <p:cNvSpPr/>
          <p:nvPr/>
        </p:nvSpPr>
        <p:spPr>
          <a:xfrm>
            <a:off x="7958634" y="1852811"/>
            <a:ext cx="3420566" cy="2433141"/>
          </a:xfrm>
          <a:prstGeom prst="roundRect">
            <a:avLst>
              <a:gd name="adj" fmla="val 4175"/>
            </a:avLst>
          </a:prstGeom>
          <a:solidFill>
            <a:srgbClr val="FCFBF8"/>
          </a:solidFill>
          <a:ln>
            <a:noFill/>
          </a:ln>
        </p:spPr>
        <p:txBody>
          <a:bodyPr rtlCol="0" anchor="ctr"/>
          <a:lstStyle/>
          <a:p>
            <a:pPr algn="ctr"/>
          </a:p>
        </p:txBody>
      </p:sp>
      <p:sp>
        <p:nvSpPr>
          <p:cNvPr id="6" name="Rule 5"/>
          <p:cNvSpPr/>
          <p:nvPr/>
        </p:nvSpPr>
        <p:spPr>
          <a:xfrm>
            <a:off x="7958634" y="1852811"/>
            <a:ext cx="3420566" cy="38100"/>
          </a:xfrm>
          <a:prstGeom prst="rect">
            <a:avLst/>
          </a:prstGeom>
          <a:solidFill>
            <a:srgbClr val="1D5B9E"/>
          </a:solidFill>
          <a:ln>
            <a:noFill/>
          </a:ln>
        </p:spPr>
        <p:txBody>
          <a:bodyPr rtlCol="0" anchor="ctr"/>
          <a:lstStyle/>
          <a:p>
            <a:pPr algn="ctr"/>
          </a:p>
        </p:txBody>
      </p:sp>
      <p:sp>
        <p:nvSpPr>
          <p:cNvPr id="7" name="Rule 6"/>
          <p:cNvSpPr/>
          <p:nvPr/>
        </p:nvSpPr>
        <p:spPr>
          <a:xfrm>
            <a:off x="11372850" y="1852811"/>
            <a:ext cx="6350" cy="2433141"/>
          </a:xfrm>
          <a:prstGeom prst="rect">
            <a:avLst/>
          </a:prstGeom>
          <a:solidFill>
            <a:srgbClr val="DDD7CA"/>
          </a:solidFill>
          <a:ln>
            <a:noFill/>
          </a:ln>
        </p:spPr>
        <p:txBody>
          <a:bodyPr rtlCol="0" anchor="ctr"/>
          <a:lstStyle/>
          <a:p>
            <a:pPr algn="ctr"/>
          </a:p>
        </p:txBody>
      </p:sp>
      <p:sp>
        <p:nvSpPr>
          <p:cNvPr id="8" name="Rule 7"/>
          <p:cNvSpPr/>
          <p:nvPr/>
        </p:nvSpPr>
        <p:spPr>
          <a:xfrm>
            <a:off x="7958634" y="4279602"/>
            <a:ext cx="3420566" cy="6350"/>
          </a:xfrm>
          <a:prstGeom prst="rect">
            <a:avLst/>
          </a:prstGeom>
          <a:solidFill>
            <a:srgbClr val="DDD7CA"/>
          </a:solidFill>
          <a:ln>
            <a:noFill/>
          </a:ln>
        </p:spPr>
        <p:txBody>
          <a:bodyPr rtlCol="0" anchor="ctr"/>
          <a:lstStyle/>
          <a:p>
            <a:pPr algn="ctr"/>
          </a:p>
        </p:txBody>
      </p:sp>
      <p:sp>
        <p:nvSpPr>
          <p:cNvPr id="9" name="Rule 8"/>
          <p:cNvSpPr/>
          <p:nvPr/>
        </p:nvSpPr>
        <p:spPr>
          <a:xfrm>
            <a:off x="7958634" y="1852811"/>
            <a:ext cx="6350" cy="2433141"/>
          </a:xfrm>
          <a:prstGeom prst="rect">
            <a:avLst/>
          </a:prstGeom>
          <a:solidFill>
            <a:srgbClr val="DDD7CA"/>
          </a:solidFill>
          <a:ln>
            <a:noFill/>
          </a:ln>
        </p:spPr>
        <p:txBody>
          <a:bodyPr rtlCol="0" anchor="ctr"/>
          <a:lstStyle/>
          <a:p>
            <a:pPr algn="ctr"/>
          </a:p>
        </p:txBody>
      </p:sp>
      <p:sp>
        <p:nvSpPr>
          <p:cNvPr id="10" name="Text 9"/>
          <p:cNvSpPr txBox="1"/>
          <p:nvPr/>
        </p:nvSpPr>
        <p:spPr>
          <a:xfrm>
            <a:off x="10780990" y="2059694"/>
            <a:ext cx="42676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1D5B9E"/>
                </a:solidFill>
                <a:latin typeface="IBM Plex Mono"/>
                <a:ea typeface="IBM Plex Mono"/>
                <a:cs typeface="IBM Plex Mono"/>
              </a:rPr>
              <a:t>2-2</a:t>
            </a:r>
          </a:p>
        </p:txBody>
      </p:sp>
      <p:sp>
        <p:nvSpPr>
          <p:cNvPr id="11" name="Text 10"/>
          <p:cNvSpPr txBox="1"/>
          <p:nvPr/>
        </p:nvSpPr>
        <p:spPr>
          <a:xfrm>
            <a:off x="8587764" y="2027785"/>
            <a:ext cx="2223706"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132033"/>
                </a:solidFill>
                <a:latin typeface="Alexandria"/>
                <a:ea typeface="Alexandria"/>
                <a:cs typeface="Alexandria"/>
              </a:rPr>
              <a:t>الهويات والصلاحيات</a:t>
            </a:r>
          </a:p>
        </p:txBody>
      </p:sp>
      <p:sp>
        <p:nvSpPr>
          <p:cNvPr id="12" name="Text 11"/>
          <p:cNvSpPr txBox="1"/>
          <p:nvPr/>
        </p:nvSpPr>
        <p:spPr>
          <a:xfrm>
            <a:off x="8038644" y="2071759"/>
            <a:ext cx="637639"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90 دقيقة</a:t>
            </a:r>
          </a:p>
        </p:txBody>
      </p:sp>
      <p:sp>
        <p:nvSpPr>
          <p:cNvPr id="13" name="Text 12"/>
          <p:cNvSpPr txBox="1"/>
          <p:nvPr/>
        </p:nvSpPr>
        <p:spPr>
          <a:xfrm>
            <a:off x="7984034" y="2343539"/>
            <a:ext cx="32237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تحصل على</a:t>
            </a:r>
          </a:p>
        </p:txBody>
      </p:sp>
      <p:sp>
        <p:nvSpPr>
          <p:cNvPr id="14" name="Text 13"/>
          <p:cNvSpPr txBox="1"/>
          <p:nvPr/>
        </p:nvSpPr>
        <p:spPr>
          <a:xfrm>
            <a:off x="8037754" y="2629249"/>
            <a:ext cx="3169996"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قائمة حسابات وصلاحيات، وتسجيل وإلزام التحقق، وسجلات دخول، وسياسة مختصرة، وكشف انتهاء الخدمة.</a:t>
            </a:r>
          </a:p>
        </p:txBody>
      </p:sp>
      <p:sp>
        <p:nvSpPr>
          <p:cNvPr id="15" name="Text 14"/>
          <p:cNvSpPr txBox="1"/>
          <p:nvPr/>
        </p:nvSpPr>
        <p:spPr>
          <a:xfrm>
            <a:off x="7984034" y="3372140"/>
            <a:ext cx="32237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تُسلّم</a:t>
            </a:r>
          </a:p>
        </p:txBody>
      </p:sp>
      <p:sp>
        <p:nvSpPr>
          <p:cNvPr id="16" name="Text 15"/>
          <p:cNvSpPr txBox="1"/>
          <p:nvPr/>
        </p:nvSpPr>
        <p:spPr>
          <a:xfrm>
            <a:off x="8037754" y="3657850"/>
            <a:ext cx="316999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الفجوات، والمعلومات الناقصة، وحكم مبرر، وخطة معالجة.</a:t>
            </a:r>
          </a:p>
        </p:txBody>
      </p:sp>
      <p:sp>
        <p:nvSpPr>
          <p:cNvPr id="17" name="Box 16"/>
          <p:cNvSpPr/>
          <p:nvPr/>
        </p:nvSpPr>
        <p:spPr>
          <a:xfrm>
            <a:off x="4385667" y="1852811"/>
            <a:ext cx="3420566" cy="2433141"/>
          </a:xfrm>
          <a:prstGeom prst="roundRect">
            <a:avLst>
              <a:gd name="adj" fmla="val 4175"/>
            </a:avLst>
          </a:prstGeom>
          <a:solidFill>
            <a:srgbClr val="FCFBF8"/>
          </a:solidFill>
          <a:ln>
            <a:noFill/>
          </a:ln>
        </p:spPr>
        <p:txBody>
          <a:bodyPr rtlCol="0" anchor="ctr"/>
          <a:lstStyle/>
          <a:p>
            <a:pPr algn="ctr"/>
          </a:p>
        </p:txBody>
      </p:sp>
      <p:sp>
        <p:nvSpPr>
          <p:cNvPr id="18" name="Rule 17"/>
          <p:cNvSpPr/>
          <p:nvPr/>
        </p:nvSpPr>
        <p:spPr>
          <a:xfrm>
            <a:off x="4385667" y="1852811"/>
            <a:ext cx="3420566" cy="38100"/>
          </a:xfrm>
          <a:prstGeom prst="rect">
            <a:avLst/>
          </a:prstGeom>
          <a:solidFill>
            <a:srgbClr val="1D5B9E"/>
          </a:solidFill>
          <a:ln>
            <a:noFill/>
          </a:ln>
        </p:spPr>
        <p:txBody>
          <a:bodyPr rtlCol="0" anchor="ctr"/>
          <a:lstStyle/>
          <a:p>
            <a:pPr algn="ctr"/>
          </a:p>
        </p:txBody>
      </p:sp>
      <p:sp>
        <p:nvSpPr>
          <p:cNvPr id="19" name="Rule 18"/>
          <p:cNvSpPr/>
          <p:nvPr/>
        </p:nvSpPr>
        <p:spPr>
          <a:xfrm>
            <a:off x="7799884" y="1852811"/>
            <a:ext cx="6350" cy="2433141"/>
          </a:xfrm>
          <a:prstGeom prst="rect">
            <a:avLst/>
          </a:prstGeom>
          <a:solidFill>
            <a:srgbClr val="DDD7CA"/>
          </a:solidFill>
          <a:ln>
            <a:noFill/>
          </a:ln>
        </p:spPr>
        <p:txBody>
          <a:bodyPr rtlCol="0" anchor="ctr"/>
          <a:lstStyle/>
          <a:p>
            <a:pPr algn="ctr"/>
          </a:p>
        </p:txBody>
      </p:sp>
      <p:sp>
        <p:nvSpPr>
          <p:cNvPr id="20" name="Rule 19"/>
          <p:cNvSpPr/>
          <p:nvPr/>
        </p:nvSpPr>
        <p:spPr>
          <a:xfrm>
            <a:off x="4385667" y="4279602"/>
            <a:ext cx="3420566" cy="6350"/>
          </a:xfrm>
          <a:prstGeom prst="rect">
            <a:avLst/>
          </a:prstGeom>
          <a:solidFill>
            <a:srgbClr val="DDD7CA"/>
          </a:solidFill>
          <a:ln>
            <a:noFill/>
          </a:ln>
        </p:spPr>
        <p:txBody>
          <a:bodyPr rtlCol="0" anchor="ctr"/>
          <a:lstStyle/>
          <a:p>
            <a:pPr algn="ctr"/>
          </a:p>
        </p:txBody>
      </p:sp>
      <p:sp>
        <p:nvSpPr>
          <p:cNvPr id="21" name="Rule 20"/>
          <p:cNvSpPr/>
          <p:nvPr/>
        </p:nvSpPr>
        <p:spPr>
          <a:xfrm>
            <a:off x="4385667" y="1852811"/>
            <a:ext cx="6350" cy="2433141"/>
          </a:xfrm>
          <a:prstGeom prst="rect">
            <a:avLst/>
          </a:prstGeom>
          <a:solidFill>
            <a:srgbClr val="DDD7CA"/>
          </a:solidFill>
          <a:ln>
            <a:noFill/>
          </a:ln>
        </p:spPr>
        <p:txBody>
          <a:bodyPr rtlCol="0" anchor="ctr"/>
          <a:lstStyle/>
          <a:p>
            <a:pPr algn="ctr"/>
          </a:p>
        </p:txBody>
      </p:sp>
      <p:sp>
        <p:nvSpPr>
          <p:cNvPr id="22" name="Text 21"/>
          <p:cNvSpPr txBox="1"/>
          <p:nvPr/>
        </p:nvSpPr>
        <p:spPr>
          <a:xfrm>
            <a:off x="7208024" y="2059694"/>
            <a:ext cx="42676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1D5B9E"/>
                </a:solidFill>
                <a:latin typeface="IBM Plex Mono"/>
                <a:ea typeface="IBM Plex Mono"/>
                <a:cs typeface="IBM Plex Mono"/>
              </a:rPr>
              <a:t>2-9</a:t>
            </a:r>
          </a:p>
        </p:txBody>
      </p:sp>
      <p:sp>
        <p:nvSpPr>
          <p:cNvPr id="23" name="Text 22"/>
          <p:cNvSpPr txBox="1"/>
          <p:nvPr/>
        </p:nvSpPr>
        <p:spPr>
          <a:xfrm>
            <a:off x="5014797" y="2027785"/>
            <a:ext cx="2223706"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132033"/>
                </a:solidFill>
                <a:latin typeface="Alexandria"/>
                <a:ea typeface="Alexandria"/>
                <a:cs typeface="Alexandria"/>
              </a:rPr>
              <a:t>النسخ الاحتياطية</a:t>
            </a:r>
          </a:p>
        </p:txBody>
      </p:sp>
      <p:sp>
        <p:nvSpPr>
          <p:cNvPr id="24" name="Text 23"/>
          <p:cNvSpPr txBox="1"/>
          <p:nvPr/>
        </p:nvSpPr>
        <p:spPr>
          <a:xfrm>
            <a:off x="4465677" y="2071759"/>
            <a:ext cx="637639"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75 دقيقة</a:t>
            </a:r>
          </a:p>
        </p:txBody>
      </p:sp>
      <p:sp>
        <p:nvSpPr>
          <p:cNvPr id="25" name="Text 24"/>
          <p:cNvSpPr txBox="1"/>
          <p:nvPr/>
        </p:nvSpPr>
        <p:spPr>
          <a:xfrm>
            <a:off x="4411067" y="2343539"/>
            <a:ext cx="32237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تحصل على</a:t>
            </a:r>
          </a:p>
        </p:txBody>
      </p:sp>
      <p:sp>
        <p:nvSpPr>
          <p:cNvPr id="26" name="Text 25"/>
          <p:cNvSpPr txBox="1"/>
          <p:nvPr/>
        </p:nvSpPr>
        <p:spPr>
          <a:xfrm>
            <a:off x="4464787" y="2629249"/>
            <a:ext cx="3169996" cy="66288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سجل أصول بأهداف الاستعادة، ومهام النسخ، وسجل نجاح وإخفاق، ومحاضر اختبار استعادة، وسياسة مختصرة.</a:t>
            </a:r>
          </a:p>
        </p:txBody>
      </p:sp>
      <p:sp>
        <p:nvSpPr>
          <p:cNvPr id="27" name="Text 26"/>
          <p:cNvSpPr txBox="1"/>
          <p:nvPr/>
        </p:nvSpPr>
        <p:spPr>
          <a:xfrm>
            <a:off x="4411067" y="3372140"/>
            <a:ext cx="32237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1D5B9E"/>
                </a:solidFill>
                <a:latin typeface="IBM Plex Sans Arabic"/>
                <a:ea typeface="IBM Plex Sans Arabic"/>
                <a:cs typeface="IBM Plex Sans Arabic"/>
              </a:rPr>
              <a:t>تُسلّم</a:t>
            </a:r>
          </a:p>
        </p:txBody>
      </p:sp>
      <p:sp>
        <p:nvSpPr>
          <p:cNvPr id="28" name="Text 27"/>
          <p:cNvSpPr txBox="1"/>
          <p:nvPr/>
        </p:nvSpPr>
        <p:spPr>
          <a:xfrm>
            <a:off x="4464787" y="3657850"/>
            <a:ext cx="316999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مقارنة النطاق والنتائج بالأهداف والمتطلبات، وحكم مبرر.</a:t>
            </a:r>
          </a:p>
        </p:txBody>
      </p:sp>
      <p:sp>
        <p:nvSpPr>
          <p:cNvPr id="29" name="Box 28"/>
          <p:cNvSpPr/>
          <p:nvPr/>
        </p:nvSpPr>
        <p:spPr>
          <a:xfrm>
            <a:off x="812701" y="1852811"/>
            <a:ext cx="3420566" cy="2433141"/>
          </a:xfrm>
          <a:prstGeom prst="roundRect">
            <a:avLst>
              <a:gd name="adj" fmla="val 4175"/>
            </a:avLst>
          </a:prstGeom>
          <a:solidFill>
            <a:srgbClr val="FCFBF8"/>
          </a:solidFill>
          <a:ln>
            <a:noFill/>
          </a:ln>
        </p:spPr>
        <p:txBody>
          <a:bodyPr rtlCol="0" anchor="ctr"/>
          <a:lstStyle/>
          <a:p>
            <a:pPr algn="ctr"/>
          </a:p>
        </p:txBody>
      </p:sp>
      <p:sp>
        <p:nvSpPr>
          <p:cNvPr id="30" name="Rule 29"/>
          <p:cNvSpPr/>
          <p:nvPr/>
        </p:nvSpPr>
        <p:spPr>
          <a:xfrm>
            <a:off x="812701" y="1852811"/>
            <a:ext cx="3420566" cy="38100"/>
          </a:xfrm>
          <a:prstGeom prst="rect">
            <a:avLst/>
          </a:prstGeom>
          <a:solidFill>
            <a:srgbClr val="22704E"/>
          </a:solidFill>
          <a:ln>
            <a:noFill/>
          </a:ln>
        </p:spPr>
        <p:txBody>
          <a:bodyPr rtlCol="0" anchor="ctr"/>
          <a:lstStyle/>
          <a:p>
            <a:pPr algn="ctr"/>
          </a:p>
        </p:txBody>
      </p:sp>
      <p:sp>
        <p:nvSpPr>
          <p:cNvPr id="31" name="Rule 30"/>
          <p:cNvSpPr/>
          <p:nvPr/>
        </p:nvSpPr>
        <p:spPr>
          <a:xfrm>
            <a:off x="4226917" y="1852811"/>
            <a:ext cx="6350" cy="2433141"/>
          </a:xfrm>
          <a:prstGeom prst="rect">
            <a:avLst/>
          </a:prstGeom>
          <a:solidFill>
            <a:srgbClr val="DDD7CA"/>
          </a:solidFill>
          <a:ln>
            <a:noFill/>
          </a:ln>
        </p:spPr>
        <p:txBody>
          <a:bodyPr rtlCol="0" anchor="ctr"/>
          <a:lstStyle/>
          <a:p>
            <a:pPr algn="ctr"/>
          </a:p>
        </p:txBody>
      </p:sp>
      <p:sp>
        <p:nvSpPr>
          <p:cNvPr id="32" name="Rule 31"/>
          <p:cNvSpPr/>
          <p:nvPr/>
        </p:nvSpPr>
        <p:spPr>
          <a:xfrm>
            <a:off x="812701" y="4279602"/>
            <a:ext cx="3420566" cy="6350"/>
          </a:xfrm>
          <a:prstGeom prst="rect">
            <a:avLst/>
          </a:prstGeom>
          <a:solidFill>
            <a:srgbClr val="DDD7CA"/>
          </a:solidFill>
          <a:ln>
            <a:noFill/>
          </a:ln>
        </p:spPr>
        <p:txBody>
          <a:bodyPr rtlCol="0" anchor="ctr"/>
          <a:lstStyle/>
          <a:p>
            <a:pPr algn="ctr"/>
          </a:p>
        </p:txBody>
      </p:sp>
      <p:sp>
        <p:nvSpPr>
          <p:cNvPr id="33" name="Rule 32"/>
          <p:cNvSpPr/>
          <p:nvPr/>
        </p:nvSpPr>
        <p:spPr>
          <a:xfrm>
            <a:off x="812701" y="1852811"/>
            <a:ext cx="6350" cy="2433141"/>
          </a:xfrm>
          <a:prstGeom prst="rect">
            <a:avLst/>
          </a:prstGeom>
          <a:solidFill>
            <a:srgbClr val="DDD7CA"/>
          </a:solidFill>
          <a:ln>
            <a:noFill/>
          </a:ln>
        </p:spPr>
        <p:txBody>
          <a:bodyPr rtlCol="0" anchor="ctr"/>
          <a:lstStyle/>
          <a:p>
            <a:pPr algn="ctr"/>
          </a:p>
        </p:txBody>
      </p:sp>
      <p:sp>
        <p:nvSpPr>
          <p:cNvPr id="34" name="Text 33"/>
          <p:cNvSpPr txBox="1"/>
          <p:nvPr/>
        </p:nvSpPr>
        <p:spPr>
          <a:xfrm>
            <a:off x="3635058" y="2059694"/>
            <a:ext cx="42676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22704E"/>
                </a:solidFill>
                <a:latin typeface="IBM Plex Mono"/>
                <a:ea typeface="IBM Plex Mono"/>
                <a:cs typeface="IBM Plex Mono"/>
              </a:rPr>
              <a:t>4-1</a:t>
            </a:r>
          </a:p>
        </p:txBody>
      </p:sp>
      <p:sp>
        <p:nvSpPr>
          <p:cNvPr id="35" name="Text 34"/>
          <p:cNvSpPr txBox="1"/>
          <p:nvPr/>
        </p:nvSpPr>
        <p:spPr>
          <a:xfrm>
            <a:off x="1441831" y="2027785"/>
            <a:ext cx="2223706" cy="247650"/>
          </a:xfrm>
          <a:prstGeom prst="rect">
            <a:avLst/>
          </a:prstGeom>
          <a:noFill/>
        </p:spPr>
        <p:txBody>
          <a:bodyPr wrap="square" tIns="0" rIns="0" bIns="0" lIns="0" anchor="t" rtlCol="0" anchorCtr="0">
            <a:noAutofit/>
          </a:bodyPr>
          <a:lstStyle/>
          <a:p>
            <a:pPr algn="r" rtl="1">
              <a:lnSpc>
                <a:spcPts val="1950"/>
              </a:lnSpc>
              <a:spcBef>
                <a:spcPts val="0"/>
              </a:spcBef>
              <a:spcAft>
                <a:spcPts val="0"/>
              </a:spcAft>
            </a:pPr>
            <a:r>
              <a:rPr sz="1500" b="1" i="0">
                <a:solidFill>
                  <a:srgbClr val="132033"/>
                </a:solidFill>
                <a:latin typeface="Alexandria"/>
                <a:ea typeface="Alexandria"/>
                <a:cs typeface="Alexandria"/>
              </a:rPr>
              <a:t>الأطراف الخارجية</a:t>
            </a:r>
          </a:p>
        </p:txBody>
      </p:sp>
      <p:sp>
        <p:nvSpPr>
          <p:cNvPr id="36" name="Text 35"/>
          <p:cNvSpPr txBox="1"/>
          <p:nvPr/>
        </p:nvSpPr>
        <p:spPr>
          <a:xfrm>
            <a:off x="892711" y="2071759"/>
            <a:ext cx="637639"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5A6371"/>
                </a:solidFill>
                <a:latin typeface="IBM Plex Sans Arabic"/>
                <a:ea typeface="IBM Plex Sans Arabic"/>
                <a:cs typeface="IBM Plex Sans Arabic"/>
              </a:rPr>
              <a:t>75 دقيقة</a:t>
            </a:r>
          </a:p>
        </p:txBody>
      </p:sp>
      <p:sp>
        <p:nvSpPr>
          <p:cNvPr id="37" name="Text 36"/>
          <p:cNvSpPr txBox="1"/>
          <p:nvPr/>
        </p:nvSpPr>
        <p:spPr>
          <a:xfrm>
            <a:off x="838101" y="2343539"/>
            <a:ext cx="32237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تحصل على</a:t>
            </a:r>
          </a:p>
        </p:txBody>
      </p:sp>
      <p:sp>
        <p:nvSpPr>
          <p:cNvPr id="38" name="Text 37"/>
          <p:cNvSpPr txBox="1"/>
          <p:nvPr/>
        </p:nvSpPr>
        <p:spPr>
          <a:xfrm>
            <a:off x="891821" y="2629249"/>
            <a:ext cx="3169996" cy="44192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مقتطفات عقدين، وردود استبيان المورد، وتقييم مخاطر الطرف الخارجي.</a:t>
            </a:r>
          </a:p>
        </p:txBody>
      </p:sp>
      <p:sp>
        <p:nvSpPr>
          <p:cNvPr id="39" name="Text 38"/>
          <p:cNvSpPr txBox="1"/>
          <p:nvPr/>
        </p:nvSpPr>
        <p:spPr>
          <a:xfrm>
            <a:off x="838101" y="3151180"/>
            <a:ext cx="322371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22704E"/>
                </a:solidFill>
                <a:latin typeface="IBM Plex Sans Arabic"/>
                <a:ea typeface="IBM Plex Sans Arabic"/>
                <a:cs typeface="IBM Plex Sans Arabic"/>
              </a:rPr>
              <a:t>تُسلّم</a:t>
            </a:r>
          </a:p>
        </p:txBody>
      </p:sp>
      <p:sp>
        <p:nvSpPr>
          <p:cNvPr id="40" name="Text 39"/>
          <p:cNvSpPr txBox="1"/>
          <p:nvPr/>
        </p:nvSpPr>
        <p:spPr>
          <a:xfrm>
            <a:off x="838101" y="3436890"/>
            <a:ext cx="3223716" cy="220960"/>
          </a:xfrm>
          <a:prstGeom prst="rect">
            <a:avLst/>
          </a:prstGeom>
          <a:noFill/>
        </p:spPr>
        <p:txBody>
          <a:bodyPr wrap="square" tIns="0" rIns="0" bIns="0" lIns="0" anchor="t" rtlCol="0" anchorCtr="0">
            <a:noAutofit/>
          </a:bodyPr>
          <a:lstStyle/>
          <a:p>
            <a:pPr algn="r" rtl="1">
              <a:lnSpc>
                <a:spcPts val="1739"/>
              </a:lnSpc>
              <a:spcBef>
                <a:spcPts val="0"/>
              </a:spcBef>
              <a:spcAft>
                <a:spcPts val="0"/>
              </a:spcAft>
            </a:pPr>
            <a:r>
              <a:rPr sz="1200" b="0" i="0">
                <a:solidFill>
                  <a:srgbClr val="132033"/>
                </a:solidFill>
                <a:latin typeface="IBM Plex Sans Arabic"/>
                <a:ea typeface="IBM Plex Sans Arabic"/>
                <a:cs typeface="IBM Plex Sans Arabic"/>
              </a:rPr>
              <a:t>النواقص، وصياغات بديلة للعقد، وتوصية مبررة.</a:t>
            </a:r>
          </a:p>
        </p:txBody>
      </p:sp>
      <p:sp>
        <p:nvSpPr>
          <p:cNvPr id="41" name="Text 40"/>
          <p:cNvSpPr txBox="1"/>
          <p:nvPr/>
        </p:nvSpPr>
        <p:spPr>
          <a:xfrm>
            <a:off x="0" y="5188537"/>
            <a:ext cx="113792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في مجلد كل تطبيق:</a:t>
            </a:r>
          </a:p>
        </p:txBody>
      </p:sp>
      <p:sp>
        <p:nvSpPr>
          <p:cNvPr id="42" name="Text box 41"/>
          <p:cNvSpPr/>
          <p:nvPr/>
        </p:nvSpPr>
        <p:spPr>
          <a:xfrm>
            <a:off x="9978628" y="5517555"/>
            <a:ext cx="1397397"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حالة_التطبيق.docx</a:t>
            </a:r>
          </a:p>
        </p:txBody>
      </p:sp>
      <p:sp>
        <p:nvSpPr>
          <p:cNvPr id="43" name="Text box 42"/>
          <p:cNvSpPr/>
          <p:nvPr/>
        </p:nvSpPr>
        <p:spPr>
          <a:xfrm>
            <a:off x="9008170" y="5517555"/>
            <a:ext cx="875209"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data.xlsx</a:t>
            </a:r>
          </a:p>
        </p:txBody>
      </p:sp>
      <p:sp>
        <p:nvSpPr>
          <p:cNvPr id="44" name="Text box 43"/>
          <p:cNvSpPr/>
          <p:nvPr/>
        </p:nvSpPr>
        <p:spPr>
          <a:xfrm>
            <a:off x="7508577" y="5517555"/>
            <a:ext cx="1404342"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القالب_الفارغ.docx</a:t>
            </a:r>
          </a:p>
        </p:txBody>
      </p:sp>
      <p:sp>
        <p:nvSpPr>
          <p:cNvPr id="45" name="Text box 44"/>
          <p:cNvSpPr/>
          <p:nvPr/>
        </p:nvSpPr>
        <p:spPr>
          <a:xfrm>
            <a:off x="4979988" y="5517555"/>
            <a:ext cx="2433340" cy="321270"/>
          </a:xfrm>
          <a:prstGeom prst="roundRect">
            <a:avLst>
              <a:gd name="adj" fmla="val 50000"/>
            </a:avLst>
          </a:prstGeom>
          <a:solidFill>
            <a:srgbClr val="FCFBF8"/>
          </a:solidFill>
          <a:ln w="6350">
            <a:solidFill>
              <a:srgbClr val="DDD7CA"/>
            </a:solidFill>
          </a:ln>
        </p:spPr>
        <p:txBody>
          <a:bodyPr rtlCol="0" anchor="ctr" wrap="square" tIns="0" rIns="83127" bIns="47244"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الحل ومعيار التصحيح: مع المدرب فقط</a:t>
            </a:r>
          </a:p>
        </p:txBody>
      </p:sp>
      <p:sp>
        <p:nvSpPr>
          <p:cNvPr id="46" name="Text 4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08 · الاستدامة والجاهزية</a:t>
            </a:r>
          </a:p>
        </p:txBody>
      </p:sp>
      <p:sp>
        <p:nvSpPr>
          <p:cNvPr id="47" name="Box 4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1" name="Box 5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2" name="Box 5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54" name="Box 53"/>
          <p:cNvSpPr/>
          <p:nvPr/>
        </p:nvSpPr>
        <p:spPr>
          <a:xfrm>
            <a:off x="1498600" y="6313190"/>
            <a:ext cx="279400" cy="63500"/>
          </a:xfrm>
          <a:prstGeom prst="roundRect">
            <a:avLst>
              <a:gd name="adj" fmla="val 50000"/>
            </a:avLst>
          </a:prstGeom>
          <a:solidFill>
            <a:srgbClr val="0B6F7C"/>
          </a:solidFill>
          <a:ln>
            <a:noFill/>
          </a:ln>
        </p:spPr>
        <p:txBody>
          <a:bodyPr rtlCol="0" anchor="ctr"/>
          <a:lstStyle/>
          <a:p>
            <a:pPr algn="ctr"/>
          </a:p>
        </p:txBody>
      </p:sp>
      <p:sp>
        <p:nvSpPr>
          <p:cNvPr id="55" name="Box 54"/>
          <p:cNvSpPr/>
          <p:nvPr/>
        </p:nvSpPr>
        <p:spPr>
          <a:xfrm>
            <a:off x="1320800" y="6313190"/>
            <a:ext cx="139700" cy="63500"/>
          </a:xfrm>
          <a:prstGeom prst="roundRect">
            <a:avLst>
              <a:gd name="adj" fmla="val 50000"/>
            </a:avLst>
          </a:prstGeom>
          <a:solidFill>
            <a:srgbClr val="DDD7CA"/>
          </a:solidFill>
          <a:ln>
            <a:noFill/>
          </a:ln>
        </p:spPr>
        <p:txBody>
          <a:bodyPr rtlCol="0" anchor="ctr"/>
          <a:lstStyle/>
          <a:p>
            <a:pPr algn="ctr"/>
          </a:p>
        </p:txBody>
      </p:sp>
      <p:sp>
        <p:nvSpPr>
          <p:cNvPr id="56" name="Text 5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12014200" y="0"/>
            <a:ext cx="177800" cy="6858000"/>
          </a:xfrm>
          <a:prstGeom prst="rect">
            <a:avLst/>
          </a:prstGeom>
          <a:solidFill>
            <a:srgbClr val="6CC9D3"/>
          </a:solidFill>
          <a:ln>
            <a:noFill/>
          </a:ln>
        </p:spPr>
        <p:txBody>
          <a:bodyPr rtlCol="0" anchor="ctr"/>
          <a:lstStyle/>
          <a:p>
            <a:pPr algn="ctr"/>
          </a:p>
        </p:txBody>
      </p:sp>
      <p:sp>
        <p:nvSpPr>
          <p:cNvPr id="3" name="Text 2"/>
          <p:cNvSpPr txBox="1"/>
          <p:nvPr/>
        </p:nvSpPr>
        <p:spPr>
          <a:xfrm>
            <a:off x="10451048" y="281178"/>
            <a:ext cx="928152"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خريطة الكورس</a:t>
            </a:r>
          </a:p>
        </p:txBody>
      </p:sp>
      <p:sp>
        <p:nvSpPr>
          <p:cNvPr id="4" name="Text box 3"/>
          <p:cNvSpPr/>
          <p:nvPr/>
        </p:nvSpPr>
        <p:spPr>
          <a:xfrm>
            <a:off x="10133806" y="279400"/>
            <a:ext cx="345182"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01</a:t>
            </a:r>
          </a:p>
        </p:txBody>
      </p:sp>
      <p:sp>
        <p:nvSpPr>
          <p:cNvPr id="5" name="Text box 4"/>
          <p:cNvSpPr/>
          <p:nvPr/>
        </p:nvSpPr>
        <p:spPr>
          <a:xfrm>
            <a:off x="9694069" y="279400"/>
            <a:ext cx="376238"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02</a:t>
            </a:r>
          </a:p>
        </p:txBody>
      </p:sp>
      <p:sp>
        <p:nvSpPr>
          <p:cNvPr id="6" name="Text box 5"/>
          <p:cNvSpPr/>
          <p:nvPr/>
        </p:nvSpPr>
        <p:spPr>
          <a:xfrm>
            <a:off x="9254133" y="279400"/>
            <a:ext cx="37643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03</a:t>
            </a:r>
          </a:p>
        </p:txBody>
      </p:sp>
      <p:sp>
        <p:nvSpPr>
          <p:cNvPr id="7" name="Text box 6"/>
          <p:cNvSpPr/>
          <p:nvPr/>
        </p:nvSpPr>
        <p:spPr>
          <a:xfrm>
            <a:off x="8813403" y="279400"/>
            <a:ext cx="377230"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04</a:t>
            </a:r>
          </a:p>
        </p:txBody>
      </p:sp>
      <p:sp>
        <p:nvSpPr>
          <p:cNvPr id="8" name="Text box 7"/>
          <p:cNvSpPr/>
          <p:nvPr/>
        </p:nvSpPr>
        <p:spPr>
          <a:xfrm>
            <a:off x="8369697" y="279400"/>
            <a:ext cx="380206"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05</a:t>
            </a:r>
          </a:p>
        </p:txBody>
      </p:sp>
      <p:sp>
        <p:nvSpPr>
          <p:cNvPr id="9" name="Text box 8"/>
          <p:cNvSpPr/>
          <p:nvPr/>
        </p:nvSpPr>
        <p:spPr>
          <a:xfrm>
            <a:off x="7924602" y="279400"/>
            <a:ext cx="38159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06</a:t>
            </a:r>
          </a:p>
        </p:txBody>
      </p:sp>
      <p:sp>
        <p:nvSpPr>
          <p:cNvPr id="10" name="Text box 9"/>
          <p:cNvSpPr/>
          <p:nvPr/>
        </p:nvSpPr>
        <p:spPr>
          <a:xfrm>
            <a:off x="7487146" y="279400"/>
            <a:ext cx="37395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07</a:t>
            </a:r>
          </a:p>
        </p:txBody>
      </p:sp>
      <p:sp>
        <p:nvSpPr>
          <p:cNvPr id="11" name="Text box 10"/>
          <p:cNvSpPr/>
          <p:nvPr/>
        </p:nvSpPr>
        <p:spPr>
          <a:xfrm>
            <a:off x="7042051" y="279400"/>
            <a:ext cx="381595" cy="264120"/>
          </a:xfrm>
          <a:prstGeom prst="roundRect">
            <a:avLst>
              <a:gd name="adj" fmla="val 50000"/>
            </a:avLst>
          </a:prstGeom>
          <a:solidFill>
            <a:srgbClr val="22344D"/>
          </a:solidFill>
          <a:ln>
            <a:noFill/>
          </a:ln>
        </p:spPr>
        <p:txBody>
          <a:bodyPr rtlCol="0" anchor="ctr" wrap="square" tIns="0" rIns="50221" bIns="40081" lIns="0" anchorCtr="0">
            <a:noAutofit/>
          </a:bodyPr>
          <a:lstStyle/>
          <a:p>
            <a:pPr algn="r">
              <a:lnSpc>
                <a:spcPts val="1680"/>
              </a:lnSpc>
              <a:spcBef>
                <a:spcPts val="0"/>
              </a:spcBef>
              <a:spcAft>
                <a:spcPts val="0"/>
              </a:spcAft>
            </a:pPr>
            <a:r>
              <a:rPr sz="1200" b="1" i="0">
                <a:solidFill>
                  <a:srgbClr val="AEBACB"/>
                </a:solidFill>
                <a:latin typeface="Alexandria"/>
                <a:ea typeface="Alexandria"/>
                <a:cs typeface="Alexandria"/>
              </a:rPr>
              <a:t>08</a:t>
            </a:r>
          </a:p>
        </p:txBody>
      </p:sp>
      <p:sp>
        <p:nvSpPr>
          <p:cNvPr id="12" name="Text box 11"/>
          <p:cNvSpPr/>
          <p:nvPr/>
        </p:nvSpPr>
        <p:spPr>
          <a:xfrm>
            <a:off x="5552281" y="279400"/>
            <a:ext cx="1426270" cy="264120"/>
          </a:xfrm>
          <a:prstGeom prst="roundRect">
            <a:avLst>
              <a:gd name="adj" fmla="val 50000"/>
            </a:avLst>
          </a:prstGeom>
          <a:solidFill>
            <a:srgbClr val="6CC9D3"/>
          </a:solidFill>
          <a:ln>
            <a:noFill/>
          </a:ln>
        </p:spPr>
        <p:txBody>
          <a:bodyPr rtlCol="0" anchor="ctr" wrap="square" tIns="0" rIns="75621" bIns="47244" lIns="0" anchorCtr="0">
            <a:noAutofit/>
          </a:bodyPr>
          <a:lstStyle/>
          <a:p>
            <a:pPr algn="r" rtl="1">
              <a:lnSpc>
                <a:spcPts val="1680"/>
              </a:lnSpc>
              <a:spcBef>
                <a:spcPts val="0"/>
              </a:spcBef>
              <a:spcAft>
                <a:spcPts val="0"/>
              </a:spcAft>
            </a:pPr>
            <a:r>
              <a:rPr sz="1200" b="1" i="0">
                <a:solidFill>
                  <a:srgbClr val="0E1A2B"/>
                </a:solidFill>
                <a:latin typeface="IBM Plex Sans Arabic"/>
                <a:ea typeface="IBM Plex Sans Arabic"/>
                <a:cs typeface="IBM Plex Sans Arabic"/>
              </a:rPr>
              <a:t>09 · الاختبار والختام</a:t>
            </a:r>
          </a:p>
        </p:txBody>
      </p:sp>
      <p:sp>
        <p:nvSpPr>
          <p:cNvPr id="13" name="Text 12"/>
          <p:cNvSpPr txBox="1"/>
          <p:nvPr/>
        </p:nvSpPr>
        <p:spPr>
          <a:xfrm>
            <a:off x="8930580" y="899795"/>
            <a:ext cx="2448620" cy="1270000"/>
          </a:xfrm>
          <a:prstGeom prst="rect">
            <a:avLst/>
          </a:prstGeom>
          <a:noFill/>
        </p:spPr>
        <p:txBody>
          <a:bodyPr wrap="square" tIns="0" rIns="0" bIns="0" lIns="0" anchor="t" rtlCol="0" anchorCtr="0">
            <a:noAutofit/>
          </a:bodyPr>
          <a:lstStyle/>
          <a:p>
            <a:pPr algn="r">
              <a:lnSpc>
                <a:spcPts val="10000"/>
              </a:lnSpc>
              <a:spcBef>
                <a:spcPts val="0"/>
              </a:spcBef>
              <a:spcAft>
                <a:spcPts val="0"/>
              </a:spcAft>
            </a:pPr>
            <a:r>
              <a:rPr sz="10000" b="1" i="0">
                <a:solidFill>
                  <a:srgbClr val="6CC9D3"/>
                </a:solidFill>
                <a:latin typeface="Alexandria"/>
                <a:ea typeface="Alexandria"/>
                <a:cs typeface="Alexandria"/>
              </a:rPr>
              <a:t>09</a:t>
            </a:r>
          </a:p>
        </p:txBody>
      </p:sp>
      <p:sp>
        <p:nvSpPr>
          <p:cNvPr id="14" name="Text 13"/>
          <p:cNvSpPr txBox="1"/>
          <p:nvPr/>
        </p:nvSpPr>
        <p:spPr>
          <a:xfrm>
            <a:off x="126802" y="1000629"/>
            <a:ext cx="9260979"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الوحدة 09 · الختام</a:t>
            </a:r>
          </a:p>
        </p:txBody>
      </p:sp>
      <p:sp>
        <p:nvSpPr>
          <p:cNvPr id="15" name="Text 14"/>
          <p:cNvSpPr txBox="1"/>
          <p:nvPr/>
        </p:nvSpPr>
        <p:spPr>
          <a:xfrm>
            <a:off x="126802" y="1342898"/>
            <a:ext cx="9260979" cy="609600"/>
          </a:xfrm>
          <a:prstGeom prst="rect">
            <a:avLst/>
          </a:prstGeom>
          <a:noFill/>
        </p:spPr>
        <p:txBody>
          <a:bodyPr wrap="square" tIns="0" rIns="0" bIns="0" lIns="0" anchor="t" rtlCol="0" anchorCtr="0">
            <a:noAutofit/>
          </a:bodyPr>
          <a:lstStyle/>
          <a:p>
            <a:pPr algn="r" rtl="1">
              <a:lnSpc>
                <a:spcPts val="4800"/>
              </a:lnSpc>
              <a:spcBef>
                <a:spcPts val="0"/>
              </a:spcBef>
              <a:spcAft>
                <a:spcPts val="0"/>
              </a:spcAft>
            </a:pPr>
            <a:r>
              <a:rPr sz="4000" b="1" i="0">
                <a:solidFill>
                  <a:srgbClr val="F2EEE6"/>
                </a:solidFill>
                <a:latin typeface="Alexandria"/>
                <a:ea typeface="Alexandria"/>
                <a:cs typeface="Alexandria"/>
              </a:rPr>
              <a:t>الاختبار والختام</a:t>
            </a:r>
          </a:p>
        </p:txBody>
      </p:sp>
      <p:sp>
        <p:nvSpPr>
          <p:cNvPr id="16" name="Text 15"/>
          <p:cNvSpPr txBox="1"/>
          <p:nvPr/>
        </p:nvSpPr>
        <p:spPr>
          <a:xfrm>
            <a:off x="2463800" y="2269744"/>
            <a:ext cx="8915400" cy="304800"/>
          </a:xfrm>
          <a:prstGeom prst="rect">
            <a:avLst/>
          </a:prstGeom>
          <a:noFill/>
        </p:spPr>
        <p:txBody>
          <a:bodyPr wrap="square" tIns="0" rIns="0" bIns="0" lIns="0" anchor="t" rtlCol="0" anchorCtr="0">
            <a:noAutofit/>
          </a:bodyPr>
          <a:lstStyle/>
          <a:p>
            <a:pPr algn="r" rtl="1">
              <a:lnSpc>
                <a:spcPts val="2400"/>
              </a:lnSpc>
              <a:spcBef>
                <a:spcPts val="0"/>
              </a:spcBef>
              <a:spcAft>
                <a:spcPts val="0"/>
              </a:spcAft>
            </a:pPr>
            <a:r>
              <a:rPr sz="1600" b="0" i="0">
                <a:solidFill>
                  <a:srgbClr val="AEBACB"/>
                </a:solidFill>
                <a:latin typeface="IBM Plex Sans Arabic"/>
                <a:ea typeface="IBM Plex Sans Arabic"/>
                <a:cs typeface="IBM Plex Sans Arabic"/>
              </a:rPr>
              <a:t>اختبار من جزأين: أسئلة معرفة، ثم اختبار أداء تحكم فيه على خمسة أدلة. ثم خطتك بعد الكورس والخلاصة.</a:t>
            </a:r>
          </a:p>
        </p:txBody>
      </p:sp>
      <p:sp>
        <p:nvSpPr>
          <p:cNvPr id="17" name="Rule 16"/>
          <p:cNvSpPr/>
          <p:nvPr/>
        </p:nvSpPr>
        <p:spPr>
          <a:xfrm>
            <a:off x="5664200" y="3579217"/>
            <a:ext cx="5715000" cy="6350"/>
          </a:xfrm>
          <a:prstGeom prst="rect">
            <a:avLst/>
          </a:prstGeom>
          <a:solidFill>
            <a:srgbClr val="F2EEE6">
              <a:alpha val="16000"/>
            </a:srgbClr>
          </a:solidFill>
          <a:ln>
            <a:noFill/>
          </a:ln>
        </p:spPr>
        <p:txBody>
          <a:bodyPr rtlCol="0" anchor="ctr"/>
          <a:lstStyle/>
          <a:p>
            <a:pPr algn="ctr"/>
          </a:p>
        </p:txBody>
      </p:sp>
      <p:sp>
        <p:nvSpPr>
          <p:cNvPr id="18" name="Text 17"/>
          <p:cNvSpPr txBox="1"/>
          <p:nvPr/>
        </p:nvSpPr>
        <p:spPr>
          <a:xfrm>
            <a:off x="10581640" y="3663736"/>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01</a:t>
            </a:r>
          </a:p>
        </p:txBody>
      </p:sp>
      <p:sp>
        <p:nvSpPr>
          <p:cNvPr id="19" name="Text 18"/>
          <p:cNvSpPr txBox="1"/>
          <p:nvPr/>
        </p:nvSpPr>
        <p:spPr>
          <a:xfrm>
            <a:off x="6210018" y="3648877"/>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المعرفة: الأسئلة 1 إلى 5</a:t>
            </a:r>
          </a:p>
        </p:txBody>
      </p:sp>
      <p:sp>
        <p:nvSpPr>
          <p:cNvPr id="20" name="Text 19"/>
          <p:cNvSpPr txBox="1"/>
          <p:nvPr/>
        </p:nvSpPr>
        <p:spPr>
          <a:xfrm>
            <a:off x="5664200" y="3663545"/>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177</a:t>
            </a:r>
          </a:p>
        </p:txBody>
      </p:sp>
      <p:sp>
        <p:nvSpPr>
          <p:cNvPr id="21" name="Rule 20"/>
          <p:cNvSpPr/>
          <p:nvPr/>
        </p:nvSpPr>
        <p:spPr>
          <a:xfrm>
            <a:off x="5664200" y="4007148"/>
            <a:ext cx="5715000" cy="6350"/>
          </a:xfrm>
          <a:prstGeom prst="rect">
            <a:avLst/>
          </a:prstGeom>
          <a:solidFill>
            <a:srgbClr val="F2EEE6">
              <a:alpha val="16000"/>
            </a:srgbClr>
          </a:solidFill>
          <a:ln>
            <a:noFill/>
          </a:ln>
        </p:spPr>
        <p:txBody>
          <a:bodyPr rtlCol="0" anchor="ctr"/>
          <a:lstStyle/>
          <a:p>
            <a:pPr algn="ctr"/>
          </a:p>
        </p:txBody>
      </p:sp>
      <p:sp>
        <p:nvSpPr>
          <p:cNvPr id="22" name="Text 21"/>
          <p:cNvSpPr txBox="1"/>
          <p:nvPr/>
        </p:nvSpPr>
        <p:spPr>
          <a:xfrm>
            <a:off x="10581640" y="4091666"/>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02</a:t>
            </a:r>
          </a:p>
        </p:txBody>
      </p:sp>
      <p:sp>
        <p:nvSpPr>
          <p:cNvPr id="23" name="Text 22"/>
          <p:cNvSpPr txBox="1"/>
          <p:nvPr/>
        </p:nvSpPr>
        <p:spPr>
          <a:xfrm>
            <a:off x="6210018" y="4076807"/>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المعرفة: الأسئلة 6 إلى 10</a:t>
            </a:r>
          </a:p>
        </p:txBody>
      </p:sp>
      <p:sp>
        <p:nvSpPr>
          <p:cNvPr id="24" name="Text 23"/>
          <p:cNvSpPr txBox="1"/>
          <p:nvPr/>
        </p:nvSpPr>
        <p:spPr>
          <a:xfrm>
            <a:off x="5664200" y="409147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178</a:t>
            </a:r>
          </a:p>
        </p:txBody>
      </p:sp>
      <p:sp>
        <p:nvSpPr>
          <p:cNvPr id="25" name="Rule 24"/>
          <p:cNvSpPr/>
          <p:nvPr/>
        </p:nvSpPr>
        <p:spPr>
          <a:xfrm>
            <a:off x="5664200" y="4435078"/>
            <a:ext cx="5715000" cy="6350"/>
          </a:xfrm>
          <a:prstGeom prst="rect">
            <a:avLst/>
          </a:prstGeom>
          <a:solidFill>
            <a:srgbClr val="F2EEE6">
              <a:alpha val="16000"/>
            </a:srgbClr>
          </a:solidFill>
          <a:ln>
            <a:noFill/>
          </a:ln>
        </p:spPr>
        <p:txBody>
          <a:bodyPr rtlCol="0" anchor="ctr"/>
          <a:lstStyle/>
          <a:p>
            <a:pPr algn="ctr"/>
          </a:p>
        </p:txBody>
      </p:sp>
      <p:sp>
        <p:nvSpPr>
          <p:cNvPr id="26" name="Text 25"/>
          <p:cNvSpPr txBox="1"/>
          <p:nvPr/>
        </p:nvSpPr>
        <p:spPr>
          <a:xfrm>
            <a:off x="10581640" y="451959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03</a:t>
            </a:r>
          </a:p>
        </p:txBody>
      </p:sp>
      <p:sp>
        <p:nvSpPr>
          <p:cNvPr id="27" name="Text 26"/>
          <p:cNvSpPr txBox="1"/>
          <p:nvPr/>
        </p:nvSpPr>
        <p:spPr>
          <a:xfrm>
            <a:off x="6210018" y="4504738"/>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اختبار الأداء: التعليمات</a:t>
            </a:r>
          </a:p>
        </p:txBody>
      </p:sp>
      <p:sp>
        <p:nvSpPr>
          <p:cNvPr id="28" name="Text 27"/>
          <p:cNvSpPr txBox="1"/>
          <p:nvPr/>
        </p:nvSpPr>
        <p:spPr>
          <a:xfrm>
            <a:off x="5664200" y="4519406"/>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179</a:t>
            </a:r>
          </a:p>
        </p:txBody>
      </p:sp>
      <p:sp>
        <p:nvSpPr>
          <p:cNvPr id="29" name="Rule 28"/>
          <p:cNvSpPr/>
          <p:nvPr/>
        </p:nvSpPr>
        <p:spPr>
          <a:xfrm>
            <a:off x="5664200" y="4863009"/>
            <a:ext cx="5715000" cy="6350"/>
          </a:xfrm>
          <a:prstGeom prst="rect">
            <a:avLst/>
          </a:prstGeom>
          <a:solidFill>
            <a:srgbClr val="F2EEE6">
              <a:alpha val="16000"/>
            </a:srgbClr>
          </a:solidFill>
          <a:ln>
            <a:noFill/>
          </a:ln>
        </p:spPr>
        <p:txBody>
          <a:bodyPr rtlCol="0" anchor="ctr"/>
          <a:lstStyle/>
          <a:p>
            <a:pPr algn="ctr"/>
          </a:p>
        </p:txBody>
      </p:sp>
      <p:sp>
        <p:nvSpPr>
          <p:cNvPr id="30" name="Text 29"/>
          <p:cNvSpPr txBox="1"/>
          <p:nvPr/>
        </p:nvSpPr>
        <p:spPr>
          <a:xfrm>
            <a:off x="10581640" y="4947527"/>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04</a:t>
            </a:r>
          </a:p>
        </p:txBody>
      </p:sp>
      <p:sp>
        <p:nvSpPr>
          <p:cNvPr id="31" name="Text 30"/>
          <p:cNvSpPr txBox="1"/>
          <p:nvPr/>
        </p:nvSpPr>
        <p:spPr>
          <a:xfrm>
            <a:off x="6210018" y="4932668"/>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اختبار الأداء: الأدلة الخمسة</a:t>
            </a:r>
          </a:p>
        </p:txBody>
      </p:sp>
      <p:sp>
        <p:nvSpPr>
          <p:cNvPr id="32" name="Text 31"/>
          <p:cNvSpPr txBox="1"/>
          <p:nvPr/>
        </p:nvSpPr>
        <p:spPr>
          <a:xfrm>
            <a:off x="5664200" y="494733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180</a:t>
            </a:r>
          </a:p>
        </p:txBody>
      </p:sp>
      <p:sp>
        <p:nvSpPr>
          <p:cNvPr id="33" name="Rule 32"/>
          <p:cNvSpPr/>
          <p:nvPr/>
        </p:nvSpPr>
        <p:spPr>
          <a:xfrm>
            <a:off x="5664200" y="5290939"/>
            <a:ext cx="5715000" cy="6350"/>
          </a:xfrm>
          <a:prstGeom prst="rect">
            <a:avLst/>
          </a:prstGeom>
          <a:solidFill>
            <a:srgbClr val="F2EEE6">
              <a:alpha val="16000"/>
            </a:srgbClr>
          </a:solidFill>
          <a:ln>
            <a:noFill/>
          </a:ln>
        </p:spPr>
        <p:txBody>
          <a:bodyPr rtlCol="0" anchor="ctr"/>
          <a:lstStyle/>
          <a:p>
            <a:pPr algn="ctr"/>
          </a:p>
        </p:txBody>
      </p:sp>
      <p:sp>
        <p:nvSpPr>
          <p:cNvPr id="34" name="Text 33"/>
          <p:cNvSpPr txBox="1"/>
          <p:nvPr/>
        </p:nvSpPr>
        <p:spPr>
          <a:xfrm>
            <a:off x="10581640" y="537545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05</a:t>
            </a:r>
          </a:p>
        </p:txBody>
      </p:sp>
      <p:sp>
        <p:nvSpPr>
          <p:cNvPr id="35" name="Text 34"/>
          <p:cNvSpPr txBox="1"/>
          <p:nvPr/>
        </p:nvSpPr>
        <p:spPr>
          <a:xfrm>
            <a:off x="6210018" y="5360599"/>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خطتك بعد الكورس</a:t>
            </a:r>
          </a:p>
        </p:txBody>
      </p:sp>
      <p:sp>
        <p:nvSpPr>
          <p:cNvPr id="36" name="Text 35"/>
          <p:cNvSpPr txBox="1"/>
          <p:nvPr/>
        </p:nvSpPr>
        <p:spPr>
          <a:xfrm>
            <a:off x="5664200" y="5375267"/>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186</a:t>
            </a:r>
          </a:p>
        </p:txBody>
      </p:sp>
      <p:sp>
        <p:nvSpPr>
          <p:cNvPr id="37" name="Rule 36"/>
          <p:cNvSpPr/>
          <p:nvPr/>
        </p:nvSpPr>
        <p:spPr>
          <a:xfrm>
            <a:off x="5664200" y="5718870"/>
            <a:ext cx="5715000" cy="6350"/>
          </a:xfrm>
          <a:prstGeom prst="rect">
            <a:avLst/>
          </a:prstGeom>
          <a:solidFill>
            <a:srgbClr val="F2EEE6">
              <a:alpha val="16000"/>
            </a:srgbClr>
          </a:solidFill>
          <a:ln>
            <a:noFill/>
          </a:ln>
        </p:spPr>
        <p:txBody>
          <a:bodyPr rtlCol="0" anchor="ctr"/>
          <a:lstStyle/>
          <a:p>
            <a:pPr algn="ctr"/>
          </a:p>
        </p:txBody>
      </p:sp>
      <p:sp>
        <p:nvSpPr>
          <p:cNvPr id="38" name="Text 37"/>
          <p:cNvSpPr txBox="1"/>
          <p:nvPr/>
        </p:nvSpPr>
        <p:spPr>
          <a:xfrm>
            <a:off x="10581640" y="5803388"/>
            <a:ext cx="797560" cy="214610"/>
          </a:xfrm>
          <a:prstGeom prst="rect">
            <a:avLst/>
          </a:prstGeom>
          <a:noFill/>
        </p:spPr>
        <p:txBody>
          <a:bodyPr wrap="square" tIns="0" rIns="0" bIns="0" lIns="0" anchor="t" rtlCol="0" anchorCtr="0">
            <a:noAutofit/>
          </a:bodyPr>
          <a:lstStyle/>
          <a:p>
            <a:pPr algn="r">
              <a:lnSpc>
                <a:spcPts val="1689"/>
              </a:lnSpc>
              <a:spcBef>
                <a:spcPts val="0"/>
              </a:spcBef>
              <a:spcAft>
                <a:spcPts val="0"/>
              </a:spcAft>
            </a:pPr>
            <a:r>
              <a:rPr sz="1300" b="1" i="0">
                <a:solidFill>
                  <a:srgbClr val="6CC9D3"/>
                </a:solidFill>
                <a:latin typeface="IBM Plex Mono"/>
                <a:ea typeface="IBM Plex Mono"/>
                <a:cs typeface="IBM Plex Mono"/>
              </a:rPr>
              <a:t>06</a:t>
            </a:r>
          </a:p>
        </p:txBody>
      </p:sp>
      <p:sp>
        <p:nvSpPr>
          <p:cNvPr id="39" name="Text 38"/>
          <p:cNvSpPr txBox="1"/>
          <p:nvPr/>
        </p:nvSpPr>
        <p:spPr>
          <a:xfrm>
            <a:off x="6210018" y="5788529"/>
            <a:ext cx="4369082"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0" i="0">
                <a:solidFill>
                  <a:srgbClr val="F2EEE6"/>
                </a:solidFill>
                <a:latin typeface="IBM Plex Sans Arabic"/>
                <a:ea typeface="IBM Plex Sans Arabic"/>
                <a:cs typeface="IBM Plex Sans Arabic"/>
              </a:rPr>
              <a:t>الخلاصة</a:t>
            </a:r>
          </a:p>
        </p:txBody>
      </p:sp>
      <p:sp>
        <p:nvSpPr>
          <p:cNvPr id="40" name="Text 39"/>
          <p:cNvSpPr txBox="1"/>
          <p:nvPr/>
        </p:nvSpPr>
        <p:spPr>
          <a:xfrm>
            <a:off x="5664200" y="5803198"/>
            <a:ext cx="767854"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الشريحة 187</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068072" y="812800"/>
            <a:ext cx="331112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الاختبار النهائي · الجزء الأول: المعرفة · الأسئلة 1 إلى 5</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اختبر فهمك (1 من 2)</a:t>
            </a:r>
          </a:p>
        </p:txBody>
      </p:sp>
      <p:sp>
        <p:nvSpPr>
          <p:cNvPr id="5" name="Box 4"/>
          <p:cNvSpPr/>
          <p:nvPr/>
        </p:nvSpPr>
        <p:spPr>
          <a:xfrm>
            <a:off x="11099800" y="1878211"/>
            <a:ext cx="279400" cy="279400"/>
          </a:xfrm>
          <a:prstGeom prst="roundRect">
            <a:avLst>
              <a:gd name="adj" fmla="val 50000"/>
            </a:avLst>
          </a:prstGeom>
          <a:solidFill>
            <a:srgbClr val="0B6F7C"/>
          </a:solidFill>
          <a:ln>
            <a:noFill/>
          </a:ln>
        </p:spPr>
        <p:txBody>
          <a:bodyPr rtlCol="0" anchor="ctr"/>
          <a:lstStyle/>
          <a:p>
            <a:pPr algn="ctr"/>
          </a:p>
        </p:txBody>
      </p:sp>
      <p:sp>
        <p:nvSpPr>
          <p:cNvPr id="6" name="Text 5"/>
          <p:cNvSpPr txBox="1"/>
          <p:nvPr/>
        </p:nvSpPr>
        <p:spPr>
          <a:xfrm>
            <a:off x="11156533" y="19466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7" name="Text 6"/>
          <p:cNvSpPr txBox="1"/>
          <p:nvPr/>
        </p:nvSpPr>
        <p:spPr>
          <a:xfrm>
            <a:off x="0" y="186593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ماذا يطلب الضابط ‎1-2-1‎؟</a:t>
            </a:r>
          </a:p>
        </p:txBody>
      </p:sp>
      <p:sp>
        <p:nvSpPr>
          <p:cNvPr id="8" name="Text box 7"/>
          <p:cNvSpPr/>
          <p:nvPr/>
        </p:nvSpPr>
        <p:spPr>
          <a:xfrm>
            <a:off x="8716962" y="2224286"/>
            <a:ext cx="2265362"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ارتباط الأمن السيبراني بمدير التقنية</a:t>
            </a:r>
          </a:p>
        </p:txBody>
      </p:sp>
      <p:sp>
        <p:nvSpPr>
          <p:cNvPr id="9" name="Text box 8"/>
          <p:cNvSpPr/>
          <p:nvPr/>
        </p:nvSpPr>
        <p:spPr>
          <a:xfrm>
            <a:off x="5654477" y="2224286"/>
            <a:ext cx="2979936"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إدارة مستقلة عن تقنية المعلومات والاتصالات</a:t>
            </a:r>
          </a:p>
        </p:txBody>
      </p:sp>
      <p:sp>
        <p:nvSpPr>
          <p:cNvPr id="10" name="Text box 9"/>
          <p:cNvSpPr/>
          <p:nvPr/>
        </p:nvSpPr>
        <p:spPr>
          <a:xfrm>
            <a:off x="3201392" y="2224286"/>
            <a:ext cx="2370534"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إسناد الأمن السيبراني لطرف خارجي</a:t>
            </a:r>
          </a:p>
        </p:txBody>
      </p:sp>
      <p:sp>
        <p:nvSpPr>
          <p:cNvPr id="11" name="Box 10"/>
          <p:cNvSpPr/>
          <p:nvPr/>
        </p:nvSpPr>
        <p:spPr>
          <a:xfrm>
            <a:off x="11099800" y="2663031"/>
            <a:ext cx="279400" cy="279400"/>
          </a:xfrm>
          <a:prstGeom prst="roundRect">
            <a:avLst>
              <a:gd name="adj" fmla="val 50000"/>
            </a:avLst>
          </a:prstGeom>
          <a:solidFill>
            <a:srgbClr val="0B6F7C"/>
          </a:solidFill>
          <a:ln>
            <a:noFill/>
          </a:ln>
        </p:spPr>
        <p:txBody>
          <a:bodyPr rtlCol="0" anchor="ctr"/>
          <a:lstStyle/>
          <a:p>
            <a:pPr algn="ctr"/>
          </a:p>
        </p:txBody>
      </p:sp>
      <p:sp>
        <p:nvSpPr>
          <p:cNvPr id="12" name="Text 11"/>
          <p:cNvSpPr txBox="1"/>
          <p:nvPr/>
        </p:nvSpPr>
        <p:spPr>
          <a:xfrm>
            <a:off x="11139964" y="2731491"/>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3" name="Text 12"/>
          <p:cNvSpPr txBox="1"/>
          <p:nvPr/>
        </p:nvSpPr>
        <p:spPr>
          <a:xfrm>
            <a:off x="0" y="265075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من يعتمد سياسات الأمن السيبراني وفق ‎1-3-1‎؟</a:t>
            </a:r>
          </a:p>
        </p:txBody>
      </p:sp>
      <p:sp>
        <p:nvSpPr>
          <p:cNvPr id="14" name="Text box 13"/>
          <p:cNvSpPr/>
          <p:nvPr/>
        </p:nvSpPr>
        <p:spPr>
          <a:xfrm>
            <a:off x="9510812" y="3009106"/>
            <a:ext cx="1471513" cy="308570"/>
          </a:xfrm>
          <a:prstGeom prst="roundRect">
            <a:avLst>
              <a:gd name="adj" fmla="val 24196"/>
            </a:avLst>
          </a:prstGeom>
          <a:solidFill>
            <a:srgbClr val="FCFBF8"/>
          </a:solidFill>
          <a:ln w="6350">
            <a:solidFill>
              <a:srgbClr val="DDD7CA"/>
            </a:solidFill>
          </a:ln>
        </p:spPr>
        <p:txBody>
          <a:bodyPr rtlCol="0" anchor="ctr" wrap="square" tIns="2135" rIns="108307" bIns="49379" lIns="11414"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مدير الأمن السيبراني</a:t>
            </a:r>
          </a:p>
        </p:txBody>
      </p:sp>
      <p:sp>
        <p:nvSpPr>
          <p:cNvPr id="15" name="Text box 14"/>
          <p:cNvSpPr/>
          <p:nvPr/>
        </p:nvSpPr>
        <p:spPr>
          <a:xfrm>
            <a:off x="8092877" y="3009106"/>
            <a:ext cx="1335385"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اللجنة الإشرافية</a:t>
            </a:r>
          </a:p>
        </p:txBody>
      </p:sp>
      <p:sp>
        <p:nvSpPr>
          <p:cNvPr id="16" name="Text box 15"/>
          <p:cNvSpPr/>
          <p:nvPr/>
        </p:nvSpPr>
        <p:spPr>
          <a:xfrm>
            <a:off x="6619875" y="3009106"/>
            <a:ext cx="1390452"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صاحب الصلاحية</a:t>
            </a:r>
          </a:p>
        </p:txBody>
      </p:sp>
      <p:sp>
        <p:nvSpPr>
          <p:cNvPr id="17" name="Box 16"/>
          <p:cNvSpPr/>
          <p:nvPr/>
        </p:nvSpPr>
        <p:spPr>
          <a:xfrm>
            <a:off x="11099800" y="3447852"/>
            <a:ext cx="279400" cy="279400"/>
          </a:xfrm>
          <a:prstGeom prst="roundRect">
            <a:avLst>
              <a:gd name="adj" fmla="val 50000"/>
            </a:avLst>
          </a:prstGeom>
          <a:solidFill>
            <a:srgbClr val="0B6F7C"/>
          </a:solidFill>
          <a:ln>
            <a:noFill/>
          </a:ln>
        </p:spPr>
        <p:txBody>
          <a:bodyPr rtlCol="0" anchor="ctr"/>
          <a:lstStyle/>
          <a:p>
            <a:pPr algn="ctr"/>
          </a:p>
        </p:txBody>
      </p:sp>
      <p:sp>
        <p:nvSpPr>
          <p:cNvPr id="18" name="Text 17"/>
          <p:cNvSpPr txBox="1"/>
          <p:nvPr/>
        </p:nvSpPr>
        <p:spPr>
          <a:xfrm>
            <a:off x="11140162" y="3516311"/>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19" name="Text 18"/>
          <p:cNvSpPr txBox="1"/>
          <p:nvPr/>
        </p:nvSpPr>
        <p:spPr>
          <a:xfrm>
            <a:off x="0" y="343557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متى يجب تقييم المخاطر وفق ‎1-5-3‎؟</a:t>
            </a:r>
          </a:p>
        </p:txBody>
      </p:sp>
      <p:sp>
        <p:nvSpPr>
          <p:cNvPr id="20" name="Text box 19"/>
          <p:cNvSpPr/>
          <p:nvPr/>
        </p:nvSpPr>
        <p:spPr>
          <a:xfrm>
            <a:off x="9997579" y="3793927"/>
            <a:ext cx="984746"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سنوياً فقط</a:t>
            </a:r>
          </a:p>
        </p:txBody>
      </p:sp>
      <p:sp>
        <p:nvSpPr>
          <p:cNvPr id="21" name="Text box 20"/>
          <p:cNvSpPr/>
          <p:nvPr/>
        </p:nvSpPr>
        <p:spPr>
          <a:xfrm>
            <a:off x="5642372" y="3793927"/>
            <a:ext cx="4272657"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في أربع حالات بحد أدنى، منها بداية المشاريع وقبل التغييرات الجوهرية</a:t>
            </a:r>
          </a:p>
        </p:txBody>
      </p:sp>
      <p:sp>
        <p:nvSpPr>
          <p:cNvPr id="22" name="Text box 21"/>
          <p:cNvSpPr/>
          <p:nvPr/>
        </p:nvSpPr>
        <p:spPr>
          <a:xfrm>
            <a:off x="4243884" y="3793927"/>
            <a:ext cx="1315938"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عند طلب الهيئة</a:t>
            </a:r>
          </a:p>
        </p:txBody>
      </p:sp>
      <p:sp>
        <p:nvSpPr>
          <p:cNvPr id="23" name="Box 22"/>
          <p:cNvSpPr/>
          <p:nvPr/>
        </p:nvSpPr>
        <p:spPr>
          <a:xfrm>
            <a:off x="11099800" y="4232672"/>
            <a:ext cx="279400" cy="279400"/>
          </a:xfrm>
          <a:prstGeom prst="roundRect">
            <a:avLst>
              <a:gd name="adj" fmla="val 50000"/>
            </a:avLst>
          </a:prstGeom>
          <a:solidFill>
            <a:srgbClr val="0B6F7C"/>
          </a:solidFill>
          <a:ln>
            <a:noFill/>
          </a:ln>
        </p:spPr>
        <p:txBody>
          <a:bodyPr rtlCol="0" anchor="ctr"/>
          <a:lstStyle/>
          <a:p>
            <a:pPr algn="ctr"/>
          </a:p>
        </p:txBody>
      </p:sp>
      <p:sp>
        <p:nvSpPr>
          <p:cNvPr id="24" name="Text 23"/>
          <p:cNvSpPr txBox="1"/>
          <p:nvPr/>
        </p:nvSpPr>
        <p:spPr>
          <a:xfrm>
            <a:off x="11139765" y="4301131"/>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25" name="Text 24"/>
          <p:cNvSpPr txBox="1"/>
          <p:nvPr/>
        </p:nvSpPr>
        <p:spPr>
          <a:xfrm>
            <a:off x="0" y="4220393"/>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التحقق متعدد العناصر في ‎2-2-3-2‎ يشمل:</a:t>
            </a:r>
          </a:p>
        </p:txBody>
      </p:sp>
      <p:sp>
        <p:nvSpPr>
          <p:cNvPr id="26" name="Text box 25"/>
          <p:cNvSpPr/>
          <p:nvPr/>
        </p:nvSpPr>
        <p:spPr>
          <a:xfrm>
            <a:off x="9441656" y="4578747"/>
            <a:ext cx="1540669" cy="308570"/>
          </a:xfrm>
          <a:prstGeom prst="roundRect">
            <a:avLst>
              <a:gd name="adj" fmla="val 24196"/>
            </a:avLst>
          </a:prstGeom>
          <a:solidFill>
            <a:srgbClr val="FCFBF8"/>
          </a:solidFill>
          <a:ln w="6350">
            <a:solidFill>
              <a:srgbClr val="DDD7CA"/>
            </a:solidFill>
          </a:ln>
        </p:spPr>
        <p:txBody>
          <a:bodyPr rtlCol="0" anchor="ctr" wrap="square" tIns="2135" rIns="108307" bIns="49379" lIns="5881"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الدخول عن بعد فقط</a:t>
            </a:r>
          </a:p>
        </p:txBody>
      </p:sp>
      <p:sp>
        <p:nvSpPr>
          <p:cNvPr id="27" name="Text box 26"/>
          <p:cNvSpPr/>
          <p:nvPr/>
        </p:nvSpPr>
        <p:spPr>
          <a:xfrm>
            <a:off x="5444728" y="4578747"/>
            <a:ext cx="3914378"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الدخول عن بعد والحسابات ذات الصلاحيات الهامة والحساسة</a:t>
            </a:r>
          </a:p>
        </p:txBody>
      </p:sp>
      <p:sp>
        <p:nvSpPr>
          <p:cNvPr id="28" name="Text box 27"/>
          <p:cNvSpPr/>
          <p:nvPr/>
        </p:nvSpPr>
        <p:spPr>
          <a:xfrm>
            <a:off x="3228677" y="4578747"/>
            <a:ext cx="2133501"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كل المستخدمين داخل الشبكة</a:t>
            </a:r>
          </a:p>
        </p:txBody>
      </p:sp>
      <p:sp>
        <p:nvSpPr>
          <p:cNvPr id="29" name="Box 28"/>
          <p:cNvSpPr/>
          <p:nvPr/>
        </p:nvSpPr>
        <p:spPr>
          <a:xfrm>
            <a:off x="11099800" y="5017492"/>
            <a:ext cx="279400" cy="279400"/>
          </a:xfrm>
          <a:prstGeom prst="roundRect">
            <a:avLst>
              <a:gd name="adj" fmla="val 50000"/>
            </a:avLst>
          </a:prstGeom>
          <a:solidFill>
            <a:srgbClr val="0B6F7C"/>
          </a:solidFill>
          <a:ln>
            <a:noFill/>
          </a:ln>
        </p:spPr>
        <p:txBody>
          <a:bodyPr rtlCol="0" anchor="ctr"/>
          <a:lstStyle/>
          <a:p>
            <a:pPr algn="ctr"/>
          </a:p>
        </p:txBody>
      </p:sp>
      <p:sp>
        <p:nvSpPr>
          <p:cNvPr id="30" name="Text 29"/>
          <p:cNvSpPr txBox="1"/>
          <p:nvPr/>
        </p:nvSpPr>
        <p:spPr>
          <a:xfrm>
            <a:off x="11138277" y="5085952"/>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31" name="Text 30"/>
          <p:cNvSpPr txBox="1"/>
          <p:nvPr/>
        </p:nvSpPr>
        <p:spPr>
          <a:xfrm>
            <a:off x="0" y="5005213"/>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أي مصدر يذكره ‎2-3-3-4‎ مثالاً لمزامنة التوقيت؟</a:t>
            </a:r>
          </a:p>
        </p:txBody>
      </p:sp>
      <p:sp>
        <p:nvSpPr>
          <p:cNvPr id="32" name="Text box 31"/>
          <p:cNvSpPr/>
          <p:nvPr/>
        </p:nvSpPr>
        <p:spPr>
          <a:xfrm>
            <a:off x="8549184" y="5363567"/>
            <a:ext cx="2433141"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هيئة المواصفات والمقاييس والجودة</a:t>
            </a:r>
          </a:p>
        </p:txBody>
      </p:sp>
      <p:sp>
        <p:nvSpPr>
          <p:cNvPr id="33" name="Text box 32"/>
          <p:cNvSpPr/>
          <p:nvPr/>
        </p:nvSpPr>
        <p:spPr>
          <a:xfrm>
            <a:off x="6365081" y="5363567"/>
            <a:ext cx="2101552"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الهيئة الوطنية للأمن السيبراني</a:t>
            </a:r>
          </a:p>
        </p:txBody>
      </p:sp>
      <p:sp>
        <p:nvSpPr>
          <p:cNvPr id="34" name="Text box 33"/>
          <p:cNvSpPr/>
          <p:nvPr/>
        </p:nvSpPr>
        <p:spPr>
          <a:xfrm>
            <a:off x="5128320" y="5363567"/>
            <a:ext cx="1154212"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مزود الإنترنت</a:t>
            </a:r>
          </a:p>
        </p:txBody>
      </p:sp>
      <p:sp>
        <p:nvSpPr>
          <p:cNvPr id="35" name="Text 3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36" name="Box 3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8" name="Box 3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9" name="Box 3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0" name="Box 39"/>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1" name="Box 40"/>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2" name="Box 41"/>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3" name="Box 42"/>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45" name="Text 4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177</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7976592" y="812800"/>
            <a:ext cx="3402608"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الاختبار النهائي · الجزء الأول: المعرفة · الأسئلة 6 إلى 10</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اختبر فهمك (2 من 2)</a:t>
            </a:r>
          </a:p>
        </p:txBody>
      </p:sp>
      <p:sp>
        <p:nvSpPr>
          <p:cNvPr id="5" name="Box 4"/>
          <p:cNvSpPr/>
          <p:nvPr/>
        </p:nvSpPr>
        <p:spPr>
          <a:xfrm>
            <a:off x="11099800" y="1878211"/>
            <a:ext cx="279400" cy="279400"/>
          </a:xfrm>
          <a:prstGeom prst="roundRect">
            <a:avLst>
              <a:gd name="adj" fmla="val 50000"/>
            </a:avLst>
          </a:prstGeom>
          <a:solidFill>
            <a:srgbClr val="0B6F7C"/>
          </a:solidFill>
          <a:ln>
            <a:noFill/>
          </a:ln>
        </p:spPr>
        <p:txBody>
          <a:bodyPr rtlCol="0" anchor="ctr"/>
          <a:lstStyle/>
          <a:p>
            <a:pPr algn="ctr"/>
          </a:p>
        </p:txBody>
      </p:sp>
      <p:sp>
        <p:nvSpPr>
          <p:cNvPr id="6" name="Text 5"/>
          <p:cNvSpPr txBox="1"/>
          <p:nvPr/>
        </p:nvSpPr>
        <p:spPr>
          <a:xfrm>
            <a:off x="11137880" y="19466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7" name="Text 6"/>
          <p:cNvSpPr txBox="1"/>
          <p:nvPr/>
        </p:nvSpPr>
        <p:spPr>
          <a:xfrm>
            <a:off x="0" y="186593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ما الحد الأدنى للاحتفاظ بسجلات الأحداث السيبرانية؟</a:t>
            </a:r>
          </a:p>
        </p:txBody>
      </p:sp>
      <p:sp>
        <p:nvSpPr>
          <p:cNvPr id="8" name="Text box 7"/>
          <p:cNvSpPr/>
          <p:nvPr/>
        </p:nvSpPr>
        <p:spPr>
          <a:xfrm>
            <a:off x="10205045" y="2224286"/>
            <a:ext cx="777280"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6 أشهر</a:t>
            </a:r>
          </a:p>
        </p:txBody>
      </p:sp>
      <p:sp>
        <p:nvSpPr>
          <p:cNvPr id="9" name="Text box 8"/>
          <p:cNvSpPr/>
          <p:nvPr/>
        </p:nvSpPr>
        <p:spPr>
          <a:xfrm>
            <a:off x="9160073" y="2224286"/>
            <a:ext cx="962422"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12 شهراً</a:t>
            </a:r>
          </a:p>
        </p:txBody>
      </p:sp>
      <p:sp>
        <p:nvSpPr>
          <p:cNvPr id="10" name="Text box 9"/>
          <p:cNvSpPr/>
          <p:nvPr/>
        </p:nvSpPr>
        <p:spPr>
          <a:xfrm>
            <a:off x="8152904" y="2224286"/>
            <a:ext cx="924620"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24 شهراً</a:t>
            </a:r>
          </a:p>
        </p:txBody>
      </p:sp>
      <p:sp>
        <p:nvSpPr>
          <p:cNvPr id="11" name="Box 10"/>
          <p:cNvSpPr/>
          <p:nvPr/>
        </p:nvSpPr>
        <p:spPr>
          <a:xfrm>
            <a:off x="11099800" y="2663031"/>
            <a:ext cx="279400" cy="279400"/>
          </a:xfrm>
          <a:prstGeom prst="roundRect">
            <a:avLst>
              <a:gd name="adj" fmla="val 50000"/>
            </a:avLst>
          </a:prstGeom>
          <a:solidFill>
            <a:srgbClr val="0B6F7C"/>
          </a:solidFill>
          <a:ln>
            <a:noFill/>
          </a:ln>
        </p:spPr>
        <p:txBody>
          <a:bodyPr rtlCol="0" anchor="ctr"/>
          <a:lstStyle/>
          <a:p>
            <a:pPr algn="ctr"/>
          </a:p>
        </p:txBody>
      </p:sp>
      <p:sp>
        <p:nvSpPr>
          <p:cNvPr id="12" name="Text 11"/>
          <p:cNvSpPr txBox="1"/>
          <p:nvPr/>
        </p:nvSpPr>
        <p:spPr>
          <a:xfrm>
            <a:off x="11141254" y="2731491"/>
            <a:ext cx="19639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7</a:t>
            </a:r>
          </a:p>
        </p:txBody>
      </p:sp>
      <p:sp>
        <p:nvSpPr>
          <p:cNvPr id="13" name="Text 12"/>
          <p:cNvSpPr txBox="1"/>
          <p:nvPr/>
        </p:nvSpPr>
        <p:spPr>
          <a:xfrm>
            <a:off x="0" y="265075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أي ضابط يطلب الفحص الدوري لفعالية استعادة النسخ؟</a:t>
            </a:r>
          </a:p>
        </p:txBody>
      </p:sp>
      <p:sp>
        <p:nvSpPr>
          <p:cNvPr id="14" name="Text box 13"/>
          <p:cNvSpPr/>
          <p:nvPr/>
        </p:nvSpPr>
        <p:spPr>
          <a:xfrm>
            <a:off x="10052546" y="3009106"/>
            <a:ext cx="929779"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‎2-9-3-3‎</a:t>
            </a:r>
          </a:p>
        </p:txBody>
      </p:sp>
      <p:sp>
        <p:nvSpPr>
          <p:cNvPr id="15" name="Text box 14"/>
          <p:cNvSpPr/>
          <p:nvPr/>
        </p:nvSpPr>
        <p:spPr>
          <a:xfrm>
            <a:off x="8855075" y="3009106"/>
            <a:ext cx="1114921"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‎2-10-3-1‎</a:t>
            </a:r>
          </a:p>
        </p:txBody>
      </p:sp>
      <p:sp>
        <p:nvSpPr>
          <p:cNvPr id="16" name="Text box 15"/>
          <p:cNvSpPr/>
          <p:nvPr/>
        </p:nvSpPr>
        <p:spPr>
          <a:xfrm>
            <a:off x="7786886" y="3009106"/>
            <a:ext cx="985639"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‎3-1-3-3‎</a:t>
            </a:r>
          </a:p>
        </p:txBody>
      </p:sp>
      <p:sp>
        <p:nvSpPr>
          <p:cNvPr id="17" name="Box 16"/>
          <p:cNvSpPr/>
          <p:nvPr/>
        </p:nvSpPr>
        <p:spPr>
          <a:xfrm>
            <a:off x="11099800" y="3447852"/>
            <a:ext cx="279400" cy="279400"/>
          </a:xfrm>
          <a:prstGeom prst="roundRect">
            <a:avLst>
              <a:gd name="adj" fmla="val 50000"/>
            </a:avLst>
          </a:prstGeom>
          <a:solidFill>
            <a:srgbClr val="0B6F7C"/>
          </a:solidFill>
          <a:ln>
            <a:noFill/>
          </a:ln>
        </p:spPr>
        <p:txBody>
          <a:bodyPr rtlCol="0" anchor="ctr"/>
          <a:lstStyle/>
          <a:p>
            <a:pPr algn="ctr"/>
          </a:p>
        </p:txBody>
      </p:sp>
      <p:sp>
        <p:nvSpPr>
          <p:cNvPr id="18" name="Text 17"/>
          <p:cNvSpPr txBox="1"/>
          <p:nvPr/>
        </p:nvSpPr>
        <p:spPr>
          <a:xfrm>
            <a:off x="11137880" y="3516311"/>
            <a:ext cx="2032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8</a:t>
            </a:r>
          </a:p>
        </p:txBody>
      </p:sp>
      <p:sp>
        <p:nvSpPr>
          <p:cNvPr id="19" name="Text 18"/>
          <p:cNvSpPr txBox="1"/>
          <p:nvPr/>
        </p:nvSpPr>
        <p:spPr>
          <a:xfrm>
            <a:off x="0" y="3435572"/>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ربط الشبكة اللاسلكية بالشبكة الداخلية وفق ‎2-5-3-4‎:</a:t>
            </a:r>
          </a:p>
        </p:txBody>
      </p:sp>
      <p:sp>
        <p:nvSpPr>
          <p:cNvPr id="20" name="Text box 19"/>
          <p:cNvSpPr/>
          <p:nvPr/>
        </p:nvSpPr>
        <p:spPr>
          <a:xfrm>
            <a:off x="9869686" y="3793927"/>
            <a:ext cx="1112639"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ممنوع مطلقاً</a:t>
            </a:r>
          </a:p>
        </p:txBody>
      </p:sp>
      <p:sp>
        <p:nvSpPr>
          <p:cNvPr id="21" name="Text box 20"/>
          <p:cNvSpPr/>
          <p:nvPr/>
        </p:nvSpPr>
        <p:spPr>
          <a:xfrm>
            <a:off x="8228112" y="3793927"/>
            <a:ext cx="1559024" cy="308570"/>
          </a:xfrm>
          <a:prstGeom prst="roundRect">
            <a:avLst>
              <a:gd name="adj" fmla="val 24196"/>
            </a:avLst>
          </a:prstGeom>
          <a:solidFill>
            <a:srgbClr val="FCFBF8"/>
          </a:solidFill>
          <a:ln w="6350">
            <a:solidFill>
              <a:srgbClr val="DDD7CA"/>
            </a:solidFill>
          </a:ln>
        </p:spPr>
        <p:txBody>
          <a:bodyPr rtlCol="0" anchor="ctr" wrap="square" tIns="2135" rIns="108307" bIns="49379" lIns="4413"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مسموح دون شروط</a:t>
            </a:r>
          </a:p>
        </p:txBody>
      </p:sp>
      <p:sp>
        <p:nvSpPr>
          <p:cNvPr id="22" name="Text box 21"/>
          <p:cNvSpPr/>
          <p:nvPr/>
        </p:nvSpPr>
        <p:spPr>
          <a:xfrm>
            <a:off x="5715000" y="3793927"/>
            <a:ext cx="2430562"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بعد تقييم شامل للمخاطر ومعالجتها</a:t>
            </a:r>
          </a:p>
        </p:txBody>
      </p:sp>
      <p:sp>
        <p:nvSpPr>
          <p:cNvPr id="23" name="Box 22"/>
          <p:cNvSpPr/>
          <p:nvPr/>
        </p:nvSpPr>
        <p:spPr>
          <a:xfrm>
            <a:off x="11099800" y="4232672"/>
            <a:ext cx="279400" cy="279400"/>
          </a:xfrm>
          <a:prstGeom prst="roundRect">
            <a:avLst>
              <a:gd name="adj" fmla="val 50000"/>
            </a:avLst>
          </a:prstGeom>
          <a:solidFill>
            <a:srgbClr val="0B6F7C"/>
          </a:solidFill>
          <a:ln>
            <a:noFill/>
          </a:ln>
        </p:spPr>
        <p:txBody>
          <a:bodyPr rtlCol="0" anchor="ctr"/>
          <a:lstStyle/>
          <a:p>
            <a:pPr algn="ctr"/>
          </a:p>
        </p:txBody>
      </p:sp>
      <p:sp>
        <p:nvSpPr>
          <p:cNvPr id="24" name="Text 23"/>
          <p:cNvSpPr txBox="1"/>
          <p:nvPr/>
        </p:nvSpPr>
        <p:spPr>
          <a:xfrm>
            <a:off x="11137979" y="4301131"/>
            <a:ext cx="202942"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9</a:t>
            </a:r>
          </a:p>
        </p:txBody>
      </p:sp>
      <p:sp>
        <p:nvSpPr>
          <p:cNvPr id="25" name="Text 24"/>
          <p:cNvSpPr txBox="1"/>
          <p:nvPr/>
        </p:nvSpPr>
        <p:spPr>
          <a:xfrm>
            <a:off x="0" y="4220393"/>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مركز عمليات مُدار لخدمات الأمن السيبراني يراقب عن بعد من داخل المملكة وخارجها:</a:t>
            </a:r>
          </a:p>
        </p:txBody>
      </p:sp>
      <p:sp>
        <p:nvSpPr>
          <p:cNvPr id="26" name="Text box 25"/>
          <p:cNvSpPr/>
          <p:nvPr/>
        </p:nvSpPr>
        <p:spPr>
          <a:xfrm>
            <a:off x="10245824" y="4578747"/>
            <a:ext cx="736501"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ممتثل</a:t>
            </a:r>
          </a:p>
        </p:txBody>
      </p:sp>
      <p:sp>
        <p:nvSpPr>
          <p:cNvPr id="27" name="Text box 26"/>
          <p:cNvSpPr/>
          <p:nvPr/>
        </p:nvSpPr>
        <p:spPr>
          <a:xfrm>
            <a:off x="8458994" y="4578747"/>
            <a:ext cx="1704280"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غير ممتثل لـ ‎4-1-3-2‎</a:t>
            </a:r>
          </a:p>
        </p:txBody>
      </p:sp>
      <p:sp>
        <p:nvSpPr>
          <p:cNvPr id="28" name="Text box 27"/>
          <p:cNvSpPr/>
          <p:nvPr/>
        </p:nvSpPr>
        <p:spPr>
          <a:xfrm>
            <a:off x="6467872" y="4578747"/>
            <a:ext cx="1908572"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ممتثل إن كان المورد محلياً</a:t>
            </a:r>
          </a:p>
        </p:txBody>
      </p:sp>
      <p:sp>
        <p:nvSpPr>
          <p:cNvPr id="29" name="Box 28"/>
          <p:cNvSpPr/>
          <p:nvPr/>
        </p:nvSpPr>
        <p:spPr>
          <a:xfrm>
            <a:off x="11099800" y="5017492"/>
            <a:ext cx="279400" cy="279400"/>
          </a:xfrm>
          <a:prstGeom prst="roundRect">
            <a:avLst>
              <a:gd name="adj" fmla="val 50000"/>
            </a:avLst>
          </a:prstGeom>
          <a:solidFill>
            <a:srgbClr val="0B6F7C"/>
          </a:solidFill>
          <a:ln>
            <a:noFill/>
          </a:ln>
        </p:spPr>
        <p:txBody>
          <a:bodyPr rtlCol="0" anchor="ctr"/>
          <a:lstStyle/>
          <a:p>
            <a:pPr algn="ctr"/>
          </a:p>
        </p:txBody>
      </p:sp>
      <p:sp>
        <p:nvSpPr>
          <p:cNvPr id="30" name="Text 29"/>
          <p:cNvSpPr txBox="1"/>
          <p:nvPr/>
        </p:nvSpPr>
        <p:spPr>
          <a:xfrm>
            <a:off x="11125200" y="5085952"/>
            <a:ext cx="22860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10</a:t>
            </a:r>
          </a:p>
        </p:txBody>
      </p:sp>
      <p:sp>
        <p:nvSpPr>
          <p:cNvPr id="31" name="Text 30"/>
          <p:cNvSpPr txBox="1"/>
          <p:nvPr/>
        </p:nvSpPr>
        <p:spPr>
          <a:xfrm>
            <a:off x="0" y="5005213"/>
            <a:ext cx="10985500" cy="248841"/>
          </a:xfrm>
          <a:prstGeom prst="rect">
            <a:avLst/>
          </a:prstGeom>
          <a:noFill/>
        </p:spPr>
        <p:txBody>
          <a:bodyPr wrap="square" tIns="0" rIns="0" bIns="0" lIns="0" anchor="t" rtlCol="0" anchorCtr="0">
            <a:noAutofit/>
          </a:bodyPr>
          <a:lstStyle/>
          <a:p>
            <a:pPr algn="r" rtl="1">
              <a:lnSpc>
                <a:spcPts val="1960"/>
              </a:lnSpc>
              <a:spcBef>
                <a:spcPts val="0"/>
              </a:spcBef>
              <a:spcAft>
                <a:spcPts val="0"/>
              </a:spcAft>
            </a:pPr>
            <a:r>
              <a:rPr sz="1400" b="1" i="0">
                <a:solidFill>
                  <a:srgbClr val="132033"/>
                </a:solidFill>
                <a:latin typeface="IBM Plex Sans Arabic"/>
                <a:ea typeface="IBM Plex Sans Arabic"/>
                <a:cs typeface="IBM Plex Sans Arabic"/>
              </a:rPr>
              <a:t>جهة لا تستخدم السحابة اليوم وتخطط لها العام القادم. ضوابط ‎4-2‎:</a:t>
            </a:r>
          </a:p>
        </p:txBody>
      </p:sp>
      <p:sp>
        <p:nvSpPr>
          <p:cNvPr id="32" name="Text box 31"/>
          <p:cNvSpPr/>
          <p:nvPr/>
        </p:nvSpPr>
        <p:spPr>
          <a:xfrm>
            <a:off x="10139263" y="5363567"/>
            <a:ext cx="843062"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 لا تنطبق</a:t>
            </a:r>
          </a:p>
        </p:txBody>
      </p:sp>
      <p:sp>
        <p:nvSpPr>
          <p:cNvPr id="33" name="Text box 32"/>
          <p:cNvSpPr/>
          <p:nvPr/>
        </p:nvSpPr>
        <p:spPr>
          <a:xfrm>
            <a:off x="9234884" y="5363567"/>
            <a:ext cx="821829" cy="308570"/>
          </a:xfrm>
          <a:prstGeom prst="roundRect">
            <a:avLst>
              <a:gd name="adj" fmla="val 24196"/>
            </a:avLst>
          </a:prstGeom>
          <a:solidFill>
            <a:srgbClr val="FCFBF8"/>
          </a:solidFill>
          <a:ln w="6350">
            <a:solidFill>
              <a:srgbClr val="DDD7CA"/>
            </a:solidFill>
          </a:ln>
        </p:spPr>
        <p:txBody>
          <a:bodyPr rtlCol="0" anchor="ctr" wrap="square" tIns="2135" rIns="108307" bIns="49379" lIns="16867"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 تنطبق</a:t>
            </a:r>
          </a:p>
        </p:txBody>
      </p:sp>
      <p:sp>
        <p:nvSpPr>
          <p:cNvPr id="34" name="Text box 33"/>
          <p:cNvSpPr/>
          <p:nvPr/>
        </p:nvSpPr>
        <p:spPr>
          <a:xfrm>
            <a:off x="7426027" y="5363567"/>
            <a:ext cx="1726307" cy="308570"/>
          </a:xfrm>
          <a:prstGeom prst="roundRect">
            <a:avLst>
              <a:gd name="adj" fmla="val 24196"/>
            </a:avLst>
          </a:prstGeom>
          <a:solidFill>
            <a:srgbClr val="FCFBF8"/>
          </a:solidFill>
          <a:ln w="6350">
            <a:solidFill>
              <a:srgbClr val="DDD7CA"/>
            </a:solidFill>
          </a:ln>
        </p:spPr>
        <p:txBody>
          <a:bodyPr rtlCol="0" anchor="ctr" wrap="square" tIns="2135" rIns="108307" bIns="49379" lIns="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 تنطبق بعد التعاقد فقط</a:t>
            </a:r>
          </a:p>
        </p:txBody>
      </p:sp>
      <p:sp>
        <p:nvSpPr>
          <p:cNvPr id="35" name="Text 3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36" name="Box 3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8" name="Box 3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9" name="Box 3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40" name="Box 39"/>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1" name="Box 40"/>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2" name="Box 41"/>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3" name="Box 42"/>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4" name="Box 43"/>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45" name="Text 4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8506321" y="812800"/>
            <a:ext cx="2872879"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الاختبار النهائي · الجزء الثاني: الأداء · 60 دقيقة</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اختبار الأداء: خمسة أدلة، وحكم مبرر لكل منها</a:t>
            </a:r>
          </a:p>
        </p:txBody>
      </p:sp>
      <p:sp>
        <p:nvSpPr>
          <p:cNvPr id="5" name="Box 4"/>
          <p:cNvSpPr/>
          <p:nvPr/>
        </p:nvSpPr>
        <p:spPr>
          <a:xfrm>
            <a:off x="815975" y="1855986"/>
            <a:ext cx="10560050" cy="692150"/>
          </a:xfrm>
          <a:prstGeom prst="roundRect">
            <a:avLst>
              <a:gd name="adj" fmla="val 18181"/>
            </a:avLst>
          </a:prstGeom>
          <a:solidFill>
            <a:srgbClr val="FCFBF8"/>
          </a:solidFill>
          <a:ln w="6350">
            <a:solidFill>
              <a:srgbClr val="DDD7CA"/>
            </a:solidFill>
          </a:ln>
        </p:spPr>
        <p:txBody>
          <a:bodyPr rtlCol="0" anchor="ctr"/>
          <a:lstStyle/>
          <a:p>
            <a:pPr algn="ctr"/>
          </a:p>
        </p:txBody>
      </p:sp>
      <p:sp>
        <p:nvSpPr>
          <p:cNvPr id="6" name="Box 5"/>
          <p:cNvSpPr/>
          <p:nvPr/>
        </p:nvSpPr>
        <p:spPr>
          <a:xfrm>
            <a:off x="10788650" y="2011561"/>
            <a:ext cx="381000" cy="381000"/>
          </a:xfrm>
          <a:prstGeom prst="roundRect">
            <a:avLst>
              <a:gd name="adj" fmla="val 26666"/>
            </a:avLst>
          </a:prstGeom>
          <a:solidFill>
            <a:srgbClr val="DCEEEF"/>
          </a:solidFill>
          <a:ln>
            <a:noFill/>
          </a:ln>
        </p:spPr>
        <p:txBody>
          <a:bodyPr rtlCol="0" anchor="ctr"/>
          <a:lstStyle/>
          <a:p>
            <a:pPr algn="ctr"/>
          </a:p>
        </p:txBody>
      </p:sp>
      <p:pic>
        <p:nvPicPr>
          <p:cNvPr id="7" name="Icon Tool 6" descr="icon010.png"/>
          <p:cNvPicPr>
            <a:picLocks noChangeAspect="1"/>
          </p:cNvPicPr>
          <p:nvPr/>
        </p:nvPicPr>
        <p:blipFill>
          <a:blip r:embed="rId2"/>
          <a:stretch>
            <a:fillRect/>
          </a:stretch>
        </p:blipFill>
        <p:spPr>
          <a:xfrm>
            <a:off x="10874375" y="2097286"/>
            <a:ext cx="209550" cy="209550"/>
          </a:xfrm>
          <a:prstGeom prst="rect">
            <a:avLst/>
          </a:prstGeom>
        </p:spPr>
      </p:pic>
      <p:sp>
        <p:nvSpPr>
          <p:cNvPr id="8" name="Text 7"/>
          <p:cNvSpPr txBox="1"/>
          <p:nvPr/>
        </p:nvSpPr>
        <p:spPr>
          <a:xfrm>
            <a:off x="838200" y="2041172"/>
            <a:ext cx="981075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132033"/>
                </a:solidFill>
                <a:latin typeface="IBM Plex Sans Arabic"/>
                <a:ea typeface="IBM Plex Sans Arabic"/>
                <a:cs typeface="IBM Plex Sans Arabic"/>
              </a:rPr>
              <a:t>الأدلة الخمسة في الشرائح التالية وفي ملف «أدلة الاختبار». قيّم كل دليل كما هو، ولا تفترض مستندات غير مرفقة، واملأ لكل دليل ستة حقول:</a:t>
            </a:r>
          </a:p>
        </p:txBody>
      </p:sp>
      <p:sp>
        <p:nvSpPr>
          <p:cNvPr id="9" name="Box 8"/>
          <p:cNvSpPr/>
          <p:nvPr/>
        </p:nvSpPr>
        <p:spPr>
          <a:xfrm>
            <a:off x="815975" y="2757686"/>
            <a:ext cx="3414117"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0" name="Box 9"/>
          <p:cNvSpPr/>
          <p:nvPr/>
        </p:nvSpPr>
        <p:spPr>
          <a:xfrm>
            <a:off x="3744317" y="2887861"/>
            <a:ext cx="317500" cy="317500"/>
          </a:xfrm>
          <a:prstGeom prst="roundRect">
            <a:avLst>
              <a:gd name="adj" fmla="val 50000"/>
            </a:avLst>
          </a:prstGeom>
          <a:solidFill>
            <a:srgbClr val="0B6F7C"/>
          </a:solidFill>
          <a:ln>
            <a:noFill/>
          </a:ln>
        </p:spPr>
        <p:txBody>
          <a:bodyPr rtlCol="0" anchor="ctr"/>
          <a:lstStyle/>
          <a:p>
            <a:pPr algn="ctr"/>
          </a:p>
        </p:txBody>
      </p:sp>
      <p:sp>
        <p:nvSpPr>
          <p:cNvPr id="11" name="Text 10"/>
          <p:cNvSpPr txBox="1"/>
          <p:nvPr/>
        </p:nvSpPr>
        <p:spPr>
          <a:xfrm>
            <a:off x="3803729" y="2975370"/>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3</a:t>
            </a:r>
          </a:p>
        </p:txBody>
      </p:sp>
      <p:sp>
        <p:nvSpPr>
          <p:cNvPr id="12" name="Text 11"/>
          <p:cNvSpPr txBox="1"/>
          <p:nvPr/>
        </p:nvSpPr>
        <p:spPr>
          <a:xfrm>
            <a:off x="838200" y="2897235"/>
            <a:ext cx="2779117"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ما لا يثبته</a:t>
            </a:r>
            <a:r>
              <a:rPr sz="1300" b="0" i="0">
                <a:solidFill>
                  <a:srgbClr val="132033"/>
                </a:solidFill>
                <a:latin typeface="IBM Plex Sans Arabic"/>
                <a:ea typeface="IBM Plex Sans Arabic"/>
                <a:cs typeface="IBM Plex Sans Arabic"/>
              </a:rPr>
              <a:t> وحده.</a:t>
            </a:r>
          </a:p>
        </p:txBody>
      </p:sp>
      <p:sp>
        <p:nvSpPr>
          <p:cNvPr id="13" name="Box 12"/>
          <p:cNvSpPr/>
          <p:nvPr/>
        </p:nvSpPr>
        <p:spPr>
          <a:xfrm>
            <a:off x="4388842" y="2757686"/>
            <a:ext cx="3414216"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4" name="Box 13"/>
          <p:cNvSpPr/>
          <p:nvPr/>
        </p:nvSpPr>
        <p:spPr>
          <a:xfrm>
            <a:off x="7317284" y="2887861"/>
            <a:ext cx="317500" cy="317500"/>
          </a:xfrm>
          <a:prstGeom prst="roundRect">
            <a:avLst>
              <a:gd name="adj" fmla="val 50000"/>
            </a:avLst>
          </a:prstGeom>
          <a:solidFill>
            <a:srgbClr val="0B6F7C"/>
          </a:solidFill>
          <a:ln>
            <a:noFill/>
          </a:ln>
        </p:spPr>
        <p:txBody>
          <a:bodyPr rtlCol="0" anchor="ctr"/>
          <a:lstStyle/>
          <a:p>
            <a:pPr algn="ctr"/>
          </a:p>
        </p:txBody>
      </p:sp>
      <p:sp>
        <p:nvSpPr>
          <p:cNvPr id="15" name="Text 14"/>
          <p:cNvSpPr txBox="1"/>
          <p:nvPr/>
        </p:nvSpPr>
        <p:spPr>
          <a:xfrm>
            <a:off x="7376497" y="2975370"/>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2</a:t>
            </a:r>
          </a:p>
        </p:txBody>
      </p:sp>
      <p:sp>
        <p:nvSpPr>
          <p:cNvPr id="16" name="Text 15"/>
          <p:cNvSpPr txBox="1"/>
          <p:nvPr/>
        </p:nvSpPr>
        <p:spPr>
          <a:xfrm>
            <a:off x="4411067" y="2897235"/>
            <a:ext cx="2779216"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ما يثبته</a:t>
            </a:r>
            <a:r>
              <a:rPr sz="1300" b="0" i="0">
                <a:solidFill>
                  <a:srgbClr val="132033"/>
                </a:solidFill>
                <a:latin typeface="IBM Plex Sans Arabic"/>
                <a:ea typeface="IBM Plex Sans Arabic"/>
                <a:cs typeface="IBM Plex Sans Arabic"/>
              </a:rPr>
              <a:t> الدليل فعلاً.</a:t>
            </a:r>
          </a:p>
        </p:txBody>
      </p:sp>
      <p:sp>
        <p:nvSpPr>
          <p:cNvPr id="17" name="Box 16"/>
          <p:cNvSpPr/>
          <p:nvPr/>
        </p:nvSpPr>
        <p:spPr>
          <a:xfrm>
            <a:off x="7961809" y="2757686"/>
            <a:ext cx="3414216"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18" name="Box 17"/>
          <p:cNvSpPr/>
          <p:nvPr/>
        </p:nvSpPr>
        <p:spPr>
          <a:xfrm>
            <a:off x="10890250" y="2887861"/>
            <a:ext cx="317500" cy="317500"/>
          </a:xfrm>
          <a:prstGeom prst="roundRect">
            <a:avLst>
              <a:gd name="adj" fmla="val 50000"/>
            </a:avLst>
          </a:prstGeom>
          <a:solidFill>
            <a:srgbClr val="0B6F7C"/>
          </a:solidFill>
          <a:ln>
            <a:noFill/>
          </a:ln>
        </p:spPr>
        <p:txBody>
          <a:bodyPr rtlCol="0" anchor="ctr"/>
          <a:lstStyle/>
          <a:p>
            <a:pPr algn="ctr"/>
          </a:p>
        </p:txBody>
      </p:sp>
      <p:sp>
        <p:nvSpPr>
          <p:cNvPr id="19" name="Text 18"/>
          <p:cNvSpPr txBox="1"/>
          <p:nvPr/>
        </p:nvSpPr>
        <p:spPr>
          <a:xfrm>
            <a:off x="10966033" y="2975370"/>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1</a:t>
            </a:r>
          </a:p>
        </p:txBody>
      </p:sp>
      <p:sp>
        <p:nvSpPr>
          <p:cNvPr id="20" name="Text 19"/>
          <p:cNvSpPr txBox="1"/>
          <p:nvPr/>
        </p:nvSpPr>
        <p:spPr>
          <a:xfrm>
            <a:off x="7984034" y="2897235"/>
            <a:ext cx="2779216"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الضابط المرتبط</a:t>
            </a:r>
            <a:r>
              <a:rPr sz="1300" b="0" i="0">
                <a:solidFill>
                  <a:srgbClr val="132033"/>
                </a:solidFill>
                <a:latin typeface="IBM Plex Sans Arabic"/>
                <a:ea typeface="IBM Plex Sans Arabic"/>
                <a:cs typeface="IBM Plex Sans Arabic"/>
              </a:rPr>
              <a:t> بالدليل.</a:t>
            </a:r>
          </a:p>
        </p:txBody>
      </p:sp>
      <p:sp>
        <p:nvSpPr>
          <p:cNvPr id="21" name="Box 20"/>
          <p:cNvSpPr/>
          <p:nvPr/>
        </p:nvSpPr>
        <p:spPr>
          <a:xfrm>
            <a:off x="815975" y="3468886"/>
            <a:ext cx="3414117"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2" name="Box 21"/>
          <p:cNvSpPr/>
          <p:nvPr/>
        </p:nvSpPr>
        <p:spPr>
          <a:xfrm>
            <a:off x="3744317" y="3599061"/>
            <a:ext cx="317500" cy="317500"/>
          </a:xfrm>
          <a:prstGeom prst="roundRect">
            <a:avLst>
              <a:gd name="adj" fmla="val 50000"/>
            </a:avLst>
          </a:prstGeom>
          <a:solidFill>
            <a:srgbClr val="0B6F7C"/>
          </a:solidFill>
          <a:ln>
            <a:noFill/>
          </a:ln>
        </p:spPr>
        <p:txBody>
          <a:bodyPr rtlCol="0" anchor="ctr"/>
          <a:lstStyle/>
          <a:p>
            <a:pPr algn="ctr"/>
          </a:p>
        </p:txBody>
      </p:sp>
      <p:sp>
        <p:nvSpPr>
          <p:cNvPr id="23" name="Text 22"/>
          <p:cNvSpPr txBox="1"/>
          <p:nvPr/>
        </p:nvSpPr>
        <p:spPr>
          <a:xfrm>
            <a:off x="3801447" y="3686570"/>
            <a:ext cx="20314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6</a:t>
            </a:r>
          </a:p>
        </p:txBody>
      </p:sp>
      <p:sp>
        <p:nvSpPr>
          <p:cNvPr id="24" name="Text 23"/>
          <p:cNvSpPr txBox="1"/>
          <p:nvPr/>
        </p:nvSpPr>
        <p:spPr>
          <a:xfrm>
            <a:off x="838200" y="3608435"/>
            <a:ext cx="2779117"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الخطوة التالية</a:t>
            </a:r>
            <a:r>
              <a:rPr sz="1300" b="0" i="0">
                <a:solidFill>
                  <a:srgbClr val="132033"/>
                </a:solidFill>
                <a:latin typeface="IBM Plex Sans Arabic"/>
                <a:ea typeface="IBM Plex Sans Arabic"/>
                <a:cs typeface="IBM Plex Sans Arabic"/>
              </a:rPr>
              <a:t> المقترحة.</a:t>
            </a:r>
          </a:p>
        </p:txBody>
      </p:sp>
      <p:sp>
        <p:nvSpPr>
          <p:cNvPr id="25" name="Box 24"/>
          <p:cNvSpPr/>
          <p:nvPr/>
        </p:nvSpPr>
        <p:spPr>
          <a:xfrm>
            <a:off x="4388842" y="3468886"/>
            <a:ext cx="3414216"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26" name="Box 25"/>
          <p:cNvSpPr/>
          <p:nvPr/>
        </p:nvSpPr>
        <p:spPr>
          <a:xfrm>
            <a:off x="7317284" y="3599061"/>
            <a:ext cx="317500" cy="317500"/>
          </a:xfrm>
          <a:prstGeom prst="roundRect">
            <a:avLst>
              <a:gd name="adj" fmla="val 50000"/>
            </a:avLst>
          </a:prstGeom>
          <a:solidFill>
            <a:srgbClr val="0B6F7C"/>
          </a:solidFill>
          <a:ln>
            <a:noFill/>
          </a:ln>
        </p:spPr>
        <p:txBody>
          <a:bodyPr rtlCol="0" anchor="ctr"/>
          <a:lstStyle/>
          <a:p>
            <a:pPr algn="ctr"/>
          </a:p>
        </p:txBody>
      </p:sp>
      <p:sp>
        <p:nvSpPr>
          <p:cNvPr id="27" name="Text 26"/>
          <p:cNvSpPr txBox="1"/>
          <p:nvPr/>
        </p:nvSpPr>
        <p:spPr>
          <a:xfrm>
            <a:off x="7374811" y="3686570"/>
            <a:ext cx="202347"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5</a:t>
            </a:r>
          </a:p>
        </p:txBody>
      </p:sp>
      <p:sp>
        <p:nvSpPr>
          <p:cNvPr id="28" name="Text 27"/>
          <p:cNvSpPr txBox="1"/>
          <p:nvPr/>
        </p:nvSpPr>
        <p:spPr>
          <a:xfrm>
            <a:off x="4411067" y="3608435"/>
            <a:ext cx="2779216"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الحكم ومبرره</a:t>
            </a:r>
            <a:r>
              <a:rPr sz="1300" b="0" i="0">
                <a:solidFill>
                  <a:srgbClr val="132033"/>
                </a:solidFill>
                <a:latin typeface="IBM Plex Sans Arabic"/>
                <a:ea typeface="IBM Plex Sans Arabic"/>
                <a:cs typeface="IBM Plex Sans Arabic"/>
              </a:rPr>
              <a:t>.</a:t>
            </a:r>
          </a:p>
        </p:txBody>
      </p:sp>
      <p:sp>
        <p:nvSpPr>
          <p:cNvPr id="29" name="Box 28"/>
          <p:cNvSpPr/>
          <p:nvPr/>
        </p:nvSpPr>
        <p:spPr>
          <a:xfrm>
            <a:off x="7961809" y="3468886"/>
            <a:ext cx="3414216" cy="577850"/>
          </a:xfrm>
          <a:prstGeom prst="roundRect">
            <a:avLst>
              <a:gd name="adj" fmla="val 19565"/>
            </a:avLst>
          </a:prstGeom>
          <a:solidFill>
            <a:srgbClr val="FCFBF8"/>
          </a:solidFill>
          <a:ln w="6350">
            <a:solidFill>
              <a:srgbClr val="DDD7CA"/>
            </a:solidFill>
          </a:ln>
        </p:spPr>
        <p:txBody>
          <a:bodyPr rtlCol="0" anchor="ctr"/>
          <a:lstStyle/>
          <a:p>
            <a:pPr algn="ctr"/>
          </a:p>
        </p:txBody>
      </p:sp>
      <p:sp>
        <p:nvSpPr>
          <p:cNvPr id="30" name="Box 29"/>
          <p:cNvSpPr/>
          <p:nvPr/>
        </p:nvSpPr>
        <p:spPr>
          <a:xfrm>
            <a:off x="10890250" y="3599061"/>
            <a:ext cx="317500" cy="317500"/>
          </a:xfrm>
          <a:prstGeom prst="roundRect">
            <a:avLst>
              <a:gd name="adj" fmla="val 50000"/>
            </a:avLst>
          </a:prstGeom>
          <a:solidFill>
            <a:srgbClr val="0B6F7C"/>
          </a:solidFill>
          <a:ln>
            <a:noFill/>
          </a:ln>
        </p:spPr>
        <p:txBody>
          <a:bodyPr rtlCol="0" anchor="ctr"/>
          <a:lstStyle/>
          <a:p>
            <a:pPr algn="ctr"/>
          </a:p>
        </p:txBody>
      </p:sp>
      <p:sp>
        <p:nvSpPr>
          <p:cNvPr id="31" name="Text 30"/>
          <p:cNvSpPr txBox="1"/>
          <p:nvPr/>
        </p:nvSpPr>
        <p:spPr>
          <a:xfrm>
            <a:off x="10949265" y="3686570"/>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F2EEE6"/>
                </a:solidFill>
                <a:latin typeface="Alexandria"/>
                <a:ea typeface="Alexandria"/>
                <a:cs typeface="Alexandria"/>
              </a:rPr>
              <a:t>4</a:t>
            </a:r>
          </a:p>
        </p:txBody>
      </p:sp>
      <p:sp>
        <p:nvSpPr>
          <p:cNvPr id="32" name="Text 31"/>
          <p:cNvSpPr txBox="1"/>
          <p:nvPr/>
        </p:nvSpPr>
        <p:spPr>
          <a:xfrm>
            <a:off x="7984034" y="3608435"/>
            <a:ext cx="2779216"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1" i="0">
                <a:solidFill>
                  <a:srgbClr val="132033"/>
                </a:solidFill>
                <a:latin typeface="IBM Plex Sans Arabic"/>
                <a:ea typeface="IBM Plex Sans Arabic"/>
                <a:cs typeface="IBM Plex Sans Arabic"/>
              </a:rPr>
              <a:t>المعلومات الناقصة</a:t>
            </a:r>
            <a:r>
              <a:rPr sz="1300" b="0" i="0">
                <a:solidFill>
                  <a:srgbClr val="132033"/>
                </a:solidFill>
                <a:latin typeface="IBM Plex Sans Arabic"/>
                <a:ea typeface="IBM Plex Sans Arabic"/>
                <a:cs typeface="IBM Plex Sans Arabic"/>
              </a:rPr>
              <a:t> التي تطلبها.</a:t>
            </a:r>
          </a:p>
        </p:txBody>
      </p:sp>
      <p:sp>
        <p:nvSpPr>
          <p:cNvPr id="33" name="Text 32"/>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34" name="Box 33"/>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5" name="Box 34"/>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8" name="Box 37"/>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9" name="Box 38"/>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0" name="Box 39"/>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1" name="Box 40"/>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2" name="Box 41"/>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43" name="Text 42"/>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50934" y="812800"/>
            <a:ext cx="15282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اختبار الأداء · الدليل 1</a:t>
            </a:r>
          </a:p>
        </p:txBody>
      </p:sp>
      <p:sp>
        <p:nvSpPr>
          <p:cNvPr id="4" name="Text 3"/>
          <p:cNvSpPr txBox="1"/>
          <p:nvPr/>
        </p:nvSpPr>
        <p:spPr>
          <a:xfrm>
            <a:off x="495808" y="1175974"/>
            <a:ext cx="10883392" cy="89138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الدليل E1: لقطة إعداد سياسة التحقق متعدد العوامل للمشرفين</a:t>
            </a:r>
          </a:p>
        </p:txBody>
      </p:sp>
      <p:sp>
        <p:nvSpPr>
          <p:cNvPr id="5" name="Text box 4"/>
          <p:cNvSpPr/>
          <p:nvPr/>
        </p:nvSpPr>
        <p:spPr>
          <a:xfrm>
            <a:off x="9497417" y="2247702"/>
            <a:ext cx="1881783"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دليل اختبار · بيانات افتراضية</a:t>
            </a:r>
          </a:p>
        </p:txBody>
      </p:sp>
      <p:sp>
        <p:nvSpPr>
          <p:cNvPr id="6" name="Text 5"/>
          <p:cNvSpPr txBox="1"/>
          <p:nvPr/>
        </p:nvSpPr>
        <p:spPr>
          <a:xfrm>
            <a:off x="125143" y="2254540"/>
            <a:ext cx="92833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أجب في ورقة الإجابة: الضابط، وما يثبته، وما لا يثبته، والناقص، والحكم ومبرره، والخطوة التالية.</a:t>
            </a:r>
          </a:p>
        </p:txBody>
      </p:sp>
      <p:sp>
        <p:nvSpPr>
          <p:cNvPr id="7" name="Box 6"/>
          <p:cNvSpPr/>
          <p:nvPr/>
        </p:nvSpPr>
        <p:spPr>
          <a:xfrm>
            <a:off x="815975" y="2677517"/>
            <a:ext cx="10560050" cy="2888853"/>
          </a:xfrm>
          <a:prstGeom prst="roundRect">
            <a:avLst>
              <a:gd name="adj" fmla="val 3509"/>
            </a:avLst>
          </a:prstGeom>
          <a:solidFill>
            <a:srgbClr val="FBFAF7"/>
          </a:solidFill>
          <a:ln w="6350">
            <a:solidFill>
              <a:srgbClr val="DDD7CA"/>
            </a:solidFill>
          </a:ln>
        </p:spPr>
        <p:txBody>
          <a:bodyPr rtlCol="0" anchor="ctr"/>
          <a:lstStyle/>
          <a:p>
            <a:pPr algn="ctr"/>
          </a:p>
        </p:txBody>
      </p:sp>
      <p:sp>
        <p:nvSpPr>
          <p:cNvPr id="8" name="Box 7"/>
          <p:cNvSpPr/>
          <p:nvPr/>
        </p:nvSpPr>
        <p:spPr>
          <a:xfrm>
            <a:off x="819150" y="2680692"/>
            <a:ext cx="105537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9" name="Box 8"/>
          <p:cNvSpPr/>
          <p:nvPr/>
        </p:nvSpPr>
        <p:spPr>
          <a:xfrm>
            <a:off x="946150" y="2811462"/>
            <a:ext cx="88900" cy="88900"/>
          </a:xfrm>
          <a:prstGeom prst="roundRect">
            <a:avLst>
              <a:gd name="adj" fmla="val 50000"/>
            </a:avLst>
          </a:prstGeom>
          <a:solidFill>
            <a:srgbClr val="E46A5A"/>
          </a:solidFill>
          <a:ln>
            <a:noFill/>
          </a:ln>
        </p:spPr>
        <p:txBody>
          <a:bodyPr rtlCol="0" anchor="ctr"/>
          <a:lstStyle/>
          <a:p>
            <a:pPr algn="ctr"/>
          </a:p>
        </p:txBody>
      </p:sp>
      <p:sp>
        <p:nvSpPr>
          <p:cNvPr id="10" name="Box 9"/>
          <p:cNvSpPr/>
          <p:nvPr/>
        </p:nvSpPr>
        <p:spPr>
          <a:xfrm>
            <a:off x="1098550" y="2811462"/>
            <a:ext cx="88900" cy="88900"/>
          </a:xfrm>
          <a:prstGeom prst="roundRect">
            <a:avLst>
              <a:gd name="adj" fmla="val 50000"/>
            </a:avLst>
          </a:prstGeom>
          <a:solidFill>
            <a:srgbClr val="E8B44A"/>
          </a:solidFill>
          <a:ln>
            <a:noFill/>
          </a:ln>
        </p:spPr>
        <p:txBody>
          <a:bodyPr rtlCol="0" anchor="ctr"/>
          <a:lstStyle/>
          <a:p>
            <a:pPr algn="ctr"/>
          </a:p>
        </p:txBody>
      </p:sp>
      <p:sp>
        <p:nvSpPr>
          <p:cNvPr id="11" name="Box 10"/>
          <p:cNvSpPr/>
          <p:nvPr/>
        </p:nvSpPr>
        <p:spPr>
          <a:xfrm>
            <a:off x="1250950" y="2811462"/>
            <a:ext cx="88900" cy="88900"/>
          </a:xfrm>
          <a:prstGeom prst="roundRect">
            <a:avLst>
              <a:gd name="adj" fmla="val 50000"/>
            </a:avLst>
          </a:prstGeom>
          <a:solidFill>
            <a:srgbClr val="5DB27A"/>
          </a:solidFill>
          <a:ln>
            <a:noFill/>
          </a:ln>
        </p:spPr>
        <p:txBody>
          <a:bodyPr rtlCol="0" anchor="ctr"/>
          <a:lstStyle/>
          <a:p>
            <a:pPr algn="ctr"/>
          </a:p>
        </p:txBody>
      </p:sp>
      <p:sp>
        <p:nvSpPr>
          <p:cNvPr id="12" name="Text 11"/>
          <p:cNvSpPr txBox="1"/>
          <p:nvPr/>
        </p:nvSpPr>
        <p:spPr>
          <a:xfrm>
            <a:off x="7784703" y="2740890"/>
            <a:ext cx="3461147"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E1 · لقطة إعداد سياسة التحقق متعدد العوامل للمشرفين</a:t>
            </a:r>
          </a:p>
        </p:txBody>
      </p:sp>
      <p:sp>
        <p:nvSpPr>
          <p:cNvPr id="13" name="Rule 12"/>
          <p:cNvSpPr/>
          <p:nvPr/>
        </p:nvSpPr>
        <p:spPr>
          <a:xfrm>
            <a:off x="958850" y="3460353"/>
            <a:ext cx="5060950" cy="6350"/>
          </a:xfrm>
          <a:prstGeom prst="rect">
            <a:avLst/>
          </a:prstGeom>
          <a:solidFill>
            <a:srgbClr val="DDD7CA"/>
          </a:solidFill>
          <a:ln>
            <a:noFill/>
          </a:ln>
        </p:spPr>
        <p:txBody>
          <a:bodyPr rtlCol="0" anchor="ctr"/>
          <a:lstStyle/>
          <a:p>
            <a:pPr algn="ctr"/>
          </a:p>
        </p:txBody>
      </p:sp>
      <p:sp>
        <p:nvSpPr>
          <p:cNvPr id="14" name="Text 13"/>
          <p:cNvSpPr txBox="1"/>
          <p:nvPr/>
        </p:nvSpPr>
        <p:spPr>
          <a:xfrm>
            <a:off x="4848860" y="317896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تاريخ اللقطة</a:t>
            </a:r>
          </a:p>
        </p:txBody>
      </p:sp>
      <p:sp>
        <p:nvSpPr>
          <p:cNvPr id="15" name="Text 14"/>
          <p:cNvSpPr txBox="1"/>
          <p:nvPr/>
        </p:nvSpPr>
        <p:spPr>
          <a:xfrm>
            <a:off x="958850" y="317896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‎2026-09-14‎</a:t>
            </a:r>
          </a:p>
        </p:txBody>
      </p:sp>
      <p:sp>
        <p:nvSpPr>
          <p:cNvPr id="16" name="Rule 15"/>
          <p:cNvSpPr/>
          <p:nvPr/>
        </p:nvSpPr>
        <p:spPr>
          <a:xfrm>
            <a:off x="6172200" y="3460353"/>
            <a:ext cx="5060950" cy="6350"/>
          </a:xfrm>
          <a:prstGeom prst="rect">
            <a:avLst/>
          </a:prstGeom>
          <a:solidFill>
            <a:srgbClr val="DDD7CA"/>
          </a:solidFill>
          <a:ln>
            <a:noFill/>
          </a:ln>
        </p:spPr>
        <p:txBody>
          <a:bodyPr rtlCol="0" anchor="ctr"/>
          <a:lstStyle/>
          <a:p>
            <a:pPr algn="ctr"/>
          </a:p>
        </p:txBody>
      </p:sp>
      <p:sp>
        <p:nvSpPr>
          <p:cNvPr id="17" name="Text 16"/>
          <p:cNvSpPr txBox="1"/>
          <p:nvPr/>
        </p:nvSpPr>
        <p:spPr>
          <a:xfrm>
            <a:off x="10062210" y="317896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مصدر الدليل</a:t>
            </a:r>
          </a:p>
        </p:txBody>
      </p:sp>
      <p:sp>
        <p:nvSpPr>
          <p:cNvPr id="18" name="Text 17"/>
          <p:cNvSpPr txBox="1"/>
          <p:nvPr/>
        </p:nvSpPr>
        <p:spPr>
          <a:xfrm>
            <a:off x="6172200" y="317896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لقطة شاشة لإعداد سياسة الوصول المشروط في المستأجر السحابي</a:t>
            </a:r>
          </a:p>
        </p:txBody>
      </p:sp>
      <p:sp>
        <p:nvSpPr>
          <p:cNvPr id="19" name="Rule 18"/>
          <p:cNvSpPr/>
          <p:nvPr/>
        </p:nvSpPr>
        <p:spPr>
          <a:xfrm>
            <a:off x="958850" y="3982244"/>
            <a:ext cx="5060950" cy="6350"/>
          </a:xfrm>
          <a:prstGeom prst="rect">
            <a:avLst/>
          </a:prstGeom>
          <a:solidFill>
            <a:srgbClr val="DDD7CA"/>
          </a:solidFill>
          <a:ln>
            <a:noFill/>
          </a:ln>
        </p:spPr>
        <p:txBody>
          <a:bodyPr rtlCol="0" anchor="ctr"/>
          <a:lstStyle/>
          <a:p>
            <a:pPr algn="ctr"/>
          </a:p>
        </p:txBody>
      </p:sp>
      <p:sp>
        <p:nvSpPr>
          <p:cNvPr id="20" name="Text 19"/>
          <p:cNvSpPr txBox="1"/>
          <p:nvPr/>
        </p:nvSpPr>
        <p:spPr>
          <a:xfrm>
            <a:off x="4848860" y="348753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اسم السياسة</a:t>
            </a:r>
          </a:p>
        </p:txBody>
      </p:sp>
      <p:sp>
        <p:nvSpPr>
          <p:cNvPr id="21" name="Text 20"/>
          <p:cNvSpPr txBox="1"/>
          <p:nvPr/>
        </p:nvSpPr>
        <p:spPr>
          <a:xfrm>
            <a:off x="958850" y="3487531"/>
            <a:ext cx="389255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CA02 — فرض التحقق متعدد العوامل لأدوار الإدارة في المستأجر السحابي</a:t>
            </a:r>
          </a:p>
        </p:txBody>
      </p:sp>
      <p:sp>
        <p:nvSpPr>
          <p:cNvPr id="22" name="Rule 21"/>
          <p:cNvSpPr/>
          <p:nvPr/>
        </p:nvSpPr>
        <p:spPr>
          <a:xfrm>
            <a:off x="6172200" y="3982244"/>
            <a:ext cx="5060950" cy="6350"/>
          </a:xfrm>
          <a:prstGeom prst="rect">
            <a:avLst/>
          </a:prstGeom>
          <a:solidFill>
            <a:srgbClr val="DDD7CA"/>
          </a:solidFill>
          <a:ln>
            <a:noFill/>
          </a:ln>
        </p:spPr>
        <p:txBody>
          <a:bodyPr rtlCol="0" anchor="ctr"/>
          <a:lstStyle/>
          <a:p>
            <a:pPr algn="ctr"/>
          </a:p>
        </p:txBody>
      </p:sp>
      <p:sp>
        <p:nvSpPr>
          <p:cNvPr id="23" name="Text 22"/>
          <p:cNvSpPr txBox="1"/>
          <p:nvPr/>
        </p:nvSpPr>
        <p:spPr>
          <a:xfrm>
            <a:off x="10062210" y="348753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قدّمه</a:t>
            </a:r>
          </a:p>
        </p:txBody>
      </p:sp>
      <p:sp>
        <p:nvSpPr>
          <p:cNvPr id="24" name="Text 23"/>
          <p:cNvSpPr txBox="1"/>
          <p:nvPr/>
        </p:nvSpPr>
        <p:spPr>
          <a:xfrm>
            <a:off x="6172200" y="348753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بدر القرني (مسؤول الهويات والصلاحيات)</a:t>
            </a:r>
          </a:p>
        </p:txBody>
      </p:sp>
      <p:sp>
        <p:nvSpPr>
          <p:cNvPr id="25" name="Rule 24"/>
          <p:cNvSpPr/>
          <p:nvPr/>
        </p:nvSpPr>
        <p:spPr>
          <a:xfrm>
            <a:off x="958850" y="4504134"/>
            <a:ext cx="5060950" cy="6350"/>
          </a:xfrm>
          <a:prstGeom prst="rect">
            <a:avLst/>
          </a:prstGeom>
          <a:solidFill>
            <a:srgbClr val="DDD7CA"/>
          </a:solidFill>
          <a:ln>
            <a:noFill/>
          </a:ln>
        </p:spPr>
        <p:txBody>
          <a:bodyPr rtlCol="0" anchor="ctr"/>
          <a:lstStyle/>
          <a:p>
            <a:pPr algn="ctr"/>
          </a:p>
        </p:txBody>
      </p:sp>
      <p:sp>
        <p:nvSpPr>
          <p:cNvPr id="26" name="Text 25"/>
          <p:cNvSpPr txBox="1"/>
          <p:nvPr/>
        </p:nvSpPr>
        <p:spPr>
          <a:xfrm>
            <a:off x="4848860" y="4009422"/>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مضمَّن</a:t>
            </a:r>
          </a:p>
        </p:txBody>
      </p:sp>
      <p:sp>
        <p:nvSpPr>
          <p:cNvPr id="27" name="Text 26"/>
          <p:cNvSpPr txBox="1"/>
          <p:nvPr/>
        </p:nvSpPr>
        <p:spPr>
          <a:xfrm>
            <a:off x="958850" y="4009422"/>
            <a:ext cx="389255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المجموعة ‎GRP-Cloud-Admins‎ (5 أعضاء) وأدوار الإدارة: Global وExchange وApplication وSecurity Administrator</a:t>
            </a:r>
          </a:p>
        </p:txBody>
      </p:sp>
      <p:sp>
        <p:nvSpPr>
          <p:cNvPr id="28" name="Rule 27"/>
          <p:cNvSpPr/>
          <p:nvPr/>
        </p:nvSpPr>
        <p:spPr>
          <a:xfrm>
            <a:off x="6172200" y="4504134"/>
            <a:ext cx="5060950" cy="6350"/>
          </a:xfrm>
          <a:prstGeom prst="rect">
            <a:avLst/>
          </a:prstGeom>
          <a:solidFill>
            <a:srgbClr val="DDD7CA"/>
          </a:solidFill>
          <a:ln>
            <a:noFill/>
          </a:ln>
        </p:spPr>
        <p:txBody>
          <a:bodyPr rtlCol="0" anchor="ctr"/>
          <a:lstStyle/>
          <a:p>
            <a:pPr algn="ctr"/>
          </a:p>
        </p:txBody>
      </p:sp>
      <p:sp>
        <p:nvSpPr>
          <p:cNvPr id="29" name="Text 28"/>
          <p:cNvSpPr txBox="1"/>
          <p:nvPr/>
        </p:nvSpPr>
        <p:spPr>
          <a:xfrm>
            <a:off x="10062210" y="4009422"/>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حالة السياسة</a:t>
            </a:r>
          </a:p>
        </p:txBody>
      </p:sp>
      <p:sp>
        <p:nvSpPr>
          <p:cNvPr id="30" name="Text 29"/>
          <p:cNvSpPr txBox="1"/>
          <p:nvPr/>
        </p:nvSpPr>
        <p:spPr>
          <a:xfrm>
            <a:off x="6172200" y="4009422"/>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وضع التقرير فقط (‎Report-only‎)</a:t>
            </a:r>
          </a:p>
        </p:txBody>
      </p:sp>
      <p:sp>
        <p:nvSpPr>
          <p:cNvPr id="31" name="Rule 30"/>
          <p:cNvSpPr/>
          <p:nvPr/>
        </p:nvSpPr>
        <p:spPr>
          <a:xfrm>
            <a:off x="958850" y="4812705"/>
            <a:ext cx="5060950" cy="6350"/>
          </a:xfrm>
          <a:prstGeom prst="rect">
            <a:avLst/>
          </a:prstGeom>
          <a:solidFill>
            <a:srgbClr val="DDD7CA"/>
          </a:solidFill>
          <a:ln>
            <a:noFill/>
          </a:ln>
        </p:spPr>
        <p:txBody>
          <a:bodyPr rtlCol="0" anchor="ctr"/>
          <a:lstStyle/>
          <a:p>
            <a:pPr algn="ctr"/>
          </a:p>
        </p:txBody>
      </p:sp>
      <p:sp>
        <p:nvSpPr>
          <p:cNvPr id="32" name="Text 31"/>
          <p:cNvSpPr txBox="1"/>
          <p:nvPr/>
        </p:nvSpPr>
        <p:spPr>
          <a:xfrm>
            <a:off x="4848860" y="4531312"/>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التطبيقات</a:t>
            </a:r>
          </a:p>
        </p:txBody>
      </p:sp>
      <p:sp>
        <p:nvSpPr>
          <p:cNvPr id="33" name="Text 32"/>
          <p:cNvSpPr txBox="1"/>
          <p:nvPr/>
        </p:nvSpPr>
        <p:spPr>
          <a:xfrm>
            <a:off x="958850" y="4531312"/>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جميع التطبيقات السحابية</a:t>
            </a:r>
          </a:p>
        </p:txBody>
      </p:sp>
      <p:sp>
        <p:nvSpPr>
          <p:cNvPr id="34" name="Rule 33"/>
          <p:cNvSpPr/>
          <p:nvPr/>
        </p:nvSpPr>
        <p:spPr>
          <a:xfrm>
            <a:off x="6172200" y="4812705"/>
            <a:ext cx="5060950" cy="6350"/>
          </a:xfrm>
          <a:prstGeom prst="rect">
            <a:avLst/>
          </a:prstGeom>
          <a:solidFill>
            <a:srgbClr val="DDD7CA"/>
          </a:solidFill>
          <a:ln>
            <a:noFill/>
          </a:ln>
        </p:spPr>
        <p:txBody>
          <a:bodyPr rtlCol="0" anchor="ctr"/>
          <a:lstStyle/>
          <a:p>
            <a:pPr algn="ctr"/>
          </a:p>
        </p:txBody>
      </p:sp>
      <p:sp>
        <p:nvSpPr>
          <p:cNvPr id="35" name="Text 34"/>
          <p:cNvSpPr txBox="1"/>
          <p:nvPr/>
        </p:nvSpPr>
        <p:spPr>
          <a:xfrm>
            <a:off x="10062210" y="4531312"/>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مستثنى</a:t>
            </a:r>
          </a:p>
        </p:txBody>
      </p:sp>
      <p:sp>
        <p:nvSpPr>
          <p:cNvPr id="36" name="Text 35"/>
          <p:cNvSpPr txBox="1"/>
          <p:nvPr/>
        </p:nvSpPr>
        <p:spPr>
          <a:xfrm>
            <a:off x="6172200" y="4531312"/>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المجموعة ‎GRP-BreakGlass‎ (عضوان)</a:t>
            </a:r>
          </a:p>
        </p:txBody>
      </p:sp>
      <p:sp>
        <p:nvSpPr>
          <p:cNvPr id="37" name="Rule 36"/>
          <p:cNvSpPr/>
          <p:nvPr/>
        </p:nvSpPr>
        <p:spPr>
          <a:xfrm>
            <a:off x="958850" y="5121275"/>
            <a:ext cx="5060950" cy="6350"/>
          </a:xfrm>
          <a:prstGeom prst="rect">
            <a:avLst/>
          </a:prstGeom>
          <a:solidFill>
            <a:srgbClr val="DDD7CA"/>
          </a:solidFill>
          <a:ln>
            <a:noFill/>
          </a:ln>
        </p:spPr>
        <p:txBody>
          <a:bodyPr rtlCol="0" anchor="ctr"/>
          <a:lstStyle/>
          <a:p>
            <a:pPr algn="ctr"/>
          </a:p>
        </p:txBody>
      </p:sp>
      <p:sp>
        <p:nvSpPr>
          <p:cNvPr id="38" name="Text 37"/>
          <p:cNvSpPr txBox="1"/>
          <p:nvPr/>
        </p:nvSpPr>
        <p:spPr>
          <a:xfrm>
            <a:off x="4848860" y="4839883"/>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منح الوصول</a:t>
            </a:r>
          </a:p>
        </p:txBody>
      </p:sp>
      <p:sp>
        <p:nvSpPr>
          <p:cNvPr id="39" name="Text 38"/>
          <p:cNvSpPr txBox="1"/>
          <p:nvPr/>
        </p:nvSpPr>
        <p:spPr>
          <a:xfrm>
            <a:off x="958850" y="4839883"/>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اشتراط التحقق متعدد العوامل (أي طريقة مسجلة)</a:t>
            </a:r>
          </a:p>
        </p:txBody>
      </p:sp>
      <p:sp>
        <p:nvSpPr>
          <p:cNvPr id="40" name="Rule 39"/>
          <p:cNvSpPr/>
          <p:nvPr/>
        </p:nvSpPr>
        <p:spPr>
          <a:xfrm>
            <a:off x="6172200" y="5121275"/>
            <a:ext cx="5060950" cy="6350"/>
          </a:xfrm>
          <a:prstGeom prst="rect">
            <a:avLst/>
          </a:prstGeom>
          <a:solidFill>
            <a:srgbClr val="DDD7CA"/>
          </a:solidFill>
          <a:ln>
            <a:noFill/>
          </a:ln>
        </p:spPr>
        <p:txBody>
          <a:bodyPr rtlCol="0" anchor="ctr"/>
          <a:lstStyle/>
          <a:p>
            <a:pPr algn="ctr"/>
          </a:p>
        </p:txBody>
      </p:sp>
      <p:sp>
        <p:nvSpPr>
          <p:cNvPr id="41" name="Text 40"/>
          <p:cNvSpPr txBox="1"/>
          <p:nvPr/>
        </p:nvSpPr>
        <p:spPr>
          <a:xfrm>
            <a:off x="10062210" y="4839883"/>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الشروط</a:t>
            </a:r>
          </a:p>
        </p:txBody>
      </p:sp>
      <p:sp>
        <p:nvSpPr>
          <p:cNvPr id="42" name="Text 41"/>
          <p:cNvSpPr txBox="1"/>
          <p:nvPr/>
        </p:nvSpPr>
        <p:spPr>
          <a:xfrm>
            <a:off x="6172200" y="4839883"/>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أي موقع؛ العملاء: المتصفح وتطبيقات الجوال والحاسب الحديثة</a:t>
            </a:r>
          </a:p>
        </p:txBody>
      </p:sp>
      <p:sp>
        <p:nvSpPr>
          <p:cNvPr id="43" name="Rule 42"/>
          <p:cNvSpPr/>
          <p:nvPr/>
        </p:nvSpPr>
        <p:spPr>
          <a:xfrm>
            <a:off x="6172200" y="5429845"/>
            <a:ext cx="5060950" cy="6350"/>
          </a:xfrm>
          <a:prstGeom prst="rect">
            <a:avLst/>
          </a:prstGeom>
          <a:solidFill>
            <a:srgbClr val="DDD7CA"/>
          </a:solidFill>
          <a:ln>
            <a:noFill/>
          </a:ln>
        </p:spPr>
        <p:txBody>
          <a:bodyPr rtlCol="0" anchor="ctr"/>
          <a:lstStyle/>
          <a:p>
            <a:pPr algn="ctr"/>
          </a:p>
        </p:txBody>
      </p:sp>
      <p:sp>
        <p:nvSpPr>
          <p:cNvPr id="44" name="Text 43"/>
          <p:cNvSpPr txBox="1"/>
          <p:nvPr/>
        </p:nvSpPr>
        <p:spPr>
          <a:xfrm>
            <a:off x="10062210" y="5148453"/>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آخر تعديل</a:t>
            </a:r>
          </a:p>
        </p:txBody>
      </p:sp>
      <p:sp>
        <p:nvSpPr>
          <p:cNvPr id="45" name="Text 44"/>
          <p:cNvSpPr txBox="1"/>
          <p:nvPr/>
        </p:nvSpPr>
        <p:spPr>
          <a:xfrm>
            <a:off x="6172200" y="5148453"/>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‎2026-06-10‎ بواسطة cadm.badr</a:t>
            </a:r>
          </a:p>
        </p:txBody>
      </p:sp>
      <p:sp>
        <p:nvSpPr>
          <p:cNvPr id="46" name="Text 4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47" name="Box 4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1" name="Box 5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2" name="Box 5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54" name="Box 53"/>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56" name="Text 5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50934" y="812800"/>
            <a:ext cx="15282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اختبار الأداء · الدليل 2</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الدليل E2: محضر اختبار استعادة نظام الموارد البشرية</a:t>
            </a:r>
          </a:p>
        </p:txBody>
      </p:sp>
      <p:sp>
        <p:nvSpPr>
          <p:cNvPr id="5" name="Text box 4"/>
          <p:cNvSpPr/>
          <p:nvPr/>
        </p:nvSpPr>
        <p:spPr>
          <a:xfrm>
            <a:off x="9497417" y="1802011"/>
            <a:ext cx="1881783"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دليل اختبار · بيانات افتراضية</a:t>
            </a:r>
          </a:p>
        </p:txBody>
      </p:sp>
      <p:sp>
        <p:nvSpPr>
          <p:cNvPr id="6" name="Text 5"/>
          <p:cNvSpPr txBox="1"/>
          <p:nvPr/>
        </p:nvSpPr>
        <p:spPr>
          <a:xfrm>
            <a:off x="125143" y="1808849"/>
            <a:ext cx="92833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أجب في ورقة الإجابة: الضابط، وما يثبته، وما لا يثبته، والناقص، والحكم ومبرره، والخطوة التالية.</a:t>
            </a:r>
          </a:p>
        </p:txBody>
      </p:sp>
      <p:sp>
        <p:nvSpPr>
          <p:cNvPr id="7" name="Box 6"/>
          <p:cNvSpPr/>
          <p:nvPr/>
        </p:nvSpPr>
        <p:spPr>
          <a:xfrm>
            <a:off x="815975" y="2231827"/>
            <a:ext cx="10560050" cy="2888853"/>
          </a:xfrm>
          <a:prstGeom prst="roundRect">
            <a:avLst>
              <a:gd name="adj" fmla="val 3509"/>
            </a:avLst>
          </a:prstGeom>
          <a:solidFill>
            <a:srgbClr val="FBFAF7"/>
          </a:solidFill>
          <a:ln w="6350">
            <a:solidFill>
              <a:srgbClr val="DDD7CA"/>
            </a:solidFill>
          </a:ln>
        </p:spPr>
        <p:txBody>
          <a:bodyPr rtlCol="0" anchor="ctr"/>
          <a:lstStyle/>
          <a:p>
            <a:pPr algn="ctr"/>
          </a:p>
        </p:txBody>
      </p:sp>
      <p:sp>
        <p:nvSpPr>
          <p:cNvPr id="8" name="Box 7"/>
          <p:cNvSpPr/>
          <p:nvPr/>
        </p:nvSpPr>
        <p:spPr>
          <a:xfrm>
            <a:off x="819150" y="2235002"/>
            <a:ext cx="105537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9" name="Box 8"/>
          <p:cNvSpPr/>
          <p:nvPr/>
        </p:nvSpPr>
        <p:spPr>
          <a:xfrm>
            <a:off x="946150" y="2365772"/>
            <a:ext cx="88900" cy="88900"/>
          </a:xfrm>
          <a:prstGeom prst="roundRect">
            <a:avLst>
              <a:gd name="adj" fmla="val 50000"/>
            </a:avLst>
          </a:prstGeom>
          <a:solidFill>
            <a:srgbClr val="E46A5A"/>
          </a:solidFill>
          <a:ln>
            <a:noFill/>
          </a:ln>
        </p:spPr>
        <p:txBody>
          <a:bodyPr rtlCol="0" anchor="ctr"/>
          <a:lstStyle/>
          <a:p>
            <a:pPr algn="ctr"/>
          </a:p>
        </p:txBody>
      </p:sp>
      <p:sp>
        <p:nvSpPr>
          <p:cNvPr id="10" name="Box 9"/>
          <p:cNvSpPr/>
          <p:nvPr/>
        </p:nvSpPr>
        <p:spPr>
          <a:xfrm>
            <a:off x="1098550" y="2365772"/>
            <a:ext cx="88900" cy="88900"/>
          </a:xfrm>
          <a:prstGeom prst="roundRect">
            <a:avLst>
              <a:gd name="adj" fmla="val 50000"/>
            </a:avLst>
          </a:prstGeom>
          <a:solidFill>
            <a:srgbClr val="E8B44A"/>
          </a:solidFill>
          <a:ln>
            <a:noFill/>
          </a:ln>
        </p:spPr>
        <p:txBody>
          <a:bodyPr rtlCol="0" anchor="ctr"/>
          <a:lstStyle/>
          <a:p>
            <a:pPr algn="ctr"/>
          </a:p>
        </p:txBody>
      </p:sp>
      <p:sp>
        <p:nvSpPr>
          <p:cNvPr id="11" name="Box 10"/>
          <p:cNvSpPr/>
          <p:nvPr/>
        </p:nvSpPr>
        <p:spPr>
          <a:xfrm>
            <a:off x="1250950" y="2365772"/>
            <a:ext cx="88900" cy="88900"/>
          </a:xfrm>
          <a:prstGeom prst="roundRect">
            <a:avLst>
              <a:gd name="adj" fmla="val 50000"/>
            </a:avLst>
          </a:prstGeom>
          <a:solidFill>
            <a:srgbClr val="5DB27A"/>
          </a:solidFill>
          <a:ln>
            <a:noFill/>
          </a:ln>
        </p:spPr>
        <p:txBody>
          <a:bodyPr rtlCol="0" anchor="ctr"/>
          <a:lstStyle/>
          <a:p>
            <a:pPr algn="ctr"/>
          </a:p>
        </p:txBody>
      </p:sp>
      <p:sp>
        <p:nvSpPr>
          <p:cNvPr id="12" name="Text 11"/>
          <p:cNvSpPr txBox="1"/>
          <p:nvPr/>
        </p:nvSpPr>
        <p:spPr>
          <a:xfrm>
            <a:off x="8414353" y="2295200"/>
            <a:ext cx="2831497"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E2 · محضر اختبار استعادة نظام الموارد البشرية</a:t>
            </a:r>
          </a:p>
        </p:txBody>
      </p:sp>
      <p:sp>
        <p:nvSpPr>
          <p:cNvPr id="13" name="Rule 12"/>
          <p:cNvSpPr/>
          <p:nvPr/>
        </p:nvSpPr>
        <p:spPr>
          <a:xfrm>
            <a:off x="958850" y="3014662"/>
            <a:ext cx="5060950" cy="6350"/>
          </a:xfrm>
          <a:prstGeom prst="rect">
            <a:avLst/>
          </a:prstGeom>
          <a:solidFill>
            <a:srgbClr val="DDD7CA"/>
          </a:solidFill>
          <a:ln>
            <a:noFill/>
          </a:ln>
        </p:spPr>
        <p:txBody>
          <a:bodyPr rtlCol="0" anchor="ctr"/>
          <a:lstStyle/>
          <a:p>
            <a:pPr algn="ctr"/>
          </a:p>
        </p:txBody>
      </p:sp>
      <p:sp>
        <p:nvSpPr>
          <p:cNvPr id="14" name="Text 13"/>
          <p:cNvSpPr txBox="1"/>
          <p:nvPr/>
        </p:nvSpPr>
        <p:spPr>
          <a:xfrm>
            <a:off x="4848860" y="2733270"/>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رقم المحضر</a:t>
            </a:r>
          </a:p>
        </p:txBody>
      </p:sp>
      <p:sp>
        <p:nvSpPr>
          <p:cNvPr id="15" name="Text 14"/>
          <p:cNvSpPr txBox="1"/>
          <p:nvPr/>
        </p:nvSpPr>
        <p:spPr>
          <a:xfrm>
            <a:off x="958850" y="2733270"/>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‎RT-2026-05‎ · بتاريخ ‎2026-08-11‎</a:t>
            </a:r>
          </a:p>
        </p:txBody>
      </p:sp>
      <p:sp>
        <p:nvSpPr>
          <p:cNvPr id="16" name="Rule 15"/>
          <p:cNvSpPr/>
          <p:nvPr/>
        </p:nvSpPr>
        <p:spPr>
          <a:xfrm>
            <a:off x="6172200" y="3014662"/>
            <a:ext cx="5060950" cy="6350"/>
          </a:xfrm>
          <a:prstGeom prst="rect">
            <a:avLst/>
          </a:prstGeom>
          <a:solidFill>
            <a:srgbClr val="DDD7CA"/>
          </a:solidFill>
          <a:ln>
            <a:noFill/>
          </a:ln>
        </p:spPr>
        <p:txBody>
          <a:bodyPr rtlCol="0" anchor="ctr"/>
          <a:lstStyle/>
          <a:p>
            <a:pPr algn="ctr"/>
          </a:p>
        </p:txBody>
      </p:sp>
      <p:sp>
        <p:nvSpPr>
          <p:cNvPr id="17" name="Text 16"/>
          <p:cNvSpPr txBox="1"/>
          <p:nvPr/>
        </p:nvSpPr>
        <p:spPr>
          <a:xfrm>
            <a:off x="10062210" y="2733270"/>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مصدر الدليل</a:t>
            </a:r>
          </a:p>
        </p:txBody>
      </p:sp>
      <p:sp>
        <p:nvSpPr>
          <p:cNvPr id="18" name="Text 17"/>
          <p:cNvSpPr txBox="1"/>
          <p:nvPr/>
        </p:nvSpPr>
        <p:spPr>
          <a:xfrm>
            <a:off x="6172200" y="2733270"/>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محضر اختبار موقع (نسخة ممسوحة ضوئياً)</a:t>
            </a:r>
          </a:p>
        </p:txBody>
      </p:sp>
      <p:sp>
        <p:nvSpPr>
          <p:cNvPr id="19" name="Rule 18"/>
          <p:cNvSpPr/>
          <p:nvPr/>
        </p:nvSpPr>
        <p:spPr>
          <a:xfrm>
            <a:off x="958850" y="3323233"/>
            <a:ext cx="5060950" cy="6350"/>
          </a:xfrm>
          <a:prstGeom prst="rect">
            <a:avLst/>
          </a:prstGeom>
          <a:solidFill>
            <a:srgbClr val="DDD7CA"/>
          </a:solidFill>
          <a:ln>
            <a:noFill/>
          </a:ln>
        </p:spPr>
        <p:txBody>
          <a:bodyPr rtlCol="0" anchor="ctr"/>
          <a:lstStyle/>
          <a:p>
            <a:pPr algn="ctr"/>
          </a:p>
        </p:txBody>
      </p:sp>
      <p:sp>
        <p:nvSpPr>
          <p:cNvPr id="20" name="Text 19"/>
          <p:cNvSpPr txBox="1"/>
          <p:nvPr/>
        </p:nvSpPr>
        <p:spPr>
          <a:xfrm>
            <a:off x="4848860" y="3041840"/>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النظام</a:t>
            </a:r>
          </a:p>
        </p:txBody>
      </p:sp>
      <p:sp>
        <p:nvSpPr>
          <p:cNvPr id="21" name="Text 20"/>
          <p:cNvSpPr txBox="1"/>
          <p:nvPr/>
        </p:nvSpPr>
        <p:spPr>
          <a:xfrm>
            <a:off x="958850" y="3041840"/>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‎SYS-04‎ نظام الموارد البشرية — الأهمية: حرج</a:t>
            </a:r>
          </a:p>
        </p:txBody>
      </p:sp>
      <p:sp>
        <p:nvSpPr>
          <p:cNvPr id="22" name="Rule 21"/>
          <p:cNvSpPr/>
          <p:nvPr/>
        </p:nvSpPr>
        <p:spPr>
          <a:xfrm>
            <a:off x="6172200" y="3323233"/>
            <a:ext cx="5060950" cy="6350"/>
          </a:xfrm>
          <a:prstGeom prst="rect">
            <a:avLst/>
          </a:prstGeom>
          <a:solidFill>
            <a:srgbClr val="DDD7CA"/>
          </a:solidFill>
          <a:ln>
            <a:noFill/>
          </a:ln>
        </p:spPr>
        <p:txBody>
          <a:bodyPr rtlCol="0" anchor="ctr"/>
          <a:lstStyle/>
          <a:p>
            <a:pPr algn="ctr"/>
          </a:p>
        </p:txBody>
      </p:sp>
      <p:sp>
        <p:nvSpPr>
          <p:cNvPr id="23" name="Text 22"/>
          <p:cNvSpPr txBox="1"/>
          <p:nvPr/>
        </p:nvSpPr>
        <p:spPr>
          <a:xfrm>
            <a:off x="10062210" y="3041840"/>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قدّمه</a:t>
            </a:r>
          </a:p>
        </p:txBody>
      </p:sp>
      <p:sp>
        <p:nvSpPr>
          <p:cNvPr id="24" name="Text 23"/>
          <p:cNvSpPr txBox="1"/>
          <p:nvPr/>
        </p:nvSpPr>
        <p:spPr>
          <a:xfrm>
            <a:off x="6172200" y="3041840"/>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هشام البلوي (مسؤول النسخ الاحتياطي والاستعادة)</a:t>
            </a:r>
          </a:p>
        </p:txBody>
      </p:sp>
      <p:sp>
        <p:nvSpPr>
          <p:cNvPr id="25" name="Rule 24"/>
          <p:cNvSpPr/>
          <p:nvPr/>
        </p:nvSpPr>
        <p:spPr>
          <a:xfrm>
            <a:off x="958850" y="3631803"/>
            <a:ext cx="5060950" cy="6350"/>
          </a:xfrm>
          <a:prstGeom prst="rect">
            <a:avLst/>
          </a:prstGeom>
          <a:solidFill>
            <a:srgbClr val="DDD7CA"/>
          </a:solidFill>
          <a:ln>
            <a:noFill/>
          </a:ln>
        </p:spPr>
        <p:txBody>
          <a:bodyPr rtlCol="0" anchor="ctr"/>
          <a:lstStyle/>
          <a:p>
            <a:pPr algn="ctr"/>
          </a:p>
        </p:txBody>
      </p:sp>
      <p:sp>
        <p:nvSpPr>
          <p:cNvPr id="26" name="Text 25"/>
          <p:cNvSpPr txBox="1"/>
          <p:nvPr/>
        </p:nvSpPr>
        <p:spPr>
          <a:xfrm>
            <a:off x="4848860" y="335041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نقطة الاستعادة</a:t>
            </a:r>
          </a:p>
        </p:txBody>
      </p:sp>
      <p:sp>
        <p:nvSpPr>
          <p:cNvPr id="27" name="Text 26"/>
          <p:cNvSpPr txBox="1"/>
          <p:nvPr/>
        </p:nvSpPr>
        <p:spPr>
          <a:xfrm>
            <a:off x="958850" y="335041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نسخة المهمة ‎J-05‎ بتاريخ ‎2026-08-10‎ ‎22:00‎</a:t>
            </a:r>
          </a:p>
        </p:txBody>
      </p:sp>
      <p:sp>
        <p:nvSpPr>
          <p:cNvPr id="28" name="Rule 27"/>
          <p:cNvSpPr/>
          <p:nvPr/>
        </p:nvSpPr>
        <p:spPr>
          <a:xfrm>
            <a:off x="6172200" y="3631803"/>
            <a:ext cx="5060950" cy="6350"/>
          </a:xfrm>
          <a:prstGeom prst="rect">
            <a:avLst/>
          </a:prstGeom>
          <a:solidFill>
            <a:srgbClr val="DDD7CA"/>
          </a:solidFill>
          <a:ln>
            <a:noFill/>
          </a:ln>
        </p:spPr>
        <p:txBody>
          <a:bodyPr rtlCol="0" anchor="ctr"/>
          <a:lstStyle/>
          <a:p>
            <a:pPr algn="ctr"/>
          </a:p>
        </p:txBody>
      </p:sp>
      <p:sp>
        <p:nvSpPr>
          <p:cNvPr id="29" name="Text 28"/>
          <p:cNvSpPr txBox="1"/>
          <p:nvPr/>
        </p:nvSpPr>
        <p:spPr>
          <a:xfrm>
            <a:off x="10062210" y="335041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نطاق الاختبار</a:t>
            </a:r>
          </a:p>
        </p:txBody>
      </p:sp>
      <p:sp>
        <p:nvSpPr>
          <p:cNvPr id="30" name="Text 29"/>
          <p:cNvSpPr txBox="1"/>
          <p:nvPr/>
        </p:nvSpPr>
        <p:spPr>
          <a:xfrm>
            <a:off x="6172200" y="335041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استعادة كاملة لقاعدة البيانات وخادم التطبيق إلى بيئة معزولة</a:t>
            </a:r>
          </a:p>
        </p:txBody>
      </p:sp>
      <p:sp>
        <p:nvSpPr>
          <p:cNvPr id="31" name="Rule 30"/>
          <p:cNvSpPr/>
          <p:nvPr/>
        </p:nvSpPr>
        <p:spPr>
          <a:xfrm>
            <a:off x="958850" y="3940373"/>
            <a:ext cx="5060950" cy="6350"/>
          </a:xfrm>
          <a:prstGeom prst="rect">
            <a:avLst/>
          </a:prstGeom>
          <a:solidFill>
            <a:srgbClr val="DDD7CA"/>
          </a:solidFill>
          <a:ln>
            <a:noFill/>
          </a:ln>
        </p:spPr>
        <p:txBody>
          <a:bodyPr rtlCol="0" anchor="ctr"/>
          <a:lstStyle/>
          <a:p>
            <a:pPr algn="ctr"/>
          </a:p>
        </p:txBody>
      </p:sp>
      <p:sp>
        <p:nvSpPr>
          <p:cNvPr id="32" name="Text 31"/>
          <p:cNvSpPr txBox="1"/>
          <p:nvPr/>
        </p:nvSpPr>
        <p:spPr>
          <a:xfrm>
            <a:off x="4848860" y="365898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التوقيت الفعلي</a:t>
            </a:r>
          </a:p>
        </p:txBody>
      </p:sp>
      <p:sp>
        <p:nvSpPr>
          <p:cNvPr id="33" name="Text 32"/>
          <p:cNvSpPr txBox="1"/>
          <p:nvPr/>
        </p:nvSpPr>
        <p:spPr>
          <a:xfrm>
            <a:off x="958850" y="365898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البدء ‎09:00‎، والانتهاء ‎12:10‎، والزمن 3 ساعات و10 دقائق</a:t>
            </a:r>
          </a:p>
        </p:txBody>
      </p:sp>
      <p:sp>
        <p:nvSpPr>
          <p:cNvPr id="34" name="Rule 33"/>
          <p:cNvSpPr/>
          <p:nvPr/>
        </p:nvSpPr>
        <p:spPr>
          <a:xfrm>
            <a:off x="6172200" y="3940373"/>
            <a:ext cx="5060950" cy="6350"/>
          </a:xfrm>
          <a:prstGeom prst="rect">
            <a:avLst/>
          </a:prstGeom>
          <a:solidFill>
            <a:srgbClr val="DDD7CA"/>
          </a:solidFill>
          <a:ln>
            <a:noFill/>
          </a:ln>
        </p:spPr>
        <p:txBody>
          <a:bodyPr rtlCol="0" anchor="ctr"/>
          <a:lstStyle/>
          <a:p>
            <a:pPr algn="ctr"/>
          </a:p>
        </p:txBody>
      </p:sp>
      <p:sp>
        <p:nvSpPr>
          <p:cNvPr id="35" name="Text 34"/>
          <p:cNvSpPr txBox="1"/>
          <p:nvPr/>
        </p:nvSpPr>
        <p:spPr>
          <a:xfrm>
            <a:off x="10062210" y="365898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المستهدف</a:t>
            </a:r>
          </a:p>
        </p:txBody>
      </p:sp>
      <p:sp>
        <p:nvSpPr>
          <p:cNvPr id="36" name="Text 35"/>
          <p:cNvSpPr txBox="1"/>
          <p:nvPr/>
        </p:nvSpPr>
        <p:spPr>
          <a:xfrm>
            <a:off x="6172200" y="365898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RTO أربع ساعات · RPO أربع وعشرون ساعة</a:t>
            </a:r>
          </a:p>
        </p:txBody>
      </p:sp>
      <p:sp>
        <p:nvSpPr>
          <p:cNvPr id="37" name="Rule 36"/>
          <p:cNvSpPr/>
          <p:nvPr/>
        </p:nvSpPr>
        <p:spPr>
          <a:xfrm>
            <a:off x="958850" y="4462264"/>
            <a:ext cx="5060950" cy="6350"/>
          </a:xfrm>
          <a:prstGeom prst="rect">
            <a:avLst/>
          </a:prstGeom>
          <a:solidFill>
            <a:srgbClr val="DDD7CA"/>
          </a:solidFill>
          <a:ln>
            <a:noFill/>
          </a:ln>
        </p:spPr>
        <p:txBody>
          <a:bodyPr rtlCol="0" anchor="ctr"/>
          <a:lstStyle/>
          <a:p>
            <a:pPr algn="ctr"/>
          </a:p>
        </p:txBody>
      </p:sp>
      <p:sp>
        <p:nvSpPr>
          <p:cNvPr id="38" name="Text 37"/>
          <p:cNvSpPr txBox="1"/>
          <p:nvPr/>
        </p:nvSpPr>
        <p:spPr>
          <a:xfrm>
            <a:off x="4848860" y="396755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النتيجة</a:t>
            </a:r>
          </a:p>
        </p:txBody>
      </p:sp>
      <p:sp>
        <p:nvSpPr>
          <p:cNvPr id="39" name="Text 38"/>
          <p:cNvSpPr txBox="1"/>
          <p:nvPr/>
        </p:nvSpPr>
        <p:spPr>
          <a:xfrm>
            <a:off x="958850" y="396755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ناجح — ضمن زمن الاستعادة المستهدف</a:t>
            </a:r>
          </a:p>
        </p:txBody>
      </p:sp>
      <p:sp>
        <p:nvSpPr>
          <p:cNvPr id="40" name="Rule 39"/>
          <p:cNvSpPr/>
          <p:nvPr/>
        </p:nvSpPr>
        <p:spPr>
          <a:xfrm>
            <a:off x="6172200" y="4462264"/>
            <a:ext cx="5060950" cy="6350"/>
          </a:xfrm>
          <a:prstGeom prst="rect">
            <a:avLst/>
          </a:prstGeom>
          <a:solidFill>
            <a:srgbClr val="DDD7CA"/>
          </a:solidFill>
          <a:ln>
            <a:noFill/>
          </a:ln>
        </p:spPr>
        <p:txBody>
          <a:bodyPr rtlCol="0" anchor="ctr"/>
          <a:lstStyle/>
          <a:p>
            <a:pPr algn="ctr"/>
          </a:p>
        </p:txBody>
      </p:sp>
      <p:sp>
        <p:nvSpPr>
          <p:cNvPr id="41" name="Text 40"/>
          <p:cNvSpPr txBox="1"/>
          <p:nvPr/>
        </p:nvSpPr>
        <p:spPr>
          <a:xfrm>
            <a:off x="10062210" y="396755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سلامة البيانات</a:t>
            </a:r>
          </a:p>
        </p:txBody>
      </p:sp>
      <p:sp>
        <p:nvSpPr>
          <p:cNvPr id="42" name="Text 41"/>
          <p:cNvSpPr txBox="1"/>
          <p:nvPr/>
        </p:nvSpPr>
        <p:spPr>
          <a:xfrm>
            <a:off x="6172200" y="3967551"/>
            <a:ext cx="389255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مطابقة عدد السجلات (480 ملفاً وظيفياً)، والمجموع الاختباري، وتحقق مستخدم من 10 ملفات عشوائية</a:t>
            </a:r>
          </a:p>
        </p:txBody>
      </p:sp>
      <p:sp>
        <p:nvSpPr>
          <p:cNvPr id="43" name="Rule 42"/>
          <p:cNvSpPr/>
          <p:nvPr/>
        </p:nvSpPr>
        <p:spPr>
          <a:xfrm>
            <a:off x="958850" y="4984155"/>
            <a:ext cx="5060950" cy="6350"/>
          </a:xfrm>
          <a:prstGeom prst="rect">
            <a:avLst/>
          </a:prstGeom>
          <a:solidFill>
            <a:srgbClr val="DDD7CA"/>
          </a:solidFill>
          <a:ln>
            <a:noFill/>
          </a:ln>
        </p:spPr>
        <p:txBody>
          <a:bodyPr rtlCol="0" anchor="ctr"/>
          <a:lstStyle/>
          <a:p>
            <a:pPr algn="ctr"/>
          </a:p>
        </p:txBody>
      </p:sp>
      <p:sp>
        <p:nvSpPr>
          <p:cNvPr id="44" name="Text 43"/>
          <p:cNvSpPr txBox="1"/>
          <p:nvPr/>
        </p:nvSpPr>
        <p:spPr>
          <a:xfrm>
            <a:off x="4848860" y="4489442"/>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التوقيعات</a:t>
            </a:r>
          </a:p>
        </p:txBody>
      </p:sp>
      <p:sp>
        <p:nvSpPr>
          <p:cNvPr id="45" name="Text 44"/>
          <p:cNvSpPr txBox="1"/>
          <p:nvPr/>
        </p:nvSpPr>
        <p:spPr>
          <a:xfrm>
            <a:off x="958850" y="4489442"/>
            <a:ext cx="389255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منيرة الدوسري (مالك الأعمال)، وهشام البلوي (المنفذ)، واعتماد م. سلطان الغامدي</a:t>
            </a:r>
          </a:p>
        </p:txBody>
      </p:sp>
      <p:sp>
        <p:nvSpPr>
          <p:cNvPr id="46" name="Rule 45"/>
          <p:cNvSpPr/>
          <p:nvPr/>
        </p:nvSpPr>
        <p:spPr>
          <a:xfrm>
            <a:off x="6172200" y="4984155"/>
            <a:ext cx="5060950" cy="6350"/>
          </a:xfrm>
          <a:prstGeom prst="rect">
            <a:avLst/>
          </a:prstGeom>
          <a:solidFill>
            <a:srgbClr val="DDD7CA"/>
          </a:solidFill>
          <a:ln>
            <a:noFill/>
          </a:ln>
        </p:spPr>
        <p:txBody>
          <a:bodyPr rtlCol="0" anchor="ctr"/>
          <a:lstStyle/>
          <a:p>
            <a:pPr algn="ctr"/>
          </a:p>
        </p:txBody>
      </p:sp>
      <p:sp>
        <p:nvSpPr>
          <p:cNvPr id="47" name="Text 46"/>
          <p:cNvSpPr txBox="1"/>
          <p:nvPr/>
        </p:nvSpPr>
        <p:spPr>
          <a:xfrm>
            <a:off x="10062210" y="4489442"/>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الملاحظات</a:t>
            </a:r>
          </a:p>
        </p:txBody>
      </p:sp>
      <p:sp>
        <p:nvSpPr>
          <p:cNvPr id="48" name="Text 47"/>
          <p:cNvSpPr txBox="1"/>
          <p:nvPr/>
        </p:nvSpPr>
        <p:spPr>
          <a:xfrm>
            <a:off x="6172200" y="4489442"/>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لا توجد</a:t>
            </a:r>
          </a:p>
        </p:txBody>
      </p:sp>
      <p:sp>
        <p:nvSpPr>
          <p:cNvPr id="49" name="Text 48"/>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50" name="Box 49"/>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1" name="Box 50"/>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2" name="Box 51"/>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3" name="Box 52"/>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4" name="Box 53"/>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5" name="Box 54"/>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6" name="Box 55"/>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57" name="Box 56"/>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8" name="Box 57"/>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59" name="Text 58"/>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50934" y="812800"/>
            <a:ext cx="15282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اختبار الأداء · الدليل 3</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الدليل E3: تصدير قواعد الجدار الناري</a:t>
            </a:r>
          </a:p>
        </p:txBody>
      </p:sp>
      <p:sp>
        <p:nvSpPr>
          <p:cNvPr id="5" name="Text box 4"/>
          <p:cNvSpPr/>
          <p:nvPr/>
        </p:nvSpPr>
        <p:spPr>
          <a:xfrm>
            <a:off x="9497417" y="1802011"/>
            <a:ext cx="1881783"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دليل اختبار · بيانات افتراضية</a:t>
            </a:r>
          </a:p>
        </p:txBody>
      </p:sp>
      <p:sp>
        <p:nvSpPr>
          <p:cNvPr id="6" name="Text 5"/>
          <p:cNvSpPr txBox="1"/>
          <p:nvPr/>
        </p:nvSpPr>
        <p:spPr>
          <a:xfrm>
            <a:off x="125143" y="1808849"/>
            <a:ext cx="92833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أجب في ورقة الإجابة: الضابط، وما يثبته، وما لا يثبته، والناقص، والحكم ومبرره، والخطوة التالية.</a:t>
            </a:r>
          </a:p>
        </p:txBody>
      </p:sp>
      <p:sp>
        <p:nvSpPr>
          <p:cNvPr id="7" name="Box 6"/>
          <p:cNvSpPr/>
          <p:nvPr/>
        </p:nvSpPr>
        <p:spPr>
          <a:xfrm>
            <a:off x="815975" y="2231827"/>
            <a:ext cx="10560050" cy="3606998"/>
          </a:xfrm>
          <a:prstGeom prst="roundRect">
            <a:avLst>
              <a:gd name="adj" fmla="val 2811"/>
            </a:avLst>
          </a:prstGeom>
          <a:solidFill>
            <a:srgbClr val="FBFAF7"/>
          </a:solidFill>
          <a:ln w="6350">
            <a:solidFill>
              <a:srgbClr val="DDD7CA"/>
            </a:solidFill>
          </a:ln>
        </p:spPr>
        <p:txBody>
          <a:bodyPr rtlCol="0" anchor="ctr"/>
          <a:lstStyle/>
          <a:p>
            <a:pPr algn="ctr"/>
          </a:p>
        </p:txBody>
      </p:sp>
      <p:sp>
        <p:nvSpPr>
          <p:cNvPr id="8" name="Box 7"/>
          <p:cNvSpPr/>
          <p:nvPr/>
        </p:nvSpPr>
        <p:spPr>
          <a:xfrm>
            <a:off x="819150" y="2235002"/>
            <a:ext cx="105537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9" name="Box 8"/>
          <p:cNvSpPr/>
          <p:nvPr/>
        </p:nvSpPr>
        <p:spPr>
          <a:xfrm>
            <a:off x="946150" y="2365772"/>
            <a:ext cx="88900" cy="88900"/>
          </a:xfrm>
          <a:prstGeom prst="roundRect">
            <a:avLst>
              <a:gd name="adj" fmla="val 50000"/>
            </a:avLst>
          </a:prstGeom>
          <a:solidFill>
            <a:srgbClr val="E46A5A"/>
          </a:solidFill>
          <a:ln>
            <a:noFill/>
          </a:ln>
        </p:spPr>
        <p:txBody>
          <a:bodyPr rtlCol="0" anchor="ctr"/>
          <a:lstStyle/>
          <a:p>
            <a:pPr algn="ctr"/>
          </a:p>
        </p:txBody>
      </p:sp>
      <p:sp>
        <p:nvSpPr>
          <p:cNvPr id="10" name="Box 9"/>
          <p:cNvSpPr/>
          <p:nvPr/>
        </p:nvSpPr>
        <p:spPr>
          <a:xfrm>
            <a:off x="1098550" y="2365772"/>
            <a:ext cx="88900" cy="88900"/>
          </a:xfrm>
          <a:prstGeom prst="roundRect">
            <a:avLst>
              <a:gd name="adj" fmla="val 50000"/>
            </a:avLst>
          </a:prstGeom>
          <a:solidFill>
            <a:srgbClr val="E8B44A"/>
          </a:solidFill>
          <a:ln>
            <a:noFill/>
          </a:ln>
        </p:spPr>
        <p:txBody>
          <a:bodyPr rtlCol="0" anchor="ctr"/>
          <a:lstStyle/>
          <a:p>
            <a:pPr algn="ctr"/>
          </a:p>
        </p:txBody>
      </p:sp>
      <p:sp>
        <p:nvSpPr>
          <p:cNvPr id="11" name="Box 10"/>
          <p:cNvSpPr/>
          <p:nvPr/>
        </p:nvSpPr>
        <p:spPr>
          <a:xfrm>
            <a:off x="1250950" y="2365772"/>
            <a:ext cx="88900" cy="88900"/>
          </a:xfrm>
          <a:prstGeom prst="roundRect">
            <a:avLst>
              <a:gd name="adj" fmla="val 50000"/>
            </a:avLst>
          </a:prstGeom>
          <a:solidFill>
            <a:srgbClr val="5DB27A"/>
          </a:solidFill>
          <a:ln>
            <a:noFill/>
          </a:ln>
        </p:spPr>
        <p:txBody>
          <a:bodyPr rtlCol="0" anchor="ctr"/>
          <a:lstStyle/>
          <a:p>
            <a:pPr algn="ctr"/>
          </a:p>
        </p:txBody>
      </p:sp>
      <p:sp>
        <p:nvSpPr>
          <p:cNvPr id="12" name="Text 11"/>
          <p:cNvSpPr txBox="1"/>
          <p:nvPr/>
        </p:nvSpPr>
        <p:spPr>
          <a:xfrm>
            <a:off x="3108833" y="2295200"/>
            <a:ext cx="8137017"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E3 · تصدير قواعد جدار الحماية الرئيسي ‎FW-CORE‎ (مقتطف) · تاريخ التصدير ‎2025-09-01‎ · قدّمه م. عمر الحازمي، مسؤول الشبكات</a:t>
            </a:r>
          </a:p>
        </p:txBody>
      </p:sp>
      <p:graphicFrame>
        <p:nvGraphicFramePr>
          <p:cNvPr id="13" name="Table 12"/>
          <p:cNvGraphicFramePr>
            <a:graphicFrameLocks noGrp="1"/>
          </p:cNvGraphicFramePr>
          <p:nvPr/>
        </p:nvGraphicFramePr>
        <p:xfrm>
          <a:off x="962025" y="2715617"/>
          <a:ext cx="10267950" cy="2734270"/>
        </p:xfrm>
        <a:graphic>
          <a:graphicData uri="http://schemas.openxmlformats.org/drawingml/2006/table">
            <a:tbl>
              <a:tblPr firstRow="0" bandRow="0" lastRow="0" firstCol="0" lastCol="0" bandCol="0">
                <a:tableStyleId>{2D5ABB26-0587-4C30-8999-92F81FD0307C}</a:tableStyleId>
              </a:tblPr>
              <a:tblGrid>
                <a:gridCol w="2459355"/>
                <a:gridCol w="626110"/>
                <a:gridCol w="718185"/>
                <a:gridCol w="820420"/>
                <a:gridCol w="1847215"/>
                <a:gridCol w="1744980"/>
                <a:gridCol w="1538605"/>
                <a:gridCol w="513080"/>
              </a:tblGrid>
              <a:tr h="318591">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التعليق</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تسجيل</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الإجراء</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الخدمة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الوجهة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المصدر</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الاسم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c>
                  <a:txBody>
                    <a:bodyPr wrap="square"/>
                    <a:lstStyle/>
                    <a:p>
                      <a:pPr algn="r" rtl="1">
                        <a:lnSpc>
                          <a:spcPts val="1620"/>
                        </a:lnSpc>
                        <a:spcBef>
                          <a:spcPts val="0"/>
                        </a:spcBef>
                        <a:spcAft>
                          <a:spcPts val="0"/>
                        </a:spcAft>
                      </a:pPr>
                      <a:r>
                        <a:rPr sz="1200" b="1" i="0">
                          <a:solidFill>
                            <a:srgbClr val="132033"/>
                          </a:solidFill>
                          <a:latin typeface="IBM Plex Sans Arabic"/>
                          <a:ea typeface="IBM Plex Sans Arabic"/>
                          <a:cs typeface="IBM Plex Sans Arabic"/>
                        </a:rPr>
                        <a:t>رقم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ECE8DF"/>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واجهة البوابة إلى خادم التطبيقات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سماح</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TCP 8443</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INTERNAL-APP 10.20.40.0/24</a:t>
                      </a:r>
                    </a:p>
                  </a:txBody>
                  <a:tcPr marT="53340" marR="91440" marB="53340" marL="41515"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DMZ-WEB 172.16.10.0/24</a:t>
                      </a:r>
                    </a:p>
                  </a:txBody>
                  <a:tcPr marT="53340" marR="91440" marB="53340" marL="44587"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PORTAL-TO-APP</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إدارة خوادم المنطقة المحايدة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سماح</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TCP 22</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DMZ-WEB 172.16.10.0/24</a:t>
                      </a:r>
                    </a:p>
                  </a:txBody>
                  <a:tcPr marT="53340" marR="91440" marB="53340" marL="41515"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MGMT 10.20.50.0/24</a:t>
                      </a:r>
                    </a:p>
                  </a:txBody>
                  <a:tcPr marT="53340" marR="91440" marB="53340" marL="44587"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MGMT-TO-DMZ</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18</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التطبيقات إلى قواعد البيانات</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سماح</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TCP 1433</a:t>
                      </a:r>
                    </a:p>
                  </a:txBody>
                  <a:tcPr marT="53340" marR="91440" marB="53340" marL="5334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INTERNAL-DB 10.20.41.0/24</a:t>
                      </a:r>
                    </a:p>
                  </a:txBody>
                  <a:tcPr marT="53340" marR="91440" marB="53340" marL="41515"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INTERNAL-APP 10.20.40.0/24</a:t>
                      </a:r>
                    </a:p>
                  </a:txBody>
                  <a:tcPr marT="53340" marR="91440" marB="53340" marL="44587"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APP-TO-DB</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31</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r h="524272">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مؤقت — ترحيل البوابة ‎2025-06‎</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لا</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سماح</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ANY</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INTERNAL-NET 10.20.0.0/16</a:t>
                      </a:r>
                    </a:p>
                  </a:txBody>
                  <a:tcPr marT="53340" marR="91440" marB="53340" marL="41515"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DMZ-NET 172.16.10.0/24</a:t>
                      </a:r>
                    </a:p>
                  </a:txBody>
                  <a:tcPr marT="53340" marR="91440" marB="53340" marL="44587"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TEMP-MIGRATION</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47</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3F1EC"/>
                    </a:solidFill>
                  </a:tcPr>
                </a:tc>
              </a:tr>
              <a:tr h="318591">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القاعدة الافتراضية</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نعم</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rtl="1">
                        <a:lnSpc>
                          <a:spcPts val="1620"/>
                        </a:lnSpc>
                        <a:spcBef>
                          <a:spcPts val="0"/>
                        </a:spcBef>
                        <a:spcAft>
                          <a:spcPts val="0"/>
                        </a:spcAft>
                      </a:pPr>
                      <a:r>
                        <a:rPr sz="1200" b="0" i="0">
                          <a:solidFill>
                            <a:srgbClr val="132033"/>
                          </a:solidFill>
                          <a:latin typeface="IBM Plex Sans Arabic"/>
                          <a:ea typeface="IBM Plex Sans Arabic"/>
                          <a:cs typeface="IBM Plex Sans Arabic"/>
                        </a:rPr>
                        <a:t>منع</a:t>
                      </a:r>
                    </a:p>
                  </a:txBody>
                  <a:tcPr marT="64237" marR="91440" marB="42443"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ANY</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ANY</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ANY</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DEFAULT-DENY</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c>
                  <a:txBody>
                    <a:bodyPr wrap="square"/>
                    <a:lstStyle/>
                    <a:p>
                      <a:pPr algn="r">
                        <a:lnSpc>
                          <a:spcPts val="1620"/>
                        </a:lnSpc>
                        <a:spcBef>
                          <a:spcPts val="0"/>
                        </a:spcBef>
                        <a:spcAft>
                          <a:spcPts val="0"/>
                        </a:spcAft>
                      </a:pPr>
                      <a:r>
                        <a:rPr sz="1200" b="0" i="0">
                          <a:solidFill>
                            <a:srgbClr val="132033"/>
                          </a:solidFill>
                          <a:latin typeface="IBM Plex Mono"/>
                          <a:ea typeface="IBM Plex Mono"/>
                          <a:cs typeface="IBM Plex Mono"/>
                        </a:rPr>
                        <a:t>99</a:t>
                      </a:r>
                    </a:p>
                  </a:txBody>
                  <a:tcPr marT="53340" marR="91440" marB="53340" marL="0" anchor="ctr">
                    <a:lnL w="6350">
                      <a:solidFill>
                        <a:srgbClr val="DDD7CA"/>
                      </a:solidFill>
                    </a:lnL>
                    <a:lnR w="6350">
                      <a:solidFill>
                        <a:srgbClr val="DDD7CA"/>
                      </a:solidFill>
                    </a:lnR>
                    <a:lnT w="6350">
                      <a:solidFill>
                        <a:srgbClr val="DDD7CA"/>
                      </a:solidFill>
                    </a:lnT>
                    <a:lnB w="6350">
                      <a:solidFill>
                        <a:srgbClr val="DDD7CA"/>
                      </a:solidFill>
                    </a:lnB>
                    <a:solidFill>
                      <a:srgbClr val="FBFAF7"/>
                    </a:solidFill>
                  </a:tcPr>
                </a:tc>
              </a:tr>
            </a:tbl>
          </a:graphicData>
        </a:graphic>
      </p:graphicFrame>
      <p:sp>
        <p:nvSpPr>
          <p:cNvPr id="14" name="Text 13"/>
          <p:cNvSpPr txBox="1"/>
          <p:nvPr/>
        </p:nvSpPr>
        <p:spPr>
          <a:xfrm>
            <a:off x="838200" y="5518340"/>
            <a:ext cx="10394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تم تصدير 64 قاعدة؛ المقتطف يعرض القواعد المتعلقة بالمنطقة المحايدة (DMZ) والقاعدة الافتراضية.</a:t>
            </a:r>
          </a:p>
        </p:txBody>
      </p:sp>
      <p:sp>
        <p:nvSpPr>
          <p:cNvPr id="15" name="Text 14"/>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16" name="Box 15"/>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7" name="Box 16"/>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8" name="Box 17"/>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19" name="Box 18"/>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20" name="Box 19"/>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21" name="Box 20"/>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22" name="Box 21"/>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23" name="Box 22"/>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24" name="Box 23"/>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25" name="Text 24"/>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50934" y="812800"/>
            <a:ext cx="15282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اختبار الأداء · الدليل 4</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الدليل E4: كشف حضور جلسة التوعية</a:t>
            </a:r>
          </a:p>
        </p:txBody>
      </p:sp>
      <p:sp>
        <p:nvSpPr>
          <p:cNvPr id="5" name="Text box 4"/>
          <p:cNvSpPr/>
          <p:nvPr/>
        </p:nvSpPr>
        <p:spPr>
          <a:xfrm>
            <a:off x="9497417" y="1802011"/>
            <a:ext cx="1881783"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دليل اختبار · بيانات افتراضية</a:t>
            </a:r>
          </a:p>
        </p:txBody>
      </p:sp>
      <p:sp>
        <p:nvSpPr>
          <p:cNvPr id="6" name="Text 5"/>
          <p:cNvSpPr txBox="1"/>
          <p:nvPr/>
        </p:nvSpPr>
        <p:spPr>
          <a:xfrm>
            <a:off x="125143" y="1808849"/>
            <a:ext cx="92833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أجب في ورقة الإجابة: الضابط، وما يثبته، وما لا يثبته، والناقص، والحكم ومبرره، والخطوة التالية.</a:t>
            </a:r>
          </a:p>
        </p:txBody>
      </p:sp>
      <p:sp>
        <p:nvSpPr>
          <p:cNvPr id="7" name="Box 6"/>
          <p:cNvSpPr/>
          <p:nvPr/>
        </p:nvSpPr>
        <p:spPr>
          <a:xfrm>
            <a:off x="815975" y="2231827"/>
            <a:ext cx="10560050" cy="3375223"/>
          </a:xfrm>
          <a:prstGeom prst="roundRect">
            <a:avLst>
              <a:gd name="adj" fmla="val 3004"/>
            </a:avLst>
          </a:prstGeom>
          <a:solidFill>
            <a:srgbClr val="FBFAF7"/>
          </a:solidFill>
          <a:ln w="6350">
            <a:solidFill>
              <a:srgbClr val="DDD7CA"/>
            </a:solidFill>
          </a:ln>
        </p:spPr>
        <p:txBody>
          <a:bodyPr rtlCol="0" anchor="ctr"/>
          <a:lstStyle/>
          <a:p>
            <a:pPr algn="ctr"/>
          </a:p>
        </p:txBody>
      </p:sp>
      <p:sp>
        <p:nvSpPr>
          <p:cNvPr id="8" name="Box 7"/>
          <p:cNvSpPr/>
          <p:nvPr/>
        </p:nvSpPr>
        <p:spPr>
          <a:xfrm>
            <a:off x="819150" y="2235002"/>
            <a:ext cx="105537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9" name="Box 8"/>
          <p:cNvSpPr/>
          <p:nvPr/>
        </p:nvSpPr>
        <p:spPr>
          <a:xfrm>
            <a:off x="946150" y="2365772"/>
            <a:ext cx="88900" cy="88900"/>
          </a:xfrm>
          <a:prstGeom prst="roundRect">
            <a:avLst>
              <a:gd name="adj" fmla="val 50000"/>
            </a:avLst>
          </a:prstGeom>
          <a:solidFill>
            <a:srgbClr val="E46A5A"/>
          </a:solidFill>
          <a:ln>
            <a:noFill/>
          </a:ln>
        </p:spPr>
        <p:txBody>
          <a:bodyPr rtlCol="0" anchor="ctr"/>
          <a:lstStyle/>
          <a:p>
            <a:pPr algn="ctr"/>
          </a:p>
        </p:txBody>
      </p:sp>
      <p:sp>
        <p:nvSpPr>
          <p:cNvPr id="10" name="Box 9"/>
          <p:cNvSpPr/>
          <p:nvPr/>
        </p:nvSpPr>
        <p:spPr>
          <a:xfrm>
            <a:off x="1098550" y="2365772"/>
            <a:ext cx="88900" cy="88900"/>
          </a:xfrm>
          <a:prstGeom prst="roundRect">
            <a:avLst>
              <a:gd name="adj" fmla="val 50000"/>
            </a:avLst>
          </a:prstGeom>
          <a:solidFill>
            <a:srgbClr val="E8B44A"/>
          </a:solidFill>
          <a:ln>
            <a:noFill/>
          </a:ln>
        </p:spPr>
        <p:txBody>
          <a:bodyPr rtlCol="0" anchor="ctr"/>
          <a:lstStyle/>
          <a:p>
            <a:pPr algn="ctr"/>
          </a:p>
        </p:txBody>
      </p:sp>
      <p:sp>
        <p:nvSpPr>
          <p:cNvPr id="11" name="Box 10"/>
          <p:cNvSpPr/>
          <p:nvPr/>
        </p:nvSpPr>
        <p:spPr>
          <a:xfrm>
            <a:off x="1250950" y="2365772"/>
            <a:ext cx="88900" cy="88900"/>
          </a:xfrm>
          <a:prstGeom prst="roundRect">
            <a:avLst>
              <a:gd name="adj" fmla="val 50000"/>
            </a:avLst>
          </a:prstGeom>
          <a:solidFill>
            <a:srgbClr val="5DB27A"/>
          </a:solidFill>
          <a:ln>
            <a:noFill/>
          </a:ln>
        </p:spPr>
        <p:txBody>
          <a:bodyPr rtlCol="0" anchor="ctr"/>
          <a:lstStyle/>
          <a:p>
            <a:pPr algn="ctr"/>
          </a:p>
        </p:txBody>
      </p:sp>
      <p:sp>
        <p:nvSpPr>
          <p:cNvPr id="12" name="Text 11"/>
          <p:cNvSpPr txBox="1"/>
          <p:nvPr/>
        </p:nvSpPr>
        <p:spPr>
          <a:xfrm>
            <a:off x="5832102" y="2295200"/>
            <a:ext cx="5413748"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E4 · كشف حضور جلسة التوعية · وأسفله ملخص الحضور حسب الإدارة كما ورد في الكشف</a:t>
            </a:r>
          </a:p>
        </p:txBody>
      </p:sp>
      <p:sp>
        <p:nvSpPr>
          <p:cNvPr id="13" name="Rule 12"/>
          <p:cNvSpPr/>
          <p:nvPr/>
        </p:nvSpPr>
        <p:spPr>
          <a:xfrm>
            <a:off x="958850" y="3014662"/>
            <a:ext cx="5060950" cy="6350"/>
          </a:xfrm>
          <a:prstGeom prst="rect">
            <a:avLst/>
          </a:prstGeom>
          <a:solidFill>
            <a:srgbClr val="DDD7CA"/>
          </a:solidFill>
          <a:ln>
            <a:noFill/>
          </a:ln>
        </p:spPr>
        <p:txBody>
          <a:bodyPr rtlCol="0" anchor="ctr"/>
          <a:lstStyle/>
          <a:p>
            <a:pPr algn="ctr"/>
          </a:p>
        </p:txBody>
      </p:sp>
      <p:sp>
        <p:nvSpPr>
          <p:cNvPr id="14" name="Text 13"/>
          <p:cNvSpPr txBox="1"/>
          <p:nvPr/>
        </p:nvSpPr>
        <p:spPr>
          <a:xfrm>
            <a:off x="4975860" y="2733270"/>
            <a:ext cx="1043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تاريخ الجلسة</a:t>
            </a:r>
          </a:p>
        </p:txBody>
      </p:sp>
      <p:sp>
        <p:nvSpPr>
          <p:cNvPr id="15" name="Text 14"/>
          <p:cNvSpPr txBox="1"/>
          <p:nvPr/>
        </p:nvSpPr>
        <p:spPr>
          <a:xfrm>
            <a:off x="958850" y="2733270"/>
            <a:ext cx="4019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‎2026-08-12‎</a:t>
            </a:r>
          </a:p>
        </p:txBody>
      </p:sp>
      <p:sp>
        <p:nvSpPr>
          <p:cNvPr id="16" name="Rule 15"/>
          <p:cNvSpPr/>
          <p:nvPr/>
        </p:nvSpPr>
        <p:spPr>
          <a:xfrm>
            <a:off x="6172200" y="3014662"/>
            <a:ext cx="5060950" cy="6350"/>
          </a:xfrm>
          <a:prstGeom prst="rect">
            <a:avLst/>
          </a:prstGeom>
          <a:solidFill>
            <a:srgbClr val="DDD7CA"/>
          </a:solidFill>
          <a:ln>
            <a:noFill/>
          </a:ln>
        </p:spPr>
        <p:txBody>
          <a:bodyPr rtlCol="0" anchor="ctr"/>
          <a:lstStyle/>
          <a:p>
            <a:pPr algn="ctr"/>
          </a:p>
        </p:txBody>
      </p:sp>
      <p:sp>
        <p:nvSpPr>
          <p:cNvPr id="17" name="Text 16"/>
          <p:cNvSpPr txBox="1"/>
          <p:nvPr/>
        </p:nvSpPr>
        <p:spPr>
          <a:xfrm>
            <a:off x="10189210" y="2733270"/>
            <a:ext cx="1043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مصدر الدليل</a:t>
            </a:r>
          </a:p>
        </p:txBody>
      </p:sp>
      <p:sp>
        <p:nvSpPr>
          <p:cNvPr id="18" name="Text 17"/>
          <p:cNvSpPr txBox="1"/>
          <p:nvPr/>
        </p:nvSpPr>
        <p:spPr>
          <a:xfrm>
            <a:off x="6172200" y="2733270"/>
            <a:ext cx="4019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كشف حضور موقع من مقدم الجلسة (ملخص الصفحة الأخيرة)</a:t>
            </a:r>
          </a:p>
        </p:txBody>
      </p:sp>
      <p:sp>
        <p:nvSpPr>
          <p:cNvPr id="19" name="Rule 18"/>
          <p:cNvSpPr/>
          <p:nvPr/>
        </p:nvSpPr>
        <p:spPr>
          <a:xfrm>
            <a:off x="958850" y="3323233"/>
            <a:ext cx="5060950" cy="6350"/>
          </a:xfrm>
          <a:prstGeom prst="rect">
            <a:avLst/>
          </a:prstGeom>
          <a:solidFill>
            <a:srgbClr val="DDD7CA"/>
          </a:solidFill>
          <a:ln>
            <a:noFill/>
          </a:ln>
        </p:spPr>
        <p:txBody>
          <a:bodyPr rtlCol="0" anchor="ctr"/>
          <a:lstStyle/>
          <a:p>
            <a:pPr algn="ctr"/>
          </a:p>
        </p:txBody>
      </p:sp>
      <p:sp>
        <p:nvSpPr>
          <p:cNvPr id="20" name="Text 19"/>
          <p:cNvSpPr txBox="1"/>
          <p:nvPr/>
        </p:nvSpPr>
        <p:spPr>
          <a:xfrm>
            <a:off x="4975860" y="3041840"/>
            <a:ext cx="1043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مقدم الجلسة</a:t>
            </a:r>
          </a:p>
        </p:txBody>
      </p:sp>
      <p:sp>
        <p:nvSpPr>
          <p:cNvPr id="21" name="Text 20"/>
          <p:cNvSpPr txBox="1"/>
          <p:nvPr/>
        </p:nvSpPr>
        <p:spPr>
          <a:xfrm>
            <a:off x="958850" y="3041840"/>
            <a:ext cx="4019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أسماء الفيفي (أخصائي التوعية)</a:t>
            </a:r>
          </a:p>
        </p:txBody>
      </p:sp>
      <p:sp>
        <p:nvSpPr>
          <p:cNvPr id="22" name="Rule 21"/>
          <p:cNvSpPr/>
          <p:nvPr/>
        </p:nvSpPr>
        <p:spPr>
          <a:xfrm>
            <a:off x="6172200" y="3323233"/>
            <a:ext cx="5060950" cy="6350"/>
          </a:xfrm>
          <a:prstGeom prst="rect">
            <a:avLst/>
          </a:prstGeom>
          <a:solidFill>
            <a:srgbClr val="DDD7CA"/>
          </a:solidFill>
          <a:ln>
            <a:noFill/>
          </a:ln>
        </p:spPr>
        <p:txBody>
          <a:bodyPr rtlCol="0" anchor="ctr"/>
          <a:lstStyle/>
          <a:p>
            <a:pPr algn="ctr"/>
          </a:p>
        </p:txBody>
      </p:sp>
      <p:sp>
        <p:nvSpPr>
          <p:cNvPr id="23" name="Text 22"/>
          <p:cNvSpPr txBox="1"/>
          <p:nvPr/>
        </p:nvSpPr>
        <p:spPr>
          <a:xfrm>
            <a:off x="10189210" y="3041840"/>
            <a:ext cx="1043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العنوان</a:t>
            </a:r>
          </a:p>
        </p:txBody>
      </p:sp>
      <p:sp>
        <p:nvSpPr>
          <p:cNvPr id="24" name="Text 23"/>
          <p:cNvSpPr txBox="1"/>
          <p:nvPr/>
        </p:nvSpPr>
        <p:spPr>
          <a:xfrm>
            <a:off x="6172200" y="3041840"/>
            <a:ext cx="4019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التصيد الإلكتروني والتعامل الآمن مع البريد</a:t>
            </a:r>
          </a:p>
        </p:txBody>
      </p:sp>
      <p:sp>
        <p:nvSpPr>
          <p:cNvPr id="25" name="Rule 24"/>
          <p:cNvSpPr/>
          <p:nvPr/>
        </p:nvSpPr>
        <p:spPr>
          <a:xfrm>
            <a:off x="6172200" y="3631803"/>
            <a:ext cx="5060950" cy="6350"/>
          </a:xfrm>
          <a:prstGeom prst="rect">
            <a:avLst/>
          </a:prstGeom>
          <a:solidFill>
            <a:srgbClr val="DDD7CA"/>
          </a:solidFill>
          <a:ln>
            <a:noFill/>
          </a:ln>
        </p:spPr>
        <p:txBody>
          <a:bodyPr rtlCol="0" anchor="ctr"/>
          <a:lstStyle/>
          <a:p>
            <a:pPr algn="ctr"/>
          </a:p>
        </p:txBody>
      </p:sp>
      <p:sp>
        <p:nvSpPr>
          <p:cNvPr id="26" name="Text 25"/>
          <p:cNvSpPr txBox="1"/>
          <p:nvPr/>
        </p:nvSpPr>
        <p:spPr>
          <a:xfrm>
            <a:off x="10189210" y="3350411"/>
            <a:ext cx="1043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القناة</a:t>
            </a:r>
          </a:p>
        </p:txBody>
      </p:sp>
      <p:sp>
        <p:nvSpPr>
          <p:cNvPr id="27" name="Text 26"/>
          <p:cNvSpPr txBox="1"/>
          <p:nvPr/>
        </p:nvSpPr>
        <p:spPr>
          <a:xfrm>
            <a:off x="6172200" y="3350411"/>
            <a:ext cx="4019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حضوري في قاعة المقر، وبث مباشر عبر منصة الاجتماعات</a:t>
            </a:r>
          </a:p>
        </p:txBody>
      </p:sp>
      <p:sp>
        <p:nvSpPr>
          <p:cNvPr id="28" name="Rule 27"/>
          <p:cNvSpPr/>
          <p:nvPr/>
        </p:nvSpPr>
        <p:spPr>
          <a:xfrm>
            <a:off x="958850" y="4029273"/>
            <a:ext cx="2454275" cy="6350"/>
          </a:xfrm>
          <a:prstGeom prst="rect">
            <a:avLst/>
          </a:prstGeom>
          <a:solidFill>
            <a:srgbClr val="DDD7CA"/>
          </a:solidFill>
          <a:ln>
            <a:noFill/>
          </a:ln>
        </p:spPr>
        <p:txBody>
          <a:bodyPr rtlCol="0" anchor="ctr"/>
          <a:lstStyle/>
          <a:p>
            <a:pPr algn="ctr"/>
          </a:p>
        </p:txBody>
      </p:sp>
      <p:sp>
        <p:nvSpPr>
          <p:cNvPr id="29" name="Text 28"/>
          <p:cNvSpPr txBox="1"/>
          <p:nvPr/>
        </p:nvSpPr>
        <p:spPr>
          <a:xfrm>
            <a:off x="1424305" y="3747881"/>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وكالة الخدمات الرقمية</a:t>
            </a:r>
          </a:p>
        </p:txBody>
      </p:sp>
      <p:sp>
        <p:nvSpPr>
          <p:cNvPr id="30" name="Text 29"/>
          <p:cNvSpPr txBox="1"/>
          <p:nvPr/>
        </p:nvSpPr>
        <p:spPr>
          <a:xfrm>
            <a:off x="958850" y="3747881"/>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20</a:t>
            </a:r>
          </a:p>
        </p:txBody>
      </p:sp>
      <p:sp>
        <p:nvSpPr>
          <p:cNvPr id="31" name="Rule 30"/>
          <p:cNvSpPr/>
          <p:nvPr/>
        </p:nvSpPr>
        <p:spPr>
          <a:xfrm>
            <a:off x="3565525" y="4029273"/>
            <a:ext cx="2454275" cy="6350"/>
          </a:xfrm>
          <a:prstGeom prst="rect">
            <a:avLst/>
          </a:prstGeom>
          <a:solidFill>
            <a:srgbClr val="DDD7CA"/>
          </a:solidFill>
          <a:ln>
            <a:noFill/>
          </a:ln>
        </p:spPr>
        <p:txBody>
          <a:bodyPr rtlCol="0" anchor="ctr"/>
          <a:lstStyle/>
          <a:p>
            <a:pPr algn="ctr"/>
          </a:p>
        </p:txBody>
      </p:sp>
      <p:sp>
        <p:nvSpPr>
          <p:cNvPr id="32" name="Text 31"/>
          <p:cNvSpPr txBox="1"/>
          <p:nvPr/>
        </p:nvSpPr>
        <p:spPr>
          <a:xfrm>
            <a:off x="4030980" y="3747881"/>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تقنية المعلومات</a:t>
            </a:r>
          </a:p>
        </p:txBody>
      </p:sp>
      <p:sp>
        <p:nvSpPr>
          <p:cNvPr id="33" name="Text 32"/>
          <p:cNvSpPr txBox="1"/>
          <p:nvPr/>
        </p:nvSpPr>
        <p:spPr>
          <a:xfrm>
            <a:off x="3565525" y="3747881"/>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38</a:t>
            </a:r>
          </a:p>
        </p:txBody>
      </p:sp>
      <p:sp>
        <p:nvSpPr>
          <p:cNvPr id="34" name="Rule 33"/>
          <p:cNvSpPr/>
          <p:nvPr/>
        </p:nvSpPr>
        <p:spPr>
          <a:xfrm>
            <a:off x="6172200" y="4029273"/>
            <a:ext cx="2454275" cy="6350"/>
          </a:xfrm>
          <a:prstGeom prst="rect">
            <a:avLst/>
          </a:prstGeom>
          <a:solidFill>
            <a:srgbClr val="DDD7CA"/>
          </a:solidFill>
          <a:ln>
            <a:noFill/>
          </a:ln>
        </p:spPr>
        <p:txBody>
          <a:bodyPr rtlCol="0" anchor="ctr"/>
          <a:lstStyle/>
          <a:p>
            <a:pPr algn="ctr"/>
          </a:p>
        </p:txBody>
      </p:sp>
      <p:sp>
        <p:nvSpPr>
          <p:cNvPr id="35" name="Text 34"/>
          <p:cNvSpPr txBox="1"/>
          <p:nvPr/>
        </p:nvSpPr>
        <p:spPr>
          <a:xfrm>
            <a:off x="6637655" y="3747881"/>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الأمن السيبراني</a:t>
            </a:r>
          </a:p>
        </p:txBody>
      </p:sp>
      <p:sp>
        <p:nvSpPr>
          <p:cNvPr id="36" name="Text 35"/>
          <p:cNvSpPr txBox="1"/>
          <p:nvPr/>
        </p:nvSpPr>
        <p:spPr>
          <a:xfrm>
            <a:off x="6172200" y="3747881"/>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16</a:t>
            </a:r>
          </a:p>
        </p:txBody>
      </p:sp>
      <p:sp>
        <p:nvSpPr>
          <p:cNvPr id="37" name="Rule 36"/>
          <p:cNvSpPr/>
          <p:nvPr/>
        </p:nvSpPr>
        <p:spPr>
          <a:xfrm>
            <a:off x="8778875" y="4029273"/>
            <a:ext cx="2454275" cy="6350"/>
          </a:xfrm>
          <a:prstGeom prst="rect">
            <a:avLst/>
          </a:prstGeom>
          <a:solidFill>
            <a:srgbClr val="DDD7CA"/>
          </a:solidFill>
          <a:ln>
            <a:noFill/>
          </a:ln>
        </p:spPr>
        <p:txBody>
          <a:bodyPr rtlCol="0" anchor="ctr"/>
          <a:lstStyle/>
          <a:p>
            <a:pPr algn="ctr"/>
          </a:p>
        </p:txBody>
      </p:sp>
      <p:sp>
        <p:nvSpPr>
          <p:cNvPr id="38" name="Text 37"/>
          <p:cNvSpPr txBox="1"/>
          <p:nvPr/>
        </p:nvSpPr>
        <p:spPr>
          <a:xfrm>
            <a:off x="9244330" y="3747881"/>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مكتب الرئيس التنفيذي</a:t>
            </a:r>
          </a:p>
        </p:txBody>
      </p:sp>
      <p:sp>
        <p:nvSpPr>
          <p:cNvPr id="39" name="Text 38"/>
          <p:cNvSpPr txBox="1"/>
          <p:nvPr/>
        </p:nvSpPr>
        <p:spPr>
          <a:xfrm>
            <a:off x="8778875" y="3747881"/>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3</a:t>
            </a:r>
          </a:p>
        </p:txBody>
      </p:sp>
      <p:sp>
        <p:nvSpPr>
          <p:cNvPr id="40" name="Rule 39"/>
          <p:cNvSpPr/>
          <p:nvPr/>
        </p:nvSpPr>
        <p:spPr>
          <a:xfrm>
            <a:off x="958850" y="4337844"/>
            <a:ext cx="2454275" cy="6350"/>
          </a:xfrm>
          <a:prstGeom prst="rect">
            <a:avLst/>
          </a:prstGeom>
          <a:solidFill>
            <a:srgbClr val="DDD7CA"/>
          </a:solidFill>
          <a:ln>
            <a:noFill/>
          </a:ln>
        </p:spPr>
        <p:txBody>
          <a:bodyPr rtlCol="0" anchor="ctr"/>
          <a:lstStyle/>
          <a:p>
            <a:pPr algn="ctr"/>
          </a:p>
        </p:txBody>
      </p:sp>
      <p:sp>
        <p:nvSpPr>
          <p:cNvPr id="41" name="Text 40"/>
          <p:cNvSpPr txBox="1"/>
          <p:nvPr/>
        </p:nvSpPr>
        <p:spPr>
          <a:xfrm>
            <a:off x="1424305" y="4056451"/>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المراجعة الداخلية</a:t>
            </a:r>
          </a:p>
        </p:txBody>
      </p:sp>
      <p:sp>
        <p:nvSpPr>
          <p:cNvPr id="42" name="Text 41"/>
          <p:cNvSpPr txBox="1"/>
          <p:nvPr/>
        </p:nvSpPr>
        <p:spPr>
          <a:xfrm>
            <a:off x="958850" y="4056451"/>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3</a:t>
            </a:r>
          </a:p>
        </p:txBody>
      </p:sp>
      <p:sp>
        <p:nvSpPr>
          <p:cNvPr id="43" name="Rule 42"/>
          <p:cNvSpPr/>
          <p:nvPr/>
        </p:nvSpPr>
        <p:spPr>
          <a:xfrm>
            <a:off x="3565525" y="4337844"/>
            <a:ext cx="2454275" cy="6350"/>
          </a:xfrm>
          <a:prstGeom prst="rect">
            <a:avLst/>
          </a:prstGeom>
          <a:solidFill>
            <a:srgbClr val="DDD7CA"/>
          </a:solidFill>
          <a:ln>
            <a:noFill/>
          </a:ln>
        </p:spPr>
        <p:txBody>
          <a:bodyPr rtlCol="0" anchor="ctr"/>
          <a:lstStyle/>
          <a:p>
            <a:pPr algn="ctr"/>
          </a:p>
        </p:txBody>
      </p:sp>
      <p:sp>
        <p:nvSpPr>
          <p:cNvPr id="44" name="Text 43"/>
          <p:cNvSpPr txBox="1"/>
          <p:nvPr/>
        </p:nvSpPr>
        <p:spPr>
          <a:xfrm>
            <a:off x="4030980" y="4056451"/>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المشتريات والعقود</a:t>
            </a:r>
          </a:p>
        </p:txBody>
      </p:sp>
      <p:sp>
        <p:nvSpPr>
          <p:cNvPr id="45" name="Text 44"/>
          <p:cNvSpPr txBox="1"/>
          <p:nvPr/>
        </p:nvSpPr>
        <p:spPr>
          <a:xfrm>
            <a:off x="3565525" y="4056451"/>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4</a:t>
            </a:r>
          </a:p>
        </p:txBody>
      </p:sp>
      <p:sp>
        <p:nvSpPr>
          <p:cNvPr id="46" name="Rule 45"/>
          <p:cNvSpPr/>
          <p:nvPr/>
        </p:nvSpPr>
        <p:spPr>
          <a:xfrm>
            <a:off x="6172200" y="4337844"/>
            <a:ext cx="2454275" cy="6350"/>
          </a:xfrm>
          <a:prstGeom prst="rect">
            <a:avLst/>
          </a:prstGeom>
          <a:solidFill>
            <a:srgbClr val="DDD7CA"/>
          </a:solidFill>
          <a:ln>
            <a:noFill/>
          </a:ln>
        </p:spPr>
        <p:txBody>
          <a:bodyPr rtlCol="0" anchor="ctr"/>
          <a:lstStyle/>
          <a:p>
            <a:pPr algn="ctr"/>
          </a:p>
        </p:txBody>
      </p:sp>
      <p:sp>
        <p:nvSpPr>
          <p:cNvPr id="47" name="Text 46"/>
          <p:cNvSpPr txBox="1"/>
          <p:nvPr/>
        </p:nvSpPr>
        <p:spPr>
          <a:xfrm>
            <a:off x="6637655" y="4056451"/>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المالية</a:t>
            </a:r>
          </a:p>
        </p:txBody>
      </p:sp>
      <p:sp>
        <p:nvSpPr>
          <p:cNvPr id="48" name="Text 47"/>
          <p:cNvSpPr txBox="1"/>
          <p:nvPr/>
        </p:nvSpPr>
        <p:spPr>
          <a:xfrm>
            <a:off x="6172200" y="4056451"/>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7</a:t>
            </a:r>
          </a:p>
        </p:txBody>
      </p:sp>
      <p:sp>
        <p:nvSpPr>
          <p:cNvPr id="49" name="Rule 48"/>
          <p:cNvSpPr/>
          <p:nvPr/>
        </p:nvSpPr>
        <p:spPr>
          <a:xfrm>
            <a:off x="8778875" y="4337844"/>
            <a:ext cx="2454275" cy="6350"/>
          </a:xfrm>
          <a:prstGeom prst="rect">
            <a:avLst/>
          </a:prstGeom>
          <a:solidFill>
            <a:srgbClr val="DDD7CA"/>
          </a:solidFill>
          <a:ln>
            <a:noFill/>
          </a:ln>
        </p:spPr>
        <p:txBody>
          <a:bodyPr rtlCol="0" anchor="ctr"/>
          <a:lstStyle/>
          <a:p>
            <a:pPr algn="ctr"/>
          </a:p>
        </p:txBody>
      </p:sp>
      <p:sp>
        <p:nvSpPr>
          <p:cNvPr id="50" name="Text 49"/>
          <p:cNvSpPr txBox="1"/>
          <p:nvPr/>
        </p:nvSpPr>
        <p:spPr>
          <a:xfrm>
            <a:off x="9244330" y="4056451"/>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الموارد البشرية</a:t>
            </a:r>
          </a:p>
        </p:txBody>
      </p:sp>
      <p:sp>
        <p:nvSpPr>
          <p:cNvPr id="51" name="Text 50"/>
          <p:cNvSpPr txBox="1"/>
          <p:nvPr/>
        </p:nvSpPr>
        <p:spPr>
          <a:xfrm>
            <a:off x="8778875" y="4056451"/>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9</a:t>
            </a:r>
          </a:p>
        </p:txBody>
      </p:sp>
      <p:sp>
        <p:nvSpPr>
          <p:cNvPr id="52" name="Rule 51"/>
          <p:cNvSpPr/>
          <p:nvPr/>
        </p:nvSpPr>
        <p:spPr>
          <a:xfrm>
            <a:off x="958850" y="4859734"/>
            <a:ext cx="2454275" cy="6350"/>
          </a:xfrm>
          <a:prstGeom prst="rect">
            <a:avLst/>
          </a:prstGeom>
          <a:solidFill>
            <a:srgbClr val="DDD7CA"/>
          </a:solidFill>
          <a:ln>
            <a:noFill/>
          </a:ln>
        </p:spPr>
        <p:txBody>
          <a:bodyPr rtlCol="0" anchor="ctr"/>
          <a:lstStyle/>
          <a:p>
            <a:pPr algn="ctr"/>
          </a:p>
        </p:txBody>
      </p:sp>
      <p:sp>
        <p:nvSpPr>
          <p:cNvPr id="53" name="Text 52"/>
          <p:cNvSpPr txBox="1"/>
          <p:nvPr/>
        </p:nvSpPr>
        <p:spPr>
          <a:xfrm>
            <a:off x="1424305" y="4365022"/>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الاتصال المؤسسي</a:t>
            </a:r>
          </a:p>
        </p:txBody>
      </p:sp>
      <p:sp>
        <p:nvSpPr>
          <p:cNvPr id="54" name="Text 53"/>
          <p:cNvSpPr txBox="1"/>
          <p:nvPr/>
        </p:nvSpPr>
        <p:spPr>
          <a:xfrm>
            <a:off x="958850" y="4365022"/>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4</a:t>
            </a:r>
          </a:p>
        </p:txBody>
      </p:sp>
      <p:sp>
        <p:nvSpPr>
          <p:cNvPr id="55" name="Rule 54"/>
          <p:cNvSpPr/>
          <p:nvPr/>
        </p:nvSpPr>
        <p:spPr>
          <a:xfrm>
            <a:off x="3565525" y="4859734"/>
            <a:ext cx="2454275" cy="6350"/>
          </a:xfrm>
          <a:prstGeom prst="rect">
            <a:avLst/>
          </a:prstGeom>
          <a:solidFill>
            <a:srgbClr val="DDD7CA"/>
          </a:solidFill>
          <a:ln>
            <a:noFill/>
          </a:ln>
        </p:spPr>
        <p:txBody>
          <a:bodyPr rtlCol="0" anchor="ctr"/>
          <a:lstStyle/>
          <a:p>
            <a:pPr algn="ctr"/>
          </a:p>
        </p:txBody>
      </p:sp>
      <p:sp>
        <p:nvSpPr>
          <p:cNvPr id="56" name="Text 55"/>
          <p:cNvSpPr txBox="1"/>
          <p:nvPr/>
        </p:nvSpPr>
        <p:spPr>
          <a:xfrm>
            <a:off x="4123055" y="4365022"/>
            <a:ext cx="1896745"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مركز الاتصال (خدمة المستفيدين)</a:t>
            </a:r>
          </a:p>
        </p:txBody>
      </p:sp>
      <p:sp>
        <p:nvSpPr>
          <p:cNvPr id="57" name="Text 56"/>
          <p:cNvSpPr txBox="1"/>
          <p:nvPr/>
        </p:nvSpPr>
        <p:spPr>
          <a:xfrm>
            <a:off x="3565525" y="4365022"/>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5</a:t>
            </a:r>
          </a:p>
        </p:txBody>
      </p:sp>
      <p:sp>
        <p:nvSpPr>
          <p:cNvPr id="58" name="Rule 57"/>
          <p:cNvSpPr/>
          <p:nvPr/>
        </p:nvSpPr>
        <p:spPr>
          <a:xfrm>
            <a:off x="6172200" y="4859734"/>
            <a:ext cx="2454275" cy="6350"/>
          </a:xfrm>
          <a:prstGeom prst="rect">
            <a:avLst/>
          </a:prstGeom>
          <a:solidFill>
            <a:srgbClr val="DDD7CA"/>
          </a:solidFill>
          <a:ln>
            <a:noFill/>
          </a:ln>
        </p:spPr>
        <p:txBody>
          <a:bodyPr rtlCol="0" anchor="ctr"/>
          <a:lstStyle/>
          <a:p>
            <a:pPr algn="ctr"/>
          </a:p>
        </p:txBody>
      </p:sp>
      <p:sp>
        <p:nvSpPr>
          <p:cNvPr id="59" name="Text 58"/>
          <p:cNvSpPr txBox="1"/>
          <p:nvPr/>
        </p:nvSpPr>
        <p:spPr>
          <a:xfrm>
            <a:off x="6637655" y="4365022"/>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الوثائق والخدمات المشتركة</a:t>
            </a:r>
          </a:p>
        </p:txBody>
      </p:sp>
      <p:sp>
        <p:nvSpPr>
          <p:cNvPr id="60" name="Text 59"/>
          <p:cNvSpPr txBox="1"/>
          <p:nvPr/>
        </p:nvSpPr>
        <p:spPr>
          <a:xfrm>
            <a:off x="6172200" y="4365022"/>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6</a:t>
            </a:r>
          </a:p>
        </p:txBody>
      </p:sp>
      <p:sp>
        <p:nvSpPr>
          <p:cNvPr id="61" name="Rule 60"/>
          <p:cNvSpPr/>
          <p:nvPr/>
        </p:nvSpPr>
        <p:spPr>
          <a:xfrm>
            <a:off x="8778875" y="4859734"/>
            <a:ext cx="2454275" cy="6350"/>
          </a:xfrm>
          <a:prstGeom prst="rect">
            <a:avLst/>
          </a:prstGeom>
          <a:solidFill>
            <a:srgbClr val="DDD7CA"/>
          </a:solidFill>
          <a:ln>
            <a:noFill/>
          </a:ln>
        </p:spPr>
        <p:txBody>
          <a:bodyPr rtlCol="0" anchor="ctr"/>
          <a:lstStyle/>
          <a:p>
            <a:pPr algn="ctr"/>
          </a:p>
        </p:txBody>
      </p:sp>
      <p:sp>
        <p:nvSpPr>
          <p:cNvPr id="62" name="Text 61"/>
          <p:cNvSpPr txBox="1"/>
          <p:nvPr/>
        </p:nvSpPr>
        <p:spPr>
          <a:xfrm>
            <a:off x="9244330" y="4365022"/>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الإدارة القانونية</a:t>
            </a:r>
          </a:p>
        </p:txBody>
      </p:sp>
      <p:sp>
        <p:nvSpPr>
          <p:cNvPr id="63" name="Text 62"/>
          <p:cNvSpPr txBox="1"/>
          <p:nvPr/>
        </p:nvSpPr>
        <p:spPr>
          <a:xfrm>
            <a:off x="8778875" y="4365022"/>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1</a:t>
            </a:r>
          </a:p>
        </p:txBody>
      </p:sp>
      <p:sp>
        <p:nvSpPr>
          <p:cNvPr id="64" name="Rule 63"/>
          <p:cNvSpPr/>
          <p:nvPr/>
        </p:nvSpPr>
        <p:spPr>
          <a:xfrm>
            <a:off x="6172200" y="5168305"/>
            <a:ext cx="2454275" cy="6350"/>
          </a:xfrm>
          <a:prstGeom prst="rect">
            <a:avLst/>
          </a:prstGeom>
          <a:solidFill>
            <a:srgbClr val="DDD7CA"/>
          </a:solidFill>
          <a:ln>
            <a:noFill/>
          </a:ln>
        </p:spPr>
        <p:txBody>
          <a:bodyPr rtlCol="0" anchor="ctr"/>
          <a:lstStyle/>
          <a:p>
            <a:pPr algn="ctr"/>
          </a:p>
        </p:txBody>
      </p:sp>
      <p:sp>
        <p:nvSpPr>
          <p:cNvPr id="65" name="Text 64"/>
          <p:cNvSpPr txBox="1"/>
          <p:nvPr/>
        </p:nvSpPr>
        <p:spPr>
          <a:xfrm>
            <a:off x="6637655" y="4886912"/>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إجمالي الحضور</a:t>
            </a:r>
          </a:p>
        </p:txBody>
      </p:sp>
      <p:sp>
        <p:nvSpPr>
          <p:cNvPr id="66" name="Text 65"/>
          <p:cNvSpPr txBox="1"/>
          <p:nvPr/>
        </p:nvSpPr>
        <p:spPr>
          <a:xfrm>
            <a:off x="6172200" y="4886912"/>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120</a:t>
            </a:r>
          </a:p>
        </p:txBody>
      </p:sp>
      <p:sp>
        <p:nvSpPr>
          <p:cNvPr id="67" name="Rule 66"/>
          <p:cNvSpPr/>
          <p:nvPr/>
        </p:nvSpPr>
        <p:spPr>
          <a:xfrm>
            <a:off x="8778875" y="5168305"/>
            <a:ext cx="2454275" cy="6350"/>
          </a:xfrm>
          <a:prstGeom prst="rect">
            <a:avLst/>
          </a:prstGeom>
          <a:solidFill>
            <a:srgbClr val="DDD7CA"/>
          </a:solidFill>
          <a:ln>
            <a:noFill/>
          </a:ln>
        </p:spPr>
        <p:txBody>
          <a:bodyPr rtlCol="0" anchor="ctr"/>
          <a:lstStyle/>
          <a:p>
            <a:pPr algn="ctr"/>
          </a:p>
        </p:txBody>
      </p:sp>
      <p:sp>
        <p:nvSpPr>
          <p:cNvPr id="68" name="Text 67"/>
          <p:cNvSpPr txBox="1"/>
          <p:nvPr/>
        </p:nvSpPr>
        <p:spPr>
          <a:xfrm>
            <a:off x="9244330" y="4886912"/>
            <a:ext cx="198882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التخطيط والجودة</a:t>
            </a:r>
          </a:p>
        </p:txBody>
      </p:sp>
      <p:sp>
        <p:nvSpPr>
          <p:cNvPr id="69" name="Text 68"/>
          <p:cNvSpPr txBox="1"/>
          <p:nvPr/>
        </p:nvSpPr>
        <p:spPr>
          <a:xfrm>
            <a:off x="8778875" y="4886912"/>
            <a:ext cx="5238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4</a:t>
            </a:r>
          </a:p>
        </p:txBody>
      </p:sp>
      <p:sp>
        <p:nvSpPr>
          <p:cNvPr id="70" name="Text 69"/>
          <p:cNvSpPr txBox="1"/>
          <p:nvPr/>
        </p:nvSpPr>
        <p:spPr>
          <a:xfrm>
            <a:off x="838200" y="5239933"/>
            <a:ext cx="103949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الكشف يسجل الرقم الوظيفي والاسم والتوقيع لكل حاضر، وجميع الأرقام الوظيفية المسجلة تبدأ بالحرف E (موظفون).</a:t>
            </a:r>
          </a:p>
        </p:txBody>
      </p:sp>
      <p:sp>
        <p:nvSpPr>
          <p:cNvPr id="71" name="Text 70"/>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72" name="Box 71"/>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3" name="Box 72"/>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4" name="Box 73"/>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75" name="Box 74"/>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76" name="Box 75"/>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7" name="Box 76"/>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78" name="Box 77"/>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79" name="Box 78"/>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80" name="Box 79"/>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81" name="Text 80"/>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50934" y="812800"/>
            <a:ext cx="15282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اختبار الأداء · الدليل 5</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الدليل E5: ملحق عقد مركز العمليات المُدار (1 من 2)</a:t>
            </a:r>
          </a:p>
        </p:txBody>
      </p:sp>
      <p:sp>
        <p:nvSpPr>
          <p:cNvPr id="5" name="Text box 4"/>
          <p:cNvSpPr/>
          <p:nvPr/>
        </p:nvSpPr>
        <p:spPr>
          <a:xfrm>
            <a:off x="9497417" y="1802011"/>
            <a:ext cx="1881783"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دليل اختبار · بيانات افتراضية</a:t>
            </a:r>
          </a:p>
        </p:txBody>
      </p:sp>
      <p:sp>
        <p:nvSpPr>
          <p:cNvPr id="6" name="Text 5"/>
          <p:cNvSpPr txBox="1"/>
          <p:nvPr/>
        </p:nvSpPr>
        <p:spPr>
          <a:xfrm>
            <a:off x="125143" y="1808849"/>
            <a:ext cx="92833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أجب في ورقة الإجابة: الضابط، وما يثبته، وما لا يثبته، والناقص، والحكم ومبرره، والخطوة التالية.</a:t>
            </a:r>
          </a:p>
        </p:txBody>
      </p:sp>
      <p:sp>
        <p:nvSpPr>
          <p:cNvPr id="7" name="Box 6"/>
          <p:cNvSpPr/>
          <p:nvPr/>
        </p:nvSpPr>
        <p:spPr>
          <a:xfrm>
            <a:off x="815975" y="2231827"/>
            <a:ext cx="10560050" cy="2882503"/>
          </a:xfrm>
          <a:prstGeom prst="roundRect">
            <a:avLst>
              <a:gd name="adj" fmla="val 3516"/>
            </a:avLst>
          </a:prstGeom>
          <a:solidFill>
            <a:srgbClr val="FBFAF7"/>
          </a:solidFill>
          <a:ln w="6350">
            <a:solidFill>
              <a:srgbClr val="DDD7CA"/>
            </a:solidFill>
          </a:ln>
        </p:spPr>
        <p:txBody>
          <a:bodyPr rtlCol="0" anchor="ctr"/>
          <a:lstStyle/>
          <a:p>
            <a:pPr algn="ctr"/>
          </a:p>
        </p:txBody>
      </p:sp>
      <p:sp>
        <p:nvSpPr>
          <p:cNvPr id="8" name="Box 7"/>
          <p:cNvSpPr/>
          <p:nvPr/>
        </p:nvSpPr>
        <p:spPr>
          <a:xfrm>
            <a:off x="819150" y="2235002"/>
            <a:ext cx="105537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9" name="Box 8"/>
          <p:cNvSpPr/>
          <p:nvPr/>
        </p:nvSpPr>
        <p:spPr>
          <a:xfrm>
            <a:off x="946150" y="2365772"/>
            <a:ext cx="88900" cy="88900"/>
          </a:xfrm>
          <a:prstGeom prst="roundRect">
            <a:avLst>
              <a:gd name="adj" fmla="val 50000"/>
            </a:avLst>
          </a:prstGeom>
          <a:solidFill>
            <a:srgbClr val="E46A5A"/>
          </a:solidFill>
          <a:ln>
            <a:noFill/>
          </a:ln>
        </p:spPr>
        <p:txBody>
          <a:bodyPr rtlCol="0" anchor="ctr"/>
          <a:lstStyle/>
          <a:p>
            <a:pPr algn="ctr"/>
          </a:p>
        </p:txBody>
      </p:sp>
      <p:sp>
        <p:nvSpPr>
          <p:cNvPr id="10" name="Box 9"/>
          <p:cNvSpPr/>
          <p:nvPr/>
        </p:nvSpPr>
        <p:spPr>
          <a:xfrm>
            <a:off x="1098550" y="2365772"/>
            <a:ext cx="88900" cy="88900"/>
          </a:xfrm>
          <a:prstGeom prst="roundRect">
            <a:avLst>
              <a:gd name="adj" fmla="val 50000"/>
            </a:avLst>
          </a:prstGeom>
          <a:solidFill>
            <a:srgbClr val="E8B44A"/>
          </a:solidFill>
          <a:ln>
            <a:noFill/>
          </a:ln>
        </p:spPr>
        <p:txBody>
          <a:bodyPr rtlCol="0" anchor="ctr"/>
          <a:lstStyle/>
          <a:p>
            <a:pPr algn="ctr"/>
          </a:p>
        </p:txBody>
      </p:sp>
      <p:sp>
        <p:nvSpPr>
          <p:cNvPr id="11" name="Box 10"/>
          <p:cNvSpPr/>
          <p:nvPr/>
        </p:nvSpPr>
        <p:spPr>
          <a:xfrm>
            <a:off x="1250950" y="2365772"/>
            <a:ext cx="88900" cy="88900"/>
          </a:xfrm>
          <a:prstGeom prst="roundRect">
            <a:avLst>
              <a:gd name="adj" fmla="val 50000"/>
            </a:avLst>
          </a:prstGeom>
          <a:solidFill>
            <a:srgbClr val="5DB27A"/>
          </a:solidFill>
          <a:ln>
            <a:noFill/>
          </a:ln>
        </p:spPr>
        <p:txBody>
          <a:bodyPr rtlCol="0" anchor="ctr"/>
          <a:lstStyle/>
          <a:p>
            <a:pPr algn="ctr"/>
          </a:p>
        </p:txBody>
      </p:sp>
      <p:sp>
        <p:nvSpPr>
          <p:cNvPr id="12" name="Text 11"/>
          <p:cNvSpPr txBox="1"/>
          <p:nvPr/>
        </p:nvSpPr>
        <p:spPr>
          <a:xfrm>
            <a:off x="7366044" y="2295200"/>
            <a:ext cx="3879806"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E5 · ملحق الأمن السيبراني في عقد مركز العمليات المُدار (1 من 2)</a:t>
            </a:r>
          </a:p>
        </p:txBody>
      </p:sp>
      <p:sp>
        <p:nvSpPr>
          <p:cNvPr id="13" name="Rule 12"/>
          <p:cNvSpPr/>
          <p:nvPr/>
        </p:nvSpPr>
        <p:spPr>
          <a:xfrm>
            <a:off x="958850" y="3227983"/>
            <a:ext cx="5060950" cy="6350"/>
          </a:xfrm>
          <a:prstGeom prst="rect">
            <a:avLst/>
          </a:prstGeom>
          <a:solidFill>
            <a:srgbClr val="DDD7CA"/>
          </a:solidFill>
          <a:ln>
            <a:noFill/>
          </a:ln>
        </p:spPr>
        <p:txBody>
          <a:bodyPr rtlCol="0" anchor="ctr"/>
          <a:lstStyle/>
          <a:p>
            <a:pPr algn="ctr"/>
          </a:p>
        </p:txBody>
      </p:sp>
      <p:sp>
        <p:nvSpPr>
          <p:cNvPr id="14" name="Text 13"/>
          <p:cNvSpPr txBox="1"/>
          <p:nvPr/>
        </p:nvSpPr>
        <p:spPr>
          <a:xfrm>
            <a:off x="4848860" y="2733270"/>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العقد الأصلي</a:t>
            </a:r>
          </a:p>
        </p:txBody>
      </p:sp>
      <p:sp>
        <p:nvSpPr>
          <p:cNvPr id="15" name="Text 14"/>
          <p:cNvSpPr txBox="1"/>
          <p:nvPr/>
        </p:nvSpPr>
        <p:spPr>
          <a:xfrm>
            <a:off x="958850" y="2733270"/>
            <a:ext cx="389255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‎MDR-2026-014‎ مع شركة نطاق اليقظة للخدمات الأمنية المُدارة (افتراضية)، الموقع في ‎2026-03-10‎</a:t>
            </a:r>
          </a:p>
        </p:txBody>
      </p:sp>
      <p:sp>
        <p:nvSpPr>
          <p:cNvPr id="16" name="Rule 15"/>
          <p:cNvSpPr/>
          <p:nvPr/>
        </p:nvSpPr>
        <p:spPr>
          <a:xfrm>
            <a:off x="6172200" y="3227983"/>
            <a:ext cx="5060950" cy="6350"/>
          </a:xfrm>
          <a:prstGeom prst="rect">
            <a:avLst/>
          </a:prstGeom>
          <a:solidFill>
            <a:srgbClr val="DDD7CA"/>
          </a:solidFill>
          <a:ln>
            <a:noFill/>
          </a:ln>
        </p:spPr>
        <p:txBody>
          <a:bodyPr rtlCol="0" anchor="ctr"/>
          <a:lstStyle/>
          <a:p>
            <a:pPr algn="ctr"/>
          </a:p>
        </p:txBody>
      </p:sp>
      <p:sp>
        <p:nvSpPr>
          <p:cNvPr id="17" name="Text 16"/>
          <p:cNvSpPr txBox="1"/>
          <p:nvPr/>
        </p:nvSpPr>
        <p:spPr>
          <a:xfrm>
            <a:off x="10062210" y="2733270"/>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مصدر الدليل</a:t>
            </a:r>
          </a:p>
        </p:txBody>
      </p:sp>
      <p:sp>
        <p:nvSpPr>
          <p:cNvPr id="18" name="Text 17"/>
          <p:cNvSpPr txBox="1"/>
          <p:nvPr/>
        </p:nvSpPr>
        <p:spPr>
          <a:xfrm>
            <a:off x="6172200" y="2733270"/>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ملحق رقم (1) موقع ومختوم (نسخة ممسوحة ضوئياً)</a:t>
            </a:r>
          </a:p>
        </p:txBody>
      </p:sp>
      <p:sp>
        <p:nvSpPr>
          <p:cNvPr id="19" name="Rule 18"/>
          <p:cNvSpPr/>
          <p:nvPr/>
        </p:nvSpPr>
        <p:spPr>
          <a:xfrm>
            <a:off x="958850" y="3536553"/>
            <a:ext cx="5060950" cy="6350"/>
          </a:xfrm>
          <a:prstGeom prst="rect">
            <a:avLst/>
          </a:prstGeom>
          <a:solidFill>
            <a:srgbClr val="DDD7CA"/>
          </a:solidFill>
          <a:ln>
            <a:noFill/>
          </a:ln>
        </p:spPr>
        <p:txBody>
          <a:bodyPr rtlCol="0" anchor="ctr"/>
          <a:lstStyle/>
          <a:p>
            <a:pPr algn="ctr"/>
          </a:p>
        </p:txBody>
      </p:sp>
      <p:sp>
        <p:nvSpPr>
          <p:cNvPr id="20" name="Text 19"/>
          <p:cNvSpPr txBox="1"/>
          <p:nvPr/>
        </p:nvSpPr>
        <p:spPr>
          <a:xfrm>
            <a:off x="4848860" y="325516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الموقعون</a:t>
            </a:r>
          </a:p>
        </p:txBody>
      </p:sp>
      <p:sp>
        <p:nvSpPr>
          <p:cNvPr id="21" name="Text 20"/>
          <p:cNvSpPr txBox="1"/>
          <p:nvPr/>
        </p:nvSpPr>
        <p:spPr>
          <a:xfrm>
            <a:off x="958850" y="325516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عبدالإله المرزوقي عن الجهة، وسعد الهاجري عن المورد</a:t>
            </a:r>
          </a:p>
        </p:txBody>
      </p:sp>
      <p:sp>
        <p:nvSpPr>
          <p:cNvPr id="22" name="Rule 21"/>
          <p:cNvSpPr/>
          <p:nvPr/>
        </p:nvSpPr>
        <p:spPr>
          <a:xfrm>
            <a:off x="6172200" y="3536553"/>
            <a:ext cx="5060950" cy="6350"/>
          </a:xfrm>
          <a:prstGeom prst="rect">
            <a:avLst/>
          </a:prstGeom>
          <a:solidFill>
            <a:srgbClr val="DDD7CA"/>
          </a:solidFill>
          <a:ln>
            <a:noFill/>
          </a:ln>
        </p:spPr>
        <p:txBody>
          <a:bodyPr rtlCol="0" anchor="ctr"/>
          <a:lstStyle/>
          <a:p>
            <a:pPr algn="ctr"/>
          </a:p>
        </p:txBody>
      </p:sp>
      <p:sp>
        <p:nvSpPr>
          <p:cNvPr id="23" name="Text 22"/>
          <p:cNvSpPr txBox="1"/>
          <p:nvPr/>
        </p:nvSpPr>
        <p:spPr>
          <a:xfrm>
            <a:off x="10062210" y="325516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توقيع الملحق</a:t>
            </a:r>
          </a:p>
        </p:txBody>
      </p:sp>
      <p:sp>
        <p:nvSpPr>
          <p:cNvPr id="24" name="Text 23"/>
          <p:cNvSpPr txBox="1"/>
          <p:nvPr/>
        </p:nvSpPr>
        <p:spPr>
          <a:xfrm>
            <a:off x="6172200" y="325516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‎2026-09-24‎</a:t>
            </a:r>
          </a:p>
        </p:txBody>
      </p:sp>
      <p:sp>
        <p:nvSpPr>
          <p:cNvPr id="25" name="Rule 24"/>
          <p:cNvSpPr/>
          <p:nvPr/>
        </p:nvSpPr>
        <p:spPr>
          <a:xfrm>
            <a:off x="6172200" y="3845123"/>
            <a:ext cx="5060950" cy="6350"/>
          </a:xfrm>
          <a:prstGeom prst="rect">
            <a:avLst/>
          </a:prstGeom>
          <a:solidFill>
            <a:srgbClr val="DDD7CA"/>
          </a:solidFill>
          <a:ln>
            <a:noFill/>
          </a:ln>
        </p:spPr>
        <p:txBody>
          <a:bodyPr rtlCol="0" anchor="ctr"/>
          <a:lstStyle/>
          <a:p>
            <a:pPr algn="ctr"/>
          </a:p>
        </p:txBody>
      </p:sp>
      <p:sp>
        <p:nvSpPr>
          <p:cNvPr id="26" name="Text 25"/>
          <p:cNvSpPr txBox="1"/>
          <p:nvPr/>
        </p:nvSpPr>
        <p:spPr>
          <a:xfrm>
            <a:off x="10062210" y="3563731"/>
            <a:ext cx="117094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قدّمه</a:t>
            </a:r>
          </a:p>
        </p:txBody>
      </p:sp>
      <p:sp>
        <p:nvSpPr>
          <p:cNvPr id="27" name="Text 26"/>
          <p:cNvSpPr txBox="1"/>
          <p:nvPr/>
        </p:nvSpPr>
        <p:spPr>
          <a:xfrm>
            <a:off x="6172200" y="3563731"/>
            <a:ext cx="389255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عادل الجهني (مدير المشتريات والعقود)</a:t>
            </a:r>
          </a:p>
        </p:txBody>
      </p:sp>
      <p:sp>
        <p:nvSpPr>
          <p:cNvPr id="28" name="Rule 27"/>
          <p:cNvSpPr/>
          <p:nvPr/>
        </p:nvSpPr>
        <p:spPr>
          <a:xfrm>
            <a:off x="958850" y="4455914"/>
            <a:ext cx="10274300" cy="6350"/>
          </a:xfrm>
          <a:prstGeom prst="rect">
            <a:avLst/>
          </a:prstGeom>
          <a:solidFill>
            <a:srgbClr val="DDD7CA"/>
          </a:solidFill>
          <a:ln>
            <a:noFill/>
          </a:ln>
        </p:spPr>
        <p:txBody>
          <a:bodyPr rtlCol="0" anchor="ctr"/>
          <a:lstStyle/>
          <a:p>
            <a:pPr algn="ctr"/>
          </a:p>
        </p:txBody>
      </p:sp>
      <p:sp>
        <p:nvSpPr>
          <p:cNvPr id="29" name="Text 28"/>
          <p:cNvSpPr txBox="1"/>
          <p:nvPr/>
        </p:nvSpPr>
        <p:spPr>
          <a:xfrm>
            <a:off x="9175750" y="3961201"/>
            <a:ext cx="20574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البند 1: السرية والحذف</a:t>
            </a:r>
          </a:p>
        </p:txBody>
      </p:sp>
      <p:sp>
        <p:nvSpPr>
          <p:cNvPr id="30" name="Text 29"/>
          <p:cNvSpPr txBox="1"/>
          <p:nvPr/>
        </p:nvSpPr>
        <p:spPr>
          <a:xfrm>
            <a:off x="958850" y="3961201"/>
            <a:ext cx="828040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يلتزم مقدم الخدمة ومنسوبوه ومقاولوه من الباطن بالمحافظة على سرية جميع معلومات الجهة خلال مدة العقد وبعد انتهائه أو إنهائه دون حد زمني، ويعيد بيانات الجهة ثم يحذفها حذفاً آمناً من جميع أنظمته ونسخه الاحتياطية خلال (30) يوماً من انتهاء الخدمة، ويقدم شهادة حذف موقعة.</a:t>
            </a:r>
          </a:p>
        </p:txBody>
      </p:sp>
      <p:sp>
        <p:nvSpPr>
          <p:cNvPr id="31" name="Rule 30"/>
          <p:cNvSpPr/>
          <p:nvPr/>
        </p:nvSpPr>
        <p:spPr>
          <a:xfrm>
            <a:off x="958850" y="4977805"/>
            <a:ext cx="10274300" cy="6350"/>
          </a:xfrm>
          <a:prstGeom prst="rect">
            <a:avLst/>
          </a:prstGeom>
          <a:solidFill>
            <a:srgbClr val="DDD7CA"/>
          </a:solidFill>
          <a:ln>
            <a:noFill/>
          </a:ln>
        </p:spPr>
        <p:txBody>
          <a:bodyPr rtlCol="0" anchor="ctr"/>
          <a:lstStyle/>
          <a:p>
            <a:pPr algn="ctr"/>
          </a:p>
        </p:txBody>
      </p:sp>
      <p:sp>
        <p:nvSpPr>
          <p:cNvPr id="32" name="Text 31"/>
          <p:cNvSpPr txBox="1"/>
          <p:nvPr/>
        </p:nvSpPr>
        <p:spPr>
          <a:xfrm>
            <a:off x="9175750" y="4483092"/>
            <a:ext cx="20574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البند 2: الإبلاغ عن الحوادث</a:t>
            </a:r>
          </a:p>
        </p:txBody>
      </p:sp>
      <p:sp>
        <p:nvSpPr>
          <p:cNvPr id="33" name="Text 32"/>
          <p:cNvSpPr txBox="1"/>
          <p:nvPr/>
        </p:nvSpPr>
        <p:spPr>
          <a:xfrm>
            <a:off x="958850" y="4483092"/>
            <a:ext cx="828040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يبلغ مقدم الخدمة الجهة بأي حادثة أمن سيبراني مؤكدة أو مشتبه بها تمس بيانات الجهة أو خدماتها خلال (24) ساعة من اكتشافها كحد أقصى، عبر مصفوفة التواصل والتصعيد المرفقة، ويقدم تقريراً نهائياً خلال خمسة أيام عمل.</a:t>
            </a:r>
          </a:p>
        </p:txBody>
      </p:sp>
      <p:sp>
        <p:nvSpPr>
          <p:cNvPr id="34" name="Text 33"/>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35" name="Box 34"/>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6" name="Box 35"/>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8" name="Box 37"/>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9" name="Box 38"/>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0" name="Box 39"/>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41" name="Box 40"/>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42" name="Box 41"/>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3" name="Box 42"/>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44" name="Text 43"/>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E6ECF0"/>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50934" y="812800"/>
            <a:ext cx="1528266"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اختبار الأداء · الدليل 5</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الدليل E5: ملحق عقد مركز العمليات المُدار (2 من 2)</a:t>
            </a:r>
          </a:p>
        </p:txBody>
      </p:sp>
      <p:sp>
        <p:nvSpPr>
          <p:cNvPr id="5" name="Text box 4"/>
          <p:cNvSpPr/>
          <p:nvPr/>
        </p:nvSpPr>
        <p:spPr>
          <a:xfrm>
            <a:off x="9497417" y="1802011"/>
            <a:ext cx="1881783" cy="274241"/>
          </a:xfrm>
          <a:prstGeom prst="roundRect">
            <a:avLst>
              <a:gd name="adj" fmla="val 27785"/>
            </a:avLst>
          </a:prstGeom>
          <a:solidFill>
            <a:srgbClr val="0E1A2B"/>
          </a:solidFill>
          <a:ln>
            <a:noFill/>
          </a:ln>
        </p:spPr>
        <p:txBody>
          <a:bodyPr rtlCol="0" anchor="ctr" wrap="square" tIns="0" rIns="79282" bIns="32004" lIns="0" anchorCtr="0">
            <a:noAutofit/>
          </a:bodyPr>
          <a:lstStyle/>
          <a:p>
            <a:pPr algn="r" rtl="1">
              <a:lnSpc>
                <a:spcPts val="1560"/>
              </a:lnSpc>
              <a:spcBef>
                <a:spcPts val="0"/>
              </a:spcBef>
              <a:spcAft>
                <a:spcPts val="0"/>
              </a:spcAft>
            </a:pPr>
            <a:r>
              <a:rPr sz="1200" b="1" i="0">
                <a:solidFill>
                  <a:srgbClr val="F2EEE6"/>
                </a:solidFill>
                <a:latin typeface="IBM Plex Sans Arabic"/>
                <a:ea typeface="IBM Plex Sans Arabic"/>
                <a:cs typeface="IBM Plex Sans Arabic"/>
              </a:rPr>
              <a:t>دليل اختبار · بيانات افتراضية</a:t>
            </a:r>
          </a:p>
        </p:txBody>
      </p:sp>
      <p:sp>
        <p:nvSpPr>
          <p:cNvPr id="6" name="Text 5"/>
          <p:cNvSpPr txBox="1"/>
          <p:nvPr/>
        </p:nvSpPr>
        <p:spPr>
          <a:xfrm>
            <a:off x="125143" y="1808849"/>
            <a:ext cx="9283375"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465264"/>
                </a:solidFill>
                <a:latin typeface="IBM Plex Sans Arabic"/>
                <a:ea typeface="IBM Plex Sans Arabic"/>
                <a:cs typeface="IBM Plex Sans Arabic"/>
              </a:rPr>
              <a:t>أجب في ورقة الإجابة: الضابط، وما يثبته، وما لا يثبته، والناقص، والحكم ومبرره، والخطوة التالية.</a:t>
            </a:r>
          </a:p>
        </p:txBody>
      </p:sp>
      <p:sp>
        <p:nvSpPr>
          <p:cNvPr id="7" name="Box 6"/>
          <p:cNvSpPr/>
          <p:nvPr/>
        </p:nvSpPr>
        <p:spPr>
          <a:xfrm>
            <a:off x="815975" y="2231827"/>
            <a:ext cx="10560050" cy="2580283"/>
          </a:xfrm>
          <a:prstGeom prst="roundRect">
            <a:avLst>
              <a:gd name="adj" fmla="val 3927"/>
            </a:avLst>
          </a:prstGeom>
          <a:solidFill>
            <a:srgbClr val="FBFAF7"/>
          </a:solidFill>
          <a:ln w="6350">
            <a:solidFill>
              <a:srgbClr val="DDD7CA"/>
            </a:solidFill>
          </a:ln>
        </p:spPr>
        <p:txBody>
          <a:bodyPr rtlCol="0" anchor="ctr"/>
          <a:lstStyle/>
          <a:p>
            <a:pPr algn="ctr"/>
          </a:p>
        </p:txBody>
      </p:sp>
      <p:sp>
        <p:nvSpPr>
          <p:cNvPr id="8" name="Box 7"/>
          <p:cNvSpPr/>
          <p:nvPr/>
        </p:nvSpPr>
        <p:spPr>
          <a:xfrm>
            <a:off x="819150" y="2235002"/>
            <a:ext cx="10553700" cy="350441"/>
          </a:xfrm>
          <a:prstGeom prst="round2SameRect">
            <a:avLst>
              <a:gd name="adj1" fmla="val 27180"/>
              <a:gd name="adj2" fmla="val 0"/>
            </a:avLst>
          </a:prstGeom>
          <a:solidFill>
            <a:srgbClr val="0E1A2B"/>
          </a:solidFill>
          <a:ln>
            <a:noFill/>
          </a:ln>
        </p:spPr>
        <p:txBody>
          <a:bodyPr rtlCol="0" anchor="ctr"/>
          <a:lstStyle/>
          <a:p>
            <a:pPr algn="ctr"/>
          </a:p>
        </p:txBody>
      </p:sp>
      <p:sp>
        <p:nvSpPr>
          <p:cNvPr id="9" name="Box 8"/>
          <p:cNvSpPr/>
          <p:nvPr/>
        </p:nvSpPr>
        <p:spPr>
          <a:xfrm>
            <a:off x="946150" y="2365772"/>
            <a:ext cx="88900" cy="88900"/>
          </a:xfrm>
          <a:prstGeom prst="roundRect">
            <a:avLst>
              <a:gd name="adj" fmla="val 50000"/>
            </a:avLst>
          </a:prstGeom>
          <a:solidFill>
            <a:srgbClr val="E46A5A"/>
          </a:solidFill>
          <a:ln>
            <a:noFill/>
          </a:ln>
        </p:spPr>
        <p:txBody>
          <a:bodyPr rtlCol="0" anchor="ctr"/>
          <a:lstStyle/>
          <a:p>
            <a:pPr algn="ctr"/>
          </a:p>
        </p:txBody>
      </p:sp>
      <p:sp>
        <p:nvSpPr>
          <p:cNvPr id="10" name="Box 9"/>
          <p:cNvSpPr/>
          <p:nvPr/>
        </p:nvSpPr>
        <p:spPr>
          <a:xfrm>
            <a:off x="1098550" y="2365772"/>
            <a:ext cx="88900" cy="88900"/>
          </a:xfrm>
          <a:prstGeom prst="roundRect">
            <a:avLst>
              <a:gd name="adj" fmla="val 50000"/>
            </a:avLst>
          </a:prstGeom>
          <a:solidFill>
            <a:srgbClr val="E8B44A"/>
          </a:solidFill>
          <a:ln>
            <a:noFill/>
          </a:ln>
        </p:spPr>
        <p:txBody>
          <a:bodyPr rtlCol="0" anchor="ctr"/>
          <a:lstStyle/>
          <a:p>
            <a:pPr algn="ctr"/>
          </a:p>
        </p:txBody>
      </p:sp>
      <p:sp>
        <p:nvSpPr>
          <p:cNvPr id="11" name="Box 10"/>
          <p:cNvSpPr/>
          <p:nvPr/>
        </p:nvSpPr>
        <p:spPr>
          <a:xfrm>
            <a:off x="1250950" y="2365772"/>
            <a:ext cx="88900" cy="88900"/>
          </a:xfrm>
          <a:prstGeom prst="roundRect">
            <a:avLst>
              <a:gd name="adj" fmla="val 50000"/>
            </a:avLst>
          </a:prstGeom>
          <a:solidFill>
            <a:srgbClr val="5DB27A"/>
          </a:solidFill>
          <a:ln>
            <a:noFill/>
          </a:ln>
        </p:spPr>
        <p:txBody>
          <a:bodyPr rtlCol="0" anchor="ctr"/>
          <a:lstStyle/>
          <a:p>
            <a:pPr algn="ctr"/>
          </a:p>
        </p:txBody>
      </p:sp>
      <p:sp>
        <p:nvSpPr>
          <p:cNvPr id="12" name="Text 11"/>
          <p:cNvSpPr txBox="1"/>
          <p:nvPr/>
        </p:nvSpPr>
        <p:spPr>
          <a:xfrm>
            <a:off x="7366044" y="2295200"/>
            <a:ext cx="3879806" cy="198041"/>
          </a:xfrm>
          <a:prstGeom prst="rect">
            <a:avLst/>
          </a:prstGeom>
          <a:noFill/>
        </p:spPr>
        <p:txBody>
          <a:bodyPr wrap="square" tIns="0" rIns="0" bIns="0" lIns="0" anchor="t" rtlCol="0" anchorCtr="0">
            <a:noAutofit/>
          </a:bodyPr>
          <a:lstStyle/>
          <a:p>
            <a:pPr algn="r" rtl="1">
              <a:lnSpc>
                <a:spcPts val="1560"/>
              </a:lnSpc>
              <a:spcBef>
                <a:spcPts val="0"/>
              </a:spcBef>
              <a:spcAft>
                <a:spcPts val="0"/>
              </a:spcAft>
            </a:pPr>
            <a:r>
              <a:rPr sz="1200" b="0" i="0">
                <a:solidFill>
                  <a:srgbClr val="F2EEE6"/>
                </a:solidFill>
                <a:latin typeface="IBM Plex Sans Arabic"/>
                <a:ea typeface="IBM Plex Sans Arabic"/>
                <a:cs typeface="IBM Plex Sans Arabic"/>
              </a:rPr>
              <a:t>E5 · ملحق الأمن السيبراني في عقد مركز العمليات المُدار (2 من 2)</a:t>
            </a:r>
          </a:p>
        </p:txBody>
      </p:sp>
      <p:sp>
        <p:nvSpPr>
          <p:cNvPr id="13" name="Rule 12"/>
          <p:cNvSpPr/>
          <p:nvPr/>
        </p:nvSpPr>
        <p:spPr>
          <a:xfrm>
            <a:off x="958850" y="3227983"/>
            <a:ext cx="10274300" cy="6350"/>
          </a:xfrm>
          <a:prstGeom prst="rect">
            <a:avLst/>
          </a:prstGeom>
          <a:solidFill>
            <a:srgbClr val="DDD7CA"/>
          </a:solidFill>
          <a:ln>
            <a:noFill/>
          </a:ln>
        </p:spPr>
        <p:txBody>
          <a:bodyPr rtlCol="0" anchor="ctr"/>
          <a:lstStyle/>
          <a:p>
            <a:pPr algn="ctr"/>
          </a:p>
        </p:txBody>
      </p:sp>
      <p:sp>
        <p:nvSpPr>
          <p:cNvPr id="14" name="Text 13"/>
          <p:cNvSpPr txBox="1"/>
          <p:nvPr/>
        </p:nvSpPr>
        <p:spPr>
          <a:xfrm>
            <a:off x="9175750" y="2733270"/>
            <a:ext cx="20574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البند 3: سياسات الجهة</a:t>
            </a:r>
          </a:p>
        </p:txBody>
      </p:sp>
      <p:sp>
        <p:nvSpPr>
          <p:cNvPr id="15" name="Text 14"/>
          <p:cNvSpPr txBox="1"/>
          <p:nvPr/>
        </p:nvSpPr>
        <p:spPr>
          <a:xfrm>
            <a:off x="958850" y="2733270"/>
            <a:ext cx="828040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يلتزم مقدم الخدمة بتطبيق متطلبات وسياسات الأمن السيبراني للجهة المرفقة وما يطرأ عليها من تحديث، والمتطلبات التشريعية والتنظيمية ذات العلاقة.</a:t>
            </a:r>
          </a:p>
        </p:txBody>
      </p:sp>
      <p:sp>
        <p:nvSpPr>
          <p:cNvPr id="16" name="Rule 15"/>
          <p:cNvSpPr/>
          <p:nvPr/>
        </p:nvSpPr>
        <p:spPr>
          <a:xfrm>
            <a:off x="958850" y="3749873"/>
            <a:ext cx="10274300" cy="6350"/>
          </a:xfrm>
          <a:prstGeom prst="rect">
            <a:avLst/>
          </a:prstGeom>
          <a:solidFill>
            <a:srgbClr val="DDD7CA"/>
          </a:solidFill>
          <a:ln>
            <a:noFill/>
          </a:ln>
        </p:spPr>
        <p:txBody>
          <a:bodyPr rtlCol="0" anchor="ctr"/>
          <a:lstStyle/>
          <a:p>
            <a:pPr algn="ctr"/>
          </a:p>
        </p:txBody>
      </p:sp>
      <p:sp>
        <p:nvSpPr>
          <p:cNvPr id="17" name="Text 16"/>
          <p:cNvSpPr txBox="1"/>
          <p:nvPr/>
        </p:nvSpPr>
        <p:spPr>
          <a:xfrm>
            <a:off x="9271000" y="3255161"/>
            <a:ext cx="196215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البند 4: موقع التشغيل والمراقبة</a:t>
            </a:r>
          </a:p>
        </p:txBody>
      </p:sp>
      <p:sp>
        <p:nvSpPr>
          <p:cNvPr id="18" name="Text 17"/>
          <p:cNvSpPr txBox="1"/>
          <p:nvPr/>
        </p:nvSpPr>
        <p:spPr>
          <a:xfrm>
            <a:off x="958850" y="3255161"/>
            <a:ext cx="8280400" cy="426641"/>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تكون مراكز عمليات خدمات الأمن السيبراني المدارة التي تقدم التشغيل والمراقبة للجهة باستخدام الوصول عن بعد موجودة بالكامل داخل المملكة العربية السعودية، ولا يجوز تقديم أي جزء من هذه العمليات من خارجها.</a:t>
            </a:r>
          </a:p>
        </p:txBody>
      </p:sp>
      <p:sp>
        <p:nvSpPr>
          <p:cNvPr id="19" name="Rule 18"/>
          <p:cNvSpPr/>
          <p:nvPr/>
        </p:nvSpPr>
        <p:spPr>
          <a:xfrm>
            <a:off x="958850" y="4058444"/>
            <a:ext cx="10274300" cy="6350"/>
          </a:xfrm>
          <a:prstGeom prst="rect">
            <a:avLst/>
          </a:prstGeom>
          <a:solidFill>
            <a:srgbClr val="DDD7CA"/>
          </a:solidFill>
          <a:ln>
            <a:noFill/>
          </a:ln>
        </p:spPr>
        <p:txBody>
          <a:bodyPr rtlCol="0" anchor="ctr"/>
          <a:lstStyle/>
          <a:p>
            <a:pPr algn="ctr"/>
          </a:p>
        </p:txBody>
      </p:sp>
      <p:sp>
        <p:nvSpPr>
          <p:cNvPr id="20" name="Text 19"/>
          <p:cNvSpPr txBox="1"/>
          <p:nvPr/>
        </p:nvSpPr>
        <p:spPr>
          <a:xfrm>
            <a:off x="9175750" y="3777051"/>
            <a:ext cx="20574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البند 5: حق التدقيق</a:t>
            </a:r>
          </a:p>
        </p:txBody>
      </p:sp>
      <p:sp>
        <p:nvSpPr>
          <p:cNvPr id="21" name="Text 20"/>
          <p:cNvSpPr txBox="1"/>
          <p:nvPr/>
        </p:nvSpPr>
        <p:spPr>
          <a:xfrm>
            <a:off x="958850" y="3777051"/>
            <a:ext cx="82804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يحق للجهة أو من تفوضه التحقق من التزام مقدم الخدمة ومقاوليه من الباطن بمتطلبات هذا الملحق مرة سنوياً على الأقل وعند وقوع حادثة جوهرية.</a:t>
            </a:r>
          </a:p>
        </p:txBody>
      </p:sp>
      <p:sp>
        <p:nvSpPr>
          <p:cNvPr id="22" name="Rule 21"/>
          <p:cNvSpPr/>
          <p:nvPr/>
        </p:nvSpPr>
        <p:spPr>
          <a:xfrm>
            <a:off x="958850" y="4367014"/>
            <a:ext cx="10274300" cy="6350"/>
          </a:xfrm>
          <a:prstGeom prst="rect">
            <a:avLst/>
          </a:prstGeom>
          <a:solidFill>
            <a:srgbClr val="DDD7CA"/>
          </a:solidFill>
          <a:ln>
            <a:noFill/>
          </a:ln>
        </p:spPr>
        <p:txBody>
          <a:bodyPr rtlCol="0" anchor="ctr"/>
          <a:lstStyle/>
          <a:p>
            <a:pPr algn="ctr"/>
          </a:p>
        </p:txBody>
      </p:sp>
      <p:sp>
        <p:nvSpPr>
          <p:cNvPr id="23" name="Text 22"/>
          <p:cNvSpPr txBox="1"/>
          <p:nvPr/>
        </p:nvSpPr>
        <p:spPr>
          <a:xfrm>
            <a:off x="9175750" y="4085622"/>
            <a:ext cx="20574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البند 6: التعاقد من الباطن</a:t>
            </a:r>
          </a:p>
        </p:txBody>
      </p:sp>
      <p:sp>
        <p:nvSpPr>
          <p:cNvPr id="24" name="Text 23"/>
          <p:cNvSpPr txBox="1"/>
          <p:nvPr/>
        </p:nvSpPr>
        <p:spPr>
          <a:xfrm>
            <a:off x="958850" y="4085622"/>
            <a:ext cx="82804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لا يجوز التعاقد من الباطن في أي جزء من الخدمة إلا بموافقة كتابية مسبقة من الجهة، وتسري متطلبات هذا الملحق على المقاول من الباطن.</a:t>
            </a:r>
          </a:p>
        </p:txBody>
      </p:sp>
      <p:sp>
        <p:nvSpPr>
          <p:cNvPr id="25" name="Rule 24"/>
          <p:cNvSpPr/>
          <p:nvPr/>
        </p:nvSpPr>
        <p:spPr>
          <a:xfrm>
            <a:off x="958850" y="4675584"/>
            <a:ext cx="10274300" cy="6350"/>
          </a:xfrm>
          <a:prstGeom prst="rect">
            <a:avLst/>
          </a:prstGeom>
          <a:solidFill>
            <a:srgbClr val="DDD7CA"/>
          </a:solidFill>
          <a:ln>
            <a:noFill/>
          </a:ln>
        </p:spPr>
        <p:txBody>
          <a:bodyPr rtlCol="0" anchor="ctr"/>
          <a:lstStyle/>
          <a:p>
            <a:pPr algn="ctr"/>
          </a:p>
        </p:txBody>
      </p:sp>
      <p:sp>
        <p:nvSpPr>
          <p:cNvPr id="26" name="Text 25"/>
          <p:cNvSpPr txBox="1"/>
          <p:nvPr/>
        </p:nvSpPr>
        <p:spPr>
          <a:xfrm>
            <a:off x="9175750" y="4394192"/>
            <a:ext cx="20574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465264"/>
                </a:solidFill>
                <a:latin typeface="IBM Plex Sans Arabic"/>
                <a:ea typeface="IBM Plex Sans Arabic"/>
                <a:cs typeface="IBM Plex Sans Arabic"/>
              </a:rPr>
              <a:t>البند 7: السريان</a:t>
            </a:r>
          </a:p>
        </p:txBody>
      </p:sp>
      <p:sp>
        <p:nvSpPr>
          <p:cNvPr id="27" name="Text 26"/>
          <p:cNvSpPr txBox="1"/>
          <p:nvPr/>
        </p:nvSpPr>
        <p:spPr>
          <a:xfrm>
            <a:off x="958850" y="4394192"/>
            <a:ext cx="82804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132033"/>
                </a:solidFill>
                <a:latin typeface="IBM Plex Sans Arabic"/>
                <a:ea typeface="IBM Plex Sans Arabic"/>
                <a:cs typeface="IBM Plex Sans Arabic"/>
              </a:rPr>
              <a:t>يسري هذا الملحق من تاريخ توقيعه، ويعد جزءاً لا يتجزأ من العقد، ويُقدَّم على ما يخالفه من بنوده.</a:t>
            </a:r>
          </a:p>
        </p:txBody>
      </p:sp>
      <p:sp>
        <p:nvSpPr>
          <p:cNvPr id="28" name="Text 27"/>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29" name="Box 28"/>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0" name="Box 29"/>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1" name="Box 30"/>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2" name="Box 31"/>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33" name="Box 32"/>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4" name="Box 33"/>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35" name="Box 34"/>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36" name="Box 35"/>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37" name="Box 36"/>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38" name="Text 37"/>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Box 1"/>
          <p:cNvSpPr/>
          <p:nvPr/>
        </p:nvSpPr>
        <p:spPr>
          <a:xfrm>
            <a:off x="0" y="0"/>
            <a:ext cx="12192000" cy="76200"/>
          </a:xfrm>
          <a:prstGeom prst="rect">
            <a:avLst/>
          </a:prstGeom>
          <a:solidFill>
            <a:srgbClr val="0B6F7C"/>
          </a:solidFill>
          <a:ln>
            <a:noFill/>
          </a:ln>
        </p:spPr>
        <p:txBody>
          <a:bodyPr rtlCol="0" anchor="ctr"/>
          <a:lstStyle/>
          <a:p>
            <a:pPr algn="ctr"/>
          </a:p>
        </p:txBody>
      </p:sp>
      <p:sp>
        <p:nvSpPr>
          <p:cNvPr id="3" name="Text box 2"/>
          <p:cNvSpPr/>
          <p:nvPr/>
        </p:nvSpPr>
        <p:spPr>
          <a:xfrm>
            <a:off x="9818489" y="812800"/>
            <a:ext cx="1560711" cy="289520"/>
          </a:xfrm>
          <a:prstGeom prst="roundRect">
            <a:avLst>
              <a:gd name="adj" fmla="val 50000"/>
            </a:avLst>
          </a:prstGeom>
          <a:solidFill>
            <a:srgbClr val="DCEEEF"/>
          </a:solidFill>
          <a:ln>
            <a:noFill/>
          </a:ln>
        </p:spPr>
        <p:txBody>
          <a:bodyPr rtlCol="0" anchor="ctr" wrap="square" tIns="0" rIns="84601" bIns="47244" lIns="0" anchorCtr="0">
            <a:noAutofit/>
          </a:bodyPr>
          <a:lstStyle/>
          <a:p>
            <a:pPr algn="r" rtl="1">
              <a:lnSpc>
                <a:spcPts val="1680"/>
              </a:lnSpc>
              <a:spcBef>
                <a:spcPts val="0"/>
              </a:spcBef>
              <a:spcAft>
                <a:spcPts val="0"/>
              </a:spcAft>
            </a:pPr>
            <a:r>
              <a:rPr sz="1200" b="1" i="0">
                <a:solidFill>
                  <a:srgbClr val="0B6F7C"/>
                </a:solidFill>
                <a:latin typeface="IBM Plex Sans Arabic"/>
                <a:ea typeface="IBM Plex Sans Arabic"/>
                <a:cs typeface="IBM Plex Sans Arabic"/>
              </a:rPr>
              <a:t>الوحدة 09 · ماذا بعد؟</a:t>
            </a:r>
          </a:p>
        </p:txBody>
      </p:sp>
      <p:sp>
        <p:nvSpPr>
          <p:cNvPr id="4" name="Text 3"/>
          <p:cNvSpPr txBox="1"/>
          <p:nvPr/>
        </p:nvSpPr>
        <p:spPr>
          <a:xfrm>
            <a:off x="0" y="1175974"/>
            <a:ext cx="11379200" cy="445691"/>
          </a:xfrm>
          <a:prstGeom prst="rect">
            <a:avLst/>
          </a:prstGeom>
          <a:noFill/>
        </p:spPr>
        <p:txBody>
          <a:bodyPr wrap="square" tIns="0" rIns="0" bIns="0" lIns="0" anchor="t" rtlCol="0" anchorCtr="0">
            <a:noAutofit/>
          </a:bodyPr>
          <a:lstStyle/>
          <a:p>
            <a:pPr algn="r" rtl="1">
              <a:lnSpc>
                <a:spcPts val="3510"/>
              </a:lnSpc>
              <a:spcBef>
                <a:spcPts val="0"/>
              </a:spcBef>
              <a:spcAft>
                <a:spcPts val="0"/>
              </a:spcAft>
            </a:pPr>
            <a:r>
              <a:rPr sz="2700" b="1" i="0">
                <a:solidFill>
                  <a:srgbClr val="132033"/>
                </a:solidFill>
                <a:latin typeface="Alexandria"/>
                <a:ea typeface="Alexandria"/>
                <a:cs typeface="Alexandria"/>
              </a:rPr>
              <a:t>خطتك بعد الكورس: أربع خطوات</a:t>
            </a:r>
          </a:p>
        </p:txBody>
      </p:sp>
      <p:sp>
        <p:nvSpPr>
          <p:cNvPr id="5" name="Text 4"/>
          <p:cNvSpPr txBox="1"/>
          <p:nvPr/>
        </p:nvSpPr>
        <p:spPr>
          <a:xfrm>
            <a:off x="50800" y="1839158"/>
            <a:ext cx="10287000" cy="285750"/>
          </a:xfrm>
          <a:prstGeom prst="rect">
            <a:avLst/>
          </a:prstGeom>
          <a:noFill/>
        </p:spPr>
        <p:txBody>
          <a:bodyPr wrap="square" tIns="0" rIns="0" bIns="0" lIns="0" anchor="t" rtlCol="0" anchorCtr="0">
            <a:noAutofit/>
          </a:bodyPr>
          <a:lstStyle/>
          <a:p>
            <a:pPr algn="r" rtl="1">
              <a:lnSpc>
                <a:spcPts val="2250"/>
              </a:lnSpc>
              <a:spcBef>
                <a:spcPts val="0"/>
              </a:spcBef>
              <a:spcAft>
                <a:spcPts val="0"/>
              </a:spcAft>
            </a:pPr>
            <a:r>
              <a:rPr sz="1500" b="0" i="0">
                <a:solidFill>
                  <a:srgbClr val="465264"/>
                </a:solidFill>
                <a:latin typeface="IBM Plex Sans Arabic"/>
                <a:ea typeface="IBM Plex Sans Arabic"/>
                <a:cs typeface="IBM Plex Sans Arabic"/>
              </a:rPr>
              <a:t>التعلم الحقيقي يبدأ عند التطبيق. هذه أربع خطوات عملية لتحويل ما تعلمته إلى عمل في جهتك:</a:t>
            </a:r>
          </a:p>
        </p:txBody>
      </p:sp>
      <p:sp>
        <p:nvSpPr>
          <p:cNvPr id="6" name="Box 5"/>
          <p:cNvSpPr/>
          <p:nvPr/>
        </p:nvSpPr>
        <p:spPr>
          <a:xfrm>
            <a:off x="9004300" y="2392561"/>
            <a:ext cx="2374900" cy="1688108"/>
          </a:xfrm>
          <a:prstGeom prst="roundRect">
            <a:avLst>
              <a:gd name="adj" fmla="val 6018"/>
            </a:avLst>
          </a:prstGeom>
          <a:solidFill>
            <a:srgbClr val="FCFBF8"/>
          </a:solidFill>
          <a:ln>
            <a:noFill/>
          </a:ln>
        </p:spPr>
        <p:txBody>
          <a:bodyPr rtlCol="0" anchor="ctr"/>
          <a:lstStyle/>
          <a:p>
            <a:pPr algn="ctr"/>
          </a:p>
        </p:txBody>
      </p:sp>
      <p:sp>
        <p:nvSpPr>
          <p:cNvPr id="7" name="Rule 6"/>
          <p:cNvSpPr/>
          <p:nvPr/>
        </p:nvSpPr>
        <p:spPr>
          <a:xfrm>
            <a:off x="9004300" y="2392561"/>
            <a:ext cx="2374900" cy="38100"/>
          </a:xfrm>
          <a:prstGeom prst="rect">
            <a:avLst/>
          </a:prstGeom>
          <a:solidFill>
            <a:srgbClr val="0B6F7C"/>
          </a:solidFill>
          <a:ln>
            <a:noFill/>
          </a:ln>
        </p:spPr>
        <p:txBody>
          <a:bodyPr rtlCol="0" anchor="ctr"/>
          <a:lstStyle/>
          <a:p>
            <a:pPr algn="ctr"/>
          </a:p>
        </p:txBody>
      </p:sp>
      <p:sp>
        <p:nvSpPr>
          <p:cNvPr id="8" name="Rule 7"/>
          <p:cNvSpPr/>
          <p:nvPr/>
        </p:nvSpPr>
        <p:spPr>
          <a:xfrm>
            <a:off x="11372850" y="2392561"/>
            <a:ext cx="6350" cy="1688108"/>
          </a:xfrm>
          <a:prstGeom prst="rect">
            <a:avLst/>
          </a:prstGeom>
          <a:solidFill>
            <a:srgbClr val="DDD7CA"/>
          </a:solidFill>
          <a:ln>
            <a:noFill/>
          </a:ln>
        </p:spPr>
        <p:txBody>
          <a:bodyPr rtlCol="0" anchor="ctr"/>
          <a:lstStyle/>
          <a:p>
            <a:pPr algn="ctr"/>
          </a:p>
        </p:txBody>
      </p:sp>
      <p:sp>
        <p:nvSpPr>
          <p:cNvPr id="9" name="Rule 8"/>
          <p:cNvSpPr/>
          <p:nvPr/>
        </p:nvSpPr>
        <p:spPr>
          <a:xfrm>
            <a:off x="9004300" y="4074319"/>
            <a:ext cx="2374900" cy="6350"/>
          </a:xfrm>
          <a:prstGeom prst="rect">
            <a:avLst/>
          </a:prstGeom>
          <a:solidFill>
            <a:srgbClr val="DDD7CA"/>
          </a:solidFill>
          <a:ln>
            <a:noFill/>
          </a:ln>
        </p:spPr>
        <p:txBody>
          <a:bodyPr rtlCol="0" anchor="ctr"/>
          <a:lstStyle/>
          <a:p>
            <a:pPr algn="ctr"/>
          </a:p>
        </p:txBody>
      </p:sp>
      <p:sp>
        <p:nvSpPr>
          <p:cNvPr id="10" name="Rule 9"/>
          <p:cNvSpPr/>
          <p:nvPr/>
        </p:nvSpPr>
        <p:spPr>
          <a:xfrm>
            <a:off x="9004300" y="2392561"/>
            <a:ext cx="6350" cy="1688108"/>
          </a:xfrm>
          <a:prstGeom prst="rect">
            <a:avLst/>
          </a:prstGeom>
          <a:solidFill>
            <a:srgbClr val="DDD7CA"/>
          </a:solidFill>
          <a:ln>
            <a:noFill/>
          </a:ln>
        </p:spPr>
        <p:txBody>
          <a:bodyPr rtlCol="0" anchor="ctr"/>
          <a:lstStyle/>
          <a:p>
            <a:pPr algn="ctr"/>
          </a:p>
        </p:txBody>
      </p:sp>
      <p:sp>
        <p:nvSpPr>
          <p:cNvPr id="11" name="Text 10"/>
          <p:cNvSpPr txBox="1"/>
          <p:nvPr/>
        </p:nvSpPr>
        <p:spPr>
          <a:xfrm>
            <a:off x="90297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01</a:t>
            </a:r>
          </a:p>
        </p:txBody>
      </p:sp>
      <p:sp>
        <p:nvSpPr>
          <p:cNvPr id="12" name="Text 11"/>
          <p:cNvSpPr txBox="1"/>
          <p:nvPr/>
        </p:nvSpPr>
        <p:spPr>
          <a:xfrm>
            <a:off x="90297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اقرأ المرجع الرسمي</a:t>
            </a:r>
          </a:p>
        </p:txBody>
      </p:sp>
      <p:sp>
        <p:nvSpPr>
          <p:cNvPr id="13" name="Text 12"/>
          <p:cNvSpPr txBox="1"/>
          <p:nvPr/>
        </p:nvSpPr>
        <p:spPr>
          <a:xfrm>
            <a:off x="9114790" y="3190081"/>
            <a:ext cx="2092960"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وثيقة ‎ECC-2:2024‎ كاملة من موقع الهيئة، واستخدم هذا الكورس دليلاً لقراءتها.</a:t>
            </a:r>
          </a:p>
        </p:txBody>
      </p:sp>
      <p:sp>
        <p:nvSpPr>
          <p:cNvPr id="14" name="Shape arrow-left 13"/>
          <p:cNvSpPr/>
          <p:nvPr/>
        </p:nvSpPr>
        <p:spPr>
          <a:xfrm>
            <a:off x="8724900" y="3173115"/>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15" name="Box 14"/>
          <p:cNvSpPr/>
          <p:nvPr/>
        </p:nvSpPr>
        <p:spPr>
          <a:xfrm>
            <a:off x="6273800" y="2392561"/>
            <a:ext cx="2374900" cy="1688108"/>
          </a:xfrm>
          <a:prstGeom prst="roundRect">
            <a:avLst>
              <a:gd name="adj" fmla="val 6018"/>
            </a:avLst>
          </a:prstGeom>
          <a:solidFill>
            <a:srgbClr val="FCFBF8"/>
          </a:solidFill>
          <a:ln>
            <a:noFill/>
          </a:ln>
        </p:spPr>
        <p:txBody>
          <a:bodyPr rtlCol="0" anchor="ctr"/>
          <a:lstStyle/>
          <a:p>
            <a:pPr algn="ctr"/>
          </a:p>
        </p:txBody>
      </p:sp>
      <p:sp>
        <p:nvSpPr>
          <p:cNvPr id="16" name="Rule 15"/>
          <p:cNvSpPr/>
          <p:nvPr/>
        </p:nvSpPr>
        <p:spPr>
          <a:xfrm>
            <a:off x="6273800" y="2392561"/>
            <a:ext cx="2374900" cy="38100"/>
          </a:xfrm>
          <a:prstGeom prst="rect">
            <a:avLst/>
          </a:prstGeom>
          <a:solidFill>
            <a:srgbClr val="0B6F7C"/>
          </a:solidFill>
          <a:ln>
            <a:noFill/>
          </a:ln>
        </p:spPr>
        <p:txBody>
          <a:bodyPr rtlCol="0" anchor="ctr"/>
          <a:lstStyle/>
          <a:p>
            <a:pPr algn="ctr"/>
          </a:p>
        </p:txBody>
      </p:sp>
      <p:sp>
        <p:nvSpPr>
          <p:cNvPr id="17" name="Rule 16"/>
          <p:cNvSpPr/>
          <p:nvPr/>
        </p:nvSpPr>
        <p:spPr>
          <a:xfrm>
            <a:off x="8642350" y="2392561"/>
            <a:ext cx="6350" cy="1688108"/>
          </a:xfrm>
          <a:prstGeom prst="rect">
            <a:avLst/>
          </a:prstGeom>
          <a:solidFill>
            <a:srgbClr val="DDD7CA"/>
          </a:solidFill>
          <a:ln>
            <a:noFill/>
          </a:ln>
        </p:spPr>
        <p:txBody>
          <a:bodyPr rtlCol="0" anchor="ctr"/>
          <a:lstStyle/>
          <a:p>
            <a:pPr algn="ctr"/>
          </a:p>
        </p:txBody>
      </p:sp>
      <p:sp>
        <p:nvSpPr>
          <p:cNvPr id="18" name="Rule 17"/>
          <p:cNvSpPr/>
          <p:nvPr/>
        </p:nvSpPr>
        <p:spPr>
          <a:xfrm>
            <a:off x="6273800" y="4074319"/>
            <a:ext cx="2374900" cy="6350"/>
          </a:xfrm>
          <a:prstGeom prst="rect">
            <a:avLst/>
          </a:prstGeom>
          <a:solidFill>
            <a:srgbClr val="DDD7CA"/>
          </a:solidFill>
          <a:ln>
            <a:noFill/>
          </a:ln>
        </p:spPr>
        <p:txBody>
          <a:bodyPr rtlCol="0" anchor="ctr"/>
          <a:lstStyle/>
          <a:p>
            <a:pPr algn="ctr"/>
          </a:p>
        </p:txBody>
      </p:sp>
      <p:sp>
        <p:nvSpPr>
          <p:cNvPr id="19" name="Rule 18"/>
          <p:cNvSpPr/>
          <p:nvPr/>
        </p:nvSpPr>
        <p:spPr>
          <a:xfrm>
            <a:off x="6273800" y="2392561"/>
            <a:ext cx="6350" cy="1688108"/>
          </a:xfrm>
          <a:prstGeom prst="rect">
            <a:avLst/>
          </a:prstGeom>
          <a:solidFill>
            <a:srgbClr val="DDD7CA"/>
          </a:solidFill>
          <a:ln>
            <a:noFill/>
          </a:ln>
        </p:spPr>
        <p:txBody>
          <a:bodyPr rtlCol="0" anchor="ctr"/>
          <a:lstStyle/>
          <a:p>
            <a:pPr algn="ctr"/>
          </a:p>
        </p:txBody>
      </p:sp>
      <p:sp>
        <p:nvSpPr>
          <p:cNvPr id="20" name="Text 19"/>
          <p:cNvSpPr txBox="1"/>
          <p:nvPr/>
        </p:nvSpPr>
        <p:spPr>
          <a:xfrm>
            <a:off x="62992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02</a:t>
            </a:r>
          </a:p>
        </p:txBody>
      </p:sp>
      <p:sp>
        <p:nvSpPr>
          <p:cNvPr id="21" name="Text 20"/>
          <p:cNvSpPr txBox="1"/>
          <p:nvPr/>
        </p:nvSpPr>
        <p:spPr>
          <a:xfrm>
            <a:off x="62992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طبّق على مكون واحد</a:t>
            </a:r>
          </a:p>
        </p:txBody>
      </p:sp>
      <p:sp>
        <p:nvSpPr>
          <p:cNvPr id="22" name="Text 21"/>
          <p:cNvSpPr txBox="1"/>
          <p:nvPr/>
        </p:nvSpPr>
        <p:spPr>
          <a:xfrm>
            <a:off x="6384290" y="3190081"/>
            <a:ext cx="2092960"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أكمل بطاقة التمرين 8 لمكون من جهتك، أو أكمل تطبيقات الجهة الافتراضية الثلاثة.</a:t>
            </a:r>
          </a:p>
        </p:txBody>
      </p:sp>
      <p:sp>
        <p:nvSpPr>
          <p:cNvPr id="23" name="Shape arrow-left 22"/>
          <p:cNvSpPr/>
          <p:nvPr/>
        </p:nvSpPr>
        <p:spPr>
          <a:xfrm>
            <a:off x="5994400" y="3173115"/>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24" name="Box 23"/>
          <p:cNvSpPr/>
          <p:nvPr/>
        </p:nvSpPr>
        <p:spPr>
          <a:xfrm>
            <a:off x="3543300" y="2392561"/>
            <a:ext cx="2374900" cy="1688108"/>
          </a:xfrm>
          <a:prstGeom prst="roundRect">
            <a:avLst>
              <a:gd name="adj" fmla="val 6018"/>
            </a:avLst>
          </a:prstGeom>
          <a:solidFill>
            <a:srgbClr val="FCFBF8"/>
          </a:solidFill>
          <a:ln>
            <a:noFill/>
          </a:ln>
        </p:spPr>
        <p:txBody>
          <a:bodyPr rtlCol="0" anchor="ctr"/>
          <a:lstStyle/>
          <a:p>
            <a:pPr algn="ctr"/>
          </a:p>
        </p:txBody>
      </p:sp>
      <p:sp>
        <p:nvSpPr>
          <p:cNvPr id="25" name="Rule 24"/>
          <p:cNvSpPr/>
          <p:nvPr/>
        </p:nvSpPr>
        <p:spPr>
          <a:xfrm>
            <a:off x="3543300" y="2392561"/>
            <a:ext cx="2374900" cy="38100"/>
          </a:xfrm>
          <a:prstGeom prst="rect">
            <a:avLst/>
          </a:prstGeom>
          <a:solidFill>
            <a:srgbClr val="0B6F7C"/>
          </a:solidFill>
          <a:ln>
            <a:noFill/>
          </a:ln>
        </p:spPr>
        <p:txBody>
          <a:bodyPr rtlCol="0" anchor="ctr"/>
          <a:lstStyle/>
          <a:p>
            <a:pPr algn="ctr"/>
          </a:p>
        </p:txBody>
      </p:sp>
      <p:sp>
        <p:nvSpPr>
          <p:cNvPr id="26" name="Rule 25"/>
          <p:cNvSpPr/>
          <p:nvPr/>
        </p:nvSpPr>
        <p:spPr>
          <a:xfrm>
            <a:off x="5911850" y="2392561"/>
            <a:ext cx="6350" cy="1688108"/>
          </a:xfrm>
          <a:prstGeom prst="rect">
            <a:avLst/>
          </a:prstGeom>
          <a:solidFill>
            <a:srgbClr val="DDD7CA"/>
          </a:solidFill>
          <a:ln>
            <a:noFill/>
          </a:ln>
        </p:spPr>
        <p:txBody>
          <a:bodyPr rtlCol="0" anchor="ctr"/>
          <a:lstStyle/>
          <a:p>
            <a:pPr algn="ctr"/>
          </a:p>
        </p:txBody>
      </p:sp>
      <p:sp>
        <p:nvSpPr>
          <p:cNvPr id="27" name="Rule 26"/>
          <p:cNvSpPr/>
          <p:nvPr/>
        </p:nvSpPr>
        <p:spPr>
          <a:xfrm>
            <a:off x="3543300" y="4074319"/>
            <a:ext cx="2374900" cy="6350"/>
          </a:xfrm>
          <a:prstGeom prst="rect">
            <a:avLst/>
          </a:prstGeom>
          <a:solidFill>
            <a:srgbClr val="DDD7CA"/>
          </a:solidFill>
          <a:ln>
            <a:noFill/>
          </a:ln>
        </p:spPr>
        <p:txBody>
          <a:bodyPr rtlCol="0" anchor="ctr"/>
          <a:lstStyle/>
          <a:p>
            <a:pPr algn="ctr"/>
          </a:p>
        </p:txBody>
      </p:sp>
      <p:sp>
        <p:nvSpPr>
          <p:cNvPr id="28" name="Rule 27"/>
          <p:cNvSpPr/>
          <p:nvPr/>
        </p:nvSpPr>
        <p:spPr>
          <a:xfrm>
            <a:off x="3543300" y="2392561"/>
            <a:ext cx="6350" cy="1688108"/>
          </a:xfrm>
          <a:prstGeom prst="rect">
            <a:avLst/>
          </a:prstGeom>
          <a:solidFill>
            <a:srgbClr val="DDD7CA"/>
          </a:solidFill>
          <a:ln>
            <a:noFill/>
          </a:ln>
        </p:spPr>
        <p:txBody>
          <a:bodyPr rtlCol="0" anchor="ctr"/>
          <a:lstStyle/>
          <a:p>
            <a:pPr algn="ctr"/>
          </a:p>
        </p:txBody>
      </p:sp>
      <p:sp>
        <p:nvSpPr>
          <p:cNvPr id="29" name="Text 28"/>
          <p:cNvSpPr txBox="1"/>
          <p:nvPr/>
        </p:nvSpPr>
        <p:spPr>
          <a:xfrm>
            <a:off x="35687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03</a:t>
            </a:r>
          </a:p>
        </p:txBody>
      </p:sp>
      <p:sp>
        <p:nvSpPr>
          <p:cNvPr id="30" name="Text 29"/>
          <p:cNvSpPr txBox="1"/>
          <p:nvPr/>
        </p:nvSpPr>
        <p:spPr>
          <a:xfrm>
            <a:off x="35687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ابدأ سجل الأدلة</a:t>
            </a:r>
          </a:p>
        </p:txBody>
      </p:sp>
      <p:sp>
        <p:nvSpPr>
          <p:cNvPr id="31" name="Text 30"/>
          <p:cNvSpPr txBox="1"/>
          <p:nvPr/>
        </p:nvSpPr>
        <p:spPr>
          <a:xfrm>
            <a:off x="3653790" y="3190081"/>
            <a:ext cx="2092960" cy="690562"/>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مجلدات بالرموز، ومالك لكل ضابط، وتاريخ لكل دليل، من اليوم الأول.</a:t>
            </a:r>
          </a:p>
        </p:txBody>
      </p:sp>
      <p:sp>
        <p:nvSpPr>
          <p:cNvPr id="32" name="Shape arrow-left 31"/>
          <p:cNvSpPr/>
          <p:nvPr/>
        </p:nvSpPr>
        <p:spPr>
          <a:xfrm>
            <a:off x="3263900" y="3173115"/>
            <a:ext cx="203200" cy="127000"/>
          </a:xfrm>
          <a:prstGeom prst="leftArrow">
            <a:avLst>
              <a:gd name="adj1" fmla="val 50000"/>
              <a:gd name="adj2" fmla="val 64000"/>
            </a:avLst>
          </a:prstGeom>
          <a:solidFill>
            <a:srgbClr val="0B6F7C"/>
          </a:solidFill>
          <a:ln>
            <a:noFill/>
          </a:ln>
        </p:spPr>
        <p:txBody>
          <a:bodyPr rtlCol="0" anchor="ctr"/>
          <a:lstStyle/>
          <a:p>
            <a:pPr algn="ctr"/>
          </a:p>
        </p:txBody>
      </p:sp>
      <p:sp>
        <p:nvSpPr>
          <p:cNvPr id="33" name="Box 32"/>
          <p:cNvSpPr/>
          <p:nvPr/>
        </p:nvSpPr>
        <p:spPr>
          <a:xfrm>
            <a:off x="812800" y="2392561"/>
            <a:ext cx="2374900" cy="1688108"/>
          </a:xfrm>
          <a:prstGeom prst="roundRect">
            <a:avLst>
              <a:gd name="adj" fmla="val 6018"/>
            </a:avLst>
          </a:prstGeom>
          <a:solidFill>
            <a:srgbClr val="FCFBF8"/>
          </a:solidFill>
          <a:ln>
            <a:noFill/>
          </a:ln>
        </p:spPr>
        <p:txBody>
          <a:bodyPr rtlCol="0" anchor="ctr"/>
          <a:lstStyle/>
          <a:p>
            <a:pPr algn="ctr"/>
          </a:p>
        </p:txBody>
      </p:sp>
      <p:sp>
        <p:nvSpPr>
          <p:cNvPr id="34" name="Rule 33"/>
          <p:cNvSpPr/>
          <p:nvPr/>
        </p:nvSpPr>
        <p:spPr>
          <a:xfrm>
            <a:off x="812800" y="2392561"/>
            <a:ext cx="2374900" cy="38100"/>
          </a:xfrm>
          <a:prstGeom prst="rect">
            <a:avLst/>
          </a:prstGeom>
          <a:solidFill>
            <a:srgbClr val="0B6F7C"/>
          </a:solidFill>
          <a:ln>
            <a:noFill/>
          </a:ln>
        </p:spPr>
        <p:txBody>
          <a:bodyPr rtlCol="0" anchor="ctr"/>
          <a:lstStyle/>
          <a:p>
            <a:pPr algn="ctr"/>
          </a:p>
        </p:txBody>
      </p:sp>
      <p:sp>
        <p:nvSpPr>
          <p:cNvPr id="35" name="Rule 34"/>
          <p:cNvSpPr/>
          <p:nvPr/>
        </p:nvSpPr>
        <p:spPr>
          <a:xfrm>
            <a:off x="3181350" y="2392561"/>
            <a:ext cx="6350" cy="1688108"/>
          </a:xfrm>
          <a:prstGeom prst="rect">
            <a:avLst/>
          </a:prstGeom>
          <a:solidFill>
            <a:srgbClr val="DDD7CA"/>
          </a:solidFill>
          <a:ln>
            <a:noFill/>
          </a:ln>
        </p:spPr>
        <p:txBody>
          <a:bodyPr rtlCol="0" anchor="ctr"/>
          <a:lstStyle/>
          <a:p>
            <a:pPr algn="ctr"/>
          </a:p>
        </p:txBody>
      </p:sp>
      <p:sp>
        <p:nvSpPr>
          <p:cNvPr id="36" name="Rule 35"/>
          <p:cNvSpPr/>
          <p:nvPr/>
        </p:nvSpPr>
        <p:spPr>
          <a:xfrm>
            <a:off x="812800" y="4074319"/>
            <a:ext cx="2374900" cy="6350"/>
          </a:xfrm>
          <a:prstGeom prst="rect">
            <a:avLst/>
          </a:prstGeom>
          <a:solidFill>
            <a:srgbClr val="DDD7CA"/>
          </a:solidFill>
          <a:ln>
            <a:noFill/>
          </a:ln>
        </p:spPr>
        <p:txBody>
          <a:bodyPr rtlCol="0" anchor="ctr"/>
          <a:lstStyle/>
          <a:p>
            <a:pPr algn="ctr"/>
          </a:p>
        </p:txBody>
      </p:sp>
      <p:sp>
        <p:nvSpPr>
          <p:cNvPr id="37" name="Rule 36"/>
          <p:cNvSpPr/>
          <p:nvPr/>
        </p:nvSpPr>
        <p:spPr>
          <a:xfrm>
            <a:off x="812800" y="2392561"/>
            <a:ext cx="6350" cy="1688108"/>
          </a:xfrm>
          <a:prstGeom prst="rect">
            <a:avLst/>
          </a:prstGeom>
          <a:solidFill>
            <a:srgbClr val="DDD7CA"/>
          </a:solidFill>
          <a:ln>
            <a:noFill/>
          </a:ln>
        </p:spPr>
        <p:txBody>
          <a:bodyPr rtlCol="0" anchor="ctr"/>
          <a:lstStyle/>
          <a:p>
            <a:pPr algn="ctr"/>
          </a:p>
        </p:txBody>
      </p:sp>
      <p:sp>
        <p:nvSpPr>
          <p:cNvPr id="38" name="Text 37"/>
          <p:cNvSpPr txBox="1"/>
          <p:nvPr/>
        </p:nvSpPr>
        <p:spPr>
          <a:xfrm>
            <a:off x="838200" y="2590160"/>
            <a:ext cx="2178050" cy="213320"/>
          </a:xfrm>
          <a:prstGeom prst="rect">
            <a:avLst/>
          </a:prstGeom>
          <a:noFill/>
        </p:spPr>
        <p:txBody>
          <a:bodyPr wrap="square" tIns="0" rIns="0" bIns="0" lIns="0" anchor="t" rtlCol="0" anchorCtr="0">
            <a:noAutofit/>
          </a:bodyPr>
          <a:lstStyle/>
          <a:p>
            <a:pPr algn="r">
              <a:lnSpc>
                <a:spcPts val="1680"/>
              </a:lnSpc>
              <a:spcBef>
                <a:spcPts val="0"/>
              </a:spcBef>
              <a:spcAft>
                <a:spcPts val="0"/>
              </a:spcAft>
            </a:pPr>
            <a:r>
              <a:rPr sz="1400" b="1" i="0">
                <a:solidFill>
                  <a:srgbClr val="0B6F7C"/>
                </a:solidFill>
                <a:latin typeface="Alexandria"/>
                <a:ea typeface="Alexandria"/>
                <a:cs typeface="Alexandria"/>
              </a:rPr>
              <a:t>04</a:t>
            </a:r>
          </a:p>
        </p:txBody>
      </p:sp>
      <p:sp>
        <p:nvSpPr>
          <p:cNvPr id="39" name="Text 38"/>
          <p:cNvSpPr txBox="1"/>
          <p:nvPr/>
        </p:nvSpPr>
        <p:spPr>
          <a:xfrm>
            <a:off x="838200" y="2864993"/>
            <a:ext cx="2178050" cy="257175"/>
          </a:xfrm>
          <a:prstGeom prst="rect">
            <a:avLst/>
          </a:prstGeom>
          <a:noFill/>
        </p:spPr>
        <p:txBody>
          <a:bodyPr wrap="square" tIns="0" rIns="0" bIns="0" lIns="0" anchor="t" rtlCol="0" anchorCtr="0">
            <a:noAutofit/>
          </a:bodyPr>
          <a:lstStyle/>
          <a:p>
            <a:pPr algn="r" rtl="1">
              <a:lnSpc>
                <a:spcPts val="2025"/>
              </a:lnSpc>
              <a:spcBef>
                <a:spcPts val="0"/>
              </a:spcBef>
              <a:spcAft>
                <a:spcPts val="0"/>
              </a:spcAft>
            </a:pPr>
            <a:r>
              <a:rPr sz="1500" b="1" i="0">
                <a:solidFill>
                  <a:srgbClr val="132033"/>
                </a:solidFill>
                <a:latin typeface="Alexandria"/>
                <a:ea typeface="Alexandria"/>
                <a:cs typeface="Alexandria"/>
              </a:rPr>
              <a:t>أكمل السلسلة</a:t>
            </a:r>
          </a:p>
        </p:txBody>
      </p:sp>
      <p:sp>
        <p:nvSpPr>
          <p:cNvPr id="40" name="Text 39"/>
          <p:cNvSpPr txBox="1"/>
          <p:nvPr/>
        </p:nvSpPr>
        <p:spPr>
          <a:xfrm>
            <a:off x="923290" y="3190081"/>
            <a:ext cx="2092960" cy="460375"/>
          </a:xfrm>
          <a:prstGeom prst="rect">
            <a:avLst/>
          </a:prstGeom>
          <a:noFill/>
        </p:spPr>
        <p:txBody>
          <a:bodyPr wrap="square" tIns="0" rIns="0" bIns="0" lIns="0" anchor="t" rtlCol="0" anchorCtr="0">
            <a:noAutofit/>
          </a:bodyPr>
          <a:lstStyle/>
          <a:p>
            <a:pPr algn="r" rtl="1">
              <a:lnSpc>
                <a:spcPts val="1812"/>
              </a:lnSpc>
              <a:spcBef>
                <a:spcPts val="0"/>
              </a:spcBef>
              <a:spcAft>
                <a:spcPts val="0"/>
              </a:spcAft>
            </a:pPr>
            <a:r>
              <a:rPr sz="1250" b="0" i="0">
                <a:solidFill>
                  <a:srgbClr val="465264"/>
                </a:solidFill>
                <a:latin typeface="IBM Plex Sans Arabic"/>
                <a:ea typeface="IBM Plex Sans Arabic"/>
                <a:cs typeface="IBM Plex Sans Arabic"/>
              </a:rPr>
              <a:t>كورسا تقييم المخاطر وتقييم الفجوات يكملان ما تعلمته هنا.</a:t>
            </a:r>
          </a:p>
        </p:txBody>
      </p:sp>
      <p:sp>
        <p:nvSpPr>
          <p:cNvPr id="41" name="Box 40"/>
          <p:cNvSpPr/>
          <p:nvPr/>
        </p:nvSpPr>
        <p:spPr>
          <a:xfrm>
            <a:off x="812800" y="5033764"/>
            <a:ext cx="10566400" cy="808236"/>
          </a:xfrm>
          <a:prstGeom prst="roundRect">
            <a:avLst>
              <a:gd name="adj" fmla="val 15713"/>
            </a:avLst>
          </a:prstGeom>
          <a:solidFill>
            <a:srgbClr val="0E1A2B"/>
          </a:solidFill>
          <a:ln>
            <a:noFill/>
          </a:ln>
        </p:spPr>
        <p:txBody>
          <a:bodyPr rtlCol="0" anchor="ctr"/>
          <a:lstStyle/>
          <a:p>
            <a:pPr algn="ctr"/>
          </a:p>
        </p:txBody>
      </p:sp>
      <p:sp>
        <p:nvSpPr>
          <p:cNvPr id="42" name="Box 41"/>
          <p:cNvSpPr/>
          <p:nvPr/>
        </p:nvSpPr>
        <p:spPr>
          <a:xfrm>
            <a:off x="10782300" y="5247382"/>
            <a:ext cx="381000" cy="381000"/>
          </a:xfrm>
          <a:prstGeom prst="roundRect">
            <a:avLst>
              <a:gd name="adj" fmla="val 23333"/>
            </a:avLst>
          </a:prstGeom>
          <a:solidFill>
            <a:srgbClr val="22344D"/>
          </a:solidFill>
          <a:ln>
            <a:noFill/>
          </a:ln>
        </p:spPr>
        <p:txBody>
          <a:bodyPr rtlCol="0" anchor="ctr"/>
          <a:lstStyle/>
          <a:p>
            <a:pPr algn="ctr"/>
          </a:p>
        </p:txBody>
      </p:sp>
      <p:pic>
        <p:nvPicPr>
          <p:cNvPr id="43" name="Icon Lightbulb 42" descr="icon022.png"/>
          <p:cNvPicPr>
            <a:picLocks noChangeAspect="1"/>
          </p:cNvPicPr>
          <p:nvPr/>
        </p:nvPicPr>
        <p:blipFill>
          <a:blip r:embed="rId2"/>
          <a:stretch>
            <a:fillRect/>
          </a:stretch>
        </p:blipFill>
        <p:spPr>
          <a:xfrm>
            <a:off x="10864850" y="5329932"/>
            <a:ext cx="215900" cy="215900"/>
          </a:xfrm>
          <a:prstGeom prst="rect">
            <a:avLst/>
          </a:prstGeom>
        </p:spPr>
      </p:pic>
      <p:sp>
        <p:nvSpPr>
          <p:cNvPr id="44" name="Text 43"/>
          <p:cNvSpPr txBox="1"/>
          <p:nvPr/>
        </p:nvSpPr>
        <p:spPr>
          <a:xfrm>
            <a:off x="838200" y="5175242"/>
            <a:ext cx="9791700"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1" i="0">
                <a:solidFill>
                  <a:srgbClr val="6CC9D3"/>
                </a:solidFill>
                <a:latin typeface="IBM Plex Sans Arabic"/>
                <a:ea typeface="IBM Plex Sans Arabic"/>
                <a:cs typeface="IBM Plex Sans Arabic"/>
              </a:rPr>
              <a:t>نصيحة عملية</a:t>
            </a:r>
          </a:p>
        </p:txBody>
      </p:sp>
      <p:sp>
        <p:nvSpPr>
          <p:cNvPr id="45" name="Text 44"/>
          <p:cNvSpPr txBox="1"/>
          <p:nvPr/>
        </p:nvSpPr>
        <p:spPr>
          <a:xfrm>
            <a:off x="838200" y="5407866"/>
            <a:ext cx="9791700" cy="239316"/>
          </a:xfrm>
          <a:prstGeom prst="rect">
            <a:avLst/>
          </a:prstGeom>
          <a:noFill/>
        </p:spPr>
        <p:txBody>
          <a:bodyPr wrap="square" tIns="0" rIns="0" bIns="0" lIns="0" anchor="t" rtlCol="0" anchorCtr="0">
            <a:noAutofit/>
          </a:bodyPr>
          <a:lstStyle/>
          <a:p>
            <a:pPr algn="r" rtl="1">
              <a:lnSpc>
                <a:spcPts val="1885"/>
              </a:lnSpc>
              <a:spcBef>
                <a:spcPts val="0"/>
              </a:spcBef>
              <a:spcAft>
                <a:spcPts val="0"/>
              </a:spcAft>
            </a:pPr>
            <a:r>
              <a:rPr sz="1300" b="0" i="0">
                <a:solidFill>
                  <a:srgbClr val="F2EEE6"/>
                </a:solidFill>
                <a:latin typeface="IBM Plex Sans Arabic"/>
                <a:ea typeface="IBM Plex Sans Arabic"/>
                <a:cs typeface="IBM Plex Sans Arabic"/>
              </a:rPr>
              <a:t>ابدأ صغيراً: مكون فرعي واحد مطبق بأدلة كاملة أفضل من عشرة مكونات على الورق فقط.</a:t>
            </a:r>
          </a:p>
        </p:txBody>
      </p:sp>
      <p:sp>
        <p:nvSpPr>
          <p:cNvPr id="46" name="Text 45"/>
          <p:cNvSpPr txBox="1"/>
          <p:nvPr/>
        </p:nvSpPr>
        <p:spPr>
          <a:xfrm>
            <a:off x="2518664" y="6214658"/>
            <a:ext cx="8860536"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5A6371"/>
                </a:solidFill>
                <a:latin typeface="IBM Plex Sans Arabic"/>
                <a:ea typeface="IBM Plex Sans Arabic"/>
                <a:cs typeface="IBM Plex Sans Arabic"/>
              </a:rPr>
              <a:t>‎ECC-2:2024‎ · تطبيق الضوابط الأساسية للأمن السيبراني · الوحدة 09 · الاختبار والختام</a:t>
            </a:r>
          </a:p>
        </p:txBody>
      </p:sp>
      <p:sp>
        <p:nvSpPr>
          <p:cNvPr id="47" name="Box 46"/>
          <p:cNvSpPr/>
          <p:nvPr/>
        </p:nvSpPr>
        <p:spPr>
          <a:xfrm>
            <a:off x="28829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8" name="Box 47"/>
          <p:cNvSpPr/>
          <p:nvPr/>
        </p:nvSpPr>
        <p:spPr>
          <a:xfrm>
            <a:off x="27051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49" name="Box 48"/>
          <p:cNvSpPr/>
          <p:nvPr/>
        </p:nvSpPr>
        <p:spPr>
          <a:xfrm>
            <a:off x="2527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0" name="Box 49"/>
          <p:cNvSpPr/>
          <p:nvPr/>
        </p:nvSpPr>
        <p:spPr>
          <a:xfrm>
            <a:off x="2349500" y="6313190"/>
            <a:ext cx="139700" cy="63500"/>
          </a:xfrm>
          <a:prstGeom prst="roundRect">
            <a:avLst>
              <a:gd name="adj" fmla="val 50000"/>
            </a:avLst>
          </a:prstGeom>
          <a:solidFill>
            <a:srgbClr val="A6461A">
              <a:alpha val="40000"/>
            </a:srgbClr>
          </a:solidFill>
          <a:ln>
            <a:noFill/>
          </a:ln>
        </p:spPr>
        <p:txBody>
          <a:bodyPr rtlCol="0" anchor="ctr"/>
          <a:lstStyle/>
          <a:p>
            <a:pPr algn="ctr"/>
          </a:p>
        </p:txBody>
      </p:sp>
      <p:sp>
        <p:nvSpPr>
          <p:cNvPr id="51" name="Box 50"/>
          <p:cNvSpPr/>
          <p:nvPr/>
        </p:nvSpPr>
        <p:spPr>
          <a:xfrm>
            <a:off x="21717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2" name="Box 51"/>
          <p:cNvSpPr/>
          <p:nvPr/>
        </p:nvSpPr>
        <p:spPr>
          <a:xfrm>
            <a:off x="1993900" y="6313190"/>
            <a:ext cx="139700" cy="63500"/>
          </a:xfrm>
          <a:prstGeom prst="roundRect">
            <a:avLst>
              <a:gd name="adj" fmla="val 50000"/>
            </a:avLst>
          </a:prstGeom>
          <a:solidFill>
            <a:srgbClr val="1D5B9E">
              <a:alpha val="40000"/>
            </a:srgbClr>
          </a:solidFill>
          <a:ln>
            <a:noFill/>
          </a:ln>
        </p:spPr>
        <p:txBody>
          <a:bodyPr rtlCol="0" anchor="ctr"/>
          <a:lstStyle/>
          <a:p>
            <a:pPr algn="ctr"/>
          </a:p>
        </p:txBody>
      </p:sp>
      <p:sp>
        <p:nvSpPr>
          <p:cNvPr id="53" name="Box 52"/>
          <p:cNvSpPr/>
          <p:nvPr/>
        </p:nvSpPr>
        <p:spPr>
          <a:xfrm>
            <a:off x="1816100" y="6313190"/>
            <a:ext cx="139700" cy="63500"/>
          </a:xfrm>
          <a:prstGeom prst="roundRect">
            <a:avLst>
              <a:gd name="adj" fmla="val 50000"/>
            </a:avLst>
          </a:prstGeom>
          <a:solidFill>
            <a:srgbClr val="22704E">
              <a:alpha val="40000"/>
            </a:srgbClr>
          </a:solidFill>
          <a:ln>
            <a:noFill/>
          </a:ln>
        </p:spPr>
        <p:txBody>
          <a:bodyPr rtlCol="0" anchor="ctr"/>
          <a:lstStyle/>
          <a:p>
            <a:pPr algn="ctr"/>
          </a:p>
        </p:txBody>
      </p:sp>
      <p:sp>
        <p:nvSpPr>
          <p:cNvPr id="54" name="Box 53"/>
          <p:cNvSpPr/>
          <p:nvPr/>
        </p:nvSpPr>
        <p:spPr>
          <a:xfrm>
            <a:off x="1638300" y="6313190"/>
            <a:ext cx="139700" cy="63500"/>
          </a:xfrm>
          <a:prstGeom prst="roundRect">
            <a:avLst>
              <a:gd name="adj" fmla="val 50000"/>
            </a:avLst>
          </a:prstGeom>
          <a:solidFill>
            <a:srgbClr val="0B6F7C">
              <a:alpha val="40000"/>
            </a:srgbClr>
          </a:solidFill>
          <a:ln>
            <a:noFill/>
          </a:ln>
        </p:spPr>
        <p:txBody>
          <a:bodyPr rtlCol="0" anchor="ctr"/>
          <a:lstStyle/>
          <a:p>
            <a:pPr algn="ctr"/>
          </a:p>
        </p:txBody>
      </p:sp>
      <p:sp>
        <p:nvSpPr>
          <p:cNvPr id="55" name="Box 54"/>
          <p:cNvSpPr/>
          <p:nvPr/>
        </p:nvSpPr>
        <p:spPr>
          <a:xfrm>
            <a:off x="1320800" y="6313190"/>
            <a:ext cx="279400" cy="63500"/>
          </a:xfrm>
          <a:prstGeom prst="roundRect">
            <a:avLst>
              <a:gd name="adj" fmla="val 50000"/>
            </a:avLst>
          </a:prstGeom>
          <a:solidFill>
            <a:srgbClr val="0B6F7C"/>
          </a:solidFill>
          <a:ln>
            <a:noFill/>
          </a:ln>
        </p:spPr>
        <p:txBody>
          <a:bodyPr rtlCol="0" anchor="ctr"/>
          <a:lstStyle/>
          <a:p>
            <a:pPr algn="ctr"/>
          </a:p>
        </p:txBody>
      </p:sp>
      <p:sp>
        <p:nvSpPr>
          <p:cNvPr id="56" name="Text 55"/>
          <p:cNvSpPr txBox="1"/>
          <p:nvPr/>
        </p:nvSpPr>
        <p:spPr>
          <a:xfrm>
            <a:off x="812800" y="6220754"/>
            <a:ext cx="447040" cy="213320"/>
          </a:xfrm>
          <a:prstGeom prst="rect">
            <a:avLst/>
          </a:prstGeom>
          <a:noFill/>
        </p:spPr>
        <p:txBody>
          <a:bodyPr wrap="square" tIns="0" rIns="0" bIns="0" lIns="0" anchor="t" rtlCol="0" anchorCtr="0">
            <a:noAutofit/>
          </a:bodyPr>
          <a:lstStyle/>
          <a:p>
            <a:pPr algn="l">
              <a:lnSpc>
                <a:spcPts val="1680"/>
              </a:lnSpc>
              <a:spcBef>
                <a:spcPts val="0"/>
              </a:spcBef>
              <a:spcAft>
                <a:spcPts val="0"/>
              </a:spcAft>
            </a:pPr>
            <a:r>
              <a:rPr sz="1200" b="1" i="0">
                <a:solidFill>
                  <a:srgbClr val="5A6371"/>
                </a:solidFill>
                <a:latin typeface="IBM Plex Mono"/>
                <a:ea typeface="IBM Plex Mono"/>
                <a:cs typeface="IBM Plex Mono"/>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Box 1"/>
          <p:cNvSpPr/>
          <p:nvPr/>
        </p:nvSpPr>
        <p:spPr>
          <a:xfrm>
            <a:off x="3926086" y="1905000"/>
            <a:ext cx="442714" cy="450850"/>
          </a:xfrm>
          <a:prstGeom prst="roundRect">
            <a:avLst>
              <a:gd name="adj" fmla="val 11474"/>
            </a:avLst>
          </a:prstGeom>
          <a:solidFill>
            <a:srgbClr val="7CCBA2"/>
          </a:solidFill>
          <a:ln>
            <a:noFill/>
          </a:ln>
        </p:spPr>
        <p:txBody>
          <a:bodyPr rtlCol="0" anchor="ctr"/>
          <a:lstStyle/>
          <a:p>
            <a:pPr algn="ctr"/>
          </a:p>
        </p:txBody>
      </p:sp>
      <p:sp>
        <p:nvSpPr>
          <p:cNvPr id="3" name="Box 2"/>
          <p:cNvSpPr/>
          <p:nvPr/>
        </p:nvSpPr>
        <p:spPr>
          <a:xfrm>
            <a:off x="3407172" y="1905000"/>
            <a:ext cx="442714" cy="450850"/>
          </a:xfrm>
          <a:prstGeom prst="roundRect">
            <a:avLst>
              <a:gd name="adj" fmla="val 11474"/>
            </a:avLst>
          </a:prstGeom>
          <a:solidFill>
            <a:srgbClr val="7CCBA2"/>
          </a:solidFill>
          <a:ln>
            <a:noFill/>
          </a:ln>
        </p:spPr>
        <p:txBody>
          <a:bodyPr rtlCol="0" anchor="ctr"/>
          <a:lstStyle/>
          <a:p>
            <a:pPr algn="ctr"/>
          </a:p>
        </p:txBody>
      </p:sp>
      <p:sp>
        <p:nvSpPr>
          <p:cNvPr id="4" name="Box 3"/>
          <p:cNvSpPr/>
          <p:nvPr/>
        </p:nvSpPr>
        <p:spPr>
          <a:xfrm>
            <a:off x="2888258" y="1905000"/>
            <a:ext cx="442714" cy="450850"/>
          </a:xfrm>
          <a:prstGeom prst="roundRect">
            <a:avLst>
              <a:gd name="adj" fmla="val 11474"/>
            </a:avLst>
          </a:prstGeom>
          <a:solidFill>
            <a:srgbClr val="7CCBA2"/>
          </a:solidFill>
          <a:ln>
            <a:noFill/>
          </a:ln>
        </p:spPr>
        <p:txBody>
          <a:bodyPr rtlCol="0" anchor="ctr"/>
          <a:lstStyle/>
          <a:p>
            <a:pPr algn="ctr"/>
          </a:p>
        </p:txBody>
      </p:sp>
      <p:sp>
        <p:nvSpPr>
          <p:cNvPr id="5" name="Box 4"/>
          <p:cNvSpPr/>
          <p:nvPr/>
        </p:nvSpPr>
        <p:spPr>
          <a:xfrm>
            <a:off x="2369344" y="1905000"/>
            <a:ext cx="442714" cy="450850"/>
          </a:xfrm>
          <a:prstGeom prst="roundRect">
            <a:avLst>
              <a:gd name="adj" fmla="val 11474"/>
            </a:avLst>
          </a:prstGeom>
          <a:solidFill>
            <a:srgbClr val="7CCBA2"/>
          </a:solidFill>
          <a:ln>
            <a:noFill/>
          </a:ln>
        </p:spPr>
        <p:txBody>
          <a:bodyPr rtlCol="0" anchor="ctr"/>
          <a:lstStyle/>
          <a:p>
            <a:pPr algn="ctr"/>
          </a:p>
        </p:txBody>
      </p:sp>
      <p:sp>
        <p:nvSpPr>
          <p:cNvPr id="6" name="Box 5"/>
          <p:cNvSpPr/>
          <p:nvPr/>
        </p:nvSpPr>
        <p:spPr>
          <a:xfrm>
            <a:off x="1850430" y="1905000"/>
            <a:ext cx="442714" cy="450850"/>
          </a:xfrm>
          <a:prstGeom prst="roundRect">
            <a:avLst>
              <a:gd name="adj" fmla="val 11474"/>
            </a:avLst>
          </a:prstGeom>
          <a:solidFill>
            <a:srgbClr val="7CCBA2"/>
          </a:solidFill>
          <a:ln>
            <a:noFill/>
          </a:ln>
        </p:spPr>
        <p:txBody>
          <a:bodyPr rtlCol="0" anchor="ctr"/>
          <a:lstStyle/>
          <a:p>
            <a:pPr algn="ctr"/>
          </a:p>
        </p:txBody>
      </p:sp>
      <p:sp>
        <p:nvSpPr>
          <p:cNvPr id="7" name="Box 6"/>
          <p:cNvSpPr/>
          <p:nvPr/>
        </p:nvSpPr>
        <p:spPr>
          <a:xfrm>
            <a:off x="1331516" y="1905000"/>
            <a:ext cx="442714" cy="450850"/>
          </a:xfrm>
          <a:prstGeom prst="roundRect">
            <a:avLst>
              <a:gd name="adj" fmla="val 11474"/>
            </a:avLst>
          </a:prstGeom>
          <a:solidFill>
            <a:srgbClr val="7CCBA2"/>
          </a:solidFill>
          <a:ln>
            <a:noFill/>
          </a:ln>
        </p:spPr>
        <p:txBody>
          <a:bodyPr rtlCol="0" anchor="ctr"/>
          <a:lstStyle/>
          <a:p>
            <a:pPr algn="ctr"/>
          </a:p>
        </p:txBody>
      </p:sp>
      <p:sp>
        <p:nvSpPr>
          <p:cNvPr id="8" name="Box 7"/>
          <p:cNvSpPr/>
          <p:nvPr/>
        </p:nvSpPr>
        <p:spPr>
          <a:xfrm>
            <a:off x="812602" y="1905000"/>
            <a:ext cx="442714" cy="450850"/>
          </a:xfrm>
          <a:prstGeom prst="roundRect">
            <a:avLst>
              <a:gd name="adj" fmla="val 11474"/>
            </a:avLst>
          </a:prstGeom>
          <a:solidFill>
            <a:srgbClr val="7CCBA2"/>
          </a:solidFill>
          <a:ln>
            <a:noFill/>
          </a:ln>
        </p:spPr>
        <p:txBody>
          <a:bodyPr rtlCol="0" anchor="ctr"/>
          <a:lstStyle/>
          <a:p>
            <a:pPr algn="ctr"/>
          </a:p>
        </p:txBody>
      </p:sp>
      <p:sp>
        <p:nvSpPr>
          <p:cNvPr id="9" name="Box 8"/>
          <p:cNvSpPr/>
          <p:nvPr/>
        </p:nvSpPr>
        <p:spPr>
          <a:xfrm>
            <a:off x="3926086" y="2432050"/>
            <a:ext cx="442714" cy="450850"/>
          </a:xfrm>
          <a:prstGeom prst="roundRect">
            <a:avLst>
              <a:gd name="adj" fmla="val 11474"/>
            </a:avLst>
          </a:prstGeom>
          <a:solidFill>
            <a:srgbClr val="7CCBA2"/>
          </a:solidFill>
          <a:ln>
            <a:noFill/>
          </a:ln>
        </p:spPr>
        <p:txBody>
          <a:bodyPr rtlCol="0" anchor="ctr"/>
          <a:lstStyle/>
          <a:p>
            <a:pPr algn="ctr"/>
          </a:p>
        </p:txBody>
      </p:sp>
      <p:sp>
        <p:nvSpPr>
          <p:cNvPr id="10" name="Box 9"/>
          <p:cNvSpPr/>
          <p:nvPr/>
        </p:nvSpPr>
        <p:spPr>
          <a:xfrm>
            <a:off x="3407172" y="2432050"/>
            <a:ext cx="442714" cy="450850"/>
          </a:xfrm>
          <a:prstGeom prst="roundRect">
            <a:avLst>
              <a:gd name="adj" fmla="val 11474"/>
            </a:avLst>
          </a:prstGeom>
          <a:solidFill>
            <a:srgbClr val="7CCBA2"/>
          </a:solidFill>
          <a:ln>
            <a:noFill/>
          </a:ln>
        </p:spPr>
        <p:txBody>
          <a:bodyPr rtlCol="0" anchor="ctr"/>
          <a:lstStyle/>
          <a:p>
            <a:pPr algn="ctr"/>
          </a:p>
        </p:txBody>
      </p:sp>
      <p:sp>
        <p:nvSpPr>
          <p:cNvPr id="11" name="Box 10"/>
          <p:cNvSpPr/>
          <p:nvPr/>
        </p:nvSpPr>
        <p:spPr>
          <a:xfrm>
            <a:off x="2888258" y="2432050"/>
            <a:ext cx="442714" cy="450850"/>
          </a:xfrm>
          <a:prstGeom prst="roundRect">
            <a:avLst>
              <a:gd name="adj" fmla="val 11474"/>
            </a:avLst>
          </a:prstGeom>
          <a:solidFill>
            <a:srgbClr val="7CCBA2"/>
          </a:solidFill>
          <a:ln>
            <a:noFill/>
          </a:ln>
        </p:spPr>
        <p:txBody>
          <a:bodyPr rtlCol="0" anchor="ctr"/>
          <a:lstStyle/>
          <a:p>
            <a:pPr algn="ctr"/>
          </a:p>
        </p:txBody>
      </p:sp>
      <p:sp>
        <p:nvSpPr>
          <p:cNvPr id="12" name="Box 11"/>
          <p:cNvSpPr/>
          <p:nvPr/>
        </p:nvSpPr>
        <p:spPr>
          <a:xfrm>
            <a:off x="2369344" y="2432050"/>
            <a:ext cx="442714" cy="450850"/>
          </a:xfrm>
          <a:prstGeom prst="roundRect">
            <a:avLst>
              <a:gd name="adj" fmla="val 11474"/>
            </a:avLst>
          </a:prstGeom>
          <a:solidFill>
            <a:srgbClr val="7CCBA2"/>
          </a:solidFill>
          <a:ln>
            <a:noFill/>
          </a:ln>
        </p:spPr>
        <p:txBody>
          <a:bodyPr rtlCol="0" anchor="ctr"/>
          <a:lstStyle/>
          <a:p>
            <a:pPr algn="ctr"/>
          </a:p>
        </p:txBody>
      </p:sp>
      <p:sp>
        <p:nvSpPr>
          <p:cNvPr id="13" name="Box 12"/>
          <p:cNvSpPr/>
          <p:nvPr/>
        </p:nvSpPr>
        <p:spPr>
          <a:xfrm>
            <a:off x="1850430" y="2432050"/>
            <a:ext cx="442714" cy="450850"/>
          </a:xfrm>
          <a:prstGeom prst="roundRect">
            <a:avLst>
              <a:gd name="adj" fmla="val 11474"/>
            </a:avLst>
          </a:prstGeom>
          <a:solidFill>
            <a:srgbClr val="7CCBA2"/>
          </a:solidFill>
          <a:ln>
            <a:noFill/>
          </a:ln>
        </p:spPr>
        <p:txBody>
          <a:bodyPr rtlCol="0" anchor="ctr"/>
          <a:lstStyle/>
          <a:p>
            <a:pPr algn="ctr"/>
          </a:p>
        </p:txBody>
      </p:sp>
      <p:sp>
        <p:nvSpPr>
          <p:cNvPr id="14" name="Box 13"/>
          <p:cNvSpPr/>
          <p:nvPr/>
        </p:nvSpPr>
        <p:spPr>
          <a:xfrm>
            <a:off x="1331516" y="2432050"/>
            <a:ext cx="442714" cy="450850"/>
          </a:xfrm>
          <a:prstGeom prst="roundRect">
            <a:avLst>
              <a:gd name="adj" fmla="val 11474"/>
            </a:avLst>
          </a:prstGeom>
          <a:solidFill>
            <a:srgbClr val="E8C35A"/>
          </a:solidFill>
          <a:ln>
            <a:noFill/>
          </a:ln>
        </p:spPr>
        <p:txBody>
          <a:bodyPr rtlCol="0" anchor="ctr"/>
          <a:lstStyle/>
          <a:p>
            <a:pPr algn="ctr"/>
          </a:p>
        </p:txBody>
      </p:sp>
      <p:sp>
        <p:nvSpPr>
          <p:cNvPr id="15" name="Box 14"/>
          <p:cNvSpPr/>
          <p:nvPr/>
        </p:nvSpPr>
        <p:spPr>
          <a:xfrm>
            <a:off x="812602" y="2432050"/>
            <a:ext cx="442714" cy="450850"/>
          </a:xfrm>
          <a:prstGeom prst="roundRect">
            <a:avLst>
              <a:gd name="adj" fmla="val 11474"/>
            </a:avLst>
          </a:prstGeom>
          <a:solidFill>
            <a:srgbClr val="7CCBA2"/>
          </a:solidFill>
          <a:ln>
            <a:noFill/>
          </a:ln>
        </p:spPr>
        <p:txBody>
          <a:bodyPr rtlCol="0" anchor="ctr"/>
          <a:lstStyle/>
          <a:p>
            <a:pPr algn="ctr"/>
          </a:p>
        </p:txBody>
      </p:sp>
      <p:sp>
        <p:nvSpPr>
          <p:cNvPr id="16" name="Box 15"/>
          <p:cNvSpPr/>
          <p:nvPr/>
        </p:nvSpPr>
        <p:spPr>
          <a:xfrm>
            <a:off x="3926086" y="2959100"/>
            <a:ext cx="442714" cy="450850"/>
          </a:xfrm>
          <a:prstGeom prst="roundRect">
            <a:avLst>
              <a:gd name="adj" fmla="val 11474"/>
            </a:avLst>
          </a:prstGeom>
          <a:solidFill>
            <a:srgbClr val="7CCBA2"/>
          </a:solidFill>
          <a:ln>
            <a:noFill/>
          </a:ln>
        </p:spPr>
        <p:txBody>
          <a:bodyPr rtlCol="0" anchor="ctr"/>
          <a:lstStyle/>
          <a:p>
            <a:pPr algn="ctr"/>
          </a:p>
        </p:txBody>
      </p:sp>
      <p:sp>
        <p:nvSpPr>
          <p:cNvPr id="17" name="Box 16"/>
          <p:cNvSpPr/>
          <p:nvPr/>
        </p:nvSpPr>
        <p:spPr>
          <a:xfrm>
            <a:off x="3407172" y="2959100"/>
            <a:ext cx="442714" cy="450850"/>
          </a:xfrm>
          <a:prstGeom prst="roundRect">
            <a:avLst>
              <a:gd name="adj" fmla="val 11474"/>
            </a:avLst>
          </a:prstGeom>
          <a:solidFill>
            <a:srgbClr val="7CCBA2"/>
          </a:solidFill>
          <a:ln>
            <a:noFill/>
          </a:ln>
        </p:spPr>
        <p:txBody>
          <a:bodyPr rtlCol="0" anchor="ctr"/>
          <a:lstStyle/>
          <a:p>
            <a:pPr algn="ctr"/>
          </a:p>
        </p:txBody>
      </p:sp>
      <p:sp>
        <p:nvSpPr>
          <p:cNvPr id="18" name="Box 17"/>
          <p:cNvSpPr/>
          <p:nvPr/>
        </p:nvSpPr>
        <p:spPr>
          <a:xfrm>
            <a:off x="2888258" y="2959100"/>
            <a:ext cx="442714" cy="450850"/>
          </a:xfrm>
          <a:prstGeom prst="roundRect">
            <a:avLst>
              <a:gd name="adj" fmla="val 11474"/>
            </a:avLst>
          </a:prstGeom>
          <a:solidFill>
            <a:srgbClr val="7CCBA2"/>
          </a:solidFill>
          <a:ln>
            <a:noFill/>
          </a:ln>
        </p:spPr>
        <p:txBody>
          <a:bodyPr rtlCol="0" anchor="ctr"/>
          <a:lstStyle/>
          <a:p>
            <a:pPr algn="ctr"/>
          </a:p>
        </p:txBody>
      </p:sp>
      <p:sp>
        <p:nvSpPr>
          <p:cNvPr id="19" name="Box 18"/>
          <p:cNvSpPr/>
          <p:nvPr/>
        </p:nvSpPr>
        <p:spPr>
          <a:xfrm>
            <a:off x="2369344" y="2959100"/>
            <a:ext cx="442714" cy="450850"/>
          </a:xfrm>
          <a:prstGeom prst="roundRect">
            <a:avLst>
              <a:gd name="adj" fmla="val 11474"/>
            </a:avLst>
          </a:prstGeom>
          <a:solidFill>
            <a:srgbClr val="7CCBA2"/>
          </a:solidFill>
          <a:ln>
            <a:noFill/>
          </a:ln>
        </p:spPr>
        <p:txBody>
          <a:bodyPr rtlCol="0" anchor="ctr"/>
          <a:lstStyle/>
          <a:p>
            <a:pPr algn="ctr"/>
          </a:p>
        </p:txBody>
      </p:sp>
      <p:sp>
        <p:nvSpPr>
          <p:cNvPr id="20" name="Box 19"/>
          <p:cNvSpPr/>
          <p:nvPr/>
        </p:nvSpPr>
        <p:spPr>
          <a:xfrm>
            <a:off x="1850430" y="2959100"/>
            <a:ext cx="442714" cy="450850"/>
          </a:xfrm>
          <a:prstGeom prst="roundRect">
            <a:avLst>
              <a:gd name="adj" fmla="val 11474"/>
            </a:avLst>
          </a:prstGeom>
          <a:solidFill>
            <a:srgbClr val="7CCBA2"/>
          </a:solidFill>
          <a:ln>
            <a:noFill/>
          </a:ln>
        </p:spPr>
        <p:txBody>
          <a:bodyPr rtlCol="0" anchor="ctr"/>
          <a:lstStyle/>
          <a:p>
            <a:pPr algn="ctr"/>
          </a:p>
        </p:txBody>
      </p:sp>
      <p:sp>
        <p:nvSpPr>
          <p:cNvPr id="21" name="Box 20"/>
          <p:cNvSpPr/>
          <p:nvPr/>
        </p:nvSpPr>
        <p:spPr>
          <a:xfrm>
            <a:off x="1331516" y="2959100"/>
            <a:ext cx="442714" cy="450850"/>
          </a:xfrm>
          <a:prstGeom prst="roundRect">
            <a:avLst>
              <a:gd name="adj" fmla="val 11474"/>
            </a:avLst>
          </a:prstGeom>
          <a:solidFill>
            <a:srgbClr val="E8C35A"/>
          </a:solidFill>
          <a:ln>
            <a:noFill/>
          </a:ln>
        </p:spPr>
        <p:txBody>
          <a:bodyPr rtlCol="0" anchor="ctr"/>
          <a:lstStyle/>
          <a:p>
            <a:pPr algn="ctr"/>
          </a:p>
        </p:txBody>
      </p:sp>
      <p:sp>
        <p:nvSpPr>
          <p:cNvPr id="22" name="Box 21"/>
          <p:cNvSpPr/>
          <p:nvPr/>
        </p:nvSpPr>
        <p:spPr>
          <a:xfrm>
            <a:off x="812602" y="2959100"/>
            <a:ext cx="442714" cy="450850"/>
          </a:xfrm>
          <a:prstGeom prst="roundRect">
            <a:avLst>
              <a:gd name="adj" fmla="val 11474"/>
            </a:avLst>
          </a:prstGeom>
          <a:solidFill>
            <a:srgbClr val="7CCBA2"/>
          </a:solidFill>
          <a:ln>
            <a:noFill/>
          </a:ln>
        </p:spPr>
        <p:txBody>
          <a:bodyPr rtlCol="0" anchor="ctr"/>
          <a:lstStyle/>
          <a:p>
            <a:pPr algn="ctr"/>
          </a:p>
        </p:txBody>
      </p:sp>
      <p:sp>
        <p:nvSpPr>
          <p:cNvPr id="23" name="Box 22"/>
          <p:cNvSpPr/>
          <p:nvPr/>
        </p:nvSpPr>
        <p:spPr>
          <a:xfrm>
            <a:off x="3926086" y="3486150"/>
            <a:ext cx="442714" cy="450850"/>
          </a:xfrm>
          <a:prstGeom prst="roundRect">
            <a:avLst>
              <a:gd name="adj" fmla="val 11474"/>
            </a:avLst>
          </a:prstGeom>
          <a:solidFill>
            <a:srgbClr val="7CCBA2"/>
          </a:solidFill>
          <a:ln>
            <a:noFill/>
          </a:ln>
        </p:spPr>
        <p:txBody>
          <a:bodyPr rtlCol="0" anchor="ctr"/>
          <a:lstStyle/>
          <a:p>
            <a:pPr algn="ctr"/>
          </a:p>
        </p:txBody>
      </p:sp>
      <p:sp>
        <p:nvSpPr>
          <p:cNvPr id="24" name="Box 23"/>
          <p:cNvSpPr/>
          <p:nvPr/>
        </p:nvSpPr>
        <p:spPr>
          <a:xfrm>
            <a:off x="3407172" y="3486150"/>
            <a:ext cx="442714" cy="450850"/>
          </a:xfrm>
          <a:prstGeom prst="roundRect">
            <a:avLst>
              <a:gd name="adj" fmla="val 11474"/>
            </a:avLst>
          </a:prstGeom>
          <a:solidFill>
            <a:srgbClr val="7CCBA2"/>
          </a:solidFill>
          <a:ln>
            <a:noFill/>
          </a:ln>
        </p:spPr>
        <p:txBody>
          <a:bodyPr rtlCol="0" anchor="ctr"/>
          <a:lstStyle/>
          <a:p>
            <a:pPr algn="ctr"/>
          </a:p>
        </p:txBody>
      </p:sp>
      <p:sp>
        <p:nvSpPr>
          <p:cNvPr id="25" name="Box 24"/>
          <p:cNvSpPr/>
          <p:nvPr/>
        </p:nvSpPr>
        <p:spPr>
          <a:xfrm>
            <a:off x="2888258" y="3486150"/>
            <a:ext cx="442714" cy="450850"/>
          </a:xfrm>
          <a:prstGeom prst="roundRect">
            <a:avLst>
              <a:gd name="adj" fmla="val 11474"/>
            </a:avLst>
          </a:prstGeom>
          <a:solidFill>
            <a:srgbClr val="7CCBA2"/>
          </a:solidFill>
          <a:ln>
            <a:noFill/>
          </a:ln>
        </p:spPr>
        <p:txBody>
          <a:bodyPr rtlCol="0" anchor="ctr"/>
          <a:lstStyle/>
          <a:p>
            <a:pPr algn="ctr"/>
          </a:p>
        </p:txBody>
      </p:sp>
      <p:sp>
        <p:nvSpPr>
          <p:cNvPr id="26" name="Box 25"/>
          <p:cNvSpPr/>
          <p:nvPr/>
        </p:nvSpPr>
        <p:spPr>
          <a:xfrm>
            <a:off x="2369344" y="3486150"/>
            <a:ext cx="442714" cy="450850"/>
          </a:xfrm>
          <a:prstGeom prst="roundRect">
            <a:avLst>
              <a:gd name="adj" fmla="val 11474"/>
            </a:avLst>
          </a:prstGeom>
          <a:solidFill>
            <a:srgbClr val="7CCBA2"/>
          </a:solidFill>
          <a:ln>
            <a:noFill/>
          </a:ln>
        </p:spPr>
        <p:txBody>
          <a:bodyPr rtlCol="0" anchor="ctr"/>
          <a:lstStyle/>
          <a:p>
            <a:pPr algn="ctr"/>
          </a:p>
        </p:txBody>
      </p:sp>
      <p:sp>
        <p:nvSpPr>
          <p:cNvPr id="27" name="Box 26"/>
          <p:cNvSpPr/>
          <p:nvPr/>
        </p:nvSpPr>
        <p:spPr>
          <a:xfrm>
            <a:off x="1850430" y="3486150"/>
            <a:ext cx="442714" cy="450850"/>
          </a:xfrm>
          <a:prstGeom prst="roundRect">
            <a:avLst>
              <a:gd name="adj" fmla="val 11474"/>
            </a:avLst>
          </a:prstGeom>
          <a:solidFill>
            <a:srgbClr val="7CCBA2"/>
          </a:solidFill>
          <a:ln>
            <a:noFill/>
          </a:ln>
        </p:spPr>
        <p:txBody>
          <a:bodyPr rtlCol="0" anchor="ctr"/>
          <a:lstStyle/>
          <a:p>
            <a:pPr algn="ctr"/>
          </a:p>
        </p:txBody>
      </p:sp>
      <p:sp>
        <p:nvSpPr>
          <p:cNvPr id="28" name="Box 27"/>
          <p:cNvSpPr/>
          <p:nvPr/>
        </p:nvSpPr>
        <p:spPr>
          <a:xfrm>
            <a:off x="1331516" y="3486150"/>
            <a:ext cx="442714" cy="450850"/>
          </a:xfrm>
          <a:prstGeom prst="roundRect">
            <a:avLst>
              <a:gd name="adj" fmla="val 11474"/>
            </a:avLst>
          </a:prstGeom>
          <a:solidFill>
            <a:srgbClr val="6B7686"/>
          </a:solidFill>
          <a:ln>
            <a:noFill/>
          </a:ln>
        </p:spPr>
        <p:txBody>
          <a:bodyPr rtlCol="0" anchor="ctr"/>
          <a:lstStyle/>
          <a:p>
            <a:pPr algn="ctr"/>
          </a:p>
        </p:txBody>
      </p:sp>
      <p:sp>
        <p:nvSpPr>
          <p:cNvPr id="29" name="Box 28"/>
          <p:cNvSpPr/>
          <p:nvPr/>
        </p:nvSpPr>
        <p:spPr>
          <a:xfrm>
            <a:off x="812602" y="3486150"/>
            <a:ext cx="442714" cy="450850"/>
          </a:xfrm>
          <a:prstGeom prst="roundRect">
            <a:avLst>
              <a:gd name="adj" fmla="val 11474"/>
            </a:avLst>
          </a:prstGeom>
          <a:solidFill>
            <a:srgbClr val="7CCBA2"/>
          </a:solidFill>
          <a:ln>
            <a:noFill/>
          </a:ln>
        </p:spPr>
        <p:txBody>
          <a:bodyPr rtlCol="0" anchor="ctr"/>
          <a:lstStyle/>
          <a:p>
            <a:pPr algn="ctr"/>
          </a:p>
        </p:txBody>
      </p:sp>
      <p:sp>
        <p:nvSpPr>
          <p:cNvPr id="30" name="Box 29"/>
          <p:cNvSpPr/>
          <p:nvPr/>
        </p:nvSpPr>
        <p:spPr>
          <a:xfrm>
            <a:off x="1210667" y="4177010"/>
            <a:ext cx="114300" cy="114300"/>
          </a:xfrm>
          <a:prstGeom prst="roundRect">
            <a:avLst>
              <a:gd name="adj" fmla="val 27777"/>
            </a:avLst>
          </a:prstGeom>
          <a:solidFill>
            <a:srgbClr val="7CCBA2"/>
          </a:solidFill>
          <a:ln>
            <a:noFill/>
          </a:ln>
        </p:spPr>
        <p:txBody>
          <a:bodyPr rtlCol="0" anchor="ctr"/>
          <a:lstStyle/>
          <a:p>
            <a:pPr algn="ctr"/>
          </a:p>
        </p:txBody>
      </p:sp>
      <p:sp>
        <p:nvSpPr>
          <p:cNvPr id="31" name="Text 30"/>
          <p:cNvSpPr txBox="1"/>
          <p:nvPr/>
        </p:nvSpPr>
        <p:spPr>
          <a:xfrm>
            <a:off x="721360" y="4103878"/>
            <a:ext cx="425807"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مطبق</a:t>
            </a:r>
          </a:p>
        </p:txBody>
      </p:sp>
      <p:sp>
        <p:nvSpPr>
          <p:cNvPr id="32" name="Box 31"/>
          <p:cNvSpPr/>
          <p:nvPr/>
        </p:nvSpPr>
        <p:spPr>
          <a:xfrm>
            <a:off x="2363391" y="4177010"/>
            <a:ext cx="114300" cy="114300"/>
          </a:xfrm>
          <a:prstGeom prst="roundRect">
            <a:avLst>
              <a:gd name="adj" fmla="val 27777"/>
            </a:avLst>
          </a:prstGeom>
          <a:solidFill>
            <a:srgbClr val="E8C35A"/>
          </a:solidFill>
          <a:ln>
            <a:noFill/>
          </a:ln>
        </p:spPr>
        <p:txBody>
          <a:bodyPr rtlCol="0" anchor="ctr"/>
          <a:lstStyle/>
          <a:p>
            <a:pPr algn="ctr"/>
          </a:p>
        </p:txBody>
      </p:sp>
      <p:sp>
        <p:nvSpPr>
          <p:cNvPr id="33" name="Text 32"/>
          <p:cNvSpPr txBox="1"/>
          <p:nvPr/>
        </p:nvSpPr>
        <p:spPr>
          <a:xfrm>
            <a:off x="1411327" y="4103878"/>
            <a:ext cx="888563"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قيد الاستكمال</a:t>
            </a:r>
          </a:p>
        </p:txBody>
      </p:sp>
      <p:sp>
        <p:nvSpPr>
          <p:cNvPr id="34" name="Box 33"/>
          <p:cNvSpPr/>
          <p:nvPr/>
        </p:nvSpPr>
        <p:spPr>
          <a:xfrm>
            <a:off x="3582690" y="4177010"/>
            <a:ext cx="114300" cy="114300"/>
          </a:xfrm>
          <a:prstGeom prst="roundRect">
            <a:avLst>
              <a:gd name="adj" fmla="val 27777"/>
            </a:avLst>
          </a:prstGeom>
          <a:solidFill>
            <a:srgbClr val="6B7686"/>
          </a:solidFill>
          <a:ln>
            <a:noFill/>
          </a:ln>
        </p:spPr>
        <p:txBody>
          <a:bodyPr rtlCol="0" anchor="ctr"/>
          <a:lstStyle/>
          <a:p>
            <a:pPr algn="ctr"/>
          </a:p>
        </p:txBody>
      </p:sp>
      <p:sp>
        <p:nvSpPr>
          <p:cNvPr id="35" name="Text 34"/>
          <p:cNvSpPr txBox="1"/>
          <p:nvPr/>
        </p:nvSpPr>
        <p:spPr>
          <a:xfrm>
            <a:off x="2564051" y="4103878"/>
            <a:ext cx="955139" cy="213320"/>
          </a:xfrm>
          <a:prstGeom prst="rect">
            <a:avLst/>
          </a:prstGeom>
          <a:noFill/>
        </p:spPr>
        <p:txBody>
          <a:bodyPr wrap="square" tIns="0" rIns="0" bIns="0" lIns="0" anchor="t" rtlCol="0" anchorCtr="0">
            <a:noAutofit/>
          </a:bodyPr>
          <a:lstStyle/>
          <a:p>
            <a:pPr algn="r" rtl="1">
              <a:lnSpc>
                <a:spcPts val="1680"/>
              </a:lnSpc>
              <a:spcBef>
                <a:spcPts val="0"/>
              </a:spcBef>
              <a:spcAft>
                <a:spcPts val="0"/>
              </a:spcAft>
            </a:pPr>
            <a:r>
              <a:rPr sz="1200" b="0" i="0">
                <a:solidFill>
                  <a:srgbClr val="AEBACB"/>
                </a:solidFill>
                <a:latin typeface="IBM Plex Sans Arabic"/>
                <a:ea typeface="IBM Plex Sans Arabic"/>
                <a:cs typeface="IBM Plex Sans Arabic"/>
              </a:rPr>
              <a:t>غير منطبق بمبرر</a:t>
            </a:r>
          </a:p>
        </p:txBody>
      </p:sp>
      <p:sp>
        <p:nvSpPr>
          <p:cNvPr id="36" name="Text 35"/>
          <p:cNvSpPr txBox="1"/>
          <p:nvPr/>
        </p:nvSpPr>
        <p:spPr>
          <a:xfrm>
            <a:off x="4521200" y="787210"/>
            <a:ext cx="6858000" cy="231080"/>
          </a:xfrm>
          <a:prstGeom prst="rect">
            <a:avLst/>
          </a:prstGeom>
          <a:noFill/>
        </p:spPr>
        <p:txBody>
          <a:bodyPr wrap="square" tIns="0" rIns="0" bIns="0" lIns="0" anchor="t" rtlCol="0" anchorCtr="0">
            <a:noAutofit/>
          </a:bodyPr>
          <a:lstStyle/>
          <a:p>
            <a:pPr algn="r" rtl="1">
              <a:lnSpc>
                <a:spcPts val="1820"/>
              </a:lnSpc>
              <a:spcBef>
                <a:spcPts val="0"/>
              </a:spcBef>
              <a:spcAft>
                <a:spcPts val="0"/>
              </a:spcAft>
            </a:pPr>
            <a:r>
              <a:rPr sz="1300" b="1" i="0">
                <a:solidFill>
                  <a:srgbClr val="6CC9D3"/>
                </a:solidFill>
                <a:latin typeface="IBM Plex Sans Arabic"/>
                <a:ea typeface="IBM Plex Sans Arabic"/>
                <a:cs typeface="IBM Plex Sans Arabic"/>
              </a:rPr>
              <a:t>ختام الكورس</a:t>
            </a:r>
          </a:p>
        </p:txBody>
      </p:sp>
      <p:sp>
        <p:nvSpPr>
          <p:cNvPr id="37" name="Text 36"/>
          <p:cNvSpPr txBox="1"/>
          <p:nvPr/>
        </p:nvSpPr>
        <p:spPr>
          <a:xfrm>
            <a:off x="4521200" y="1165978"/>
            <a:ext cx="6858000" cy="670520"/>
          </a:xfrm>
          <a:prstGeom prst="rect">
            <a:avLst/>
          </a:prstGeom>
          <a:noFill/>
        </p:spPr>
        <p:txBody>
          <a:bodyPr wrap="square" tIns="0" rIns="0" bIns="0" lIns="0" anchor="t" rtlCol="0" anchorCtr="0">
            <a:noAutofit/>
          </a:bodyPr>
          <a:lstStyle/>
          <a:p>
            <a:pPr algn="r" rtl="1">
              <a:lnSpc>
                <a:spcPts val="5280"/>
              </a:lnSpc>
              <a:spcBef>
                <a:spcPts val="0"/>
              </a:spcBef>
              <a:spcAft>
                <a:spcPts val="0"/>
              </a:spcAft>
            </a:pPr>
            <a:r>
              <a:rPr sz="4400" b="1" i="0">
                <a:solidFill>
                  <a:srgbClr val="F2EEE6"/>
                </a:solidFill>
                <a:latin typeface="Alexandria"/>
                <a:ea typeface="Alexandria"/>
                <a:cs typeface="Alexandria"/>
              </a:rPr>
              <a:t>الخلاصة</a:t>
            </a:r>
          </a:p>
        </p:txBody>
      </p:sp>
      <p:sp>
        <p:nvSpPr>
          <p:cNvPr id="38" name="Rule 37"/>
          <p:cNvSpPr/>
          <p:nvPr/>
        </p:nvSpPr>
        <p:spPr>
          <a:xfrm>
            <a:off x="5029200" y="1993801"/>
            <a:ext cx="6350000" cy="6350"/>
          </a:xfrm>
          <a:prstGeom prst="rect">
            <a:avLst/>
          </a:prstGeom>
          <a:solidFill>
            <a:srgbClr val="F2EEE6">
              <a:alpha val="16000"/>
            </a:srgbClr>
          </a:solidFill>
          <a:ln>
            <a:noFill/>
          </a:ln>
        </p:spPr>
        <p:txBody>
          <a:bodyPr rtlCol="0" anchor="ctr"/>
          <a:lstStyle/>
          <a:p>
            <a:pPr algn="ctr"/>
          </a:p>
        </p:txBody>
      </p:sp>
      <p:sp>
        <p:nvSpPr>
          <p:cNvPr id="39" name="Box 38"/>
          <p:cNvSpPr/>
          <p:nvPr/>
        </p:nvSpPr>
        <p:spPr>
          <a:xfrm>
            <a:off x="11049000" y="2224881"/>
            <a:ext cx="330200" cy="330200"/>
          </a:xfrm>
          <a:prstGeom prst="roundRect">
            <a:avLst>
              <a:gd name="adj" fmla="val 50000"/>
            </a:avLst>
          </a:prstGeom>
          <a:solidFill>
            <a:srgbClr val="6CC9D3"/>
          </a:solidFill>
          <a:ln>
            <a:noFill/>
          </a:ln>
        </p:spPr>
        <p:txBody>
          <a:bodyPr rtlCol="0" anchor="ctr"/>
          <a:lstStyle/>
          <a:p>
            <a:pPr algn="ctr"/>
          </a:p>
        </p:txBody>
      </p:sp>
      <p:sp>
        <p:nvSpPr>
          <p:cNvPr id="40" name="Text 39"/>
          <p:cNvSpPr txBox="1"/>
          <p:nvPr/>
        </p:nvSpPr>
        <p:spPr>
          <a:xfrm>
            <a:off x="11131133" y="2318741"/>
            <a:ext cx="165834"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0E1A2B"/>
                </a:solidFill>
                <a:latin typeface="Alexandria"/>
                <a:ea typeface="Alexandria"/>
                <a:cs typeface="Alexandria"/>
              </a:rPr>
              <a:t>1</a:t>
            </a:r>
          </a:p>
        </p:txBody>
      </p:sp>
      <p:sp>
        <p:nvSpPr>
          <p:cNvPr id="41" name="Text 40"/>
          <p:cNvSpPr txBox="1"/>
          <p:nvPr/>
        </p:nvSpPr>
        <p:spPr>
          <a:xfrm>
            <a:off x="5029200" y="2096855"/>
            <a:ext cx="5880100" cy="280591"/>
          </a:xfrm>
          <a:prstGeom prst="rect">
            <a:avLst/>
          </a:prstGeom>
          <a:noFill/>
        </p:spPr>
        <p:txBody>
          <a:bodyPr wrap="square" tIns="0" rIns="0" bIns="0" lIns="0" anchor="t" rtlCol="0" anchorCtr="0">
            <a:noAutofit/>
          </a:bodyPr>
          <a:lstStyle/>
          <a:p>
            <a:pPr algn="r" rtl="1">
              <a:lnSpc>
                <a:spcPts val="2210"/>
              </a:lnSpc>
              <a:spcBef>
                <a:spcPts val="0"/>
              </a:spcBef>
              <a:spcAft>
                <a:spcPts val="0"/>
              </a:spcAft>
            </a:pPr>
            <a:r>
              <a:rPr sz="1700" b="1" i="0">
                <a:solidFill>
                  <a:srgbClr val="F2EEE6"/>
                </a:solidFill>
                <a:latin typeface="Alexandria"/>
                <a:ea typeface="Alexandria"/>
                <a:cs typeface="Alexandria"/>
              </a:rPr>
              <a:t>الأساس</a:t>
            </a:r>
          </a:p>
        </p:txBody>
      </p:sp>
      <p:sp>
        <p:nvSpPr>
          <p:cNvPr id="42" name="Text 41"/>
          <p:cNvSpPr txBox="1"/>
          <p:nvPr/>
        </p:nvSpPr>
        <p:spPr>
          <a:xfrm>
            <a:off x="5029200" y="2375737"/>
            <a:ext cx="588010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AEBACB"/>
                </a:solidFill>
                <a:latin typeface="IBM Plex Sans Arabic"/>
                <a:ea typeface="IBM Plex Sans Arabic"/>
                <a:cs typeface="IBM Plex Sans Arabic"/>
              </a:rPr>
              <a:t>حوكمة ومالكون وحصر للأصول قبل الأدوات.</a:t>
            </a:r>
          </a:p>
        </p:txBody>
      </p:sp>
      <p:sp>
        <p:nvSpPr>
          <p:cNvPr id="43" name="Rule 42"/>
          <p:cNvSpPr/>
          <p:nvPr/>
        </p:nvSpPr>
        <p:spPr>
          <a:xfrm>
            <a:off x="5029200" y="2779812"/>
            <a:ext cx="6350000" cy="6350"/>
          </a:xfrm>
          <a:prstGeom prst="rect">
            <a:avLst/>
          </a:prstGeom>
          <a:solidFill>
            <a:srgbClr val="F2EEE6">
              <a:alpha val="16000"/>
            </a:srgbClr>
          </a:solidFill>
          <a:ln>
            <a:noFill/>
          </a:ln>
        </p:spPr>
        <p:txBody>
          <a:bodyPr rtlCol="0" anchor="ctr"/>
          <a:lstStyle/>
          <a:p>
            <a:pPr algn="ctr"/>
          </a:p>
        </p:txBody>
      </p:sp>
      <p:sp>
        <p:nvSpPr>
          <p:cNvPr id="44" name="Box 43"/>
          <p:cNvSpPr/>
          <p:nvPr/>
        </p:nvSpPr>
        <p:spPr>
          <a:xfrm>
            <a:off x="11049000" y="3010892"/>
            <a:ext cx="330200" cy="330200"/>
          </a:xfrm>
          <a:prstGeom prst="roundRect">
            <a:avLst>
              <a:gd name="adj" fmla="val 50000"/>
            </a:avLst>
          </a:prstGeom>
          <a:solidFill>
            <a:srgbClr val="6CC9D3"/>
          </a:solidFill>
          <a:ln>
            <a:noFill/>
          </a:ln>
        </p:spPr>
        <p:txBody>
          <a:bodyPr rtlCol="0" anchor="ctr"/>
          <a:lstStyle/>
          <a:p>
            <a:pPr algn="ctr"/>
          </a:p>
        </p:txBody>
      </p:sp>
      <p:sp>
        <p:nvSpPr>
          <p:cNvPr id="45" name="Text 44"/>
          <p:cNvSpPr txBox="1"/>
          <p:nvPr/>
        </p:nvSpPr>
        <p:spPr>
          <a:xfrm>
            <a:off x="11114564" y="3104752"/>
            <a:ext cx="198973"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0E1A2B"/>
                </a:solidFill>
                <a:latin typeface="Alexandria"/>
                <a:ea typeface="Alexandria"/>
                <a:cs typeface="Alexandria"/>
              </a:rPr>
              <a:t>2</a:t>
            </a:r>
          </a:p>
        </p:txBody>
      </p:sp>
      <p:sp>
        <p:nvSpPr>
          <p:cNvPr id="46" name="Text 45"/>
          <p:cNvSpPr txBox="1"/>
          <p:nvPr/>
        </p:nvSpPr>
        <p:spPr>
          <a:xfrm>
            <a:off x="5029200" y="2882866"/>
            <a:ext cx="5880100" cy="280591"/>
          </a:xfrm>
          <a:prstGeom prst="rect">
            <a:avLst/>
          </a:prstGeom>
          <a:noFill/>
        </p:spPr>
        <p:txBody>
          <a:bodyPr wrap="square" tIns="0" rIns="0" bIns="0" lIns="0" anchor="t" rtlCol="0" anchorCtr="0">
            <a:noAutofit/>
          </a:bodyPr>
          <a:lstStyle/>
          <a:p>
            <a:pPr algn="r" rtl="1">
              <a:lnSpc>
                <a:spcPts val="2210"/>
              </a:lnSpc>
              <a:spcBef>
                <a:spcPts val="0"/>
              </a:spcBef>
              <a:spcAft>
                <a:spcPts val="0"/>
              </a:spcAft>
            </a:pPr>
            <a:r>
              <a:rPr sz="1700" b="1" i="0">
                <a:solidFill>
                  <a:srgbClr val="F2EEE6"/>
                </a:solidFill>
                <a:latin typeface="Alexandria"/>
                <a:ea typeface="Alexandria"/>
                <a:cs typeface="Alexandria"/>
              </a:rPr>
              <a:t>الطبقات</a:t>
            </a:r>
          </a:p>
        </p:txBody>
      </p:sp>
      <p:sp>
        <p:nvSpPr>
          <p:cNvPr id="47" name="Text 46"/>
          <p:cNvSpPr txBox="1"/>
          <p:nvPr/>
        </p:nvSpPr>
        <p:spPr>
          <a:xfrm>
            <a:off x="5029200" y="3161748"/>
            <a:ext cx="588010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AEBACB"/>
                </a:solidFill>
                <a:latin typeface="IBM Plex Sans Arabic"/>
                <a:ea typeface="IBM Plex Sans Arabic"/>
                <a:cs typeface="IBM Plex Sans Arabic"/>
              </a:rPr>
              <a:t>وثّق، وطبّق، وغطِّ الحد الأدنى، وراجع.</a:t>
            </a:r>
          </a:p>
        </p:txBody>
      </p:sp>
      <p:sp>
        <p:nvSpPr>
          <p:cNvPr id="48" name="Rule 47"/>
          <p:cNvSpPr/>
          <p:nvPr/>
        </p:nvSpPr>
        <p:spPr>
          <a:xfrm>
            <a:off x="5029200" y="3565823"/>
            <a:ext cx="6350000" cy="6350"/>
          </a:xfrm>
          <a:prstGeom prst="rect">
            <a:avLst/>
          </a:prstGeom>
          <a:solidFill>
            <a:srgbClr val="F2EEE6">
              <a:alpha val="16000"/>
            </a:srgbClr>
          </a:solidFill>
          <a:ln>
            <a:noFill/>
          </a:ln>
        </p:spPr>
        <p:txBody>
          <a:bodyPr rtlCol="0" anchor="ctr"/>
          <a:lstStyle/>
          <a:p>
            <a:pPr algn="ctr"/>
          </a:p>
        </p:txBody>
      </p:sp>
      <p:sp>
        <p:nvSpPr>
          <p:cNvPr id="49" name="Box 48"/>
          <p:cNvSpPr/>
          <p:nvPr/>
        </p:nvSpPr>
        <p:spPr>
          <a:xfrm>
            <a:off x="11049000" y="3796903"/>
            <a:ext cx="330200" cy="330200"/>
          </a:xfrm>
          <a:prstGeom prst="roundRect">
            <a:avLst>
              <a:gd name="adj" fmla="val 50000"/>
            </a:avLst>
          </a:prstGeom>
          <a:solidFill>
            <a:srgbClr val="6CC9D3"/>
          </a:solidFill>
          <a:ln>
            <a:noFill/>
          </a:ln>
        </p:spPr>
        <p:txBody>
          <a:bodyPr rtlCol="0" anchor="ctr"/>
          <a:lstStyle/>
          <a:p>
            <a:pPr algn="ctr"/>
          </a:p>
        </p:txBody>
      </p:sp>
      <p:sp>
        <p:nvSpPr>
          <p:cNvPr id="50" name="Text 49"/>
          <p:cNvSpPr txBox="1"/>
          <p:nvPr/>
        </p:nvSpPr>
        <p:spPr>
          <a:xfrm>
            <a:off x="11114762" y="3890762"/>
            <a:ext cx="198676"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0E1A2B"/>
                </a:solidFill>
                <a:latin typeface="Alexandria"/>
                <a:ea typeface="Alexandria"/>
                <a:cs typeface="Alexandria"/>
              </a:rPr>
              <a:t>3</a:t>
            </a:r>
          </a:p>
        </p:txBody>
      </p:sp>
      <p:sp>
        <p:nvSpPr>
          <p:cNvPr id="51" name="Text 50"/>
          <p:cNvSpPr txBox="1"/>
          <p:nvPr/>
        </p:nvSpPr>
        <p:spPr>
          <a:xfrm>
            <a:off x="5029200" y="3668877"/>
            <a:ext cx="5880100" cy="280591"/>
          </a:xfrm>
          <a:prstGeom prst="rect">
            <a:avLst/>
          </a:prstGeom>
          <a:noFill/>
        </p:spPr>
        <p:txBody>
          <a:bodyPr wrap="square" tIns="0" rIns="0" bIns="0" lIns="0" anchor="t" rtlCol="0" anchorCtr="0">
            <a:noAutofit/>
          </a:bodyPr>
          <a:lstStyle/>
          <a:p>
            <a:pPr algn="r" rtl="1">
              <a:lnSpc>
                <a:spcPts val="2210"/>
              </a:lnSpc>
              <a:spcBef>
                <a:spcPts val="0"/>
              </a:spcBef>
              <a:spcAft>
                <a:spcPts val="0"/>
              </a:spcAft>
            </a:pPr>
            <a:r>
              <a:rPr sz="1700" b="1" i="0">
                <a:solidFill>
                  <a:srgbClr val="F2EEE6"/>
                </a:solidFill>
                <a:latin typeface="Alexandria"/>
                <a:ea typeface="Alexandria"/>
                <a:cs typeface="Alexandria"/>
              </a:rPr>
              <a:t>الدليل</a:t>
            </a:r>
          </a:p>
        </p:txBody>
      </p:sp>
      <p:sp>
        <p:nvSpPr>
          <p:cNvPr id="52" name="Text 51"/>
          <p:cNvSpPr txBox="1"/>
          <p:nvPr/>
        </p:nvSpPr>
        <p:spPr>
          <a:xfrm>
            <a:off x="5029200" y="3947759"/>
            <a:ext cx="588010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AEBACB"/>
                </a:solidFill>
                <a:latin typeface="IBM Plex Sans Arabic"/>
                <a:ea typeface="IBM Plex Sans Arabic"/>
                <a:cs typeface="IBM Plex Sans Arabic"/>
              </a:rPr>
              <a:t>حديث، ويغطي المجتمع المعني أو عينة مبررة، ويُحكم عليه بحدوده.</a:t>
            </a:r>
          </a:p>
        </p:txBody>
      </p:sp>
      <p:sp>
        <p:nvSpPr>
          <p:cNvPr id="53" name="Rule 52"/>
          <p:cNvSpPr/>
          <p:nvPr/>
        </p:nvSpPr>
        <p:spPr>
          <a:xfrm>
            <a:off x="5029200" y="4351834"/>
            <a:ext cx="6350000" cy="6350"/>
          </a:xfrm>
          <a:prstGeom prst="rect">
            <a:avLst/>
          </a:prstGeom>
          <a:solidFill>
            <a:srgbClr val="F2EEE6">
              <a:alpha val="16000"/>
            </a:srgbClr>
          </a:solidFill>
          <a:ln>
            <a:noFill/>
          </a:ln>
        </p:spPr>
        <p:txBody>
          <a:bodyPr rtlCol="0" anchor="ctr"/>
          <a:lstStyle/>
          <a:p>
            <a:pPr algn="ctr"/>
          </a:p>
        </p:txBody>
      </p:sp>
      <p:sp>
        <p:nvSpPr>
          <p:cNvPr id="54" name="Box 53"/>
          <p:cNvSpPr/>
          <p:nvPr/>
        </p:nvSpPr>
        <p:spPr>
          <a:xfrm>
            <a:off x="11049000" y="4582914"/>
            <a:ext cx="330200" cy="330200"/>
          </a:xfrm>
          <a:prstGeom prst="roundRect">
            <a:avLst>
              <a:gd name="adj" fmla="val 50000"/>
            </a:avLst>
          </a:prstGeom>
          <a:solidFill>
            <a:srgbClr val="6CC9D3"/>
          </a:solidFill>
          <a:ln>
            <a:noFill/>
          </a:ln>
        </p:spPr>
        <p:txBody>
          <a:bodyPr rtlCol="0" anchor="ctr"/>
          <a:lstStyle/>
          <a:p>
            <a:pPr algn="ctr"/>
          </a:p>
        </p:txBody>
      </p:sp>
      <p:sp>
        <p:nvSpPr>
          <p:cNvPr id="55" name="Text 54"/>
          <p:cNvSpPr txBox="1"/>
          <p:nvPr/>
        </p:nvSpPr>
        <p:spPr>
          <a:xfrm>
            <a:off x="11114365" y="4676773"/>
            <a:ext cx="199370" cy="165100"/>
          </a:xfrm>
          <a:prstGeom prst="rect">
            <a:avLst/>
          </a:prstGeom>
          <a:noFill/>
        </p:spPr>
        <p:txBody>
          <a:bodyPr wrap="square" tIns="0" rIns="0" bIns="0" lIns="0" anchor="t" rtlCol="0" anchorCtr="0">
            <a:noAutofit/>
          </a:bodyPr>
          <a:lstStyle/>
          <a:p>
            <a:pPr algn="ctr">
              <a:lnSpc>
                <a:spcPts val="1300"/>
              </a:lnSpc>
              <a:spcBef>
                <a:spcPts val="0"/>
              </a:spcBef>
              <a:spcAft>
                <a:spcPts val="0"/>
              </a:spcAft>
            </a:pPr>
            <a:r>
              <a:rPr sz="1300" b="1" i="0">
                <a:solidFill>
                  <a:srgbClr val="0E1A2B"/>
                </a:solidFill>
                <a:latin typeface="Alexandria"/>
                <a:ea typeface="Alexandria"/>
                <a:cs typeface="Alexandria"/>
              </a:rPr>
              <a:t>4</a:t>
            </a:r>
          </a:p>
        </p:txBody>
      </p:sp>
      <p:sp>
        <p:nvSpPr>
          <p:cNvPr id="56" name="Text 55"/>
          <p:cNvSpPr txBox="1"/>
          <p:nvPr/>
        </p:nvSpPr>
        <p:spPr>
          <a:xfrm>
            <a:off x="5029200" y="4454888"/>
            <a:ext cx="5880100" cy="280591"/>
          </a:xfrm>
          <a:prstGeom prst="rect">
            <a:avLst/>
          </a:prstGeom>
          <a:noFill/>
        </p:spPr>
        <p:txBody>
          <a:bodyPr wrap="square" tIns="0" rIns="0" bIns="0" lIns="0" anchor="t" rtlCol="0" anchorCtr="0">
            <a:noAutofit/>
          </a:bodyPr>
          <a:lstStyle/>
          <a:p>
            <a:pPr algn="r" rtl="1">
              <a:lnSpc>
                <a:spcPts val="2210"/>
              </a:lnSpc>
              <a:spcBef>
                <a:spcPts val="0"/>
              </a:spcBef>
              <a:spcAft>
                <a:spcPts val="0"/>
              </a:spcAft>
            </a:pPr>
            <a:r>
              <a:rPr sz="1700" b="1" i="0">
                <a:solidFill>
                  <a:srgbClr val="F2EEE6"/>
                </a:solidFill>
                <a:latin typeface="Alexandria"/>
                <a:ea typeface="Alexandria"/>
                <a:cs typeface="Alexandria"/>
              </a:rPr>
              <a:t>الاستدامة</a:t>
            </a:r>
          </a:p>
        </p:txBody>
      </p:sp>
      <p:sp>
        <p:nvSpPr>
          <p:cNvPr id="57" name="Text 56"/>
          <p:cNvSpPr txBox="1"/>
          <p:nvPr/>
        </p:nvSpPr>
        <p:spPr>
          <a:xfrm>
            <a:off x="5029200" y="4733770"/>
            <a:ext cx="5880100" cy="257770"/>
          </a:xfrm>
          <a:prstGeom prst="rect">
            <a:avLst/>
          </a:prstGeom>
          <a:noFill/>
        </p:spPr>
        <p:txBody>
          <a:bodyPr wrap="square" tIns="0" rIns="0" bIns="0" lIns="0" anchor="t" rtlCol="0" anchorCtr="0">
            <a:noAutofit/>
          </a:bodyPr>
          <a:lstStyle/>
          <a:p>
            <a:pPr algn="r" rtl="1">
              <a:lnSpc>
                <a:spcPts val="2030"/>
              </a:lnSpc>
              <a:spcBef>
                <a:spcPts val="0"/>
              </a:spcBef>
              <a:spcAft>
                <a:spcPts val="0"/>
              </a:spcAft>
            </a:pPr>
            <a:r>
              <a:rPr sz="1400" b="0" i="0">
                <a:solidFill>
                  <a:srgbClr val="AEBACB"/>
                </a:solidFill>
                <a:latin typeface="IBM Plex Sans Arabic"/>
                <a:ea typeface="IBM Plex Sans Arabic"/>
                <a:cs typeface="IBM Plex Sans Arabic"/>
              </a:rPr>
              <a:t>تقويم مراجعات، ومؤشرات، وتقارير للجنة.</a:t>
            </a:r>
          </a:p>
        </p:txBody>
      </p:sp>
      <p:sp>
        <p:nvSpPr>
          <p:cNvPr id="58" name="Text 57"/>
          <p:cNvSpPr txBox="1"/>
          <p:nvPr/>
        </p:nvSpPr>
        <p:spPr>
          <a:xfrm>
            <a:off x="4838700" y="5556758"/>
            <a:ext cx="6540500" cy="457200"/>
          </a:xfrm>
          <a:prstGeom prst="rect">
            <a:avLst/>
          </a:prstGeom>
          <a:noFill/>
        </p:spPr>
        <p:txBody>
          <a:bodyPr wrap="square" tIns="0" rIns="0" bIns="0" lIns="0" anchor="t" rtlCol="0" anchorCtr="0">
            <a:noAutofit/>
          </a:bodyPr>
          <a:lstStyle/>
          <a:p>
            <a:pPr algn="r" rtl="1">
              <a:lnSpc>
                <a:spcPts val="1800"/>
              </a:lnSpc>
              <a:spcBef>
                <a:spcPts val="0"/>
              </a:spcBef>
              <a:spcAft>
                <a:spcPts val="0"/>
              </a:spcAft>
            </a:pPr>
            <a:r>
              <a:rPr sz="1200" b="0" i="0">
                <a:solidFill>
                  <a:srgbClr val="AEBACB"/>
                </a:solidFill>
                <a:latin typeface="IBM Plex Sans Arabic"/>
                <a:ea typeface="IBM Plex Sans Arabic"/>
                <a:cs typeface="IBM Plex Sans Arabic"/>
              </a:rPr>
              <a:t>المرجع: الضوابط الأساسية للأمن السيبراني ‎ECC-2:2024‎ الصادرة عن الهيئة الوطنية للأمن السيبراني. راجع nca.gov.sa لأحدث نسخة، والنص العربي هو المعتمد عند الاختلاف.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exandria"/>
        <a:ea typeface=""/>
        <a:cs typeface="Alexandria"/>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rabic"/>
        <a:ea typeface=""/>
        <a:cs typeface="IBM Plex Sans Arabic"/>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تطبيق الضوابط الأساسية للأمن السيبراني ECC-2:2024 بالتفصيل</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